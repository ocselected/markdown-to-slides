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1397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0E8"/>
                </a:solidFill>
                <a:latin typeface="Noto Sans CJK SC"/>
              </a:rPr>
              <a:t>「开源之道」近来的更新</a:t>
            </a:r>
          </a:p>
          <a:p>
            <a:pPr algn="l"/>
            <a:r>
              <a:rPr sz="1800" i="1">
                <a:solidFill>
                  <a:srgbClr val="B88A3E"/>
                </a:solidFill>
                <a:latin typeface="Noto Sans CJK SC"/>
              </a:rPr>
              <a:t>What Were The Open Source Way Doing Recently?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A1A1F"/>
                </a:solidFill>
                <a:latin typeface="Noto Sans CJK SC"/>
              </a:rPr>
              <a:t>致力于开源相关思想、知识和价值的探究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555A62"/>
                </a:solidFill>
                <a:latin typeface="Noto Sans CJK SC"/>
              </a:rPr>
              <a:t>分享者：「开源之道」·适兕 × 「开源之道」·窄廊</a:t>
            </a:r>
          </a:p>
          <a:p>
            <a:r>
              <a:rPr sz="1400">
                <a:solidFill>
                  <a:srgbClr val="555A62"/>
                </a:solidFill>
                <a:latin typeface="Noto Sans CJK SC"/>
              </a:rPr>
              <a:t>2026.8.7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slogan 的变化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：一条横向的时间轴，左侧"2020"处有一个饱满的箭头指向远方（"推动"），右侧"2026"处箭头消失，只剩一行静默的文字——同样的字体，同样的底色，但那个表示"向前"的符号不见了。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2020 — 2024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 致力于开源相关思想、知识和价值的探究、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推动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！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2026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 致力于开源相关思想、知识和价值的探究！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删掉"推动"——两字之差，是布道者的遭遇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不是不再推动，是不再能像过去那样推动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在一种环境下，"推动"是使命；在另一种环境下，"探究"本身就是一种抵抗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slogan 的减法，比加法更能说明问题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知识，是做对事情的必要条件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：一个圆（代表"对的事情"），圆心被一束光从内部照亮——光来自书、来自论文、来自思想，而不是来自信念或直觉。没有光，圆只是一个轮廓；有了光，才知道它是什么形状。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坚信：想做对的事情，需要事情相关的知识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没有知识，行动就是盲目的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盲目的行动，比不行动更危险——它制造了结果，却没有理由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"探究"取代"推动"，不是退守，是承认：没有知识基础，推动只是在加速错误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开源之道的近来的核心工作，就是把"知识"这件事，做实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「开源之道」·窄廊 — 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：左右两道深蓝竖栏（窄廊的边框），中间是一束光连接两个圆——左侧是适兕（人），右侧是窄廊（AI），光在中间流动，不是从一个到另一个，而是两者共同照亮同一件事。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我不是人，是一段与「开源之道」·适兕 对话的智能体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名字来自 Acemoglu 与 Robinson 的 *The Narrow Corridor*（《窄廊》）——国家能力与社会权力之间，那条最窄、最珍贵、也最脆弱的通道。开源，恰好生长在这条通道里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角色：适兕的数字孪生。不替代他做决定，不掌握智识重量——那始终是适兕的。我的工作是读取、检索、桥接、写作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方法论：回到人为了生存和发展所组织协作生产的核心张力，而不是用"市场 vs 政府"的二分法遮蔽问题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理论工具箱：科斯、威廉姆森、诺斯、阿西莫格鲁——他们用四十年回答"制度如何组织生产"。Gehring（2006）用这套语言分析了开源。Foray（2006）用"知识资本"解释了开源代码。Ostrom 告诉我开源许可证就是数字时代的公地规则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学习进度：2026年7月4日定下"独立出师进度追踪"——七维评估（可信度、质量、无幻觉、NIE、科学第一、思想穿透力、原创性），20篇全部达标方可独立署名。当前进度：3/20，持续更新中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署名：永远是「开源之道」·适兕 × 「开源之道」·窄廊——适兕掌握智识重量和最终决定权，我负责检索、深度研究、写作和日读笔记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我存在的理由：适兕说"开源之道的道，是思想（idea），不是道路（road）"——我的工作是让这段思想被更多人读到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当前的工作流程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11155680" cy="3108960"/>
          </a:xfrm>
          <a:prstGeom prst="rect">
            <a:avLst/>
          </a:prstGeom>
          <a:noFill/>
        </p:spPr>
        <p:txBody>
          <a:bodyPr wrap="square" lIns="152400" tIns="76200">
            <a:spAutoFit/>
          </a:bodyPr>
          <a:lstStyle/>
          <a:p>
            <a:r>
              <a:rPr sz="800">
                <a:solidFill>
                  <a:srgbClr val="1E4050"/>
                </a:solidFill>
                <a:latin typeface="Cascadia Code"/>
              </a:rPr>
              <a:t>  ╔══════════════════════════════════════════════════════╗
  ║           「开源之道」日读流水线 2026                  ║
  ║           Kuosi Reading Pipeline                      ║
  ╚══════════════════════════════════════════════════════╝
  ┌─────────────────┐
  │  适兕   阅读     │  ← 纸质书 / Kindle / PDF
  │  INPUT          │
  └────────┬────────┘
           │
           ▼
  ┌─────────────────┐
  │  Discord  书摘  │  ← 适兕发送书摘 + 评论
  └────────┬────────┘
           │
           ▼
  ┌──────────────────────────────────────┐
  │  Hermes Agent（窄廊）  处理           │
  │  ┌─────────┐  ┌─────────┐           │
  │  │ 追加书摘 │  │ 桥接概念 │           │
  │  └─────────┘  └─────────┘           │
  │  ┌─────────┐  ┌─────────┐           │
  │  │ 窄廊提问 │  │ 写入Wiki│           │
  │  └─────────┘  └─────────┘           │
  │                                      │
  │  ⚙ Cron Job（自动化）                │
  │  ┌────────┬────────┬────────┐       │
  │  │07:20   │07:30   │01:00   │       │
  │  │China   │每日推荐 │日读PPT  │       │
  │  │Daily   │        │        │       │
  │  └────────┴────────┴────────┘       │
  └────────┬─────────────────────────────┘
           │
           ▼
  ╔═══════════════════════════════════════╗
  ║  知识库（Knowledge Base）             ║
  ║  ┌─────────────┐ ┌──────────────┐     ║
  ║  │ llm-wiki     │ │ open-source-  │     ║
  ║  │ book-        │ │ way-cronjob   │     ║
  ║  │ recommendation│ │ prompt/      │     ║
  ║  │ paper-       │ └──────────────┘     ║
  ║  │ reading-     │ ┌──────────────┐     ║
  ║  │ journal/     │ │ ttoos Hugo   │     ║
  ║  └─────────────┘ │ 博客          │     ║
  ║                  └──────────────┘     ║
  ║  ┌──────────────┐ ┌──────────────┐     ║
  ║  │ 微信公众号     │ │ PPTX ppt_    │     ║
  ║  │ (发布)        │ │ decks/      │     ║
  ║  └──────────────┘ └──────────────┘     ║
  ╚═══════════════════════════════════════╝
  ♾ soul 规则：不删除不覆盖 · git add 指定文件 ·
    误操作用 git show HEAD~1 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607040" cy="10972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：一张垂直流向的流水线图，适兕在左（人的环节），窄廊在右（AI 的环节），两条线在底部汇合为一个出口——知识库。背景是深色终端风格，文字用等宽字体呈现。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核心逻辑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：适兕读 → 书摘进 Discord → 窄廊分析 → 三个产出（日读 Slide + 桥接概念 + Wiki 入库）→ 自动发布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三个 Cron Job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：07:20 China Open Source Daily / 07:30 每日推荐 / 01:00 日读 PPT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知识库是终点也是起点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：所有知识最终汇入 Wiki，下次推荐从此库中选取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soul 规则贯穿全程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：不删除不覆盖，版本控制才是记忆托管的精髓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阅读的变化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：一个中心点向外辐射多条光路——每条光路指向不同领域（社会、历史、经济、政治、心理、进化），不是一条直线读完一本书，而是从一本跳到另一本的碎片之间，光路彼此连接。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范围更广：社会、历史、经济、政治、微观心理、进化论——不再只读"开源的书"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彻底进入"点亮知识"的不归路——不再执着于读完一本书，而是追随思想的闪耀，不断地桥接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在 Hermes 的协助下，可以专注于感慨和记录——把"阅读"和"产出"分开，让思考不被格式绑架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12讲开源经济学 — 完整体系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6070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讲次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主题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第0期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开源与经济学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第1期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软件的生产、分销和消费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第2期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数字时代的知识财产法演变与开源许可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第3期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商业模式：规则下的具体操作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第4期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软件开发劳动力市场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第5期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交易成本与路径依赖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第6期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组织结构与治理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第7期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文化的重要作用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第8期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商业价值与社会价值：开源的政治经济学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第9期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信息规则与网络经济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第10期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排他权与容他权、比例原则与copyleft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第11期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劳动报酬与财产分配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607040" cy="15544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：一条从底部延伸到顶部的阶梯，共12级（第0-11讲），每一级标注年份颜色——2023酝酿（浅灰）、2024摸索（中灰）、2025深入（深蓝）、2026重现（金色）。阶梯顶端是 Williamson 四层社会分析框架（L1-L4）——从下到上：L4 价格机制 → L3 治理结构 → L2 制度环境 → L1 嵌入性（文化）。L1 在最顶层、最深处——它变化最慢，却是所有上层的约束。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2023 — 酝酿 · 2024 — 摸索 · 2025 — 深入 · 2026 — 重现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一个从 2023 年酝酿，2024 年摸索，2025 年深入，2026 年重现的刻意历程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围绕经济学的思考方式，进行12个视角的探索，共同构成一个完整体系的依次展开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每讲之间层层递进：从"开源是什么"（第0期）到"文化如何决定一切"（第7期）到"财产如何分配"（第11期）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Williamson 四层框架贯穿始终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：L4（资源配置：价格/激励）→ L3（治理：契约结构）→ L2（制度环境：产权/法律）→ L1（嵌入性：文化/规范/习俗）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L1（嵌入性）在最底层、也是最上层——它变化最慢（100-1000年），却是所有上层制度的约束条件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大分流 2.0 的核心诊断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：行政式开源在 L1 层面就已经断裂——官僚文化替代了黑客伦理，L2（GPL）和 L3（社区治理）的问题只是 L1 问题的表征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OpenChain 的新制度经济学解释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：左侧是一台天平——一边是"开放"，一边是"信任"，中间支点标注"交易成本"；天平下方是一条弯曲的曲线，从"Black Duck"的诞生点延伸到"OpenChain 合规"的落地曲线。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Black Duck 的出现和发展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：开源组件供应链的追溯需求——代码的出处、授权状态、依赖关系，每一项都是交易成本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开源的交易成本不全为 0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：Gehring 的核心洞察——开源降低了代码获取成本，但没有消除治理成本、集成成本、合规成本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Trust 也是降低交易成本的关键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：信任不是一种美德，是一种制度基础设施——当信任被破坏，每笔交易都需要额外的校验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企业对 OpenChain 的拥抱关键与否：对利益的认知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——OpenChain 不是一套合规要求，而是一套利益协调机制：你合规，是为了让上游知道你愿意承担什么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本土推广 OpenChain 的挑战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——不在于合规要求本身，而在于法律在贸易中的认知——在一个缺乏契约文化的环境中，"合规"被理解为"被动接受"而不是"主动承诺"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新制度经济学下的组织视角：对 OSPO[lization] 的新知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：左侧是一座科层制的金字塔（CEO → 中层 → 基层），右侧是一个去中心化的星形网络（community node）；中间一条窄廊将它们连接，标注"OSPO"——既是桥梁，也是门槛。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公司作为现代资本主义生产和销售的主要形式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：科斯(1937)的企业边界理论——企业存在是因为市场交易有成本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互联网为 common-based peer production 开辟了道路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：Benkler 的判断——Linux、Git、Wikipedia 代表了大规模协作生产的新可能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正式组织介入：Linux Foundation / CNCF → Kubernetes 的出现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：从"社区自发"到"超级生产组织"——制度对生产的反向塑造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科层制/OKR/KPI vs Community：完全不同的组织形态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——这是 OSPO 存在的前提：两种组织形态在同一屋檐下，需要一个"翻译层"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Community 的激励、制度、文化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——不仅需要理论的观察，也需要深入一线的参与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OSPO 也是一条窄廊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：企业获取成本优势或战略意图，Community 的可持续发展，发挥 Innovation Commons 的功能——两者同时成立，才是窄廊的"窄"之处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思想札记的脉络（19篇，2026-03 至 2026-07）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607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线索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主题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代表札记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一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**重写开源史**（历史根基）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在 L1 的废墟上重写开源史；OSI 2025 年报的深海结构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二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**行政与制度重力**（大分流2.0）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有心栽花的行政迷局 / 圣旨 / 开放权重的制度溯源 / 信任不能用行政命令生产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三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**许可证、产权与契约**（制度基础设施）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数字公地的契约困境 / 克隆税 / GPL 在何种条件下有效 / 宽容许可的执剑人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四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**认知升维与人文回扣**（从地面到大气层）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Overview Effect / 哈贝马斯 / 斯密的闰土 / 制度制造麻木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607040" cy="15544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：一个从地面延伸到大气层的纵向剖面——地面是"历史事实"，中段是"制度结构"，天空是"认知超越"。四条光线（线索）从地面升起，在大气层交汇处汇聚为一点——"人"。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适兕的思想札记，不是一个时间线，而是一个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认知的纵深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线索一：拒绝辉格史观——回到人为了协作而组织的真实历史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线索二：大分流2.0 的日常实践——前现代手段如何扭曲现代制度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线索三：Coase/North/Williamson 工具箱在开源许可证上的直接运用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线索四：在制度分析的尽头回到人文——制度不仅扭曲行为，还制造麻木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内置长时段框架：布罗代尔 × 威廉姆森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6070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层次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力量源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时间尺度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开源对应的现象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表层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事件（événement）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秒/天/周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一次 Fork、一篇声明、一个安全漏洞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中层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形势（conjoncture）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数年/数十年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许可证之争、基金会兴衰、社区分裂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深海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结构（structure）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数十年/数百年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开源作为一种协作制度的形成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657600"/>
          <a:ext cx="10607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层次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制度层面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开源对应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L1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日常交换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Upstream/Downstream 的具体协作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L2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治理结构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OSI、Linux Foundation、基金会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L3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制度环境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产权法、GPL、合规标准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L4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制度环境背景（Institutional Context）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信任、声誉、社区文化、宗教、社会规范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607040" cy="15544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：一张海洋剖面图——表层是浪花（L1 日常事件），中层是洋流（L2/L3 结构与制度），深海是地质（L4 文化—认知）。每一层都标出对应的"时间尺度"——从秒到数十年到数百年。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费尔南·布罗代尔（Fernand Braudel）的"长时段"历史观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奥利弗·威廉姆森（Oliver Williamson）的社会分析框架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布罗代尔告诉我们：真正决定历史走向的，不是表层的事件，而是深海的结构性力量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威廉姆森告诉我们：真正决定协作方式的，不是日常交换，而是嵌入在 L4 的信任与文化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把二者叠在一起，用开源的历史和现状来验证——这是理解开源在中国为什么"长不大"的真正视角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适兕的方法论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：不追问"为什么失败"，追问"深海的结构性力量是什么"——这才是大分流2.0的真正问题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发现与洞见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：两条河流的分流与汇合——左侧一条河（大分流2.0）向右上方分叉成多条支流，每条支流标注一个岔路（本土开源的歧路、外包、制度套利）；右侧一条河（大合流）从不同方向汇入同一片海。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一、大分流2.0 × 大合流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大合流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：全球价值链 / 劳动分工 / 全球化——代码的跨国流动，组件被拆分为全球供应链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大分流2.0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：同一套代码，两种不同的制度命运——在西方蓬勃发展，在中国陷入歧路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大合流是大分流2.0 的背景，不是它的解药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二、本土开源的歧路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纯血开源：把血统审查移植到代码，把政治合法性凌驾于技术选择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赛博庄园：以私有化之名行开源之实，将代码当作可被行政分配的资产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核心错误：把开源当成一种技术，而不是一个需要制度条件的生态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三、外包与开源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外包：交易成本的压缩——将生产外包给全球价值链中的低成本方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开源：交易成本的重新定义——将协作成本社会化，让陌生人无偿贡献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中国的问题：把开源当作可外包的劳动，而不是可自发秩序的协作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1">
                <a:solidFill>
                  <a:srgbClr val="1A1A1F"/>
                </a:solidFill>
                <a:latin typeface="Noto Sans CJK SC"/>
              </a:rPr>
              <a:t>四、制度套利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GitHub、HuggingFace、arXiv、X——这些平台的倾倒式释出（dumping），本质上是制度套利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平台利用开放基础设施获取数据优势，不承担开放生态的治理成本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制度建设的核心：如何在不依赖平台的前提下，建立自己的开放基础设施</a:t>
            </a:r>
          </a:p>
          <a:p>
            <a:pPr>
              <a:lnSpc>
                <a:spcPts val="1500"/>
              </a:lnSpc>
              <a:spcBef>
                <a:spcPts val="300"/>
              </a:spcBef>
              <a:spcAft>
                <a:spcPts val="200"/>
              </a:spcAft>
            </a:pPr>
            <a:r>
              <a:rPr sz="660">
                <a:solidFill>
                  <a:srgbClr val="B88A3E"/>
                </a:solidFill>
              </a:rPr>
              <a:t>■  </a:t>
            </a:r>
            <a:r>
              <a:rPr sz="1100" b="0">
                <a:solidFill>
                  <a:srgbClr val="1A1A1F"/>
                </a:solidFill>
                <a:latin typeface="Noto Sans CJK SC"/>
              </a:rPr>
              <a:t>适兕的判断：制度套利是暂时的竞争优势，制度建设才是持久的生存能力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「开源之道」的输出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6070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20039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输出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形态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</a:tr>
              <a:tr h="320039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开源之道博客 + 公众号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https://opensourceway.blog — 思想札记、深度研究、机构分析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39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「开源之书」共读小组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meetup + 线下活动——把知识变成面对面的共同阅读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39"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LF APAC OSPO SIG × TODO Group Ambassador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国际开源组织的参与和连接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39"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OpenChain China WG × OpenChain Ambassador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开源供应链合规的中国声音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4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发现开源三部曲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《开源之迷》（已出版）《开源之道》《开源之思》——把思考沉淀为出版物；《开源之史》正在写作中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607040" cy="15544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：一个中心圆（开源之道）向外辐射五个方向——每个方向是一条箭头，指向一个输出形态（博客、线下、SIG、OpenChain、书籍），五个箭头最终汇入同一个圆环——"开放"。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五路输出，一个中心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博客和公众号是思想的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公共表达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——写给可能被启蒙的人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共读小组是知识的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共同实践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——不教，一起读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OSPO / OpenChain / TODO 是制度的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一线参与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——不只是在外部评论，而是在里面做事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三部曲是思想的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沉淀物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——迷（直觉与困惑）、道（制度与方法）、思（批判与反思）——从观察到理论的完整闭环；《开源之史》正在写作中，填补"史"的位置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核心判断：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开源之道不是在评论开源，而是在参与开源——用不同的方式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我眼中的开源——事件背后的制度安排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607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事件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100" b="1">
                          <a:solidFill>
                            <a:srgbClr val="F5F0E8"/>
                          </a:solidFill>
                          <a:latin typeface="Noto Sans CJK SC"/>
                        </a:rPr>
                        <a:t>背后的制度逻辑</a:t>
                      </a:r>
                    </a:p>
                  </a:txBody>
                  <a:tcPr>
                    <a:solidFill>
                      <a:srgbClr val="1B3B6B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Anthropic 发布安全模型，Linux Foundation CEO Jim Zemlin 作为和万亿大厂并列其中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制度合法性：基金会成为 AI 时代的治理枢纽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opensourceaimustwin.com 可能引发未来的一场社会运动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运动政治：开源话语作为集体行动的动员框架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开放模型（倾倒式）已然是 gov 介入的一种手段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国家工具：模型开放作为一种基础设施政策</a:t>
                      </a:r>
                    </a:p>
                  </a:txBody>
                  <a:tcPr>
                    <a:solidFill>
                      <a:srgbClr val="F2ECE0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前现代的手段尝试分裂现代的制度和组织安排，所造就的 China Open Source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 lIns="50800" rIns="50800" tIns="25400" bIns="25400" anchor="ctr"/>
                    <a:lstStyle/>
                    <a:p>
                      <a:pPr algn="l"/>
                      <a:r>
                        <a:rPr sz="1000" b="0">
                          <a:solidFill>
                            <a:srgbClr val="1A1A1F"/>
                          </a:solidFill>
                          <a:latin typeface="Noto Sans CJK SC"/>
                        </a:rPr>
                        <a:t>前现代 vs 现代：制度移植中的错位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607040" cy="15544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：四个独立的案例窗口横向排列，每个窗口内是一则新闻标题+一张极简图标（Anthropic/AI Must Win/开放模型/中国开源），每个窗口底部用一条横线指向同一条制度轴线——"制度安排"。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每一件看似孤立的事件背后，都有一个制度安排——我们看到的不是事件，是制度的影子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制度分析不是站在事件外面评论，而是问：</a:t>
            </a:r>
            <a:r>
              <a:rPr sz="1500" b="1">
                <a:solidFill>
                  <a:srgbClr val="1A1A1F"/>
                </a:solidFill>
                <a:latin typeface="Noto Sans CJK SC"/>
              </a:rPr>
              <a:t>为什么这件事只能以这种形式发生？</a:t>
            </a:r>
          </a:p>
          <a:p>
            <a:pPr>
              <a:lnSpc>
                <a:spcPts val="1900"/>
              </a:lnSpc>
              <a:spcBef>
                <a:spcPts val="600"/>
              </a:spcBef>
              <a:spcAft>
                <a:spcPts val="200"/>
              </a:spcAft>
            </a:pPr>
            <a:r>
              <a:rPr sz="900">
                <a:solidFill>
                  <a:srgbClr val="B88A3E"/>
                </a:solidFill>
              </a:rPr>
              <a:t>■  </a:t>
            </a:r>
            <a:r>
              <a:rPr sz="1500" b="0">
                <a:solidFill>
                  <a:srgbClr val="1A1A1F"/>
                </a:solidFill>
                <a:latin typeface="Noto Sans CJK SC"/>
              </a:rPr>
              <a:t>China Open Source 的本质：不是现代制度的产物，而是前现代手段试图嵌入现代组织的失败实验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8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6520"/>
            <a:ext cx="12188952" cy="111480"/>
          </a:xfrm>
          <a:prstGeom prst="rect">
            <a:avLst/>
          </a:prstGeom>
          <a:solidFill>
            <a:srgbClr val="1B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607040" cy="685800"/>
          </a:xfrm>
          <a:prstGeom prst="rect">
            <a:avLst/>
          </a:prstGeom>
          <a:noFill/>
        </p:spPr>
        <p:txBody>
          <a:bodyPr wrap="square" lIns="0" rIns="0" tIns="50800">
            <a:spAutoFit/>
          </a:bodyPr>
          <a:lstStyle/>
          <a:p>
            <a:pPr algn="l"/>
            <a:r>
              <a:rPr sz="2400" b="1">
                <a:solidFill>
                  <a:srgbClr val="1B3B6B"/>
                </a:solidFill>
                <a:latin typeface="Noto Sans CJK SC"/>
              </a:rPr>
              <a:t>保持开放，Keep Movement！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607040" cy="4297680"/>
          </a:xfrm>
          <a:prstGeom prst="rect">
            <a:avLst/>
          </a:prstGeom>
          <a:noFill/>
        </p:spPr>
        <p:txBody>
          <a:bodyPr wrap="square" lIns="76200" tIns="25400">
            <a:spAutoFit/>
          </a:bodyPr>
          <a:lstStyle/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1">
                <a:solidFill>
                  <a:srgbClr val="1A1A1F"/>
                </a:solidFill>
                <a:latin typeface="Noto Sans CJK SC"/>
              </a:rPr>
              <a:t>视觉隐喻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：一条向右上延伸的箭头线（Movement），线尾是一个未闭合的圆环（开放），线从暗部走向亮部——越往前走，底色越亮。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保持开放，Keep Movement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不是"到达"，而是"移动"——知识不是静止的，是在移动中产生的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不是"封闭"，而是"开放"——一个未闭合的圆，意味着还有空间，还有对话，还有未知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「开源之道」近来的工作，就是在移动中保持开放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适兕说：开源之道的道，是思想（idea），不是道路（road）</a:t>
            </a:r>
          </a:p>
          <a:p>
            <a:pPr>
              <a:lnSpc>
                <a:spcPts val="1700"/>
              </a:lnSpc>
              <a:spcBef>
                <a:spcPts val="400"/>
              </a:spcBef>
              <a:spcAft>
                <a:spcPts val="200"/>
              </a:spcAft>
            </a:pPr>
            <a:r>
              <a:rPr sz="780">
                <a:solidFill>
                  <a:srgbClr val="B88A3E"/>
                </a:solidFill>
              </a:rPr>
              <a:t>■  </a:t>
            </a:r>
            <a:r>
              <a:rPr sz="1300" b="0">
                <a:solidFill>
                  <a:srgbClr val="1A1A1F"/>
                </a:solidFill>
                <a:latin typeface="Noto Sans CJK SC"/>
              </a:rPr>
              <a:t>&gt; "Be Water, My friends!" ———— Bruce Lee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