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</p:sldIdLst>
  <p:notesMasterIdLst>
    <p:notesMasterId r:id="rId27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notesMaster" Target="notesMasters/notesMaster1.xml"/><Relationship Id="rId28" Type="http://schemas.openxmlformats.org/officeDocument/2006/relationships/presProps" Target="presProps.xml"/><Relationship Id="rId29" Type="http://schemas.openxmlformats.org/officeDocument/2006/relationships/viewProps" Target="viewProps.xml"/><Relationship Id="rId30" Type="http://schemas.openxmlformats.org/officeDocument/2006/relationships/theme" Target="theme/theme1.xml"/><Relationship Id="rId3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png"/><Relationship Id="rId2" Type="http://schemas.openxmlformats.org/officeDocument/2006/relationships/image" Target="../media/image-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svg"/><Relationship Id="rId3" Type="http://schemas.openxmlformats.org/officeDocument/2006/relationships/image" Target="../media/image-10-3.png"/><Relationship Id="rId4" Type="http://schemas.openxmlformats.org/officeDocument/2006/relationships/image" Target="../media/image-10-4.sv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image" Target="../media/image-13-2.svg"/><Relationship Id="rId3" Type="http://schemas.openxmlformats.org/officeDocument/2006/relationships/image" Target="../media/image-13-3.png"/><Relationship Id="rId4" Type="http://schemas.openxmlformats.org/officeDocument/2006/relationships/image" Target="../media/image-13-4.svg"/><Relationship Id="rId5" Type="http://schemas.openxmlformats.org/officeDocument/2006/relationships/image" Target="../media/image-13-5.png"/><Relationship Id="rId6" Type="http://schemas.openxmlformats.org/officeDocument/2006/relationships/image" Target="../media/image-13-6.svg"/><Relationship Id="rId7" Type="http://schemas.openxmlformats.org/officeDocument/2006/relationships/image" Target="../media/image-13-7.png"/><Relationship Id="rId8" Type="http://schemas.openxmlformats.org/officeDocument/2006/relationships/image" Target="../media/image-13-8.svg"/><Relationship Id="rId9" Type="http://schemas.openxmlformats.org/officeDocument/2006/relationships/image" Target="../media/image-13-9.png"/><Relationship Id="rId10" Type="http://schemas.openxmlformats.org/officeDocument/2006/relationships/image" Target="../media/image-13-10.svg"/><Relationship Id="rId11" Type="http://schemas.openxmlformats.org/officeDocument/2006/relationships/slideLayout" Target="../slideLayouts/slideLayout1.xml"/><Relationship Id="rId1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png"/><Relationship Id="rId2" Type="http://schemas.openxmlformats.org/officeDocument/2006/relationships/image" Target="../media/image-17-2.sv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0-1.png"/><Relationship Id="rId2" Type="http://schemas.openxmlformats.org/officeDocument/2006/relationships/image" Target="../media/image-20-2.sv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5-1.png"/><Relationship Id="rId2" Type="http://schemas.openxmlformats.org/officeDocument/2006/relationships/image" Target="../media/image-25-2.svg"/><Relationship Id="rId3" Type="http://schemas.openxmlformats.org/officeDocument/2006/relationships/image" Target="../media/image-25-3.png"/><Relationship Id="rId4" Type="http://schemas.openxmlformats.org/officeDocument/2006/relationships/image" Target="../media/image-25-4.svg"/><Relationship Id="rId5" Type="http://schemas.openxmlformats.org/officeDocument/2006/relationships/image" Target="../media/image-25-5.png"/><Relationship Id="rId6" Type="http://schemas.openxmlformats.org/officeDocument/2006/relationships/image" Target="../media/image-25-6.svg"/><Relationship Id="rId7" Type="http://schemas.openxmlformats.org/officeDocument/2006/relationships/image" Target="../media/image-25-7.png"/><Relationship Id="rId8" Type="http://schemas.openxmlformats.org/officeDocument/2006/relationships/image" Target="../media/image-25-8.svg"/><Relationship Id="rId9" Type="http://schemas.openxmlformats.org/officeDocument/2006/relationships/image" Target="../media/image-25-9.png"/><Relationship Id="rId10" Type="http://schemas.openxmlformats.org/officeDocument/2006/relationships/image" Target="../media/image-25-10.svg"/><Relationship Id="rId11" Type="http://schemas.openxmlformats.org/officeDocument/2006/relationships/slideLayout" Target="../slideLayouts/slideLayout1.xml"/><Relationship Id="rId12" Type="http://schemas.openxmlformats.org/officeDocument/2006/relationships/notesSlide" Target="../notesSlides/notesSlide2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lee/developing/markdown-to-slides/agentcon-2026-hermes-evolution/images/page_001_hero.png">    </p:cNvPr>
          <p:cNvPicPr>
            <a:picLocks noChangeAspect="1"/>
          </p:cNvPicPr>
          <p:nvPr/>
        </p:nvPicPr>
        <p:blipFill>
          <a:blip r:embed="rId2"/>
          <a:srcRect l="388" r="388" t="0" b="0"/>
          <a:stretch/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gradFill rotWithShape="1">
            <a:gsLst>
              <a:gs pos="0">
                <a:srgbClr val="0F172A">
                  <a:alpha val="92000"/>
                </a:srgbClr>
              </a:gs>
              <a:gs pos="38000">
                <a:srgbClr val="0F172A">
                  <a:alpha val="78000"/>
                </a:srgbClr>
              </a:gs>
              <a:gs pos="68000">
                <a:srgbClr val="0F172A">
                  <a:alpha val="30000"/>
                </a:srgbClr>
              </a:gs>
              <a:gs pos="100000">
                <a:srgbClr val="0F172A">
                  <a:alpha val="5000"/>
                </a:srgbClr>
              </a:gs>
            </a:gsLst>
            <a:lin ang="900000" scaled="0"/>
          </a:gradFill>
          <a:ln/>
        </p:spPr>
      </p:sp>
      <p:sp>
        <p:nvSpPr>
          <p:cNvPr id="4" name="Shap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F172A">
              <a:alpha val="55000"/>
            </a:srgbClr>
          </a:solidFill>
          <a:ln/>
        </p:spPr>
      </p:sp>
      <p:sp>
        <p:nvSpPr>
          <p:cNvPr id="5" name="Shape 2"/>
          <p:cNvSpPr/>
          <p:nvPr/>
        </p:nvSpPr>
        <p:spPr>
          <a:xfrm>
            <a:off x="411480" y="408623"/>
            <a:ext cx="62865" cy="62865"/>
          </a:xfrm>
          <a:prstGeom prst="roundRect">
            <a:avLst>
              <a:gd name="adj" fmla="val 18182"/>
            </a:avLst>
          </a:prstGeom>
          <a:solidFill>
            <a:srgbClr val="00BCD4"/>
          </a:solidFill>
          <a:ln/>
          <a:effectLst>
            <a:outerShdw sx="100000" sy="100000" kx="0" ky="0" algn="bl" rotWithShape="0" blurRad="133350" dist="50800" dir="16200000">
              <a:srgbClr val="00BCD4">
                <a:alpha val="75000"/>
              </a:srgbClr>
            </a:outerShdw>
          </a:effectLst>
        </p:spPr>
      </p:sp>
      <p:sp>
        <p:nvSpPr>
          <p:cNvPr id="6" name="Text 3"/>
          <p:cNvSpPr/>
          <p:nvPr/>
        </p:nvSpPr>
        <p:spPr>
          <a:xfrm>
            <a:off x="565785" y="397193"/>
            <a:ext cx="972422" cy="85725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buNone/>
            </a:pPr>
            <a:r>
              <a:rPr lang="en-US" sz="540" spc="173" kern="0" dirty="0">
                <a:solidFill>
                  <a:srgbClr val="F5F5F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AGENTCON 2026</a:t>
            </a:r>
            <a:endParaRPr lang="en-US" sz="540" dirty="0"/>
          </a:p>
        </p:txBody>
      </p:sp>
      <p:sp>
        <p:nvSpPr>
          <p:cNvPr id="7" name="Text 4"/>
          <p:cNvSpPr/>
          <p:nvPr/>
        </p:nvSpPr>
        <p:spPr>
          <a:xfrm>
            <a:off x="1525459" y="400050"/>
            <a:ext cx="1543193" cy="80010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buNone/>
            </a:pPr>
            <a:r>
              <a:rPr lang="en-US" sz="495" spc="178" kern="0" dirty="0">
                <a:solidFill>
                  <a:srgbClr val="00BCD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BEIJING / TOKEN ECONOMY</a:t>
            </a:r>
            <a:endParaRPr lang="en-US" sz="495" dirty="0"/>
          </a:p>
        </p:txBody>
      </p:sp>
      <p:sp>
        <p:nvSpPr>
          <p:cNvPr id="8" name="Text 5"/>
          <p:cNvSpPr/>
          <p:nvPr/>
        </p:nvSpPr>
        <p:spPr>
          <a:xfrm>
            <a:off x="7049453" y="400050"/>
            <a:ext cx="847206" cy="8001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473" spc="85" kern="0" dirty="0">
                <a:solidFill>
                  <a:srgbClr val="F5F5F7">
                    <a:alpha val="68000"/>
                  </a:srgbClr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COVER · 01 / 01</a:t>
            </a:r>
            <a:endParaRPr lang="en-US" sz="473" dirty="0"/>
          </a:p>
        </p:txBody>
      </p:sp>
      <p:sp>
        <p:nvSpPr>
          <p:cNvPr id="9" name="Shape 6"/>
          <p:cNvSpPr/>
          <p:nvPr/>
        </p:nvSpPr>
        <p:spPr>
          <a:xfrm>
            <a:off x="7049453" y="422910"/>
            <a:ext cx="34290" cy="34290"/>
          </a:xfrm>
          <a:prstGeom prst="ellipse">
            <a:avLst/>
          </a:prstGeom>
          <a:solidFill>
            <a:srgbClr val="FF7043"/>
          </a:solidFill>
          <a:ln/>
        </p:spPr>
      </p:sp>
      <p:sp>
        <p:nvSpPr>
          <p:cNvPr id="10" name="Text 7"/>
          <p:cNvSpPr/>
          <p:nvPr/>
        </p:nvSpPr>
        <p:spPr>
          <a:xfrm>
            <a:off x="7965906" y="400050"/>
            <a:ext cx="858607" cy="80010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buNone/>
            </a:pPr>
            <a:r>
              <a:rPr lang="en-US" sz="473" spc="85" kern="0" dirty="0">
                <a:solidFill>
                  <a:srgbClr val="F5F5F7">
                    <a:alpha val="68000"/>
                  </a:srgbClr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OPEN-SOURCE TRACK</a:t>
            </a:r>
            <a:endParaRPr lang="en-US" sz="473" dirty="0"/>
          </a:p>
        </p:txBody>
      </p:sp>
      <p:sp>
        <p:nvSpPr>
          <p:cNvPr id="11" name="Shape 8"/>
          <p:cNvSpPr/>
          <p:nvPr/>
        </p:nvSpPr>
        <p:spPr>
          <a:xfrm>
            <a:off x="411480" y="674370"/>
            <a:ext cx="685800" cy="17145"/>
          </a:xfrm>
          <a:prstGeom prst="rect">
            <a:avLst/>
          </a:prstGeom>
          <a:gradFill rotWithShape="1">
            <a:gsLst>
              <a:gs pos="0">
                <a:srgbClr val="00BCD4"/>
              </a:gs>
              <a:gs pos="100000">
                <a:srgbClr val="000000">
                  <a:alpha val="0"/>
                </a:srgbClr>
              </a:gs>
            </a:gsLst>
            <a:lin ang="0" scaled="0"/>
          </a:gradFill>
          <a:ln/>
        </p:spPr>
      </p:sp>
      <p:sp>
        <p:nvSpPr>
          <p:cNvPr id="12" name="Text 9"/>
          <p:cNvSpPr/>
          <p:nvPr/>
        </p:nvSpPr>
        <p:spPr>
          <a:xfrm>
            <a:off x="411480" y="1508760"/>
            <a:ext cx="6912864" cy="109353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4140" b="1" spc="-83" kern="0" dirty="0">
                <a:solidFill>
                  <a:srgbClr val="F5F5F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从</a:t>
            </a:r>
            <a:pPr algn="l" indent="0" marL="0">
              <a:lnSpc>
                <a:spcPct val="104000"/>
              </a:lnSpc>
              <a:buNone/>
            </a:pPr>
            <a:r>
              <a:rPr lang="en-US" sz="4140" b="1" spc="-83" kern="0" dirty="0">
                <a:solidFill>
                  <a:srgbClr val="00BCD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Hermes</a:t>
            </a:r>
            <a:pPr algn="l" indent="0" marL="0">
              <a:lnSpc>
                <a:spcPct val="104000"/>
              </a:lnSpc>
              <a:buNone/>
            </a:pPr>
            <a:r>
              <a:rPr lang="en-US" sz="4140" b="1" spc="-83" kern="0" dirty="0">
                <a:solidFill>
                  <a:srgbClr val="F5F5F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演化看</a:t>
            </a:r>
            <a:pPr algn="l" indent="0" marL="0">
              <a:lnSpc>
                <a:spcPct val="104000"/>
              </a:lnSpc>
              <a:buNone/>
            </a:pPr>
            <a:endParaRPr lang="en-US" sz="4140" dirty="0"/>
          </a:p>
          <a:p>
            <a:pPr algn="l" indent="0" marL="0">
              <a:lnSpc>
                <a:spcPct val="104000"/>
              </a:lnSpc>
              <a:buNone/>
            </a:pPr>
            <a:r>
              <a:rPr lang="en-US" sz="4140" b="1" spc="-83" kern="0" dirty="0">
                <a:solidFill>
                  <a:srgbClr val="F5F5F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Agent 需求与消费演进</a:t>
            </a:r>
            <a:endParaRPr lang="en-US" sz="4140" dirty="0"/>
          </a:p>
        </p:txBody>
      </p:sp>
      <p:sp>
        <p:nvSpPr>
          <p:cNvPr id="13" name="Text 10"/>
          <p:cNvSpPr/>
          <p:nvPr/>
        </p:nvSpPr>
        <p:spPr>
          <a:xfrm>
            <a:off x="411480" y="2796600"/>
            <a:ext cx="6912864" cy="16573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spc="126" kern="0" dirty="0">
                <a:solidFill>
                  <a:srgbClr val="F5F5F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AgentCon 2026</a:t>
            </a:r>
            <a:pPr algn="l" indent="0" marL="0">
              <a:buNone/>
            </a:pPr>
            <a:r>
              <a:rPr lang="en-US" sz="900" spc="126" kern="0" dirty="0">
                <a:solidFill>
                  <a:srgbClr val="00BCD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·</a:t>
            </a:r>
            <a:pPr algn="l" indent="0" marL="0">
              <a:buNone/>
            </a:pPr>
            <a:r>
              <a:rPr lang="en-US" sz="900" spc="126" kern="0" dirty="0">
                <a:solidFill>
                  <a:srgbClr val="F5F5F7">
                    <a:alpha val="68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北京站</a:t>
            </a:r>
            <a:pPr algn="l" indent="0" marL="0">
              <a:buNone/>
            </a:pPr>
            <a:r>
              <a:rPr lang="en-US" sz="900" spc="126" kern="0" dirty="0">
                <a:solidFill>
                  <a:srgbClr val="00BCD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·</a:t>
            </a:r>
            <a:pPr algn="l" indent="0" marL="0">
              <a:buNone/>
            </a:pPr>
            <a:r>
              <a:rPr lang="en-US" sz="900" spc="126" kern="0" dirty="0">
                <a:solidFill>
                  <a:srgbClr val="F5F5F7">
                    <a:alpha val="68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「开源之道」</a:t>
            </a:r>
            <a:pPr algn="l" indent="0" marL="0">
              <a:buNone/>
            </a:pPr>
            <a:r>
              <a:rPr lang="en-US" sz="900" spc="126" kern="0" dirty="0">
                <a:solidFill>
                  <a:srgbClr val="00BCD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·</a:t>
            </a:r>
            <a:pPr algn="l" indent="0" marL="0">
              <a:buNone/>
            </a:pPr>
            <a:r>
              <a:rPr lang="en-US" sz="900" spc="126" kern="0" dirty="0">
                <a:solidFill>
                  <a:srgbClr val="F5F5F7">
                    <a:alpha val="68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适兕</a:t>
            </a:r>
            <a:pPr algn="l" indent="0" marL="0">
              <a:buNone/>
            </a:pPr>
            <a:r>
              <a:rPr lang="en-US" sz="900" spc="126" kern="0" dirty="0">
                <a:solidFill>
                  <a:srgbClr val="F5F5F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×</a:t>
            </a:r>
            <a:pPr algn="l" indent="0" marL="0">
              <a:buNone/>
            </a:pPr>
            <a:r>
              <a:rPr lang="en-US" sz="900" spc="126" kern="0" dirty="0">
                <a:solidFill>
                  <a:srgbClr val="F5F5F7">
                    <a:alpha val="68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窄廊</a:t>
            </a:r>
            <a:endParaRPr lang="en-US" sz="900" dirty="0"/>
          </a:p>
        </p:txBody>
      </p:sp>
      <p:sp>
        <p:nvSpPr>
          <p:cNvPr id="14" name="Text 11"/>
          <p:cNvSpPr/>
          <p:nvPr/>
        </p:nvSpPr>
        <p:spPr>
          <a:xfrm>
            <a:off x="411480" y="3133785"/>
            <a:ext cx="5248656" cy="28003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75000"/>
              </a:lnSpc>
              <a:buNone/>
            </a:pPr>
            <a:r>
              <a:rPr lang="en-US" sz="630" spc="19" kern="0" dirty="0">
                <a:solidFill>
                  <a:srgbClr val="F5F5F7">
                    <a:alpha val="42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以</a:t>
            </a:r>
            <a:pPr algn="l" indent="0" marL="0">
              <a:lnSpc>
                <a:spcPct val="175000"/>
              </a:lnSpc>
              <a:buNone/>
            </a:pPr>
            <a:r>
              <a:rPr lang="en-US" sz="630" spc="19" kern="0" dirty="0">
                <a:solidFill>
                  <a:srgbClr val="00BCD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NousResearch / hermes-agent</a:t>
            </a:r>
            <a:pPr algn="l" indent="0" marL="0">
              <a:lnSpc>
                <a:spcPct val="175000"/>
              </a:lnSpc>
              <a:buNone/>
            </a:pPr>
            <a:r>
              <a:rPr lang="en-US" sz="630" spc="19" kern="0" dirty="0">
                <a:solidFill>
                  <a:srgbClr val="F5F5F7">
                    <a:alpha val="42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（243K star）为公开样本，用一年多的公开演化数据回答 Agent 从「能用」到「会协作」的三个制度问题——度量权、可靠性、产权。</a:t>
            </a:r>
            <a:endParaRPr lang="en-US" sz="630" dirty="0"/>
          </a:p>
        </p:txBody>
      </p:sp>
      <p:sp>
        <p:nvSpPr>
          <p:cNvPr id="15" name="Shape 12"/>
          <p:cNvSpPr/>
          <p:nvPr/>
        </p:nvSpPr>
        <p:spPr>
          <a:xfrm>
            <a:off x="411480" y="4446984"/>
            <a:ext cx="11430" cy="342186"/>
          </a:xfrm>
          <a:prstGeom prst="rect">
            <a:avLst/>
          </a:prstGeom>
          <a:solidFill>
            <a:srgbClr val="00BCD4"/>
          </a:solidFill>
          <a:ln/>
        </p:spPr>
      </p:sp>
      <p:sp>
        <p:nvSpPr>
          <p:cNvPr id="16" name="Text 13"/>
          <p:cNvSpPr/>
          <p:nvPr/>
        </p:nvSpPr>
        <p:spPr>
          <a:xfrm>
            <a:off x="525780" y="4412694"/>
            <a:ext cx="1216152" cy="80010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buNone/>
            </a:pPr>
            <a:r>
              <a:rPr lang="en-US" sz="473" spc="151" kern="0" dirty="0">
                <a:solidFill>
                  <a:srgbClr val="00BCD4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DATE</a:t>
            </a:r>
            <a:endParaRPr lang="en-US" sz="473" dirty="0"/>
          </a:p>
        </p:txBody>
      </p:sp>
      <p:sp>
        <p:nvSpPr>
          <p:cNvPr id="17" name="Text 14"/>
          <p:cNvSpPr/>
          <p:nvPr/>
        </p:nvSpPr>
        <p:spPr>
          <a:xfrm>
            <a:off x="525780" y="4561284"/>
            <a:ext cx="1216152" cy="2621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765" spc="15" kern="0" dirty="0">
                <a:solidFill>
                  <a:srgbClr val="F5F5F7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2026-09-21</a:t>
            </a:r>
            <a:pPr algn="l" indent="0" marL="0">
              <a:lnSpc>
                <a:spcPct val="135000"/>
              </a:lnSpc>
              <a:buNone/>
            </a:pPr>
            <a:endParaRPr lang="en-US" sz="765" dirty="0"/>
          </a:p>
          <a:p>
            <a:pPr algn="l" indent="0" marL="0">
              <a:lnSpc>
                <a:spcPct val="135000"/>
              </a:lnSpc>
              <a:buNone/>
            </a:pPr>
            <a:r>
              <a:rPr lang="en-US" sz="765" b="1" spc="15" kern="0" dirty="0">
                <a:solidFill>
                  <a:srgbClr val="F5F5F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AgentCon 北京站</a:t>
            </a:r>
            <a:endParaRPr lang="en-US" sz="765" dirty="0"/>
          </a:p>
        </p:txBody>
      </p:sp>
      <p:sp>
        <p:nvSpPr>
          <p:cNvPr id="18" name="Shape 15"/>
          <p:cNvSpPr/>
          <p:nvPr/>
        </p:nvSpPr>
        <p:spPr>
          <a:xfrm>
            <a:off x="1977390" y="4446984"/>
            <a:ext cx="11430" cy="342186"/>
          </a:xfrm>
          <a:prstGeom prst="rect">
            <a:avLst/>
          </a:prstGeom>
          <a:solidFill>
            <a:srgbClr val="00BCD4"/>
          </a:solidFill>
          <a:ln/>
        </p:spPr>
      </p:sp>
      <p:sp>
        <p:nvSpPr>
          <p:cNvPr id="19" name="Text 16"/>
          <p:cNvSpPr/>
          <p:nvPr/>
        </p:nvSpPr>
        <p:spPr>
          <a:xfrm>
            <a:off x="2091690" y="4412694"/>
            <a:ext cx="1216152" cy="80010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buNone/>
            </a:pPr>
            <a:r>
              <a:rPr lang="en-US" sz="473" spc="151" kern="0" dirty="0">
                <a:solidFill>
                  <a:srgbClr val="00BCD4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TRACK</a:t>
            </a:r>
            <a:endParaRPr lang="en-US" sz="473" dirty="0"/>
          </a:p>
        </p:txBody>
      </p:sp>
      <p:sp>
        <p:nvSpPr>
          <p:cNvPr id="20" name="Text 17"/>
          <p:cNvSpPr/>
          <p:nvPr/>
        </p:nvSpPr>
        <p:spPr>
          <a:xfrm>
            <a:off x="2091690" y="4561284"/>
            <a:ext cx="1216152" cy="2621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765" b="1" spc="15" kern="0" dirty="0">
                <a:solidFill>
                  <a:srgbClr val="F5F5F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Token 经济趋势</a:t>
            </a:r>
            <a:pPr algn="l" indent="0" marL="0">
              <a:lnSpc>
                <a:spcPct val="135000"/>
              </a:lnSpc>
              <a:buNone/>
            </a:pPr>
            <a:endParaRPr lang="en-US" sz="765" dirty="0"/>
          </a:p>
          <a:p>
            <a:pPr algn="l" indent="0" marL="0">
              <a:lnSpc>
                <a:spcPct val="135000"/>
              </a:lnSpc>
              <a:buNone/>
            </a:pPr>
            <a:r>
              <a:rPr lang="en-US" sz="765" spc="15" kern="0" dirty="0">
                <a:solidFill>
                  <a:srgbClr val="F5F5F7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90 min · Keynote</a:t>
            </a:r>
            <a:endParaRPr lang="en-US" sz="765" dirty="0"/>
          </a:p>
        </p:txBody>
      </p:sp>
      <p:sp>
        <p:nvSpPr>
          <p:cNvPr id="21" name="Shape 18"/>
          <p:cNvSpPr/>
          <p:nvPr/>
        </p:nvSpPr>
        <p:spPr>
          <a:xfrm>
            <a:off x="3543300" y="4446984"/>
            <a:ext cx="11430" cy="342186"/>
          </a:xfrm>
          <a:prstGeom prst="rect">
            <a:avLst/>
          </a:prstGeom>
          <a:solidFill>
            <a:srgbClr val="00BCD4"/>
          </a:solidFill>
          <a:ln/>
        </p:spPr>
      </p:sp>
      <p:sp>
        <p:nvSpPr>
          <p:cNvPr id="22" name="Text 19"/>
          <p:cNvSpPr/>
          <p:nvPr/>
        </p:nvSpPr>
        <p:spPr>
          <a:xfrm>
            <a:off x="3657600" y="4412694"/>
            <a:ext cx="1216152" cy="80010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buNone/>
            </a:pPr>
            <a:r>
              <a:rPr lang="en-US" sz="473" spc="151" kern="0" dirty="0">
                <a:solidFill>
                  <a:srgbClr val="00BCD4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SPEAKERS</a:t>
            </a:r>
            <a:endParaRPr lang="en-US" sz="473" dirty="0"/>
          </a:p>
        </p:txBody>
      </p:sp>
      <p:sp>
        <p:nvSpPr>
          <p:cNvPr id="23" name="Text 20"/>
          <p:cNvSpPr/>
          <p:nvPr/>
        </p:nvSpPr>
        <p:spPr>
          <a:xfrm>
            <a:off x="3657600" y="4561284"/>
            <a:ext cx="1216152" cy="2621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765" b="1" spc="15" kern="0" dirty="0">
                <a:solidFill>
                  <a:srgbClr val="F5F5F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「开源之道」</a:t>
            </a:r>
            <a:pPr algn="l" indent="0" marL="0">
              <a:lnSpc>
                <a:spcPct val="135000"/>
              </a:lnSpc>
              <a:buNone/>
            </a:pPr>
            <a:endParaRPr lang="en-US" sz="765" dirty="0"/>
          </a:p>
          <a:p>
            <a:pPr algn="l" indent="0" marL="0">
              <a:lnSpc>
                <a:spcPct val="135000"/>
              </a:lnSpc>
              <a:buNone/>
            </a:pPr>
            <a:r>
              <a:rPr lang="en-US" sz="765" b="1" spc="15" kern="0" dirty="0">
                <a:solidFill>
                  <a:srgbClr val="F5F5F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适兕 × 窄廊</a:t>
            </a:r>
            <a:endParaRPr lang="en-US" sz="765" dirty="0"/>
          </a:p>
        </p:txBody>
      </p:sp>
      <p:sp>
        <p:nvSpPr>
          <p:cNvPr id="24" name="Shape 21"/>
          <p:cNvSpPr/>
          <p:nvPr/>
        </p:nvSpPr>
        <p:spPr>
          <a:xfrm>
            <a:off x="7086511" y="4149090"/>
            <a:ext cx="1646009" cy="297180"/>
          </a:xfrm>
          <a:prstGeom prst="roundRect">
            <a:avLst>
              <a:gd name="adj" fmla="val 3846"/>
            </a:avLst>
          </a:prstGeom>
          <a:solidFill>
            <a:srgbClr val="1E293B">
              <a:alpha val="55000"/>
            </a:srgbClr>
          </a:solidFill>
          <a:ln w="5715">
            <a:solidFill>
              <a:srgbClr val="00BCD4">
                <a:alpha val="32000"/>
              </a:srgbClr>
            </a:solidFill>
            <a:prstDash val="solid"/>
          </a:ln>
        </p:spPr>
      </p:sp>
      <p:sp>
        <p:nvSpPr>
          <p:cNvPr id="25" name="Shape 22"/>
          <p:cNvSpPr/>
          <p:nvPr/>
        </p:nvSpPr>
        <p:spPr>
          <a:xfrm>
            <a:off x="7206526" y="4274820"/>
            <a:ext cx="45720" cy="45720"/>
          </a:xfrm>
          <a:prstGeom prst="roundRect">
            <a:avLst>
              <a:gd name="adj" fmla="val 12500"/>
            </a:avLst>
          </a:prstGeom>
          <a:solidFill>
            <a:srgbClr val="00BCD4"/>
          </a:solidFill>
          <a:ln/>
          <a:effectLst>
            <a:outerShdw sx="100000" sy="100000" kx="0" ky="0" algn="bl" rotWithShape="0" blurRad="95250" dist="50800" dir="16200000">
              <a:srgbClr val="00BCD4">
                <a:alpha val="70000"/>
              </a:srgbClr>
            </a:outerShdw>
          </a:effectLst>
        </p:spPr>
      </p:sp>
      <p:sp>
        <p:nvSpPr>
          <p:cNvPr id="26" name="Text 23"/>
          <p:cNvSpPr/>
          <p:nvPr/>
        </p:nvSpPr>
        <p:spPr>
          <a:xfrm>
            <a:off x="7332256" y="4260533"/>
            <a:ext cx="788599" cy="74295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buNone/>
            </a:pPr>
            <a:r>
              <a:rPr lang="en-US" sz="450" spc="126" kern="0" dirty="0">
                <a:solidFill>
                  <a:srgbClr val="F5F5F7">
                    <a:alpha val="68000"/>
                  </a:srgbClr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HERMES · STARS</a:t>
            </a:r>
            <a:endParaRPr lang="en-US" sz="450" dirty="0"/>
          </a:p>
        </p:txBody>
      </p:sp>
      <p:sp>
        <p:nvSpPr>
          <p:cNvPr id="27" name="Text 24"/>
          <p:cNvSpPr/>
          <p:nvPr/>
        </p:nvSpPr>
        <p:spPr>
          <a:xfrm>
            <a:off x="8116372" y="4223385"/>
            <a:ext cx="610433" cy="148590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buNone/>
            </a:pPr>
            <a:r>
              <a:rPr lang="en-US" sz="900" spc="18" kern="0" dirty="0">
                <a:solidFill>
                  <a:srgbClr val="00BCD4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243,919</a:t>
            </a:r>
            <a:endParaRPr lang="en-US" sz="900" dirty="0"/>
          </a:p>
        </p:txBody>
      </p:sp>
      <p:sp>
        <p:nvSpPr>
          <p:cNvPr id="28" name="Shape 25"/>
          <p:cNvSpPr/>
          <p:nvPr/>
        </p:nvSpPr>
        <p:spPr>
          <a:xfrm>
            <a:off x="6924258" y="4526280"/>
            <a:ext cx="1808262" cy="297180"/>
          </a:xfrm>
          <a:prstGeom prst="roundRect">
            <a:avLst>
              <a:gd name="adj" fmla="val 3846"/>
            </a:avLst>
          </a:prstGeom>
          <a:solidFill>
            <a:srgbClr val="1E293B">
              <a:alpha val="55000"/>
            </a:srgbClr>
          </a:solidFill>
          <a:ln w="5715">
            <a:solidFill>
              <a:srgbClr val="00BCD4">
                <a:alpha val="32000"/>
              </a:srgbClr>
            </a:solidFill>
            <a:prstDash val="solid"/>
          </a:ln>
        </p:spPr>
      </p:sp>
      <p:sp>
        <p:nvSpPr>
          <p:cNvPr id="29" name="Shape 26"/>
          <p:cNvSpPr/>
          <p:nvPr/>
        </p:nvSpPr>
        <p:spPr>
          <a:xfrm>
            <a:off x="7044273" y="4652010"/>
            <a:ext cx="45720" cy="45720"/>
          </a:xfrm>
          <a:prstGeom prst="roundRect">
            <a:avLst>
              <a:gd name="adj" fmla="val 12500"/>
            </a:avLst>
          </a:prstGeom>
          <a:solidFill>
            <a:srgbClr val="FF7043"/>
          </a:solidFill>
          <a:ln/>
          <a:effectLst>
            <a:outerShdw sx="100000" sy="100000" kx="0" ky="0" algn="bl" rotWithShape="0" blurRad="95250" dist="50800" dir="16200000">
              <a:srgbClr val="FF7043">
                <a:alpha val="70000"/>
              </a:srgbClr>
            </a:outerShdw>
          </a:effectLst>
        </p:spPr>
      </p:sp>
      <p:sp>
        <p:nvSpPr>
          <p:cNvPr id="30" name="Text 27"/>
          <p:cNvSpPr/>
          <p:nvPr/>
        </p:nvSpPr>
        <p:spPr>
          <a:xfrm>
            <a:off x="7170003" y="4637723"/>
            <a:ext cx="732292" cy="74295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buNone/>
            </a:pPr>
            <a:r>
              <a:rPr lang="en-US" sz="450" spc="126" kern="0" dirty="0">
                <a:solidFill>
                  <a:srgbClr val="F5F5F7">
                    <a:alpha val="68000"/>
                  </a:srgbClr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DATA BASELINE</a:t>
            </a:r>
            <a:endParaRPr lang="en-US" sz="450" dirty="0"/>
          </a:p>
        </p:txBody>
      </p:sp>
      <p:sp>
        <p:nvSpPr>
          <p:cNvPr id="31" name="Text 28"/>
          <p:cNvSpPr/>
          <p:nvPr/>
        </p:nvSpPr>
        <p:spPr>
          <a:xfrm>
            <a:off x="7903845" y="4600575"/>
            <a:ext cx="822960" cy="148590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buNone/>
            </a:pPr>
            <a:r>
              <a:rPr lang="en-US" sz="900" spc="18" kern="0" dirty="0">
                <a:solidFill>
                  <a:srgbClr val="FF7043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2026-09-11</a:t>
            </a:r>
            <a:endParaRPr lang="en-US" sz="900" dirty="0"/>
          </a:p>
        </p:txBody>
      </p:sp>
      <p:sp>
        <p:nvSpPr>
          <p:cNvPr id="32" name="Text 29"/>
          <p:cNvSpPr/>
          <p:nvPr/>
        </p:nvSpPr>
        <p:spPr>
          <a:xfrm>
            <a:off x="411480" y="4920615"/>
            <a:ext cx="3659857" cy="7429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428" spc="154" kern="0" dirty="0">
                <a:solidFill>
                  <a:srgbClr val="F5F5F7">
                    <a:alpha val="42000"/>
                  </a:srgbClr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NOUNSRESEARCH · HERMES-AGENT · PUBLIC EVOLUTION 2025 — 2026</a:t>
            </a:r>
            <a:endParaRPr lang="en-US" sz="428" dirty="0"/>
          </a:p>
        </p:txBody>
      </p:sp>
      <p:sp>
        <p:nvSpPr>
          <p:cNvPr id="33" name="Shape 30"/>
          <p:cNvSpPr/>
          <p:nvPr/>
        </p:nvSpPr>
        <p:spPr>
          <a:xfrm>
            <a:off x="411480" y="4940618"/>
            <a:ext cx="34290" cy="34290"/>
          </a:xfrm>
          <a:prstGeom prst="rect">
            <a:avLst/>
          </a:prstGeom>
          <a:solidFill>
            <a:srgbClr val="00BCD4"/>
          </a:solidFill>
          <a:ln/>
        </p:spPr>
      </p:sp>
      <p:sp>
        <p:nvSpPr>
          <p:cNvPr id="34" name="Text 31"/>
          <p:cNvSpPr/>
          <p:nvPr/>
        </p:nvSpPr>
        <p:spPr>
          <a:xfrm>
            <a:off x="6632883" y="4920615"/>
            <a:ext cx="2351594" cy="74295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buNone/>
            </a:pPr>
            <a:r>
              <a:rPr lang="en-US" sz="428" spc="154" kern="0" dirty="0">
                <a:solidFill>
                  <a:srgbClr val="F5F5F7">
                    <a:alpha val="42000"/>
                  </a:srgbClr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METRICS · RELIABILITY · PROPERTY RIGHTS</a:t>
            </a:r>
            <a:endParaRPr lang="en-US" sz="428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1E293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gradFill rotWithShape="1">
            <a:gsLst>
              <a:gs pos="0">
                <a:srgbClr val="000000">
                  <a:alpha val="4000"/>
                </a:srgbClr>
              </a:gs>
              <a:gs pos="25000">
                <a:srgbClr val="000000">
                  <a:alpha val="0"/>
                </a:srgbClr>
              </a:gs>
              <a:gs pos="50000">
                <a:srgbClr val="000000"/>
              </a:gs>
              <a:gs pos="75000">
                <a:srgbClr val="000000">
                  <a:alpha val="4000"/>
                </a:srgbClr>
              </a:gs>
              <a:gs pos="100000">
                <a:srgbClr val="000000">
                  <a:alpha val="0"/>
                </a:srgbClr>
              </a:gs>
            </a:gsLst>
            <a:lin ang="5400000" scaled="0"/>
          </a:gradFill>
          <a:ln/>
        </p:spPr>
      </p:sp>
      <p:sp>
        <p:nvSpPr>
          <p:cNvPr id="3" name="Shape 1"/>
          <p:cNvSpPr/>
          <p:nvPr/>
        </p:nvSpPr>
        <p:spPr>
          <a:xfrm>
            <a:off x="5715000" y="-1714500"/>
            <a:ext cx="4572000" cy="4572000"/>
          </a:xfrm>
          <a:prstGeom prst="rect">
            <a:avLst/>
          </a:prstGeom>
          <a:solidFill>
            <a:srgbClr val="00BCD4">
              <a:alpha val="10000"/>
            </a:srgbClr>
          </a:solidFill>
          <a:ln/>
          <a:effectLst>
            <a:outerShdw sx="100000" sy="100000" kx="0" ky="0" algn="bl" rotWithShape="0" blurRad="114300" dist="50800" dir="16200000">
              <a:srgbClr val="00BCD4">
                <a:alpha val="60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-857250" y="2857500"/>
            <a:ext cx="3429000" cy="3429000"/>
          </a:xfrm>
          <a:prstGeom prst="rect">
            <a:avLst/>
          </a:prstGeom>
          <a:solidFill>
            <a:srgbClr val="FF7043">
              <a:alpha val="6000"/>
            </a:srgbClr>
          </a:solidFill>
          <a:ln/>
          <a:effectLst>
            <a:outerShdw sx="100000" sy="100000" kx="0" ky="0" algn="bl" rotWithShape="0" blurRad="171450" dist="50800" dir="16200000">
              <a:srgbClr val="FF7043">
                <a:alpha val="6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F172A">
              <a:alpha val="50000"/>
            </a:srgbClr>
          </a:solidFill>
          <a:ln/>
        </p:spPr>
      </p:sp>
      <p:sp>
        <p:nvSpPr>
          <p:cNvPr id="6" name="Shape 4"/>
          <p:cNvSpPr/>
          <p:nvPr/>
        </p:nvSpPr>
        <p:spPr>
          <a:xfrm>
            <a:off x="400050" y="322898"/>
            <a:ext cx="34290" cy="34290"/>
          </a:xfrm>
          <a:prstGeom prst="ellipse">
            <a:avLst/>
          </a:prstGeom>
          <a:solidFill>
            <a:srgbClr val="00BCD4"/>
          </a:solidFill>
          <a:ln/>
          <a:effectLst>
            <a:outerShdw sx="100000" sy="100000" kx="0" ky="0" algn="bl" rotWithShape="0" blurRad="95250" dist="50800" dir="16200000">
              <a:srgbClr val="00BCD4">
                <a:alpha val="100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14350" y="297180"/>
            <a:ext cx="1379772" cy="85725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buNone/>
            </a:pPr>
            <a:r>
              <a:rPr lang="en-US" sz="540" spc="151" kern="0" dirty="0">
                <a:solidFill>
                  <a:srgbClr val="00BCD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OPEN · SOURCE · AGENT</a:t>
            </a:r>
            <a:endParaRPr lang="en-US" sz="540" dirty="0"/>
          </a:p>
        </p:txBody>
      </p:sp>
      <p:sp>
        <p:nvSpPr>
          <p:cNvPr id="8" name="Shape 6"/>
          <p:cNvSpPr/>
          <p:nvPr/>
        </p:nvSpPr>
        <p:spPr>
          <a:xfrm>
            <a:off x="1826300" y="337185"/>
            <a:ext cx="182880" cy="5715"/>
          </a:xfrm>
          <a:prstGeom prst="rect">
            <a:avLst/>
          </a:prstGeom>
          <a:solidFill>
            <a:srgbClr val="334155"/>
          </a:solidFill>
          <a:ln/>
        </p:spPr>
      </p:sp>
      <p:sp>
        <p:nvSpPr>
          <p:cNvPr id="9" name="Text 7"/>
          <p:cNvSpPr/>
          <p:nvPr/>
        </p:nvSpPr>
        <p:spPr>
          <a:xfrm>
            <a:off x="2089190" y="297180"/>
            <a:ext cx="1054632" cy="85725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buNone/>
            </a:pPr>
            <a:r>
              <a:rPr lang="en-US" sz="540" spc="151" kern="0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CH.01 / PROLOGUE</a:t>
            </a:r>
            <a:endParaRPr lang="en-US" sz="540" dirty="0"/>
          </a:p>
        </p:txBody>
      </p:sp>
      <p:sp>
        <p:nvSpPr>
          <p:cNvPr id="10" name="Text 8"/>
          <p:cNvSpPr/>
          <p:nvPr/>
        </p:nvSpPr>
        <p:spPr>
          <a:xfrm>
            <a:off x="400050" y="440055"/>
            <a:ext cx="3839380" cy="26289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800" b="1" spc="-18" kern="0" dirty="0">
                <a:solidFill>
                  <a:srgbClr val="E2E8F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引子：为什么</a:t>
            </a:r>
            <a:pPr algn="l" indent="0" marL="0">
              <a:lnSpc>
                <a:spcPct val="115000"/>
              </a:lnSpc>
              <a:buNone/>
            </a:pPr>
            <a:r>
              <a:rPr lang="en-US" sz="1800" b="1" spc="-18" kern="0" dirty="0">
                <a:solidFill>
                  <a:srgbClr val="00BCD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开源 Agent</a:t>
            </a:r>
            <a:pPr algn="l" indent="0" marL="0">
              <a:lnSpc>
                <a:spcPct val="115000"/>
              </a:lnSpc>
              <a:buNone/>
            </a:pPr>
            <a:r>
              <a:rPr lang="en-US" sz="1800" b="1" spc="-18" kern="0" dirty="0">
                <a:solidFill>
                  <a:srgbClr val="E2E8F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值得</a:t>
            </a:r>
            <a:pPr algn="l" indent="0" marL="0">
              <a:lnSpc>
                <a:spcPct val="115000"/>
              </a:lnSpc>
              <a:buNone/>
            </a:pPr>
            <a:r>
              <a:rPr lang="en-US" sz="1800" b="1" spc="-18" kern="0" dirty="0">
                <a:solidFill>
                  <a:srgbClr val="FF704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观察</a:t>
            </a:r>
            <a:endParaRPr lang="en-US" sz="1800" dirty="0"/>
          </a:p>
        </p:txBody>
      </p:sp>
      <p:sp>
        <p:nvSpPr>
          <p:cNvPr id="11" name="Shape 9"/>
          <p:cNvSpPr/>
          <p:nvPr/>
        </p:nvSpPr>
        <p:spPr>
          <a:xfrm>
            <a:off x="7814637" y="382905"/>
            <a:ext cx="929313" cy="171450"/>
          </a:xfrm>
          <a:prstGeom prst="roundRect">
            <a:avLst>
              <a:gd name="adj" fmla="val 6667"/>
            </a:avLst>
          </a:prstGeom>
          <a:solidFill>
            <a:srgbClr val="00BCD4">
              <a:alpha val="6000"/>
            </a:srgbClr>
          </a:solidFill>
          <a:ln w="5715">
            <a:solidFill>
              <a:srgbClr val="334155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7900362" y="445770"/>
            <a:ext cx="45720" cy="45720"/>
          </a:xfrm>
          <a:prstGeom prst="rect">
            <a:avLst/>
          </a:prstGeom>
          <a:solidFill>
            <a:srgbClr val="00BCD4"/>
          </a:solidFill>
          <a:ln/>
        </p:spPr>
      </p:sp>
      <p:sp>
        <p:nvSpPr>
          <p:cNvPr id="13" name="Text 11"/>
          <p:cNvSpPr/>
          <p:nvPr/>
        </p:nvSpPr>
        <p:spPr>
          <a:xfrm>
            <a:off x="7991802" y="422910"/>
            <a:ext cx="746393" cy="91440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buNone/>
            </a:pPr>
            <a:r>
              <a:rPr lang="en-US" sz="495" spc="99" kern="0" dirty="0">
                <a:solidFill>
                  <a:srgbClr val="00BCD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PAGE 02 · 观点页</a:t>
            </a:r>
            <a:endParaRPr lang="en-US" sz="495" dirty="0"/>
          </a:p>
        </p:txBody>
      </p:sp>
      <p:sp>
        <p:nvSpPr>
          <p:cNvPr id="14" name="Text 12"/>
          <p:cNvSpPr/>
          <p:nvPr/>
        </p:nvSpPr>
        <p:spPr>
          <a:xfrm>
            <a:off x="7601486" y="588645"/>
            <a:ext cx="1279560" cy="80010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buNone/>
            </a:pPr>
            <a:r>
              <a:rPr lang="en-US" sz="495" spc="74" kern="0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BLACK BOX · VS · GLASS BOX</a:t>
            </a:r>
            <a:endParaRPr lang="en-US" sz="495" dirty="0"/>
          </a:p>
        </p:txBody>
      </p:sp>
      <p:sp>
        <p:nvSpPr>
          <p:cNvPr id="15" name="Shape 13"/>
          <p:cNvSpPr/>
          <p:nvPr/>
        </p:nvSpPr>
        <p:spPr>
          <a:xfrm>
            <a:off x="400050" y="885825"/>
            <a:ext cx="8343900" cy="5715"/>
          </a:xfrm>
          <a:prstGeom prst="rect">
            <a:avLst/>
          </a:prstGeom>
          <a:gradFill rotWithShape="1">
            <a:gsLst>
              <a:gs pos="0">
                <a:srgbClr val="00BCD4"/>
              </a:gs>
              <a:gs pos="30000">
                <a:srgbClr val="334155"/>
              </a:gs>
              <a:gs pos="100000">
                <a:srgbClr val="334155"/>
              </a:gs>
            </a:gsLst>
            <a:lin ang="0" scaled="0"/>
          </a:gradFill>
          <a:ln/>
        </p:spPr>
      </p:sp>
      <p:sp>
        <p:nvSpPr>
          <p:cNvPr id="16" name="Shape 14"/>
          <p:cNvSpPr/>
          <p:nvPr/>
        </p:nvSpPr>
        <p:spPr>
          <a:xfrm>
            <a:off x="400050" y="868680"/>
            <a:ext cx="457200" cy="40005"/>
          </a:xfrm>
          <a:prstGeom prst="rect">
            <a:avLst/>
          </a:prstGeom>
          <a:solidFill>
            <a:srgbClr val="00BCD4"/>
          </a:solidFill>
          <a:ln/>
          <a:effectLst>
            <a:outerShdw sx="100000" sy="100000" kx="0" ky="0" algn="bl" rotWithShape="0" blurRad="114300" dist="50800" dir="16200000">
              <a:srgbClr val="00BCD4">
                <a:alpha val="100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400050" y="1051560"/>
            <a:ext cx="3543300" cy="1977390"/>
          </a:xfrm>
          <a:prstGeom prst="rect">
            <a:avLst/>
          </a:prstGeom>
          <a:solidFill>
            <a:srgbClr val="0F172A"/>
          </a:solidFill>
          <a:ln w="5715">
            <a:solidFill>
              <a:srgbClr val="334155"/>
            </a:solidFill>
            <a:prstDash val="solid"/>
          </a:ln>
        </p:spPr>
      </p:sp>
      <p:pic>
        <p:nvPicPr>
          <p:cNvPr id="18" name="Image 0" descr="/home/lee/developing/markdown-to-slides/agentcon-2026-hermes-evolution/images/page_002_hero.png">    </p:cNvPr>
          <p:cNvPicPr>
            <a:picLocks noChangeAspect="1"/>
          </p:cNvPicPr>
          <p:nvPr/>
        </p:nvPicPr>
        <p:blipFill>
          <a:blip r:embed="rId1"/>
          <a:srcRect l="-135" r="-135" t="0" b="0"/>
          <a:stretch/>
        </p:blipFill>
        <p:spPr>
          <a:xfrm>
            <a:off x="405765" y="1057275"/>
            <a:ext cx="3531870" cy="1965960"/>
          </a:xfrm>
          <a:prstGeom prst="rect">
            <a:avLst/>
          </a:prstGeom>
        </p:spPr>
      </p:pic>
      <p:sp>
        <p:nvSpPr>
          <p:cNvPr id="19" name="Shape 16"/>
          <p:cNvSpPr/>
          <p:nvPr/>
        </p:nvSpPr>
        <p:spPr>
          <a:xfrm>
            <a:off x="451485" y="1102995"/>
            <a:ext cx="80010" cy="80010"/>
          </a:xfrm>
          <a:prstGeom prst="rect">
            <a:avLst/>
          </a:prstGeom>
          <a:noFill/>
          <a:ln/>
        </p:spPr>
      </p:sp>
      <p:sp>
        <p:nvSpPr>
          <p:cNvPr id="20" name="Shape 17"/>
          <p:cNvSpPr/>
          <p:nvPr/>
        </p:nvSpPr>
        <p:spPr>
          <a:xfrm>
            <a:off x="451485" y="1102995"/>
            <a:ext cx="80010" cy="0"/>
          </a:xfrm>
          <a:prstGeom prst="line">
            <a:avLst/>
          </a:prstGeom>
          <a:noFill/>
          <a:ln w="11430">
            <a:solidFill>
              <a:srgbClr val="00BCD4"/>
            </a:solidFill>
            <a:prstDash val="solid"/>
          </a:ln>
        </p:spPr>
      </p:sp>
      <p:sp>
        <p:nvSpPr>
          <p:cNvPr id="21" name="Shape 18"/>
          <p:cNvSpPr/>
          <p:nvPr/>
        </p:nvSpPr>
        <p:spPr>
          <a:xfrm>
            <a:off x="451485" y="1102995"/>
            <a:ext cx="0" cy="80010"/>
          </a:xfrm>
          <a:prstGeom prst="line">
            <a:avLst/>
          </a:prstGeom>
          <a:noFill/>
          <a:ln w="11430">
            <a:solidFill>
              <a:srgbClr val="00BCD4"/>
            </a:solidFill>
            <a:prstDash val="solid"/>
          </a:ln>
        </p:spPr>
      </p:sp>
      <p:sp>
        <p:nvSpPr>
          <p:cNvPr id="22" name="Shape 19"/>
          <p:cNvSpPr/>
          <p:nvPr/>
        </p:nvSpPr>
        <p:spPr>
          <a:xfrm>
            <a:off x="3811905" y="1102995"/>
            <a:ext cx="80010" cy="80010"/>
          </a:xfrm>
          <a:prstGeom prst="rect">
            <a:avLst/>
          </a:prstGeom>
          <a:noFill/>
          <a:ln/>
        </p:spPr>
      </p:sp>
      <p:sp>
        <p:nvSpPr>
          <p:cNvPr id="23" name="Shape 20"/>
          <p:cNvSpPr/>
          <p:nvPr/>
        </p:nvSpPr>
        <p:spPr>
          <a:xfrm>
            <a:off x="3811905" y="1102995"/>
            <a:ext cx="80010" cy="0"/>
          </a:xfrm>
          <a:prstGeom prst="line">
            <a:avLst/>
          </a:prstGeom>
          <a:noFill/>
          <a:ln w="11430">
            <a:solidFill>
              <a:srgbClr val="00BCD4"/>
            </a:solidFill>
            <a:prstDash val="solid"/>
          </a:ln>
        </p:spPr>
      </p:sp>
      <p:sp>
        <p:nvSpPr>
          <p:cNvPr id="24" name="Shape 21"/>
          <p:cNvSpPr/>
          <p:nvPr/>
        </p:nvSpPr>
        <p:spPr>
          <a:xfrm>
            <a:off x="3891915" y="1102995"/>
            <a:ext cx="0" cy="80010"/>
          </a:xfrm>
          <a:prstGeom prst="line">
            <a:avLst/>
          </a:prstGeom>
          <a:noFill/>
          <a:ln w="11430">
            <a:solidFill>
              <a:srgbClr val="00BCD4"/>
            </a:solidFill>
            <a:prstDash val="solid"/>
          </a:ln>
        </p:spPr>
      </p:sp>
      <p:sp>
        <p:nvSpPr>
          <p:cNvPr id="25" name="Shape 22"/>
          <p:cNvSpPr/>
          <p:nvPr/>
        </p:nvSpPr>
        <p:spPr>
          <a:xfrm>
            <a:off x="451485" y="2897505"/>
            <a:ext cx="80010" cy="80010"/>
          </a:xfrm>
          <a:prstGeom prst="rect">
            <a:avLst/>
          </a:prstGeom>
          <a:noFill/>
          <a:ln/>
        </p:spPr>
      </p:sp>
      <p:sp>
        <p:nvSpPr>
          <p:cNvPr id="26" name="Shape 23"/>
          <p:cNvSpPr/>
          <p:nvPr/>
        </p:nvSpPr>
        <p:spPr>
          <a:xfrm>
            <a:off x="451485" y="2977515"/>
            <a:ext cx="80010" cy="0"/>
          </a:xfrm>
          <a:prstGeom prst="line">
            <a:avLst/>
          </a:prstGeom>
          <a:noFill/>
          <a:ln w="11430">
            <a:solidFill>
              <a:srgbClr val="00BCD4"/>
            </a:solidFill>
            <a:prstDash val="solid"/>
          </a:ln>
        </p:spPr>
      </p:sp>
      <p:sp>
        <p:nvSpPr>
          <p:cNvPr id="27" name="Shape 24"/>
          <p:cNvSpPr/>
          <p:nvPr/>
        </p:nvSpPr>
        <p:spPr>
          <a:xfrm>
            <a:off x="451485" y="2897505"/>
            <a:ext cx="0" cy="80010"/>
          </a:xfrm>
          <a:prstGeom prst="line">
            <a:avLst/>
          </a:prstGeom>
          <a:noFill/>
          <a:ln w="11430">
            <a:solidFill>
              <a:srgbClr val="00BCD4"/>
            </a:solidFill>
            <a:prstDash val="solid"/>
          </a:ln>
        </p:spPr>
      </p:sp>
      <p:sp>
        <p:nvSpPr>
          <p:cNvPr id="28" name="Shape 25"/>
          <p:cNvSpPr/>
          <p:nvPr/>
        </p:nvSpPr>
        <p:spPr>
          <a:xfrm>
            <a:off x="3811905" y="2897505"/>
            <a:ext cx="80010" cy="80010"/>
          </a:xfrm>
          <a:prstGeom prst="rect">
            <a:avLst/>
          </a:prstGeom>
          <a:noFill/>
          <a:ln/>
        </p:spPr>
      </p:sp>
      <p:sp>
        <p:nvSpPr>
          <p:cNvPr id="29" name="Shape 26"/>
          <p:cNvSpPr/>
          <p:nvPr/>
        </p:nvSpPr>
        <p:spPr>
          <a:xfrm>
            <a:off x="3891915" y="2897505"/>
            <a:ext cx="0" cy="80010"/>
          </a:xfrm>
          <a:prstGeom prst="line">
            <a:avLst/>
          </a:prstGeom>
          <a:noFill/>
          <a:ln w="11430">
            <a:solidFill>
              <a:srgbClr val="00BCD4"/>
            </a:solidFill>
            <a:prstDash val="solid"/>
          </a:ln>
        </p:spPr>
      </p:sp>
      <p:sp>
        <p:nvSpPr>
          <p:cNvPr id="30" name="Shape 27"/>
          <p:cNvSpPr/>
          <p:nvPr/>
        </p:nvSpPr>
        <p:spPr>
          <a:xfrm>
            <a:off x="3811905" y="2977515"/>
            <a:ext cx="80010" cy="0"/>
          </a:xfrm>
          <a:prstGeom prst="line">
            <a:avLst/>
          </a:prstGeom>
          <a:noFill/>
          <a:ln w="11430">
            <a:solidFill>
              <a:srgbClr val="00BCD4"/>
            </a:solidFill>
            <a:prstDash val="solid"/>
          </a:ln>
        </p:spPr>
      </p:sp>
      <p:sp>
        <p:nvSpPr>
          <p:cNvPr id="31" name="Shape 28"/>
          <p:cNvSpPr/>
          <p:nvPr/>
        </p:nvSpPr>
        <p:spPr>
          <a:xfrm>
            <a:off x="400050" y="3108960"/>
            <a:ext cx="3657600" cy="262890"/>
          </a:xfrm>
          <a:prstGeom prst="rect">
            <a:avLst/>
          </a:prstGeom>
          <a:solidFill>
            <a:srgbClr val="233246">
              <a:alpha val="50000"/>
            </a:srgbClr>
          </a:solidFill>
          <a:ln w="5715">
            <a:solidFill>
              <a:srgbClr val="334155"/>
            </a:solidFill>
            <a:prstDash val="solid"/>
          </a:ln>
        </p:spPr>
      </p:sp>
      <p:sp>
        <p:nvSpPr>
          <p:cNvPr id="32" name="Text 29"/>
          <p:cNvSpPr/>
          <p:nvPr/>
        </p:nvSpPr>
        <p:spPr>
          <a:xfrm>
            <a:off x="508635" y="3200400"/>
            <a:ext cx="408801" cy="80010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buNone/>
            </a:pPr>
            <a:r>
              <a:rPr lang="en-US" sz="495" spc="109" kern="0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FIG.01</a:t>
            </a:r>
            <a:endParaRPr lang="en-US" sz="495" dirty="0"/>
          </a:p>
        </p:txBody>
      </p:sp>
      <p:sp>
        <p:nvSpPr>
          <p:cNvPr id="33" name="Shape 30"/>
          <p:cNvSpPr/>
          <p:nvPr/>
        </p:nvSpPr>
        <p:spPr>
          <a:xfrm>
            <a:off x="508635" y="3200400"/>
            <a:ext cx="34290" cy="34290"/>
          </a:xfrm>
          <a:prstGeom prst="rect">
            <a:avLst/>
          </a:prstGeom>
          <a:solidFill>
            <a:srgbClr val="FF7043"/>
          </a:solidFill>
          <a:ln/>
        </p:spPr>
      </p:sp>
      <p:sp>
        <p:nvSpPr>
          <p:cNvPr id="34" name="Shape 31"/>
          <p:cNvSpPr/>
          <p:nvPr/>
        </p:nvSpPr>
        <p:spPr>
          <a:xfrm>
            <a:off x="946011" y="3200400"/>
            <a:ext cx="80010" cy="80010"/>
          </a:xfrm>
          <a:prstGeom prst="rect">
            <a:avLst/>
          </a:prstGeom>
          <a:solidFill>
            <a:srgbClr val="000000"/>
          </a:solidFill>
          <a:ln w="5715">
            <a:solidFill>
              <a:srgbClr val="64748B"/>
            </a:solidFill>
            <a:prstDash val="solid"/>
          </a:ln>
        </p:spPr>
      </p:sp>
      <p:sp>
        <p:nvSpPr>
          <p:cNvPr id="35" name="Text 32"/>
          <p:cNvSpPr/>
          <p:nvPr/>
        </p:nvSpPr>
        <p:spPr>
          <a:xfrm>
            <a:off x="1083171" y="3191828"/>
            <a:ext cx="219492" cy="97155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buNone/>
            </a:pPr>
            <a:r>
              <a:rPr lang="en-US" sz="540" spc="54" kern="0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闭源</a:t>
            </a:r>
            <a:endParaRPr lang="en-US" sz="540" dirty="0"/>
          </a:p>
        </p:txBody>
      </p:sp>
      <p:sp>
        <p:nvSpPr>
          <p:cNvPr id="36" name="Text 33"/>
          <p:cNvSpPr/>
          <p:nvPr/>
        </p:nvSpPr>
        <p:spPr>
          <a:xfrm>
            <a:off x="1314093" y="3183255"/>
            <a:ext cx="400050" cy="114300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buNone/>
            </a:pPr>
            <a:r>
              <a:rPr lang="en-US" sz="630" dirty="0">
                <a:solidFill>
                  <a:srgbClr val="E2E8F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无从得知</a:t>
            </a:r>
            <a:endParaRPr lang="en-US" sz="630" dirty="0"/>
          </a:p>
        </p:txBody>
      </p:sp>
      <p:sp>
        <p:nvSpPr>
          <p:cNvPr id="37" name="Text 34"/>
          <p:cNvSpPr/>
          <p:nvPr/>
        </p:nvSpPr>
        <p:spPr>
          <a:xfrm>
            <a:off x="1737003" y="3191828"/>
            <a:ext cx="136017" cy="97155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buNone/>
            </a:pPr>
            <a:r>
              <a:rPr lang="en-US" sz="630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/</a:t>
            </a:r>
            <a:endParaRPr lang="en-US" sz="630" dirty="0"/>
          </a:p>
        </p:txBody>
      </p:sp>
      <p:sp>
        <p:nvSpPr>
          <p:cNvPr id="38" name="Shape 35"/>
          <p:cNvSpPr/>
          <p:nvPr/>
        </p:nvSpPr>
        <p:spPr>
          <a:xfrm>
            <a:off x="1868448" y="3200400"/>
            <a:ext cx="80010" cy="80010"/>
          </a:xfrm>
          <a:prstGeom prst="rect">
            <a:avLst/>
          </a:prstGeom>
          <a:noFill/>
          <a:ln w="5715">
            <a:solidFill>
              <a:srgbClr val="00BCD4"/>
            </a:solidFill>
            <a:prstDash val="solid"/>
          </a:ln>
          <a:effectLst>
            <a:outerShdw sx="100000" sy="100000" kx="0" ky="0" algn="bl" rotWithShape="0" blurRad="76200" dist="50800" dir="16200000">
              <a:srgbClr val="00BCD4">
                <a:alpha val="60000"/>
              </a:srgbClr>
            </a:outerShdw>
          </a:effectLst>
        </p:spPr>
      </p:sp>
      <p:sp>
        <p:nvSpPr>
          <p:cNvPr id="39" name="Text 36"/>
          <p:cNvSpPr/>
          <p:nvPr/>
        </p:nvSpPr>
        <p:spPr>
          <a:xfrm>
            <a:off x="2005608" y="3191828"/>
            <a:ext cx="219492" cy="97155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buNone/>
            </a:pPr>
            <a:r>
              <a:rPr lang="en-US" sz="540" spc="54" kern="0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开源</a:t>
            </a:r>
            <a:endParaRPr lang="en-US" sz="540" dirty="0"/>
          </a:p>
        </p:txBody>
      </p:sp>
      <p:sp>
        <p:nvSpPr>
          <p:cNvPr id="40" name="Text 37"/>
          <p:cNvSpPr/>
          <p:nvPr/>
        </p:nvSpPr>
        <p:spPr>
          <a:xfrm>
            <a:off x="2236530" y="3183255"/>
            <a:ext cx="320040" cy="114300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buNone/>
            </a:pPr>
            <a:r>
              <a:rPr lang="en-US" sz="630" dirty="0">
                <a:solidFill>
                  <a:srgbClr val="E2E8F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可追溯</a:t>
            </a:r>
            <a:endParaRPr lang="en-US" sz="630" dirty="0"/>
          </a:p>
        </p:txBody>
      </p:sp>
      <p:sp>
        <p:nvSpPr>
          <p:cNvPr id="41" name="Shape 38"/>
          <p:cNvSpPr/>
          <p:nvPr/>
        </p:nvSpPr>
        <p:spPr>
          <a:xfrm>
            <a:off x="4240530" y="1051560"/>
            <a:ext cx="4503420" cy="782955"/>
          </a:xfrm>
          <a:prstGeom prst="rect">
            <a:avLst/>
          </a:prstGeom>
          <a:gradFill rotWithShape="1">
            <a:gsLst>
              <a:gs pos="0">
                <a:srgbClr val="233246">
                  <a:alpha val="75000"/>
                </a:srgbClr>
              </a:gs>
              <a:gs pos="100000">
                <a:srgbClr val="1E293B">
                  <a:alpha val="40000"/>
                </a:srgbClr>
              </a:gs>
            </a:gsLst>
            <a:lin ang="0" scaled="0"/>
          </a:gradFill>
          <a:ln w="5715">
            <a:solidFill>
              <a:srgbClr val="334155"/>
            </a:solidFill>
            <a:prstDash val="solid"/>
          </a:ln>
        </p:spPr>
      </p:sp>
      <p:sp>
        <p:nvSpPr>
          <p:cNvPr id="42" name="Shape 39"/>
          <p:cNvSpPr/>
          <p:nvPr/>
        </p:nvSpPr>
        <p:spPr>
          <a:xfrm>
            <a:off x="4240530" y="1051560"/>
            <a:ext cx="17145" cy="771525"/>
          </a:xfrm>
          <a:prstGeom prst="rect">
            <a:avLst/>
          </a:prstGeom>
          <a:solidFill>
            <a:srgbClr val="00BCD4"/>
          </a:solidFill>
          <a:ln/>
        </p:spPr>
      </p:sp>
      <p:sp>
        <p:nvSpPr>
          <p:cNvPr id="43" name="Shape 40"/>
          <p:cNvSpPr/>
          <p:nvPr/>
        </p:nvSpPr>
        <p:spPr>
          <a:xfrm>
            <a:off x="4371975" y="1137285"/>
            <a:ext cx="251460" cy="611505"/>
          </a:xfrm>
          <a:prstGeom prst="rect">
            <a:avLst/>
          </a:prstGeom>
          <a:noFill/>
          <a:ln/>
        </p:spPr>
      </p:sp>
      <p:sp>
        <p:nvSpPr>
          <p:cNvPr id="44" name="Shape 41"/>
          <p:cNvSpPr/>
          <p:nvPr/>
        </p:nvSpPr>
        <p:spPr>
          <a:xfrm>
            <a:off x="4623435" y="1137285"/>
            <a:ext cx="0" cy="611505"/>
          </a:xfrm>
          <a:prstGeom prst="line">
            <a:avLst/>
          </a:prstGeom>
          <a:noFill/>
          <a:ln w="5715">
            <a:solidFill>
              <a:srgbClr val="334155"/>
            </a:solidFill>
            <a:prstDash val="solid"/>
          </a:ln>
        </p:spPr>
      </p:sp>
      <p:sp>
        <p:nvSpPr>
          <p:cNvPr id="45" name="Text 42"/>
          <p:cNvSpPr/>
          <p:nvPr/>
        </p:nvSpPr>
        <p:spPr>
          <a:xfrm>
            <a:off x="4378762" y="1325880"/>
            <a:ext cx="301752" cy="148590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buNone/>
            </a:pPr>
            <a:r>
              <a:rPr lang="en-US" sz="990" b="1" spc="59" kern="0" dirty="0">
                <a:solidFill>
                  <a:srgbClr val="00BCD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01</a:t>
            </a:r>
            <a:endParaRPr lang="en-US" sz="990" dirty="0"/>
          </a:p>
        </p:txBody>
      </p:sp>
      <p:sp>
        <p:nvSpPr>
          <p:cNvPr id="46" name="Text 43"/>
          <p:cNvSpPr/>
          <p:nvPr/>
        </p:nvSpPr>
        <p:spPr>
          <a:xfrm>
            <a:off x="4310539" y="1497330"/>
            <a:ext cx="340043" cy="62865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buNone/>
            </a:pPr>
            <a:r>
              <a:rPr lang="en-US" sz="405" spc="101" kern="0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CLOSED</a:t>
            </a:r>
            <a:endParaRPr lang="en-US" sz="405" dirty="0"/>
          </a:p>
        </p:txBody>
      </p:sp>
      <p:sp>
        <p:nvSpPr>
          <p:cNvPr id="47" name="Text 44"/>
          <p:cNvSpPr/>
          <p:nvPr/>
        </p:nvSpPr>
        <p:spPr>
          <a:xfrm>
            <a:off x="4703445" y="1320433"/>
            <a:ext cx="4390949" cy="115104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698" spc="3" kern="0" dirty="0">
                <a:solidFill>
                  <a:srgbClr val="00BCD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闭源 Agent — 无从得知的演化</a:t>
            </a:r>
            <a:endParaRPr lang="en-US" sz="698" dirty="0"/>
          </a:p>
        </p:txBody>
      </p:sp>
      <p:sp>
        <p:nvSpPr>
          <p:cNvPr id="48" name="Text 45"/>
          <p:cNvSpPr/>
          <p:nvPr/>
        </p:nvSpPr>
        <p:spPr>
          <a:xfrm>
            <a:off x="4703445" y="1458397"/>
            <a:ext cx="4390949" cy="1071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563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WorkBuddy、</a:t>
            </a:r>
            <a:pPr algn="l" indent="0" marL="0">
              <a:lnSpc>
                <a:spcPct val="150000"/>
              </a:lnSpc>
              <a:buNone/>
            </a:pPr>
            <a:r>
              <a:rPr lang="en-US" sz="563" dirty="0">
                <a:solidFill>
                  <a:srgbClr val="E2E8F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豆包</a:t>
            </a:r>
            <a:pPr algn="l" indent="0" marL="0">
              <a:lnSpc>
                <a:spcPct val="150000"/>
              </a:lnSpc>
              <a:buNone/>
            </a:pPr>
            <a:r>
              <a:rPr lang="en-US" sz="563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、</a:t>
            </a:r>
            <a:pPr algn="l" indent="0" marL="0">
              <a:lnSpc>
                <a:spcPct val="150000"/>
              </a:lnSpc>
              <a:buNone/>
            </a:pPr>
            <a:r>
              <a:rPr lang="en-US" sz="563" dirty="0">
                <a:solidFill>
                  <a:srgbClr val="E2E8F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Qwen Office</a:t>
            </a:r>
            <a:pPr algn="l" indent="0" marL="0">
              <a:lnSpc>
                <a:spcPct val="150000"/>
              </a:lnSpc>
              <a:buNone/>
            </a:pPr>
            <a:r>
              <a:rPr lang="en-US" sz="563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等闭源产品内部逻辑不透明，</a:t>
            </a:r>
            <a:pPr algn="l" indent="0" marL="0">
              <a:lnSpc>
                <a:spcPct val="150000"/>
              </a:lnSpc>
              <a:buNone/>
            </a:pPr>
            <a:r>
              <a:rPr lang="en-US" sz="563" dirty="0">
                <a:solidFill>
                  <a:srgbClr val="00BCD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如何演化无从得知</a:t>
            </a:r>
            <a:pPr algn="l" indent="0" marL="0">
              <a:lnSpc>
                <a:spcPct val="150000"/>
              </a:lnSpc>
              <a:buNone/>
            </a:pPr>
            <a:r>
              <a:rPr lang="en-US" sz="563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。</a:t>
            </a:r>
            <a:endParaRPr lang="en-US" sz="563" dirty="0"/>
          </a:p>
        </p:txBody>
      </p:sp>
      <p:sp>
        <p:nvSpPr>
          <p:cNvPr id="49" name="Shape 46"/>
          <p:cNvSpPr/>
          <p:nvPr/>
        </p:nvSpPr>
        <p:spPr>
          <a:xfrm>
            <a:off x="4240530" y="1891665"/>
            <a:ext cx="4503420" cy="782955"/>
          </a:xfrm>
          <a:prstGeom prst="rect">
            <a:avLst/>
          </a:prstGeom>
          <a:gradFill rotWithShape="1">
            <a:gsLst>
              <a:gs pos="0">
                <a:srgbClr val="233246">
                  <a:alpha val="75000"/>
                </a:srgbClr>
              </a:gs>
              <a:gs pos="100000">
                <a:srgbClr val="1E293B">
                  <a:alpha val="40000"/>
                </a:srgbClr>
              </a:gs>
            </a:gsLst>
            <a:lin ang="0" scaled="0"/>
          </a:gradFill>
          <a:ln w="5715">
            <a:solidFill>
              <a:srgbClr val="334155"/>
            </a:solidFill>
            <a:prstDash val="solid"/>
          </a:ln>
        </p:spPr>
      </p:sp>
      <p:sp>
        <p:nvSpPr>
          <p:cNvPr id="50" name="Shape 47"/>
          <p:cNvSpPr/>
          <p:nvPr/>
        </p:nvSpPr>
        <p:spPr>
          <a:xfrm>
            <a:off x="4240530" y="1891665"/>
            <a:ext cx="17145" cy="771525"/>
          </a:xfrm>
          <a:prstGeom prst="rect">
            <a:avLst/>
          </a:prstGeom>
          <a:solidFill>
            <a:srgbClr val="00BCD4"/>
          </a:solidFill>
          <a:ln/>
        </p:spPr>
      </p:sp>
      <p:sp>
        <p:nvSpPr>
          <p:cNvPr id="51" name="Shape 48"/>
          <p:cNvSpPr/>
          <p:nvPr/>
        </p:nvSpPr>
        <p:spPr>
          <a:xfrm>
            <a:off x="4371975" y="1977390"/>
            <a:ext cx="251460" cy="611505"/>
          </a:xfrm>
          <a:prstGeom prst="rect">
            <a:avLst/>
          </a:prstGeom>
          <a:noFill/>
          <a:ln/>
        </p:spPr>
      </p:sp>
      <p:sp>
        <p:nvSpPr>
          <p:cNvPr id="52" name="Shape 49"/>
          <p:cNvSpPr/>
          <p:nvPr/>
        </p:nvSpPr>
        <p:spPr>
          <a:xfrm>
            <a:off x="4623435" y="1977390"/>
            <a:ext cx="0" cy="611505"/>
          </a:xfrm>
          <a:prstGeom prst="line">
            <a:avLst/>
          </a:prstGeom>
          <a:noFill/>
          <a:ln w="5715">
            <a:solidFill>
              <a:srgbClr val="334155"/>
            </a:solidFill>
            <a:prstDash val="solid"/>
          </a:ln>
        </p:spPr>
      </p:sp>
      <p:sp>
        <p:nvSpPr>
          <p:cNvPr id="53" name="Text 50"/>
          <p:cNvSpPr/>
          <p:nvPr/>
        </p:nvSpPr>
        <p:spPr>
          <a:xfrm>
            <a:off x="4364563" y="2165985"/>
            <a:ext cx="306378" cy="148590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buNone/>
            </a:pPr>
            <a:r>
              <a:rPr lang="en-US" sz="990" b="1" spc="59" kern="0" dirty="0">
                <a:solidFill>
                  <a:srgbClr val="00BCD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02</a:t>
            </a:r>
            <a:endParaRPr lang="en-US" sz="990" dirty="0"/>
          </a:p>
        </p:txBody>
      </p:sp>
      <p:sp>
        <p:nvSpPr>
          <p:cNvPr id="54" name="Text 51"/>
          <p:cNvSpPr/>
          <p:nvPr/>
        </p:nvSpPr>
        <p:spPr>
          <a:xfrm>
            <a:off x="4357688" y="2337435"/>
            <a:ext cx="245745" cy="62865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buNone/>
            </a:pPr>
            <a:r>
              <a:rPr lang="en-US" sz="405" spc="101" kern="0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OPEN</a:t>
            </a:r>
            <a:endParaRPr lang="en-US" sz="405" dirty="0"/>
          </a:p>
        </p:txBody>
      </p:sp>
      <p:sp>
        <p:nvSpPr>
          <p:cNvPr id="55" name="Text 52"/>
          <p:cNvSpPr/>
          <p:nvPr/>
        </p:nvSpPr>
        <p:spPr>
          <a:xfrm>
            <a:off x="4703445" y="2160538"/>
            <a:ext cx="4390949" cy="115104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698" spc="3" kern="0" dirty="0">
                <a:solidFill>
                  <a:srgbClr val="00BCD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开源 Agent — 每一步都留下痕迹</a:t>
            </a:r>
            <a:endParaRPr lang="en-US" sz="698" dirty="0"/>
          </a:p>
        </p:txBody>
      </p:sp>
      <p:sp>
        <p:nvSpPr>
          <p:cNvPr id="56" name="Text 53"/>
          <p:cNvSpPr/>
          <p:nvPr/>
        </p:nvSpPr>
        <p:spPr>
          <a:xfrm>
            <a:off x="4703445" y="2298502"/>
            <a:ext cx="4390949" cy="1071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563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每一条</a:t>
            </a:r>
            <a:pPr algn="l" indent="0" marL="0">
              <a:lnSpc>
                <a:spcPct val="150000"/>
              </a:lnSpc>
              <a:buNone/>
            </a:pPr>
            <a:r>
              <a:rPr lang="en-US" sz="563" dirty="0">
                <a:solidFill>
                  <a:srgbClr val="00BCD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issue</a:t>
            </a:r>
            <a:pPr algn="l" indent="0" marL="0">
              <a:lnSpc>
                <a:spcPct val="150000"/>
              </a:lnSpc>
              <a:buNone/>
            </a:pPr>
            <a:r>
              <a:rPr lang="en-US" sz="563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、每一个</a:t>
            </a:r>
            <a:pPr algn="l" indent="0" marL="0">
              <a:lnSpc>
                <a:spcPct val="150000"/>
              </a:lnSpc>
              <a:buNone/>
            </a:pPr>
            <a:r>
              <a:rPr lang="en-US" sz="563" dirty="0">
                <a:solidFill>
                  <a:srgbClr val="00BCD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</a:t>
            </a:r>
            <a:pPr algn="l" indent="0" marL="0">
              <a:lnSpc>
                <a:spcPct val="150000"/>
              </a:lnSpc>
              <a:buNone/>
            </a:pPr>
            <a:r>
              <a:rPr lang="en-US" sz="563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、每一次</a:t>
            </a:r>
            <a:pPr algn="l" indent="0" marL="0">
              <a:lnSpc>
                <a:spcPct val="150000"/>
              </a:lnSpc>
              <a:buNone/>
            </a:pPr>
            <a:r>
              <a:rPr lang="en-US" sz="563" dirty="0">
                <a:solidFill>
                  <a:srgbClr val="00BCD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release</a:t>
            </a:r>
            <a:pPr algn="l" indent="0" marL="0">
              <a:lnSpc>
                <a:spcPct val="150000"/>
              </a:lnSpc>
              <a:buNone/>
            </a:pPr>
            <a:r>
              <a:rPr lang="en-US" sz="563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都可公开追溯与复盘。</a:t>
            </a:r>
            <a:endParaRPr lang="en-US" sz="563" dirty="0"/>
          </a:p>
        </p:txBody>
      </p:sp>
      <p:sp>
        <p:nvSpPr>
          <p:cNvPr id="57" name="Shape 54"/>
          <p:cNvSpPr/>
          <p:nvPr/>
        </p:nvSpPr>
        <p:spPr>
          <a:xfrm>
            <a:off x="4240530" y="2731770"/>
            <a:ext cx="4503420" cy="782955"/>
          </a:xfrm>
          <a:prstGeom prst="rect">
            <a:avLst/>
          </a:prstGeom>
          <a:gradFill rotWithShape="1">
            <a:gsLst>
              <a:gs pos="0">
                <a:srgbClr val="233246">
                  <a:alpha val="75000"/>
                </a:srgbClr>
              </a:gs>
              <a:gs pos="100000">
                <a:srgbClr val="1E293B">
                  <a:alpha val="40000"/>
                </a:srgbClr>
              </a:gs>
            </a:gsLst>
            <a:lin ang="0" scaled="0"/>
          </a:gradFill>
          <a:ln w="5715">
            <a:solidFill>
              <a:srgbClr val="334155"/>
            </a:solidFill>
            <a:prstDash val="solid"/>
          </a:ln>
        </p:spPr>
      </p:sp>
      <p:sp>
        <p:nvSpPr>
          <p:cNvPr id="58" name="Shape 55"/>
          <p:cNvSpPr/>
          <p:nvPr/>
        </p:nvSpPr>
        <p:spPr>
          <a:xfrm>
            <a:off x="4240530" y="2731770"/>
            <a:ext cx="17145" cy="771525"/>
          </a:xfrm>
          <a:prstGeom prst="rect">
            <a:avLst/>
          </a:prstGeom>
          <a:solidFill>
            <a:srgbClr val="00BCD4"/>
          </a:solidFill>
          <a:ln/>
        </p:spPr>
      </p:sp>
      <p:sp>
        <p:nvSpPr>
          <p:cNvPr id="59" name="Shape 56"/>
          <p:cNvSpPr/>
          <p:nvPr/>
        </p:nvSpPr>
        <p:spPr>
          <a:xfrm>
            <a:off x="4371975" y="2817495"/>
            <a:ext cx="251460" cy="611505"/>
          </a:xfrm>
          <a:prstGeom prst="rect">
            <a:avLst/>
          </a:prstGeom>
          <a:noFill/>
          <a:ln/>
        </p:spPr>
      </p:sp>
      <p:sp>
        <p:nvSpPr>
          <p:cNvPr id="60" name="Shape 57"/>
          <p:cNvSpPr/>
          <p:nvPr/>
        </p:nvSpPr>
        <p:spPr>
          <a:xfrm>
            <a:off x="4623435" y="2817495"/>
            <a:ext cx="0" cy="611505"/>
          </a:xfrm>
          <a:prstGeom prst="line">
            <a:avLst/>
          </a:prstGeom>
          <a:noFill/>
          <a:ln w="5715">
            <a:solidFill>
              <a:srgbClr val="334155"/>
            </a:solidFill>
            <a:prstDash val="solid"/>
          </a:ln>
        </p:spPr>
      </p:sp>
      <p:sp>
        <p:nvSpPr>
          <p:cNvPr id="61" name="Text 58"/>
          <p:cNvSpPr/>
          <p:nvPr/>
        </p:nvSpPr>
        <p:spPr>
          <a:xfrm>
            <a:off x="4364563" y="3006090"/>
            <a:ext cx="306378" cy="148590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buNone/>
            </a:pPr>
            <a:r>
              <a:rPr lang="en-US" sz="990" b="1" spc="59" kern="0" dirty="0">
                <a:solidFill>
                  <a:srgbClr val="00BCD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03</a:t>
            </a:r>
            <a:endParaRPr lang="en-US" sz="990" dirty="0"/>
          </a:p>
        </p:txBody>
      </p:sp>
      <p:sp>
        <p:nvSpPr>
          <p:cNvPr id="62" name="Text 59"/>
          <p:cNvSpPr/>
          <p:nvPr/>
        </p:nvSpPr>
        <p:spPr>
          <a:xfrm>
            <a:off x="4301966" y="3177540"/>
            <a:ext cx="357188" cy="62865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buNone/>
            </a:pPr>
            <a:r>
              <a:rPr lang="en-US" sz="405" spc="101" kern="0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METHOD</a:t>
            </a:r>
            <a:endParaRPr lang="en-US" sz="405" dirty="0"/>
          </a:p>
        </p:txBody>
      </p:sp>
      <p:sp>
        <p:nvSpPr>
          <p:cNvPr id="63" name="Text 60"/>
          <p:cNvSpPr/>
          <p:nvPr/>
        </p:nvSpPr>
        <p:spPr>
          <a:xfrm>
            <a:off x="4703445" y="3000643"/>
            <a:ext cx="4390949" cy="115104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698" spc="3" kern="0" dirty="0">
                <a:solidFill>
                  <a:srgbClr val="00BCD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方法 — 把 Hermes 当作公开样本</a:t>
            </a:r>
            <a:endParaRPr lang="en-US" sz="698" dirty="0"/>
          </a:p>
        </p:txBody>
      </p:sp>
      <p:sp>
        <p:nvSpPr>
          <p:cNvPr id="64" name="Text 61"/>
          <p:cNvSpPr/>
          <p:nvPr/>
        </p:nvSpPr>
        <p:spPr>
          <a:xfrm>
            <a:off x="4703445" y="3138607"/>
            <a:ext cx="4390949" cy="1071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563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以</a:t>
            </a:r>
            <a:pPr algn="l" indent="0" marL="0">
              <a:lnSpc>
                <a:spcPct val="150000"/>
              </a:lnSpc>
              <a:buNone/>
            </a:pPr>
            <a:r>
              <a:rPr lang="en-US" sz="563" dirty="0">
                <a:solidFill>
                  <a:srgbClr val="00BCD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Hermes</a:t>
            </a:r>
            <a:pPr algn="l" indent="0" marL="0">
              <a:lnSpc>
                <a:spcPct val="150000"/>
              </a:lnSpc>
              <a:buNone/>
            </a:pPr>
            <a:r>
              <a:rPr lang="en-US" sz="563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作为观察</a:t>
            </a:r>
            <a:pPr algn="l" indent="0" marL="0">
              <a:lnSpc>
                <a:spcPct val="150000"/>
              </a:lnSpc>
              <a:buNone/>
            </a:pPr>
            <a:r>
              <a:rPr lang="en-US" sz="563" dirty="0">
                <a:solidFill>
                  <a:srgbClr val="E2E8F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AI Agent 演化</a:t>
            </a:r>
            <a:pPr algn="l" indent="0" marL="0">
              <a:lnSpc>
                <a:spcPct val="150000"/>
              </a:lnSpc>
              <a:buNone/>
            </a:pPr>
            <a:r>
              <a:rPr lang="en-US" sz="563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的公开样本，替代不可见的黑盒。</a:t>
            </a:r>
            <a:endParaRPr lang="en-US" sz="563" dirty="0"/>
          </a:p>
        </p:txBody>
      </p:sp>
      <p:sp>
        <p:nvSpPr>
          <p:cNvPr id="65" name="Shape 62"/>
          <p:cNvSpPr/>
          <p:nvPr/>
        </p:nvSpPr>
        <p:spPr>
          <a:xfrm>
            <a:off x="4240530" y="3571875"/>
            <a:ext cx="4503420" cy="782955"/>
          </a:xfrm>
          <a:prstGeom prst="rect">
            <a:avLst/>
          </a:prstGeom>
          <a:gradFill rotWithShape="1">
            <a:gsLst>
              <a:gs pos="0">
                <a:srgbClr val="233246">
                  <a:alpha val="75000"/>
                </a:srgbClr>
              </a:gs>
              <a:gs pos="100000">
                <a:srgbClr val="1E293B">
                  <a:alpha val="40000"/>
                </a:srgbClr>
              </a:gs>
            </a:gsLst>
            <a:lin ang="0" scaled="0"/>
          </a:gradFill>
          <a:ln w="5715">
            <a:solidFill>
              <a:srgbClr val="334155"/>
            </a:solidFill>
            <a:prstDash val="solid"/>
          </a:ln>
        </p:spPr>
      </p:sp>
      <p:sp>
        <p:nvSpPr>
          <p:cNvPr id="66" name="Shape 63"/>
          <p:cNvSpPr/>
          <p:nvPr/>
        </p:nvSpPr>
        <p:spPr>
          <a:xfrm>
            <a:off x="4240530" y="3571875"/>
            <a:ext cx="17145" cy="771525"/>
          </a:xfrm>
          <a:prstGeom prst="rect">
            <a:avLst/>
          </a:prstGeom>
          <a:solidFill>
            <a:srgbClr val="FF7043"/>
          </a:solidFill>
          <a:ln/>
        </p:spPr>
      </p:sp>
      <p:sp>
        <p:nvSpPr>
          <p:cNvPr id="67" name="Shape 64"/>
          <p:cNvSpPr/>
          <p:nvPr/>
        </p:nvSpPr>
        <p:spPr>
          <a:xfrm>
            <a:off x="4371975" y="3657600"/>
            <a:ext cx="251460" cy="611505"/>
          </a:xfrm>
          <a:prstGeom prst="rect">
            <a:avLst/>
          </a:prstGeom>
          <a:noFill/>
          <a:ln/>
        </p:spPr>
      </p:sp>
      <p:sp>
        <p:nvSpPr>
          <p:cNvPr id="68" name="Shape 65"/>
          <p:cNvSpPr/>
          <p:nvPr/>
        </p:nvSpPr>
        <p:spPr>
          <a:xfrm>
            <a:off x="4623435" y="3657600"/>
            <a:ext cx="0" cy="611505"/>
          </a:xfrm>
          <a:prstGeom prst="line">
            <a:avLst/>
          </a:prstGeom>
          <a:noFill/>
          <a:ln w="5715">
            <a:solidFill>
              <a:srgbClr val="334155"/>
            </a:solidFill>
            <a:prstDash val="solid"/>
          </a:ln>
        </p:spPr>
      </p:sp>
      <p:sp>
        <p:nvSpPr>
          <p:cNvPr id="69" name="Text 66"/>
          <p:cNvSpPr/>
          <p:nvPr/>
        </p:nvSpPr>
        <p:spPr>
          <a:xfrm>
            <a:off x="4361706" y="3846195"/>
            <a:ext cx="312093" cy="148590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buNone/>
            </a:pPr>
            <a:r>
              <a:rPr lang="en-US" sz="990" b="1" spc="59" kern="0" dirty="0">
                <a:solidFill>
                  <a:srgbClr val="FF704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04</a:t>
            </a:r>
            <a:endParaRPr lang="en-US" sz="990" dirty="0"/>
          </a:p>
        </p:txBody>
      </p:sp>
      <p:sp>
        <p:nvSpPr>
          <p:cNvPr id="70" name="Text 67"/>
          <p:cNvSpPr/>
          <p:nvPr/>
        </p:nvSpPr>
        <p:spPr>
          <a:xfrm>
            <a:off x="4316254" y="4017645"/>
            <a:ext cx="328613" cy="62865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buNone/>
            </a:pPr>
            <a:r>
              <a:rPr lang="en-US" sz="405" spc="101" kern="0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UNIQUE</a:t>
            </a:r>
            <a:endParaRPr lang="en-US" sz="405" dirty="0"/>
          </a:p>
        </p:txBody>
      </p:sp>
      <p:sp>
        <p:nvSpPr>
          <p:cNvPr id="71" name="Text 68"/>
          <p:cNvSpPr/>
          <p:nvPr/>
        </p:nvSpPr>
        <p:spPr>
          <a:xfrm>
            <a:off x="4703445" y="3840748"/>
            <a:ext cx="4390949" cy="115104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698" spc="3" kern="0" dirty="0">
                <a:solidFill>
                  <a:srgbClr val="FF704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Hermes 独特性 — 自我更新的进化论实践者</a:t>
            </a:r>
            <a:endParaRPr lang="en-US" sz="698" dirty="0"/>
          </a:p>
        </p:txBody>
      </p:sp>
      <p:sp>
        <p:nvSpPr>
          <p:cNvPr id="72" name="Text 69"/>
          <p:cNvSpPr/>
          <p:nvPr/>
        </p:nvSpPr>
        <p:spPr>
          <a:xfrm>
            <a:off x="4703445" y="3978712"/>
            <a:ext cx="4390949" cy="1071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563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根据用户使用生成</a:t>
            </a:r>
            <a:pPr algn="l" indent="0" marL="0">
              <a:lnSpc>
                <a:spcPct val="150000"/>
              </a:lnSpc>
              <a:buNone/>
            </a:pPr>
            <a:r>
              <a:rPr lang="en-US" sz="563" dirty="0">
                <a:solidFill>
                  <a:srgbClr val="FF704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skill</a:t>
            </a:r>
            <a:pPr algn="l" indent="0" marL="0">
              <a:lnSpc>
                <a:spcPct val="150000"/>
              </a:lnSpc>
              <a:buNone/>
            </a:pPr>
            <a:r>
              <a:rPr lang="en-US" sz="563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，不断自我更新 ——</a:t>
            </a:r>
            <a:pPr algn="l" indent="0" marL="0">
              <a:lnSpc>
                <a:spcPct val="150000"/>
              </a:lnSpc>
              <a:buNone/>
            </a:pPr>
            <a:r>
              <a:rPr lang="en-US" sz="563" dirty="0">
                <a:solidFill>
                  <a:srgbClr val="E2E8F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伟大的进化论实践者</a:t>
            </a:r>
            <a:pPr algn="l" indent="0" marL="0">
              <a:lnSpc>
                <a:spcPct val="150000"/>
              </a:lnSpc>
              <a:buNone/>
            </a:pPr>
            <a:r>
              <a:rPr lang="en-US" sz="563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。</a:t>
            </a:r>
            <a:endParaRPr lang="en-US" sz="563" dirty="0"/>
          </a:p>
        </p:txBody>
      </p:sp>
      <p:sp>
        <p:nvSpPr>
          <p:cNvPr id="73" name="Shape 70"/>
          <p:cNvSpPr/>
          <p:nvPr/>
        </p:nvSpPr>
        <p:spPr>
          <a:xfrm>
            <a:off x="400050" y="4491990"/>
            <a:ext cx="8343900" cy="400050"/>
          </a:xfrm>
          <a:prstGeom prst="rect">
            <a:avLst/>
          </a:prstGeom>
          <a:gradFill rotWithShape="1">
            <a:gsLst>
              <a:gs pos="0">
                <a:srgbClr val="00BCD4">
                  <a:alpha val="5000"/>
                </a:srgbClr>
              </a:gs>
              <a:gs pos="100000">
                <a:srgbClr val="000000">
                  <a:alpha val="0"/>
                </a:srgbClr>
              </a:gs>
            </a:gsLst>
            <a:lin ang="0" scaled="0"/>
          </a:gradFill>
          <a:ln/>
        </p:spPr>
      </p:sp>
      <p:sp>
        <p:nvSpPr>
          <p:cNvPr id="74" name="Shape 71"/>
          <p:cNvSpPr/>
          <p:nvPr/>
        </p:nvSpPr>
        <p:spPr>
          <a:xfrm>
            <a:off x="400050" y="4491990"/>
            <a:ext cx="8343900" cy="0"/>
          </a:xfrm>
          <a:prstGeom prst="line">
            <a:avLst/>
          </a:prstGeom>
          <a:noFill/>
          <a:ln w="5715">
            <a:solidFill>
              <a:srgbClr val="334155"/>
            </a:solidFill>
            <a:prstDash val="solid"/>
          </a:ln>
        </p:spPr>
      </p:sp>
      <p:sp>
        <p:nvSpPr>
          <p:cNvPr id="75" name="Shape 72"/>
          <p:cNvSpPr/>
          <p:nvPr/>
        </p:nvSpPr>
        <p:spPr>
          <a:xfrm>
            <a:off x="400050" y="4892040"/>
            <a:ext cx="8343900" cy="0"/>
          </a:xfrm>
          <a:prstGeom prst="line">
            <a:avLst/>
          </a:prstGeom>
          <a:noFill/>
          <a:ln w="5715">
            <a:solidFill>
              <a:srgbClr val="334155"/>
            </a:solidFill>
            <a:prstDash val="solid"/>
          </a:ln>
        </p:spPr>
      </p:sp>
      <p:sp>
        <p:nvSpPr>
          <p:cNvPr id="76" name="Shape 73"/>
          <p:cNvSpPr/>
          <p:nvPr/>
        </p:nvSpPr>
        <p:spPr>
          <a:xfrm>
            <a:off x="537210" y="4589145"/>
            <a:ext cx="22860" cy="205740"/>
          </a:xfrm>
          <a:prstGeom prst="rect">
            <a:avLst/>
          </a:prstGeom>
          <a:solidFill>
            <a:srgbClr val="00BCD4"/>
          </a:solidFill>
          <a:ln/>
          <a:effectLst>
            <a:outerShdw sx="100000" sy="100000" kx="0" ky="0" algn="bl" rotWithShape="0" blurRad="95250" dist="50800" dir="16200000">
              <a:srgbClr val="00BCD4">
                <a:alpha val="100000"/>
              </a:srgbClr>
            </a:outerShdw>
          </a:effectLst>
        </p:spPr>
      </p:sp>
      <p:sp>
        <p:nvSpPr>
          <p:cNvPr id="77" name="Text 74"/>
          <p:cNvSpPr/>
          <p:nvPr/>
        </p:nvSpPr>
        <p:spPr>
          <a:xfrm>
            <a:off x="662940" y="4630043"/>
            <a:ext cx="5696512" cy="1239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55000"/>
              </a:lnSpc>
              <a:buNone/>
            </a:pPr>
            <a:r>
              <a:rPr lang="en-US" sz="630" b="1" spc="6" kern="0" dirty="0">
                <a:solidFill>
                  <a:srgbClr val="00BCD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闭源是黑箱</a:t>
            </a:r>
            <a:pPr algn="l" indent="0" marL="0">
              <a:lnSpc>
                <a:spcPct val="155000"/>
              </a:lnSpc>
              <a:buNone/>
            </a:pPr>
            <a:r>
              <a:rPr lang="en-US" sz="630" spc="6" kern="0" dirty="0">
                <a:solidFill>
                  <a:srgbClr val="E2E8F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，</a:t>
            </a:r>
            <a:pPr algn="l" indent="0" marL="0">
              <a:lnSpc>
                <a:spcPct val="155000"/>
              </a:lnSpc>
              <a:buNone/>
            </a:pPr>
            <a:r>
              <a:rPr lang="en-US" sz="630" b="1" spc="6" kern="0" dirty="0">
                <a:solidFill>
                  <a:srgbClr val="FF704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开源是唯一的可研究样本</a:t>
            </a:r>
            <a:pPr algn="l" indent="0" marL="0">
              <a:lnSpc>
                <a:spcPct val="155000"/>
              </a:lnSpc>
              <a:buNone/>
            </a:pPr>
            <a:r>
              <a:rPr lang="en-US" sz="630" spc="6" kern="0" dirty="0">
                <a:solidFill>
                  <a:srgbClr val="E2E8F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。Hermes 不是产品而是</a:t>
            </a:r>
            <a:pPr algn="l" indent="0" marL="0">
              <a:lnSpc>
                <a:spcPct val="155000"/>
              </a:lnSpc>
              <a:buNone/>
            </a:pPr>
            <a:r>
              <a:rPr lang="en-US" sz="630" b="1" spc="6" kern="0" dirty="0">
                <a:solidFill>
                  <a:srgbClr val="FF704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制度实验场</a:t>
            </a:r>
            <a:pPr algn="l" indent="0" marL="0">
              <a:lnSpc>
                <a:spcPct val="155000"/>
              </a:lnSpc>
              <a:buNone/>
            </a:pPr>
            <a:r>
              <a:rPr lang="en-US" sz="630" spc="6" kern="0" dirty="0">
                <a:solidFill>
                  <a:srgbClr val="E2E8F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—— 用一年多的公开演化，展示 Agent 从技术到制度的完整链条。</a:t>
            </a:r>
            <a:endParaRPr lang="en-US" sz="630" dirty="0"/>
          </a:p>
        </p:txBody>
      </p:sp>
      <p:sp>
        <p:nvSpPr>
          <p:cNvPr id="78" name="Shape 75"/>
          <p:cNvSpPr/>
          <p:nvPr/>
        </p:nvSpPr>
        <p:spPr>
          <a:xfrm>
            <a:off x="7738110" y="4606290"/>
            <a:ext cx="868680" cy="171450"/>
          </a:xfrm>
          <a:prstGeom prst="rect">
            <a:avLst/>
          </a:prstGeom>
          <a:noFill/>
          <a:ln/>
        </p:spPr>
      </p:sp>
      <p:sp>
        <p:nvSpPr>
          <p:cNvPr id="79" name="Shape 76"/>
          <p:cNvSpPr/>
          <p:nvPr/>
        </p:nvSpPr>
        <p:spPr>
          <a:xfrm>
            <a:off x="7738110" y="4606290"/>
            <a:ext cx="0" cy="171450"/>
          </a:xfrm>
          <a:prstGeom prst="line">
            <a:avLst/>
          </a:prstGeom>
          <a:noFill/>
          <a:ln w="5715">
            <a:solidFill>
              <a:srgbClr val="334155"/>
            </a:solidFill>
            <a:prstDash val="solid"/>
          </a:ln>
        </p:spPr>
      </p:sp>
      <p:sp>
        <p:nvSpPr>
          <p:cNvPr id="80" name="Text 77"/>
          <p:cNvSpPr/>
          <p:nvPr/>
        </p:nvSpPr>
        <p:spPr>
          <a:xfrm>
            <a:off x="7738110" y="4606290"/>
            <a:ext cx="972922" cy="17145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lnSpc>
                <a:spcPct val="150000"/>
              </a:lnSpc>
              <a:buNone/>
            </a:pPr>
            <a:r>
              <a:rPr lang="en-US" sz="450" spc="113" kern="0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CORE THESIS</a:t>
            </a:r>
            <a:pPr algn="r" indent="0" marL="0">
              <a:lnSpc>
                <a:spcPct val="150000"/>
              </a:lnSpc>
              <a:buNone/>
            </a:pPr>
            <a:endParaRPr lang="en-US" sz="450" dirty="0"/>
          </a:p>
          <a:p>
            <a:pPr algn="r" indent="0" marL="0">
              <a:lnSpc>
                <a:spcPct val="150000"/>
              </a:lnSpc>
              <a:buNone/>
            </a:pPr>
            <a:r>
              <a:rPr lang="en-US" sz="450" spc="113" kern="0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—— PROLOGUE ——</a:t>
            </a:r>
            <a:endParaRPr lang="en-US" sz="4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5091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gradFill rotWithShape="1">
            <a:gsLst>
              <a:gs pos="0">
                <a:srgbClr val="000000">
                  <a:alpha val="5500"/>
                </a:srgbClr>
              </a:gs>
              <a:gs pos="25000">
                <a:srgbClr val="000000">
                  <a:alpha val="0"/>
                </a:srgbClr>
              </a:gs>
              <a:gs pos="50000">
                <a:srgbClr val="000000"/>
              </a:gs>
              <a:gs pos="75000">
                <a:srgbClr val="000000">
                  <a:alpha val="5500"/>
                </a:srgbClr>
              </a:gs>
              <a:gs pos="100000">
                <a:srgbClr val="000000">
                  <a:alpha val="0"/>
                </a:srgbClr>
              </a:gs>
            </a:gsLst>
            <a:lin ang="5400000" scaled="0"/>
          </a:gra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028700" cy="1028700"/>
          </a:xfrm>
          <a:prstGeom prst="rect">
            <a:avLst/>
          </a:prstGeom>
          <a:noFill/>
          <a:ln/>
        </p:spPr>
      </p:sp>
      <p:sp>
        <p:nvSpPr>
          <p:cNvPr id="4" name="Shape 2"/>
          <p:cNvSpPr/>
          <p:nvPr/>
        </p:nvSpPr>
        <p:spPr>
          <a:xfrm>
            <a:off x="0" y="0"/>
            <a:ext cx="1028700" cy="0"/>
          </a:xfrm>
          <a:prstGeom prst="line">
            <a:avLst/>
          </a:prstGeom>
          <a:noFill/>
          <a:ln w="5715">
            <a:solidFill>
              <a:srgbClr val="00BCD4">
                <a:alpha val="35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0" y="0"/>
            <a:ext cx="0" cy="1028700"/>
          </a:xfrm>
          <a:prstGeom prst="line">
            <a:avLst/>
          </a:prstGeom>
          <a:noFill/>
          <a:ln w="5715">
            <a:solidFill>
              <a:srgbClr val="00BCD4">
                <a:alpha val="35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8115300" y="4114800"/>
            <a:ext cx="1028700" cy="1028700"/>
          </a:xfrm>
          <a:prstGeom prst="rect">
            <a:avLst/>
          </a:prstGeom>
          <a:noFill/>
          <a:ln/>
        </p:spPr>
      </p:sp>
      <p:sp>
        <p:nvSpPr>
          <p:cNvPr id="7" name="Shape 5"/>
          <p:cNvSpPr/>
          <p:nvPr/>
        </p:nvSpPr>
        <p:spPr>
          <a:xfrm>
            <a:off x="9144000" y="4114800"/>
            <a:ext cx="0" cy="1028700"/>
          </a:xfrm>
          <a:prstGeom prst="line">
            <a:avLst/>
          </a:prstGeom>
          <a:noFill/>
          <a:ln w="5715">
            <a:solidFill>
              <a:srgbClr val="00BCD4">
                <a:alpha val="3500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8115300" y="5143500"/>
            <a:ext cx="1028700" cy="0"/>
          </a:xfrm>
          <a:prstGeom prst="line">
            <a:avLst/>
          </a:prstGeom>
          <a:noFill/>
          <a:ln w="5715">
            <a:solidFill>
              <a:srgbClr val="00BCD4">
                <a:alpha val="3500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85800" y="1143000"/>
            <a:ext cx="34290" cy="34290"/>
          </a:xfrm>
          <a:prstGeom prst="ellipse">
            <a:avLst/>
          </a:prstGeom>
          <a:solidFill>
            <a:srgbClr val="00BCD4"/>
          </a:solidFill>
          <a:ln/>
          <a:effectLst>
            <a:outerShdw sx="100000" sy="100000" kx="0" ky="0" algn="bl" rotWithShape="0" blurRad="114300" dist="50800" dir="16200000">
              <a:srgbClr val="00BCD4">
                <a:alpha val="100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8081010" y="857250"/>
            <a:ext cx="34290" cy="34290"/>
          </a:xfrm>
          <a:prstGeom prst="ellipse">
            <a:avLst/>
          </a:prstGeom>
          <a:solidFill>
            <a:srgbClr val="FF7043"/>
          </a:solidFill>
          <a:ln/>
          <a:effectLst>
            <a:outerShdw sx="100000" sy="100000" kx="0" ky="0" algn="bl" rotWithShape="0" blurRad="114300" dist="50800" dir="16200000">
              <a:srgbClr val="FF7043">
                <a:alpha val="100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1428750" y="4080510"/>
            <a:ext cx="34290" cy="34290"/>
          </a:xfrm>
          <a:prstGeom prst="ellipse">
            <a:avLst/>
          </a:prstGeom>
          <a:solidFill>
            <a:srgbClr val="00BCD4"/>
          </a:solidFill>
          <a:ln/>
          <a:effectLst>
            <a:outerShdw sx="100000" sy="100000" kx="0" ky="0" algn="bl" rotWithShape="0" blurRad="114300" dist="50800" dir="16200000">
              <a:srgbClr val="00BCD4">
                <a:alpha val="100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8538210" y="3509010"/>
            <a:ext cx="34290" cy="34290"/>
          </a:xfrm>
          <a:prstGeom prst="ellipse">
            <a:avLst/>
          </a:prstGeom>
          <a:solidFill>
            <a:srgbClr val="00BCD4"/>
          </a:solidFill>
          <a:ln/>
          <a:effectLst>
            <a:outerShdw sx="100000" sy="100000" kx="0" ky="0" algn="bl" rotWithShape="0" blurRad="114300" dist="50800" dir="16200000">
              <a:srgbClr val="00BCD4">
                <a:alpha val="100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342900" y="251460"/>
            <a:ext cx="182880" cy="5715"/>
          </a:xfrm>
          <a:prstGeom prst="rect">
            <a:avLst/>
          </a:prstGeom>
          <a:gradFill rotWithShape="1">
            <a:gsLst>
              <a:gs pos="0">
                <a:srgbClr val="00BCD4"/>
              </a:gs>
              <a:gs pos="100000">
                <a:srgbClr val="000000">
                  <a:alpha val="0"/>
                </a:srgbClr>
              </a:gs>
            </a:gsLst>
            <a:lin ang="0" scaled="0"/>
          </a:gradFill>
          <a:ln/>
        </p:spPr>
      </p:sp>
      <p:sp>
        <p:nvSpPr>
          <p:cNvPr id="14" name="Text 12"/>
          <p:cNvSpPr/>
          <p:nvPr/>
        </p:nvSpPr>
        <p:spPr>
          <a:xfrm>
            <a:off x="594360" y="251460"/>
            <a:ext cx="1920840" cy="85725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buNone/>
            </a:pPr>
            <a:r>
              <a:rPr lang="en-US" sz="540" spc="151" kern="0" dirty="0">
                <a:solidFill>
                  <a:srgbClr val="00BCD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HERMES · PROJECT COORDINATES</a:t>
            </a:r>
            <a:endParaRPr lang="en-US" sz="540" dirty="0"/>
          </a:p>
        </p:txBody>
      </p:sp>
      <p:sp>
        <p:nvSpPr>
          <p:cNvPr id="15" name="Text 13"/>
          <p:cNvSpPr/>
          <p:nvPr/>
        </p:nvSpPr>
        <p:spPr>
          <a:xfrm>
            <a:off x="342900" y="394335"/>
            <a:ext cx="4992624" cy="31200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2340" b="1" spc="-47" kern="0" dirty="0">
                <a:solidFill>
                  <a:srgbClr val="F8FAF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Hermes</a:t>
            </a:r>
            <a:pPr algn="l" indent="0" marL="0">
              <a:lnSpc>
                <a:spcPct val="105000"/>
              </a:lnSpc>
              <a:buNone/>
            </a:pPr>
            <a:r>
              <a:rPr lang="en-US" sz="2340" b="1" spc="-47" kern="0" dirty="0">
                <a:solidFill>
                  <a:srgbClr val="000000">
                    <a:alpha val="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项目坐标</a:t>
            </a:r>
            <a:endParaRPr lang="en-US" sz="2340" dirty="0"/>
          </a:p>
        </p:txBody>
      </p:sp>
      <p:sp>
        <p:nvSpPr>
          <p:cNvPr id="16" name="Text 14"/>
          <p:cNvSpPr/>
          <p:nvPr/>
        </p:nvSpPr>
        <p:spPr>
          <a:xfrm>
            <a:off x="1512957" y="365760"/>
            <a:ext cx="1462147" cy="360045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2340" b="1" spc="-47" kern="0" dirty="0">
                <a:solidFill>
                  <a:srgbClr val="00BCD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项目坐标</a:t>
            </a:r>
            <a:endParaRPr lang="en-US" sz="2340" dirty="0"/>
          </a:p>
        </p:txBody>
      </p:sp>
      <p:sp>
        <p:nvSpPr>
          <p:cNvPr id="17" name="Text 15"/>
          <p:cNvSpPr/>
          <p:nvPr/>
        </p:nvSpPr>
        <p:spPr>
          <a:xfrm>
            <a:off x="342900" y="763488"/>
            <a:ext cx="4992624" cy="1285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675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Hermes 用一年多的公开演化，展示</a:t>
            </a:r>
            <a:pPr algn="l" indent="0" marL="0">
              <a:lnSpc>
                <a:spcPct val="150000"/>
              </a:lnSpc>
              <a:buNone/>
            </a:pPr>
            <a:r>
              <a:rPr lang="en-US" sz="675" dirty="0">
                <a:solidFill>
                  <a:srgbClr val="E2E8F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Agent 从技术到制度的完整链条</a:t>
            </a:r>
            <a:pPr algn="l" indent="0" marL="0">
              <a:lnSpc>
                <a:spcPct val="150000"/>
              </a:lnSpc>
              <a:buNone/>
            </a:pPr>
            <a:r>
              <a:rPr lang="en-US" sz="675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——每个数字都可以追溯到具体的</a:t>
            </a:r>
            <a:pPr algn="l" indent="0" marL="0">
              <a:lnSpc>
                <a:spcPct val="150000"/>
              </a:lnSpc>
              <a:buNone/>
            </a:pPr>
            <a:r>
              <a:rPr lang="en-US" sz="675" dirty="0">
                <a:solidFill>
                  <a:srgbClr val="E2E8F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issue</a:t>
            </a:r>
            <a:pPr algn="l" indent="0" marL="0">
              <a:lnSpc>
                <a:spcPct val="150000"/>
              </a:lnSpc>
              <a:buNone/>
            </a:pPr>
            <a:r>
              <a:rPr lang="en-US" sz="675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和</a:t>
            </a:r>
            <a:pPr algn="l" indent="0" marL="0">
              <a:lnSpc>
                <a:spcPct val="150000"/>
              </a:lnSpc>
              <a:buNone/>
            </a:pPr>
            <a:r>
              <a:rPr lang="en-US" sz="675" dirty="0">
                <a:solidFill>
                  <a:srgbClr val="E2E8F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</a:t>
            </a:r>
            <a:pPr algn="l" indent="0" marL="0">
              <a:lnSpc>
                <a:spcPct val="150000"/>
              </a:lnSpc>
              <a:buNone/>
            </a:pPr>
            <a:r>
              <a:rPr lang="en-US" sz="675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。</a:t>
            </a:r>
            <a:endParaRPr lang="en-US" sz="675" dirty="0"/>
          </a:p>
        </p:txBody>
      </p:sp>
      <p:sp>
        <p:nvSpPr>
          <p:cNvPr id="18" name="Shape 16"/>
          <p:cNvSpPr/>
          <p:nvPr/>
        </p:nvSpPr>
        <p:spPr>
          <a:xfrm>
            <a:off x="8108692" y="503456"/>
            <a:ext cx="692408" cy="160020"/>
          </a:xfrm>
          <a:prstGeom prst="roundRect">
            <a:avLst>
              <a:gd name="adj" fmla="val 14286"/>
            </a:avLst>
          </a:prstGeom>
          <a:solidFill>
            <a:srgbClr val="00BCD4">
              <a:alpha val="5000"/>
            </a:srgbClr>
          </a:solidFill>
          <a:ln w="5715">
            <a:solidFill>
              <a:srgbClr val="00BCD4">
                <a:alpha val="18000"/>
              </a:srgbClr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8108692" y="503456"/>
            <a:ext cx="775497" cy="160020"/>
          </a:xfrm>
          <a:prstGeom prst="rect">
            <a:avLst/>
          </a:prstGeom>
          <a:noFill/>
          <a:ln/>
        </p:spPr>
        <p:txBody>
          <a:bodyPr wrap="square" lIns="34290" tIns="68580" rIns="68580" bIns="34290" rtlCol="0" anchor="ctr"/>
          <a:lstStyle/>
          <a:p>
            <a:pPr algn="l" indent="0" marL="0">
              <a:buNone/>
            </a:pPr>
            <a:r>
              <a:rPr lang="en-US" sz="495" spc="74" kern="0" dirty="0">
                <a:solidFill>
                  <a:srgbClr val="00BCD4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P.03 / DATA</a:t>
            </a:r>
            <a:endParaRPr lang="en-US" sz="495" dirty="0"/>
          </a:p>
        </p:txBody>
      </p:sp>
      <p:sp>
        <p:nvSpPr>
          <p:cNvPr id="20" name="Shape 18"/>
          <p:cNvSpPr/>
          <p:nvPr/>
        </p:nvSpPr>
        <p:spPr>
          <a:xfrm>
            <a:off x="7910989" y="697766"/>
            <a:ext cx="890111" cy="160020"/>
          </a:xfrm>
          <a:prstGeom prst="roundRect">
            <a:avLst>
              <a:gd name="adj" fmla="val 14286"/>
            </a:avLst>
          </a:prstGeom>
          <a:solidFill>
            <a:srgbClr val="FF7043">
              <a:alpha val="6000"/>
            </a:srgbClr>
          </a:solidFill>
          <a:ln w="5715">
            <a:solidFill>
              <a:srgbClr val="FF7043">
                <a:alpha val="35000"/>
              </a:srgbClr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7910989" y="697766"/>
            <a:ext cx="996925" cy="160020"/>
          </a:xfrm>
          <a:prstGeom prst="rect">
            <a:avLst/>
          </a:prstGeom>
          <a:noFill/>
          <a:ln/>
        </p:spPr>
        <p:txBody>
          <a:bodyPr wrap="square" lIns="34290" tIns="68580" rIns="68580" bIns="34290" rtlCol="0" anchor="ctr"/>
          <a:lstStyle/>
          <a:p>
            <a:pPr algn="l" indent="0" marL="0">
              <a:buNone/>
            </a:pPr>
            <a:r>
              <a:rPr lang="en-US" sz="495" spc="74" kern="0" dirty="0">
                <a:solidFill>
                  <a:srgbClr val="FF7043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LIVE · SNAPSHOT</a:t>
            </a:r>
            <a:endParaRPr lang="en-US" sz="495" dirty="0"/>
          </a:p>
        </p:txBody>
      </p:sp>
      <p:sp>
        <p:nvSpPr>
          <p:cNvPr id="22" name="Shape 20"/>
          <p:cNvSpPr/>
          <p:nvPr/>
        </p:nvSpPr>
        <p:spPr>
          <a:xfrm>
            <a:off x="342900" y="1040666"/>
            <a:ext cx="2054543" cy="1442234"/>
          </a:xfrm>
          <a:prstGeom prst="roundRect">
            <a:avLst>
              <a:gd name="adj" fmla="val 3963"/>
            </a:avLst>
          </a:prstGeom>
          <a:gradFill rotWithShape="1">
            <a:gsLst>
              <a:gs pos="0">
                <a:srgbClr val="321E19">
                  <a:alpha val="60000"/>
                </a:srgbClr>
              </a:gs>
              <a:gs pos="100000">
                <a:srgbClr val="140F14">
                  <a:alpha val="90000"/>
                </a:srgbClr>
              </a:gs>
            </a:gsLst>
            <a:lin ang="3300000" scaled="0"/>
          </a:gradFill>
          <a:ln w="5715">
            <a:solidFill>
              <a:srgbClr val="FF7043">
                <a:alpha val="55000"/>
              </a:srgbClr>
            </a:solidFill>
            <a:prstDash val="solid"/>
          </a:ln>
          <a:effectLst>
            <a:outerShdw sx="100000" sy="100000" kx="0" ky="0" algn="bl" rotWithShape="0" blurRad="101600" dist="50800" dir="16200000">
              <a:srgbClr val="FF7043">
                <a:alpha val="25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342900" y="1040666"/>
            <a:ext cx="17145" cy="1430802"/>
          </a:xfrm>
          <a:prstGeom prst="rect">
            <a:avLst/>
          </a:prstGeom>
          <a:gradFill rotWithShape="1">
            <a:gsLst>
              <a:gs pos="0">
                <a:srgbClr val="FF7043"/>
              </a:gs>
              <a:gs pos="100000">
                <a:srgbClr val="000000">
                  <a:alpha val="0"/>
                </a:srgbClr>
              </a:gs>
            </a:gsLst>
            <a:lin ang="5400000" scaled="0"/>
          </a:gradFill>
          <a:ln/>
        </p:spPr>
      </p:sp>
      <p:sp>
        <p:nvSpPr>
          <p:cNvPr id="24" name="Shape 22"/>
          <p:cNvSpPr/>
          <p:nvPr/>
        </p:nvSpPr>
        <p:spPr>
          <a:xfrm>
            <a:off x="1928813" y="812066"/>
            <a:ext cx="685800" cy="685800"/>
          </a:xfrm>
          <a:prstGeom prst="rect">
            <a:avLst/>
          </a:prstGeom>
          <a:solidFill>
            <a:srgbClr val="FF7043">
              <a:alpha val="20000"/>
            </a:srgbClr>
          </a:solidFill>
          <a:ln/>
        </p:spPr>
      </p:sp>
      <p:sp>
        <p:nvSpPr>
          <p:cNvPr id="25" name="Text 23"/>
          <p:cNvSpPr/>
          <p:nvPr/>
        </p:nvSpPr>
        <p:spPr>
          <a:xfrm>
            <a:off x="474345" y="1160681"/>
            <a:ext cx="433268" cy="80010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buNone/>
            </a:pPr>
            <a:r>
              <a:rPr lang="en-US" sz="495" spc="109" kern="0" dirty="0">
                <a:solidFill>
                  <a:srgbClr val="FF704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★ STARS</a:t>
            </a:r>
            <a:endParaRPr lang="en-US" sz="495" dirty="0"/>
          </a:p>
        </p:txBody>
      </p:sp>
      <p:sp>
        <p:nvSpPr>
          <p:cNvPr id="26" name="Text 24"/>
          <p:cNvSpPr/>
          <p:nvPr/>
        </p:nvSpPr>
        <p:spPr>
          <a:xfrm>
            <a:off x="2185988" y="1163538"/>
            <a:ext cx="137160" cy="74295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buNone/>
            </a:pPr>
            <a:r>
              <a:rPr lang="en-US" sz="450" spc="45" kern="0" dirty="0">
                <a:solidFill>
                  <a:srgbClr val="64748B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01</a:t>
            </a:r>
            <a:endParaRPr lang="en-US" sz="450" dirty="0"/>
          </a:p>
        </p:txBody>
      </p:sp>
      <p:sp>
        <p:nvSpPr>
          <p:cNvPr id="27" name="Text 25"/>
          <p:cNvSpPr/>
          <p:nvPr/>
        </p:nvSpPr>
        <p:spPr>
          <a:xfrm>
            <a:off x="474345" y="1573500"/>
            <a:ext cx="1445895" cy="377190"/>
          </a:xfrm>
          <a:prstGeom prst="rect">
            <a:avLst/>
          </a:prstGeom>
          <a:noFill/>
          <a:ln/>
          <a:effectLst>
            <a:outerShdw sx="100000" sy="100000" kx="0" ky="0" algn="bl" rotWithShape="0" blurRad="148590" dist="50800" dir="5400000">
              <a:srgbClr val="FF7043">
                <a:alpha val="55000"/>
              </a:srgbClr>
            </a:outerShdw>
          </a:effectLst>
        </p:spPr>
        <p:txBody>
          <a:bodyPr wrap="none" rtlCol="0" anchor="ctr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2250" b="1" spc="-45" kern="0" dirty="0">
                <a:solidFill>
                  <a:srgbClr val="FF7043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243,919</a:t>
            </a:r>
            <a:endParaRPr lang="en-US" sz="2250" dirty="0"/>
          </a:p>
        </p:txBody>
      </p:sp>
      <p:sp>
        <p:nvSpPr>
          <p:cNvPr id="28" name="Text 26"/>
          <p:cNvSpPr/>
          <p:nvPr/>
        </p:nvSpPr>
        <p:spPr>
          <a:xfrm>
            <a:off x="474345" y="2269212"/>
            <a:ext cx="1536192" cy="8572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540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公开关注度峰值——</a:t>
            </a:r>
            <a:pPr algn="l" indent="0" marL="0">
              <a:lnSpc>
                <a:spcPct val="145000"/>
              </a:lnSpc>
              <a:buNone/>
            </a:pPr>
            <a:r>
              <a:rPr lang="en-US" sz="540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社区用脚投票</a:t>
            </a:r>
            <a:pPr algn="l" indent="0" marL="0">
              <a:lnSpc>
                <a:spcPct val="145000"/>
              </a:lnSpc>
              <a:buNone/>
            </a:pPr>
            <a:r>
              <a:rPr lang="en-US" sz="540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的第一信号</a:t>
            </a:r>
            <a:endParaRPr lang="en-US" sz="540" dirty="0"/>
          </a:p>
        </p:txBody>
      </p:sp>
      <p:sp>
        <p:nvSpPr>
          <p:cNvPr id="29" name="Shape 27"/>
          <p:cNvSpPr/>
          <p:nvPr/>
        </p:nvSpPr>
        <p:spPr>
          <a:xfrm>
            <a:off x="2477453" y="1040666"/>
            <a:ext cx="2054543" cy="1442234"/>
          </a:xfrm>
          <a:prstGeom prst="roundRect">
            <a:avLst>
              <a:gd name="adj" fmla="val 3963"/>
            </a:avLst>
          </a:prstGeom>
          <a:gradFill rotWithShape="1">
            <a:gsLst>
              <a:gs pos="0">
                <a:srgbClr val="1E293B">
                  <a:alpha val="75000"/>
                </a:srgbClr>
              </a:gs>
              <a:gs pos="100000">
                <a:srgbClr val="0F172A">
                  <a:alpha val="85000"/>
                </a:srgbClr>
              </a:gs>
            </a:gsLst>
            <a:lin ang="3300000" scaled="0"/>
          </a:gradFill>
          <a:ln w="5715">
            <a:solidFill>
              <a:srgbClr val="00BCD4">
                <a:alpha val="18000"/>
              </a:srgbClr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2477453" y="1040666"/>
            <a:ext cx="17145" cy="1430802"/>
          </a:xfrm>
          <a:prstGeom prst="rect">
            <a:avLst/>
          </a:prstGeom>
          <a:gradFill rotWithShape="1">
            <a:gsLst>
              <a:gs pos="0">
                <a:srgbClr val="00BCD4"/>
              </a:gs>
              <a:gs pos="100000">
                <a:srgbClr val="000000">
                  <a:alpha val="0"/>
                </a:srgbClr>
              </a:gs>
            </a:gsLst>
            <a:lin ang="5400000" scaled="0"/>
          </a:gradFill>
          <a:ln/>
        </p:spPr>
      </p:sp>
      <p:sp>
        <p:nvSpPr>
          <p:cNvPr id="31" name="Shape 29"/>
          <p:cNvSpPr/>
          <p:nvPr/>
        </p:nvSpPr>
        <p:spPr>
          <a:xfrm>
            <a:off x="4063365" y="812066"/>
            <a:ext cx="685800" cy="685800"/>
          </a:xfrm>
          <a:prstGeom prst="rect">
            <a:avLst/>
          </a:prstGeom>
          <a:solidFill>
            <a:srgbClr val="00BCD4">
              <a:alpha val="12000"/>
            </a:srgbClr>
          </a:solidFill>
          <a:ln/>
        </p:spPr>
      </p:sp>
      <p:sp>
        <p:nvSpPr>
          <p:cNvPr id="32" name="Text 30"/>
          <p:cNvSpPr/>
          <p:nvPr/>
        </p:nvSpPr>
        <p:spPr>
          <a:xfrm>
            <a:off x="2608898" y="1160681"/>
            <a:ext cx="422642" cy="80010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buNone/>
            </a:pPr>
            <a:r>
              <a:rPr lang="en-US" sz="495" spc="109" kern="0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⑂ FORKS</a:t>
            </a:r>
            <a:endParaRPr lang="en-US" sz="495" dirty="0"/>
          </a:p>
        </p:txBody>
      </p:sp>
      <p:sp>
        <p:nvSpPr>
          <p:cNvPr id="33" name="Text 31"/>
          <p:cNvSpPr/>
          <p:nvPr/>
        </p:nvSpPr>
        <p:spPr>
          <a:xfrm>
            <a:off x="4320540" y="1163538"/>
            <a:ext cx="137160" cy="74295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buNone/>
            </a:pPr>
            <a:r>
              <a:rPr lang="en-US" sz="450" spc="45" kern="0" dirty="0">
                <a:solidFill>
                  <a:srgbClr val="64748B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02</a:t>
            </a:r>
            <a:endParaRPr lang="en-US" sz="450" dirty="0"/>
          </a:p>
        </p:txBody>
      </p:sp>
      <p:sp>
        <p:nvSpPr>
          <p:cNvPr id="34" name="Text 32"/>
          <p:cNvSpPr/>
          <p:nvPr/>
        </p:nvSpPr>
        <p:spPr>
          <a:xfrm>
            <a:off x="2608898" y="1597253"/>
            <a:ext cx="1112907" cy="331470"/>
          </a:xfrm>
          <a:prstGeom prst="rect">
            <a:avLst/>
          </a:prstGeom>
          <a:noFill/>
          <a:ln/>
          <a:effectLst>
            <a:outerShdw sx="100000" sy="100000" kx="0" ky="0" algn="bl" rotWithShape="0" blurRad="125730" dist="50800" dir="5400000">
              <a:srgbClr val="00BCD4">
                <a:alpha val="40000"/>
              </a:srgbClr>
            </a:outerShdw>
          </a:effectLst>
        </p:spPr>
        <p:txBody>
          <a:bodyPr wrap="none" rtlCol="0" anchor="ctr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980" b="1" spc="-40" kern="0" dirty="0">
                <a:solidFill>
                  <a:srgbClr val="00BCD4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50,367</a:t>
            </a:r>
            <a:endParaRPr lang="en-US" sz="1980" dirty="0"/>
          </a:p>
        </p:txBody>
      </p:sp>
      <p:sp>
        <p:nvSpPr>
          <p:cNvPr id="35" name="Text 33"/>
          <p:cNvSpPr/>
          <p:nvPr/>
        </p:nvSpPr>
        <p:spPr>
          <a:xfrm>
            <a:off x="2608898" y="2269212"/>
            <a:ext cx="1324966" cy="8572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540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被二次 fork 分叉，生态蔓延的</a:t>
            </a:r>
            <a:pPr algn="l" indent="0" marL="0">
              <a:lnSpc>
                <a:spcPct val="145000"/>
              </a:lnSpc>
              <a:buNone/>
            </a:pPr>
            <a:r>
              <a:rPr lang="en-US" sz="540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广度指标</a:t>
            </a:r>
            <a:endParaRPr lang="en-US" sz="540" dirty="0"/>
          </a:p>
        </p:txBody>
      </p:sp>
      <p:sp>
        <p:nvSpPr>
          <p:cNvPr id="36" name="Shape 34"/>
          <p:cNvSpPr/>
          <p:nvPr/>
        </p:nvSpPr>
        <p:spPr>
          <a:xfrm>
            <a:off x="4612005" y="1040666"/>
            <a:ext cx="2054543" cy="1442234"/>
          </a:xfrm>
          <a:prstGeom prst="roundRect">
            <a:avLst>
              <a:gd name="adj" fmla="val 3963"/>
            </a:avLst>
          </a:prstGeom>
          <a:gradFill rotWithShape="1">
            <a:gsLst>
              <a:gs pos="0">
                <a:srgbClr val="1E293B">
                  <a:alpha val="75000"/>
                </a:srgbClr>
              </a:gs>
              <a:gs pos="100000">
                <a:srgbClr val="0F172A">
                  <a:alpha val="85000"/>
                </a:srgbClr>
              </a:gs>
            </a:gsLst>
            <a:lin ang="3300000" scaled="0"/>
          </a:gradFill>
          <a:ln w="5715">
            <a:solidFill>
              <a:srgbClr val="00BCD4">
                <a:alpha val="18000"/>
              </a:srgbClr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4612005" y="1040666"/>
            <a:ext cx="17145" cy="1430802"/>
          </a:xfrm>
          <a:prstGeom prst="rect">
            <a:avLst/>
          </a:prstGeom>
          <a:gradFill rotWithShape="1">
            <a:gsLst>
              <a:gs pos="0">
                <a:srgbClr val="00BCD4"/>
              </a:gs>
              <a:gs pos="100000">
                <a:srgbClr val="000000">
                  <a:alpha val="0"/>
                </a:srgbClr>
              </a:gs>
            </a:gsLst>
            <a:lin ang="5400000" scaled="0"/>
          </a:gradFill>
          <a:ln/>
        </p:spPr>
      </p:sp>
      <p:sp>
        <p:nvSpPr>
          <p:cNvPr id="38" name="Shape 36"/>
          <p:cNvSpPr/>
          <p:nvPr/>
        </p:nvSpPr>
        <p:spPr>
          <a:xfrm>
            <a:off x="6197918" y="812066"/>
            <a:ext cx="685800" cy="685800"/>
          </a:xfrm>
          <a:prstGeom prst="rect">
            <a:avLst/>
          </a:prstGeom>
          <a:solidFill>
            <a:srgbClr val="00BCD4">
              <a:alpha val="12000"/>
            </a:srgbClr>
          </a:solidFill>
          <a:ln/>
        </p:spPr>
      </p:sp>
      <p:sp>
        <p:nvSpPr>
          <p:cNvPr id="39" name="Text 37"/>
          <p:cNvSpPr/>
          <p:nvPr/>
        </p:nvSpPr>
        <p:spPr>
          <a:xfrm>
            <a:off x="4743450" y="1160681"/>
            <a:ext cx="866108" cy="80010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buNone/>
            </a:pPr>
            <a:r>
              <a:rPr lang="en-US" sz="495" spc="109" kern="0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⑃ PULL REQUESTS</a:t>
            </a:r>
            <a:endParaRPr lang="en-US" sz="495" dirty="0"/>
          </a:p>
        </p:txBody>
      </p:sp>
      <p:sp>
        <p:nvSpPr>
          <p:cNvPr id="40" name="Text 38"/>
          <p:cNvSpPr/>
          <p:nvPr/>
        </p:nvSpPr>
        <p:spPr>
          <a:xfrm>
            <a:off x="6455093" y="1163538"/>
            <a:ext cx="137160" cy="74295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buNone/>
            </a:pPr>
            <a:r>
              <a:rPr lang="en-US" sz="450" spc="45" kern="0" dirty="0">
                <a:solidFill>
                  <a:srgbClr val="64748B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03</a:t>
            </a:r>
            <a:endParaRPr lang="en-US" sz="450" dirty="0"/>
          </a:p>
        </p:txBody>
      </p:sp>
      <p:sp>
        <p:nvSpPr>
          <p:cNvPr id="41" name="Text 39"/>
          <p:cNvSpPr/>
          <p:nvPr/>
        </p:nvSpPr>
        <p:spPr>
          <a:xfrm>
            <a:off x="4743450" y="1597253"/>
            <a:ext cx="1112907" cy="331470"/>
          </a:xfrm>
          <a:prstGeom prst="rect">
            <a:avLst/>
          </a:prstGeom>
          <a:noFill/>
          <a:ln/>
          <a:effectLst>
            <a:outerShdw sx="100000" sy="100000" kx="0" ky="0" algn="bl" rotWithShape="0" blurRad="125730" dist="50800" dir="5400000">
              <a:srgbClr val="00BCD4">
                <a:alpha val="40000"/>
              </a:srgbClr>
            </a:outerShdw>
          </a:effectLst>
        </p:spPr>
        <p:txBody>
          <a:bodyPr wrap="none" rtlCol="0" anchor="ctr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980" b="1" spc="-40" kern="0" dirty="0">
                <a:solidFill>
                  <a:srgbClr val="00BCD4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27,783</a:t>
            </a:r>
            <a:endParaRPr lang="en-US" sz="1980" dirty="0"/>
          </a:p>
        </p:txBody>
      </p:sp>
      <p:sp>
        <p:nvSpPr>
          <p:cNvPr id="42" name="Text 40"/>
          <p:cNvSpPr/>
          <p:nvPr/>
        </p:nvSpPr>
        <p:spPr>
          <a:xfrm>
            <a:off x="4743450" y="2269212"/>
            <a:ext cx="1613002" cy="8572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540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协作提交的</a:t>
            </a:r>
            <a:pPr algn="l" indent="0" marL="0">
              <a:lnSpc>
                <a:spcPct val="145000"/>
              </a:lnSpc>
              <a:buNone/>
            </a:pPr>
            <a:r>
              <a:rPr lang="en-US" sz="540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总量刻度</a:t>
            </a:r>
            <a:pPr algn="l" indent="0" marL="0">
              <a:lnSpc>
                <a:spcPct val="145000"/>
              </a:lnSpc>
              <a:buNone/>
            </a:pPr>
            <a:r>
              <a:rPr lang="en-US" sz="540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——每一条都对应具体讨论</a:t>
            </a:r>
            <a:endParaRPr lang="en-US" sz="540" dirty="0"/>
          </a:p>
        </p:txBody>
      </p:sp>
      <p:sp>
        <p:nvSpPr>
          <p:cNvPr id="43" name="Shape 41"/>
          <p:cNvSpPr/>
          <p:nvPr/>
        </p:nvSpPr>
        <p:spPr>
          <a:xfrm>
            <a:off x="6746558" y="1040666"/>
            <a:ext cx="2054543" cy="1442234"/>
          </a:xfrm>
          <a:prstGeom prst="roundRect">
            <a:avLst>
              <a:gd name="adj" fmla="val 3963"/>
            </a:avLst>
          </a:prstGeom>
          <a:gradFill rotWithShape="1">
            <a:gsLst>
              <a:gs pos="0">
                <a:srgbClr val="1E293B">
                  <a:alpha val="75000"/>
                </a:srgbClr>
              </a:gs>
              <a:gs pos="100000">
                <a:srgbClr val="0F172A">
                  <a:alpha val="85000"/>
                </a:srgbClr>
              </a:gs>
            </a:gsLst>
            <a:lin ang="3300000" scaled="0"/>
          </a:gradFill>
          <a:ln w="5715">
            <a:solidFill>
              <a:srgbClr val="00BCD4">
                <a:alpha val="18000"/>
              </a:srgbClr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6746558" y="1040666"/>
            <a:ext cx="17145" cy="1430802"/>
          </a:xfrm>
          <a:prstGeom prst="rect">
            <a:avLst/>
          </a:prstGeom>
          <a:gradFill rotWithShape="1">
            <a:gsLst>
              <a:gs pos="0">
                <a:srgbClr val="00BCD4"/>
              </a:gs>
              <a:gs pos="100000">
                <a:srgbClr val="000000">
                  <a:alpha val="0"/>
                </a:srgbClr>
              </a:gs>
            </a:gsLst>
            <a:lin ang="5400000" scaled="0"/>
          </a:gradFill>
          <a:ln/>
        </p:spPr>
      </p:sp>
      <p:sp>
        <p:nvSpPr>
          <p:cNvPr id="45" name="Shape 43"/>
          <p:cNvSpPr/>
          <p:nvPr/>
        </p:nvSpPr>
        <p:spPr>
          <a:xfrm>
            <a:off x="8332470" y="812066"/>
            <a:ext cx="685800" cy="685800"/>
          </a:xfrm>
          <a:prstGeom prst="rect">
            <a:avLst/>
          </a:prstGeom>
          <a:solidFill>
            <a:srgbClr val="00BCD4">
              <a:alpha val="12000"/>
            </a:srgbClr>
          </a:solidFill>
          <a:ln/>
        </p:spPr>
      </p:sp>
      <p:sp>
        <p:nvSpPr>
          <p:cNvPr id="46" name="Text 44"/>
          <p:cNvSpPr/>
          <p:nvPr/>
        </p:nvSpPr>
        <p:spPr>
          <a:xfrm>
            <a:off x="6878003" y="1160681"/>
            <a:ext cx="453628" cy="80010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buNone/>
            </a:pPr>
            <a:r>
              <a:rPr lang="en-US" sz="495" spc="109" kern="0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⑅ ISSUES</a:t>
            </a:r>
            <a:endParaRPr lang="en-US" sz="495" dirty="0"/>
          </a:p>
        </p:txBody>
      </p:sp>
      <p:sp>
        <p:nvSpPr>
          <p:cNvPr id="47" name="Text 45"/>
          <p:cNvSpPr/>
          <p:nvPr/>
        </p:nvSpPr>
        <p:spPr>
          <a:xfrm>
            <a:off x="8589645" y="1163538"/>
            <a:ext cx="137160" cy="74295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buNone/>
            </a:pPr>
            <a:r>
              <a:rPr lang="en-US" sz="450" spc="45" kern="0" dirty="0">
                <a:solidFill>
                  <a:srgbClr val="64748B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04</a:t>
            </a:r>
            <a:endParaRPr lang="en-US" sz="450" dirty="0"/>
          </a:p>
        </p:txBody>
      </p:sp>
      <p:sp>
        <p:nvSpPr>
          <p:cNvPr id="48" name="Text 46"/>
          <p:cNvSpPr/>
          <p:nvPr/>
        </p:nvSpPr>
        <p:spPr>
          <a:xfrm>
            <a:off x="6878003" y="1597253"/>
            <a:ext cx="1112907" cy="331470"/>
          </a:xfrm>
          <a:prstGeom prst="rect">
            <a:avLst/>
          </a:prstGeom>
          <a:noFill/>
          <a:ln/>
          <a:effectLst>
            <a:outerShdw sx="100000" sy="100000" kx="0" ky="0" algn="bl" rotWithShape="0" blurRad="125730" dist="50800" dir="5400000">
              <a:srgbClr val="00BCD4">
                <a:alpha val="40000"/>
              </a:srgbClr>
            </a:outerShdw>
          </a:effectLst>
        </p:spPr>
        <p:txBody>
          <a:bodyPr wrap="none" rtlCol="0" anchor="ctr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980" b="1" spc="-40" kern="0" dirty="0">
                <a:solidFill>
                  <a:srgbClr val="00BCD4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41,792</a:t>
            </a:r>
            <a:endParaRPr lang="en-US" sz="1980" dirty="0"/>
          </a:p>
        </p:txBody>
      </p:sp>
      <p:sp>
        <p:nvSpPr>
          <p:cNvPr id="49" name="Text 47"/>
          <p:cNvSpPr/>
          <p:nvPr/>
        </p:nvSpPr>
        <p:spPr>
          <a:xfrm>
            <a:off x="6878003" y="2269212"/>
            <a:ext cx="1305763" cy="8572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540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问题登记簿——Agent 争议的</a:t>
            </a:r>
            <a:pPr algn="l" indent="0" marL="0">
              <a:lnSpc>
                <a:spcPct val="145000"/>
              </a:lnSpc>
              <a:buNone/>
            </a:pPr>
            <a:r>
              <a:rPr lang="en-US" sz="540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制度留痕</a:t>
            </a:r>
            <a:endParaRPr lang="en-US" sz="540" dirty="0"/>
          </a:p>
        </p:txBody>
      </p:sp>
      <p:sp>
        <p:nvSpPr>
          <p:cNvPr id="50" name="Shape 48"/>
          <p:cNvSpPr/>
          <p:nvPr/>
        </p:nvSpPr>
        <p:spPr>
          <a:xfrm>
            <a:off x="342900" y="2562910"/>
            <a:ext cx="2054543" cy="1442234"/>
          </a:xfrm>
          <a:prstGeom prst="roundRect">
            <a:avLst>
              <a:gd name="adj" fmla="val 3963"/>
            </a:avLst>
          </a:prstGeom>
          <a:gradFill rotWithShape="1">
            <a:gsLst>
              <a:gs pos="0">
                <a:srgbClr val="1E293B">
                  <a:alpha val="75000"/>
                </a:srgbClr>
              </a:gs>
              <a:gs pos="100000">
                <a:srgbClr val="0F172A">
                  <a:alpha val="85000"/>
                </a:srgbClr>
              </a:gs>
            </a:gsLst>
            <a:lin ang="3300000" scaled="0"/>
          </a:gradFill>
          <a:ln w="5715">
            <a:solidFill>
              <a:srgbClr val="00BCD4">
                <a:alpha val="18000"/>
              </a:srgbClr>
            </a:solidFill>
            <a:prstDash val="solid"/>
          </a:ln>
        </p:spPr>
      </p:sp>
      <p:sp>
        <p:nvSpPr>
          <p:cNvPr id="51" name="Shape 49"/>
          <p:cNvSpPr/>
          <p:nvPr/>
        </p:nvSpPr>
        <p:spPr>
          <a:xfrm>
            <a:off x="342900" y="2562910"/>
            <a:ext cx="17145" cy="1430802"/>
          </a:xfrm>
          <a:prstGeom prst="rect">
            <a:avLst/>
          </a:prstGeom>
          <a:gradFill rotWithShape="1">
            <a:gsLst>
              <a:gs pos="0">
                <a:srgbClr val="00BCD4"/>
              </a:gs>
              <a:gs pos="100000">
                <a:srgbClr val="000000">
                  <a:alpha val="0"/>
                </a:srgbClr>
              </a:gs>
            </a:gsLst>
            <a:lin ang="5400000" scaled="0"/>
          </a:gradFill>
          <a:ln/>
        </p:spPr>
      </p:sp>
      <p:sp>
        <p:nvSpPr>
          <p:cNvPr id="52" name="Shape 50"/>
          <p:cNvSpPr/>
          <p:nvPr/>
        </p:nvSpPr>
        <p:spPr>
          <a:xfrm>
            <a:off x="1928813" y="2334310"/>
            <a:ext cx="685800" cy="685800"/>
          </a:xfrm>
          <a:prstGeom prst="rect">
            <a:avLst/>
          </a:prstGeom>
          <a:solidFill>
            <a:srgbClr val="00BCD4">
              <a:alpha val="12000"/>
            </a:srgbClr>
          </a:solidFill>
          <a:ln/>
        </p:spPr>
      </p:sp>
      <p:sp>
        <p:nvSpPr>
          <p:cNvPr id="53" name="Text 51"/>
          <p:cNvSpPr/>
          <p:nvPr/>
        </p:nvSpPr>
        <p:spPr>
          <a:xfrm>
            <a:off x="474345" y="2682925"/>
            <a:ext cx="578376" cy="80010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buNone/>
            </a:pPr>
            <a:r>
              <a:rPr lang="en-US" sz="495" spc="109" kern="0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⑆ RELEASES</a:t>
            </a:r>
            <a:endParaRPr lang="en-US" sz="495" dirty="0"/>
          </a:p>
        </p:txBody>
      </p:sp>
      <p:sp>
        <p:nvSpPr>
          <p:cNvPr id="54" name="Text 52"/>
          <p:cNvSpPr/>
          <p:nvPr/>
        </p:nvSpPr>
        <p:spPr>
          <a:xfrm>
            <a:off x="2185988" y="2685782"/>
            <a:ext cx="137160" cy="74295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buNone/>
            </a:pPr>
            <a:r>
              <a:rPr lang="en-US" sz="450" spc="45" kern="0" dirty="0">
                <a:solidFill>
                  <a:srgbClr val="64748B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05</a:t>
            </a:r>
            <a:endParaRPr lang="en-US" sz="450" dirty="0"/>
          </a:p>
        </p:txBody>
      </p:sp>
      <p:sp>
        <p:nvSpPr>
          <p:cNvPr id="55" name="Text 53"/>
          <p:cNvSpPr/>
          <p:nvPr/>
        </p:nvSpPr>
        <p:spPr>
          <a:xfrm>
            <a:off x="474345" y="3119497"/>
            <a:ext cx="603504" cy="331470"/>
          </a:xfrm>
          <a:prstGeom prst="rect">
            <a:avLst/>
          </a:prstGeom>
          <a:noFill/>
          <a:ln/>
          <a:effectLst>
            <a:outerShdw sx="100000" sy="100000" kx="0" ky="0" algn="bl" rotWithShape="0" blurRad="125730" dist="50800" dir="5400000">
              <a:srgbClr val="00BCD4">
                <a:alpha val="40000"/>
              </a:srgbClr>
            </a:outerShdw>
          </a:effectLst>
        </p:spPr>
        <p:txBody>
          <a:bodyPr wrap="none" rtlCol="0" anchor="ctr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980" b="1" spc="-40" kern="0" dirty="0">
                <a:solidFill>
                  <a:srgbClr val="00BCD4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33</a:t>
            </a:r>
            <a:endParaRPr lang="en-US" sz="1980" dirty="0"/>
          </a:p>
        </p:txBody>
      </p:sp>
      <p:sp>
        <p:nvSpPr>
          <p:cNvPr id="56" name="Text 54"/>
          <p:cNvSpPr/>
          <p:nvPr/>
        </p:nvSpPr>
        <p:spPr>
          <a:xfrm>
            <a:off x="474345" y="3791456"/>
            <a:ext cx="1075334" cy="8572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540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版本节奏克制——</a:t>
            </a:r>
            <a:pPr algn="l" indent="0" marL="0">
              <a:lnSpc>
                <a:spcPct val="145000"/>
              </a:lnSpc>
              <a:buNone/>
            </a:pPr>
            <a:r>
              <a:rPr lang="en-US" sz="540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重演化</a:t>
            </a:r>
            <a:pPr algn="l" indent="0" marL="0">
              <a:lnSpc>
                <a:spcPct val="145000"/>
              </a:lnSpc>
              <a:buNone/>
            </a:pPr>
            <a:r>
              <a:rPr lang="en-US" sz="540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轻发布</a:t>
            </a:r>
            <a:endParaRPr lang="en-US" sz="540" dirty="0"/>
          </a:p>
        </p:txBody>
      </p:sp>
      <p:sp>
        <p:nvSpPr>
          <p:cNvPr id="57" name="Shape 55"/>
          <p:cNvSpPr/>
          <p:nvPr/>
        </p:nvSpPr>
        <p:spPr>
          <a:xfrm>
            <a:off x="2477453" y="2562910"/>
            <a:ext cx="2054543" cy="1442234"/>
          </a:xfrm>
          <a:prstGeom prst="roundRect">
            <a:avLst>
              <a:gd name="adj" fmla="val 3963"/>
            </a:avLst>
          </a:prstGeom>
          <a:gradFill rotWithShape="1">
            <a:gsLst>
              <a:gs pos="0">
                <a:srgbClr val="1E293B">
                  <a:alpha val="75000"/>
                </a:srgbClr>
              </a:gs>
              <a:gs pos="100000">
                <a:srgbClr val="0F172A">
                  <a:alpha val="85000"/>
                </a:srgbClr>
              </a:gs>
            </a:gsLst>
            <a:lin ang="3300000" scaled="0"/>
          </a:gradFill>
          <a:ln w="5715">
            <a:solidFill>
              <a:srgbClr val="00BCD4">
                <a:alpha val="18000"/>
              </a:srgbClr>
            </a:solidFill>
            <a:prstDash val="solid"/>
          </a:ln>
        </p:spPr>
      </p:sp>
      <p:sp>
        <p:nvSpPr>
          <p:cNvPr id="58" name="Shape 56"/>
          <p:cNvSpPr/>
          <p:nvPr/>
        </p:nvSpPr>
        <p:spPr>
          <a:xfrm>
            <a:off x="2477453" y="2562910"/>
            <a:ext cx="17145" cy="1430802"/>
          </a:xfrm>
          <a:prstGeom prst="rect">
            <a:avLst/>
          </a:prstGeom>
          <a:gradFill rotWithShape="1">
            <a:gsLst>
              <a:gs pos="0">
                <a:srgbClr val="00BCD4"/>
              </a:gs>
              <a:gs pos="100000">
                <a:srgbClr val="000000">
                  <a:alpha val="0"/>
                </a:srgbClr>
              </a:gs>
            </a:gsLst>
            <a:lin ang="5400000" scaled="0"/>
          </a:gradFill>
          <a:ln/>
        </p:spPr>
      </p:sp>
      <p:sp>
        <p:nvSpPr>
          <p:cNvPr id="59" name="Shape 57"/>
          <p:cNvSpPr/>
          <p:nvPr/>
        </p:nvSpPr>
        <p:spPr>
          <a:xfrm>
            <a:off x="4063365" y="2334310"/>
            <a:ext cx="685800" cy="685800"/>
          </a:xfrm>
          <a:prstGeom prst="rect">
            <a:avLst/>
          </a:prstGeom>
          <a:solidFill>
            <a:srgbClr val="00BCD4">
              <a:alpha val="12000"/>
            </a:srgbClr>
          </a:solidFill>
          <a:ln/>
        </p:spPr>
      </p:sp>
      <p:sp>
        <p:nvSpPr>
          <p:cNvPr id="60" name="Text 58"/>
          <p:cNvSpPr/>
          <p:nvPr/>
        </p:nvSpPr>
        <p:spPr>
          <a:xfrm>
            <a:off x="2608898" y="2682925"/>
            <a:ext cx="825003" cy="80010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buNone/>
            </a:pPr>
            <a:r>
              <a:rPr lang="en-US" sz="495" spc="109" kern="0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⑇ CONTRIBUTORS</a:t>
            </a:r>
            <a:endParaRPr lang="en-US" sz="495" dirty="0"/>
          </a:p>
        </p:txBody>
      </p:sp>
      <p:sp>
        <p:nvSpPr>
          <p:cNvPr id="61" name="Text 59"/>
          <p:cNvSpPr/>
          <p:nvPr/>
        </p:nvSpPr>
        <p:spPr>
          <a:xfrm>
            <a:off x="4320540" y="2685782"/>
            <a:ext cx="137160" cy="74295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buNone/>
            </a:pPr>
            <a:r>
              <a:rPr lang="en-US" sz="450" spc="45" kern="0" dirty="0">
                <a:solidFill>
                  <a:srgbClr val="64748B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06</a:t>
            </a:r>
            <a:endParaRPr lang="en-US" sz="450" dirty="0"/>
          </a:p>
        </p:txBody>
      </p:sp>
      <p:sp>
        <p:nvSpPr>
          <p:cNvPr id="62" name="Text 60"/>
          <p:cNvSpPr/>
          <p:nvPr/>
        </p:nvSpPr>
        <p:spPr>
          <a:xfrm>
            <a:off x="2608898" y="3119497"/>
            <a:ext cx="779526" cy="331470"/>
          </a:xfrm>
          <a:prstGeom prst="rect">
            <a:avLst/>
          </a:prstGeom>
          <a:noFill/>
          <a:ln/>
          <a:effectLst>
            <a:outerShdw sx="100000" sy="100000" kx="0" ky="0" algn="bl" rotWithShape="0" blurRad="125730" dist="50800" dir="5400000">
              <a:srgbClr val="00BCD4">
                <a:alpha val="40000"/>
              </a:srgbClr>
            </a:outerShdw>
          </a:effectLst>
        </p:spPr>
        <p:txBody>
          <a:bodyPr wrap="none" rtlCol="0" anchor="ctr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980" b="1" spc="-40" kern="0" dirty="0">
                <a:solidFill>
                  <a:srgbClr val="00BCD4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397</a:t>
            </a:r>
            <a:endParaRPr lang="en-US" sz="1980" dirty="0"/>
          </a:p>
        </p:txBody>
      </p:sp>
      <p:sp>
        <p:nvSpPr>
          <p:cNvPr id="63" name="Text 61"/>
          <p:cNvSpPr/>
          <p:nvPr/>
        </p:nvSpPr>
        <p:spPr>
          <a:xfrm>
            <a:off x="2608898" y="3791456"/>
            <a:ext cx="1152144" cy="8572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540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实际下笔的作者规模——</a:t>
            </a:r>
            <a:pPr algn="l" indent="0" marL="0">
              <a:lnSpc>
                <a:spcPct val="145000"/>
              </a:lnSpc>
              <a:buNone/>
            </a:pPr>
            <a:r>
              <a:rPr lang="en-US" sz="540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参与深度</a:t>
            </a:r>
            <a:endParaRPr lang="en-US" sz="540" dirty="0"/>
          </a:p>
        </p:txBody>
      </p:sp>
      <p:sp>
        <p:nvSpPr>
          <p:cNvPr id="64" name="Shape 62"/>
          <p:cNvSpPr/>
          <p:nvPr/>
        </p:nvSpPr>
        <p:spPr>
          <a:xfrm>
            <a:off x="4612005" y="2562910"/>
            <a:ext cx="4189095" cy="1442234"/>
          </a:xfrm>
          <a:prstGeom prst="roundRect">
            <a:avLst>
              <a:gd name="adj" fmla="val 3963"/>
            </a:avLst>
          </a:prstGeom>
          <a:gradFill rotWithShape="1">
            <a:gsLst>
              <a:gs pos="0">
                <a:srgbClr val="1E293B">
                  <a:alpha val="75000"/>
                </a:srgbClr>
              </a:gs>
              <a:gs pos="100000">
                <a:srgbClr val="0F172A">
                  <a:alpha val="85000"/>
                </a:srgbClr>
              </a:gs>
            </a:gsLst>
            <a:lin ang="3300000" scaled="0"/>
          </a:gradFill>
          <a:ln w="5715">
            <a:solidFill>
              <a:srgbClr val="00BCD4">
                <a:alpha val="18000"/>
              </a:srgbClr>
            </a:solidFill>
            <a:prstDash val="solid"/>
          </a:ln>
        </p:spPr>
      </p:sp>
      <p:sp>
        <p:nvSpPr>
          <p:cNvPr id="65" name="Shape 63"/>
          <p:cNvSpPr/>
          <p:nvPr/>
        </p:nvSpPr>
        <p:spPr>
          <a:xfrm>
            <a:off x="4612005" y="2562910"/>
            <a:ext cx="17145" cy="1430802"/>
          </a:xfrm>
          <a:prstGeom prst="rect">
            <a:avLst/>
          </a:prstGeom>
          <a:gradFill rotWithShape="1">
            <a:gsLst>
              <a:gs pos="0">
                <a:srgbClr val="00BCD4"/>
              </a:gs>
              <a:gs pos="100000">
                <a:srgbClr val="000000">
                  <a:alpha val="0"/>
                </a:srgbClr>
              </a:gs>
            </a:gsLst>
            <a:lin ang="5400000" scaled="0"/>
          </a:gradFill>
          <a:ln/>
        </p:spPr>
      </p:sp>
      <p:sp>
        <p:nvSpPr>
          <p:cNvPr id="66" name="Shape 64"/>
          <p:cNvSpPr/>
          <p:nvPr/>
        </p:nvSpPr>
        <p:spPr>
          <a:xfrm>
            <a:off x="8332470" y="2334310"/>
            <a:ext cx="685800" cy="685800"/>
          </a:xfrm>
          <a:prstGeom prst="rect">
            <a:avLst/>
          </a:prstGeom>
          <a:solidFill>
            <a:srgbClr val="00BCD4">
              <a:alpha val="12000"/>
            </a:srgbClr>
          </a:solidFill>
          <a:ln/>
        </p:spPr>
      </p:sp>
      <p:sp>
        <p:nvSpPr>
          <p:cNvPr id="67" name="Text 65"/>
          <p:cNvSpPr/>
          <p:nvPr/>
        </p:nvSpPr>
        <p:spPr>
          <a:xfrm>
            <a:off x="4743450" y="2682925"/>
            <a:ext cx="878910" cy="80010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buNone/>
            </a:pPr>
            <a:r>
              <a:rPr lang="en-US" sz="495" spc="109" kern="0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⑈ TOTAL COMMITS</a:t>
            </a:r>
            <a:endParaRPr lang="en-US" sz="495" dirty="0"/>
          </a:p>
        </p:txBody>
      </p:sp>
      <p:sp>
        <p:nvSpPr>
          <p:cNvPr id="68" name="Text 66"/>
          <p:cNvSpPr/>
          <p:nvPr/>
        </p:nvSpPr>
        <p:spPr>
          <a:xfrm>
            <a:off x="8589645" y="2685782"/>
            <a:ext cx="137160" cy="74295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buNone/>
            </a:pPr>
            <a:r>
              <a:rPr lang="en-US" sz="450" spc="45" kern="0" dirty="0">
                <a:solidFill>
                  <a:srgbClr val="64748B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07</a:t>
            </a:r>
            <a:endParaRPr lang="en-US" sz="450" dirty="0"/>
          </a:p>
        </p:txBody>
      </p:sp>
      <p:sp>
        <p:nvSpPr>
          <p:cNvPr id="69" name="Text 67"/>
          <p:cNvSpPr/>
          <p:nvPr/>
        </p:nvSpPr>
        <p:spPr>
          <a:xfrm>
            <a:off x="4743450" y="3125480"/>
            <a:ext cx="1068526" cy="320040"/>
          </a:xfrm>
          <a:prstGeom prst="rect">
            <a:avLst/>
          </a:prstGeom>
          <a:noFill/>
          <a:ln/>
          <a:effectLst>
            <a:outerShdw sx="100000" sy="100000" kx="0" ky="0" algn="bl" rotWithShape="0" blurRad="125730" dist="50800" dir="5400000">
              <a:srgbClr val="00BCD4">
                <a:alpha val="40000"/>
              </a:srgbClr>
            </a:outerShdw>
          </a:effectLst>
        </p:spPr>
        <p:txBody>
          <a:bodyPr wrap="none" rtlCol="0" anchor="ctr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890" b="1" spc="-38" kern="0" dirty="0">
                <a:solidFill>
                  <a:srgbClr val="00BCD4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29,205</a:t>
            </a:r>
            <a:endParaRPr lang="en-US" sz="1890" dirty="0"/>
          </a:p>
        </p:txBody>
      </p:sp>
      <p:sp>
        <p:nvSpPr>
          <p:cNvPr id="70" name="Text 68"/>
          <p:cNvSpPr/>
          <p:nvPr/>
        </p:nvSpPr>
        <p:spPr>
          <a:xfrm>
            <a:off x="4743450" y="3791456"/>
            <a:ext cx="2989174" cy="8572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540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一年多时间里</a:t>
            </a:r>
            <a:pPr algn="l" indent="0" marL="0">
              <a:lnSpc>
                <a:spcPct val="145000"/>
              </a:lnSpc>
              <a:buNone/>
            </a:pPr>
            <a:r>
              <a:rPr lang="en-US" sz="540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43,292 个 PR + 397 位作者</a:t>
            </a:r>
            <a:pPr algn="l" indent="0" marL="0">
              <a:lnSpc>
                <a:spcPct val="145000"/>
              </a:lnSpc>
              <a:buNone/>
            </a:pPr>
            <a:r>
              <a:rPr lang="en-US" sz="540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沉淀出的每一次提交——</a:t>
            </a:r>
            <a:pPr algn="l" indent="0" marL="0">
              <a:lnSpc>
                <a:spcPct val="145000"/>
              </a:lnSpc>
              <a:buNone/>
            </a:pPr>
            <a:r>
              <a:rPr lang="en-US" sz="540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技术演进的最小粒子</a:t>
            </a:r>
            <a:endParaRPr lang="en-US" sz="540" dirty="0"/>
          </a:p>
        </p:txBody>
      </p:sp>
      <p:sp>
        <p:nvSpPr>
          <p:cNvPr id="71" name="Shape 69"/>
          <p:cNvSpPr/>
          <p:nvPr/>
        </p:nvSpPr>
        <p:spPr>
          <a:xfrm>
            <a:off x="342900" y="4096583"/>
            <a:ext cx="8458200" cy="675442"/>
          </a:xfrm>
          <a:prstGeom prst="roundRect">
            <a:avLst>
              <a:gd name="adj" fmla="val 8461"/>
            </a:avLst>
          </a:prstGeom>
          <a:gradFill rotWithShape="1">
            <a:gsLst>
              <a:gs pos="0">
                <a:srgbClr val="1E293B">
                  <a:alpha val="85000"/>
                </a:srgbClr>
              </a:gs>
              <a:gs pos="50000">
                <a:srgbClr val="0F172A">
                  <a:alpha val="90000"/>
                </a:srgbClr>
              </a:gs>
              <a:gs pos="100000">
                <a:srgbClr val="1E293B">
                  <a:alpha val="85000"/>
                </a:srgbClr>
              </a:gs>
            </a:gsLst>
            <a:lin ang="0" scaled="0"/>
          </a:gradFill>
          <a:ln w="5715">
            <a:solidFill>
              <a:srgbClr val="00BCD4">
                <a:alpha val="18000"/>
              </a:srgbClr>
            </a:solidFill>
            <a:prstDash val="solid"/>
          </a:ln>
        </p:spPr>
      </p:sp>
      <p:sp>
        <p:nvSpPr>
          <p:cNvPr id="72" name="Shape 70"/>
          <p:cNvSpPr/>
          <p:nvPr/>
        </p:nvSpPr>
        <p:spPr>
          <a:xfrm>
            <a:off x="468630" y="4428590"/>
            <a:ext cx="8195310" cy="5715"/>
          </a:xfrm>
          <a:prstGeom prst="rect">
            <a:avLst/>
          </a:prstGeom>
          <a:gradFill rotWithShape="1">
            <a:gsLst>
              <a:gs pos="0">
                <a:srgbClr val="000000">
                  <a:alpha val="0"/>
                </a:srgbClr>
              </a:gs>
              <a:gs pos="50000">
                <a:srgbClr val="00BCD4">
                  <a:alpha val="18000"/>
                </a:srgbClr>
              </a:gs>
              <a:gs pos="100000">
                <a:srgbClr val="000000">
                  <a:alpha val="0"/>
                </a:srgbClr>
              </a:gs>
            </a:gsLst>
            <a:lin ang="0" scaled="0"/>
          </a:gradFill>
          <a:ln/>
        </p:spPr>
      </p:sp>
      <p:sp>
        <p:nvSpPr>
          <p:cNvPr id="73" name="Shape 71"/>
          <p:cNvSpPr/>
          <p:nvPr/>
        </p:nvSpPr>
        <p:spPr>
          <a:xfrm>
            <a:off x="474345" y="4222313"/>
            <a:ext cx="28575" cy="28575"/>
          </a:xfrm>
          <a:prstGeom prst="ellipse">
            <a:avLst/>
          </a:prstGeom>
          <a:solidFill>
            <a:srgbClr val="00BCD4"/>
          </a:solidFill>
          <a:ln/>
          <a:effectLst>
            <a:outerShdw sx="100000" sy="100000" kx="0" ky="0" algn="bl" rotWithShape="0" blurRad="76200" dist="50800" dir="16200000">
              <a:srgbClr val="00BCD4">
                <a:alpha val="100000"/>
              </a:srgbClr>
            </a:outerShdw>
          </a:effectLst>
        </p:spPr>
      </p:sp>
      <p:sp>
        <p:nvSpPr>
          <p:cNvPr id="74" name="Text 72"/>
          <p:cNvSpPr/>
          <p:nvPr/>
        </p:nvSpPr>
        <p:spPr>
          <a:xfrm>
            <a:off x="548640" y="4193738"/>
            <a:ext cx="422910" cy="85725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buNone/>
            </a:pPr>
            <a:r>
              <a:rPr lang="en-US" sz="450" spc="90" kern="0" dirty="0">
                <a:solidFill>
                  <a:srgbClr val="00BCD4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01 · 创建</a:t>
            </a:r>
            <a:endParaRPr lang="en-US" sz="450" dirty="0"/>
          </a:p>
        </p:txBody>
      </p:sp>
      <p:sp>
        <p:nvSpPr>
          <p:cNvPr id="75" name="Text 73"/>
          <p:cNvSpPr/>
          <p:nvPr/>
        </p:nvSpPr>
        <p:spPr>
          <a:xfrm>
            <a:off x="474345" y="4325183"/>
            <a:ext cx="488097" cy="97155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buNone/>
            </a:pPr>
            <a:r>
              <a:rPr lang="en-US" sz="630" b="1" spc="13" kern="0" dirty="0">
                <a:solidFill>
                  <a:srgbClr val="F1F5F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一年多历史</a:t>
            </a:r>
            <a:endParaRPr lang="en-US" sz="630" dirty="0"/>
          </a:p>
        </p:txBody>
      </p:sp>
      <p:sp>
        <p:nvSpPr>
          <p:cNvPr id="76" name="Text 74"/>
          <p:cNvSpPr/>
          <p:nvPr/>
        </p:nvSpPr>
        <p:spPr>
          <a:xfrm>
            <a:off x="474345" y="4468058"/>
            <a:ext cx="729691" cy="1919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55000"/>
              </a:lnSpc>
              <a:buNone/>
            </a:pPr>
            <a:r>
              <a:rPr lang="en-US" sz="540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起点</a:t>
            </a:r>
            <a:pPr algn="l" indent="0" marL="0">
              <a:lnSpc>
                <a:spcPct val="155000"/>
              </a:lnSpc>
              <a:buNone/>
            </a:pPr>
            <a:r>
              <a:rPr lang="en-US" sz="495" b="1" dirty="0">
                <a:solidFill>
                  <a:srgbClr val="00BCD4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2025-07-22</a:t>
            </a:r>
            <a:pPr algn="l" indent="0" marL="0">
              <a:lnSpc>
                <a:spcPct val="155000"/>
              </a:lnSpc>
              <a:buNone/>
            </a:pPr>
            <a:endParaRPr lang="en-US" sz="540" dirty="0"/>
          </a:p>
          <a:p>
            <a:pPr algn="l" indent="0" marL="0">
              <a:lnSpc>
                <a:spcPct val="155000"/>
              </a:lnSpc>
              <a:buNone/>
            </a:pPr>
            <a:r>
              <a:rPr lang="en-US" sz="540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从一份 manifest 起步</a:t>
            </a:r>
            <a:endParaRPr lang="en-US" sz="540" dirty="0"/>
          </a:p>
        </p:txBody>
      </p:sp>
      <p:sp>
        <p:nvSpPr>
          <p:cNvPr id="77" name="Shape 75"/>
          <p:cNvSpPr/>
          <p:nvPr/>
        </p:nvSpPr>
        <p:spPr>
          <a:xfrm>
            <a:off x="2523173" y="4193738"/>
            <a:ext cx="2048828" cy="481132"/>
          </a:xfrm>
          <a:prstGeom prst="rect">
            <a:avLst/>
          </a:prstGeom>
          <a:noFill/>
          <a:ln/>
        </p:spPr>
      </p:sp>
      <p:sp>
        <p:nvSpPr>
          <p:cNvPr id="78" name="Shape 76"/>
          <p:cNvSpPr/>
          <p:nvPr/>
        </p:nvSpPr>
        <p:spPr>
          <a:xfrm>
            <a:off x="2523173" y="4193738"/>
            <a:ext cx="0" cy="481132"/>
          </a:xfrm>
          <a:prstGeom prst="line">
            <a:avLst/>
          </a:prstGeom>
          <a:noFill/>
          <a:ln w="5715">
            <a:solidFill>
              <a:srgbClr val="94A3B8">
                <a:alpha val="12000"/>
              </a:srgbClr>
            </a:solidFill>
            <a:prstDash val="solid"/>
          </a:ln>
        </p:spPr>
      </p:sp>
      <p:sp>
        <p:nvSpPr>
          <p:cNvPr id="79" name="Shape 77"/>
          <p:cNvSpPr/>
          <p:nvPr/>
        </p:nvSpPr>
        <p:spPr>
          <a:xfrm>
            <a:off x="2643188" y="4222313"/>
            <a:ext cx="28575" cy="28575"/>
          </a:xfrm>
          <a:prstGeom prst="ellipse">
            <a:avLst/>
          </a:prstGeom>
          <a:solidFill>
            <a:srgbClr val="00BCD4"/>
          </a:solidFill>
          <a:ln/>
          <a:effectLst>
            <a:outerShdw sx="100000" sy="100000" kx="0" ky="0" algn="bl" rotWithShape="0" blurRad="76200" dist="50800" dir="16200000">
              <a:srgbClr val="00BCD4">
                <a:alpha val="100000"/>
              </a:srgbClr>
            </a:outerShdw>
          </a:effectLst>
        </p:spPr>
      </p:sp>
      <p:sp>
        <p:nvSpPr>
          <p:cNvPr id="80" name="Text 78"/>
          <p:cNvSpPr/>
          <p:nvPr/>
        </p:nvSpPr>
        <p:spPr>
          <a:xfrm>
            <a:off x="2717483" y="4193738"/>
            <a:ext cx="563270" cy="85725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buNone/>
            </a:pPr>
            <a:r>
              <a:rPr lang="en-US" sz="450" spc="90" kern="0" dirty="0">
                <a:solidFill>
                  <a:srgbClr val="00BCD4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02 · 核心数据</a:t>
            </a:r>
            <a:endParaRPr lang="en-US" sz="450" dirty="0"/>
          </a:p>
        </p:txBody>
      </p:sp>
      <p:sp>
        <p:nvSpPr>
          <p:cNvPr id="81" name="Text 79"/>
          <p:cNvSpPr/>
          <p:nvPr/>
        </p:nvSpPr>
        <p:spPr>
          <a:xfrm>
            <a:off x="2643188" y="4325183"/>
            <a:ext cx="555784" cy="97155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buNone/>
            </a:pPr>
            <a:r>
              <a:rPr lang="en-US" sz="630" b="1" spc="13" kern="0" dirty="0">
                <a:solidFill>
                  <a:srgbClr val="F1F5F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可见性 · 密度</a:t>
            </a:r>
            <a:endParaRPr lang="en-US" sz="630" dirty="0"/>
          </a:p>
        </p:txBody>
      </p:sp>
      <p:sp>
        <p:nvSpPr>
          <p:cNvPr id="82" name="Text 80"/>
          <p:cNvSpPr/>
          <p:nvPr/>
        </p:nvSpPr>
        <p:spPr>
          <a:xfrm>
            <a:off x="2643188" y="4468058"/>
            <a:ext cx="1862633" cy="8572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55000"/>
              </a:lnSpc>
              <a:buNone/>
            </a:pPr>
            <a:r>
              <a:rPr lang="en-US" sz="540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Stars</a:t>
            </a:r>
            <a:pPr algn="l" indent="0" marL="0">
              <a:lnSpc>
                <a:spcPct val="155000"/>
              </a:lnSpc>
              <a:buNone/>
            </a:pPr>
            <a:r>
              <a:rPr lang="en-US" sz="495" b="1" dirty="0">
                <a:solidFill>
                  <a:srgbClr val="00BCD4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243K</a:t>
            </a:r>
            <a:pPr algn="l" indent="0" marL="0">
              <a:lnSpc>
                <a:spcPct val="155000"/>
              </a:lnSpc>
              <a:buNone/>
            </a:pPr>
            <a:r>
              <a:rPr lang="en-US" sz="540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/ PRs</a:t>
            </a:r>
            <a:pPr algn="l" indent="0" marL="0">
              <a:lnSpc>
                <a:spcPct val="155000"/>
              </a:lnSpc>
              <a:buNone/>
            </a:pPr>
            <a:r>
              <a:rPr lang="en-US" sz="495" b="1" dirty="0">
                <a:solidFill>
                  <a:srgbClr val="00BCD4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27.8K</a:t>
            </a:r>
            <a:pPr algn="l" indent="0" marL="0">
              <a:lnSpc>
                <a:spcPct val="155000"/>
              </a:lnSpc>
              <a:buNone/>
            </a:pPr>
            <a:r>
              <a:rPr lang="en-US" sz="540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/ Issues</a:t>
            </a:r>
            <a:pPr algn="l" indent="0" marL="0">
              <a:lnSpc>
                <a:spcPct val="155000"/>
              </a:lnSpc>
              <a:buNone/>
            </a:pPr>
            <a:r>
              <a:rPr lang="en-US" sz="495" b="1" dirty="0">
                <a:solidFill>
                  <a:srgbClr val="00BCD4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41.8K</a:t>
            </a:r>
            <a:pPr algn="l" indent="0" marL="0">
              <a:lnSpc>
                <a:spcPct val="155000"/>
              </a:lnSpc>
              <a:buNone/>
            </a:pPr>
            <a:r>
              <a:rPr lang="en-US" sz="540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/ Releases</a:t>
            </a:r>
            <a:pPr algn="l" indent="0" marL="0">
              <a:lnSpc>
                <a:spcPct val="155000"/>
              </a:lnSpc>
              <a:buNone/>
            </a:pPr>
            <a:r>
              <a:rPr lang="en-US" sz="495" b="1" dirty="0">
                <a:solidFill>
                  <a:srgbClr val="00BCD4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33</a:t>
            </a:r>
            <a:endParaRPr lang="en-US" sz="540" dirty="0"/>
          </a:p>
        </p:txBody>
      </p:sp>
      <p:sp>
        <p:nvSpPr>
          <p:cNvPr id="83" name="Shape 81"/>
          <p:cNvSpPr/>
          <p:nvPr/>
        </p:nvSpPr>
        <p:spPr>
          <a:xfrm>
            <a:off x="4572000" y="4193738"/>
            <a:ext cx="2048828" cy="481132"/>
          </a:xfrm>
          <a:prstGeom prst="rect">
            <a:avLst/>
          </a:prstGeom>
          <a:noFill/>
          <a:ln/>
        </p:spPr>
      </p:sp>
      <p:sp>
        <p:nvSpPr>
          <p:cNvPr id="84" name="Shape 82"/>
          <p:cNvSpPr/>
          <p:nvPr/>
        </p:nvSpPr>
        <p:spPr>
          <a:xfrm>
            <a:off x="4572000" y="4193738"/>
            <a:ext cx="0" cy="481132"/>
          </a:xfrm>
          <a:prstGeom prst="line">
            <a:avLst/>
          </a:prstGeom>
          <a:noFill/>
          <a:ln w="5715">
            <a:solidFill>
              <a:srgbClr val="94A3B8">
                <a:alpha val="12000"/>
              </a:srgbClr>
            </a:solidFill>
            <a:prstDash val="solid"/>
          </a:ln>
        </p:spPr>
      </p:sp>
      <p:sp>
        <p:nvSpPr>
          <p:cNvPr id="85" name="Shape 83"/>
          <p:cNvSpPr/>
          <p:nvPr/>
        </p:nvSpPr>
        <p:spPr>
          <a:xfrm>
            <a:off x="4692015" y="4222313"/>
            <a:ext cx="28575" cy="28575"/>
          </a:xfrm>
          <a:prstGeom prst="ellipse">
            <a:avLst/>
          </a:prstGeom>
          <a:solidFill>
            <a:srgbClr val="00BCD4"/>
          </a:solidFill>
          <a:ln/>
          <a:effectLst>
            <a:outerShdw sx="100000" sy="100000" kx="0" ky="0" algn="bl" rotWithShape="0" blurRad="76200" dist="50800" dir="16200000">
              <a:srgbClr val="00BCD4">
                <a:alpha val="100000"/>
              </a:srgbClr>
            </a:outerShdw>
          </a:effectLst>
        </p:spPr>
      </p:sp>
      <p:sp>
        <p:nvSpPr>
          <p:cNvPr id="86" name="Text 84"/>
          <p:cNvSpPr/>
          <p:nvPr/>
        </p:nvSpPr>
        <p:spPr>
          <a:xfrm>
            <a:off x="4766310" y="4193738"/>
            <a:ext cx="422910" cy="85725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buNone/>
            </a:pPr>
            <a:r>
              <a:rPr lang="en-US" sz="450" spc="90" kern="0" dirty="0">
                <a:solidFill>
                  <a:srgbClr val="00BCD4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03 · 社区</a:t>
            </a:r>
            <a:endParaRPr lang="en-US" sz="450" dirty="0"/>
          </a:p>
        </p:txBody>
      </p:sp>
      <p:sp>
        <p:nvSpPr>
          <p:cNvPr id="87" name="Text 85"/>
          <p:cNvSpPr/>
          <p:nvPr/>
        </p:nvSpPr>
        <p:spPr>
          <a:xfrm>
            <a:off x="4692015" y="4325183"/>
            <a:ext cx="474166" cy="97155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buNone/>
            </a:pPr>
            <a:r>
              <a:rPr lang="en-US" sz="630" b="1" spc="13" kern="0" dirty="0">
                <a:solidFill>
                  <a:srgbClr val="F1F5F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规模 · 频次</a:t>
            </a:r>
            <a:endParaRPr lang="en-US" sz="630" dirty="0"/>
          </a:p>
        </p:txBody>
      </p:sp>
      <p:sp>
        <p:nvSpPr>
          <p:cNvPr id="88" name="Text 86"/>
          <p:cNvSpPr/>
          <p:nvPr/>
        </p:nvSpPr>
        <p:spPr>
          <a:xfrm>
            <a:off x="4692015" y="4468058"/>
            <a:ext cx="594360" cy="1919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55000"/>
              </a:lnSpc>
              <a:buNone/>
            </a:pPr>
            <a:r>
              <a:rPr lang="en-US" sz="495" b="1" dirty="0">
                <a:solidFill>
                  <a:srgbClr val="00BCD4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397</a:t>
            </a:r>
            <a:pPr algn="l" indent="0" marL="0">
              <a:lnSpc>
                <a:spcPct val="155000"/>
              </a:lnSpc>
              <a:buNone/>
            </a:pPr>
            <a:r>
              <a:rPr lang="en-US" sz="540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contributors</a:t>
            </a:r>
            <a:pPr algn="l" indent="0" marL="0">
              <a:lnSpc>
                <a:spcPct val="155000"/>
              </a:lnSpc>
              <a:buNone/>
            </a:pPr>
            <a:endParaRPr lang="en-US" sz="540" dirty="0"/>
          </a:p>
          <a:p>
            <a:pPr algn="l" indent="0" marL="0">
              <a:lnSpc>
                <a:spcPct val="155000"/>
              </a:lnSpc>
              <a:buNone/>
            </a:pPr>
            <a:r>
              <a:rPr lang="en-US" sz="495" b="1" dirty="0">
                <a:solidFill>
                  <a:srgbClr val="00BCD4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29,205</a:t>
            </a:r>
            <a:pPr algn="l" indent="0" marL="0">
              <a:lnSpc>
                <a:spcPct val="155000"/>
              </a:lnSpc>
              <a:buNone/>
            </a:pPr>
            <a:r>
              <a:rPr lang="en-US" sz="540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commits</a:t>
            </a:r>
            <a:endParaRPr lang="en-US" sz="540" dirty="0"/>
          </a:p>
        </p:txBody>
      </p:sp>
      <p:sp>
        <p:nvSpPr>
          <p:cNvPr id="89" name="Shape 87"/>
          <p:cNvSpPr/>
          <p:nvPr/>
        </p:nvSpPr>
        <p:spPr>
          <a:xfrm>
            <a:off x="6620828" y="4193738"/>
            <a:ext cx="2048828" cy="481132"/>
          </a:xfrm>
          <a:prstGeom prst="rect">
            <a:avLst/>
          </a:prstGeom>
          <a:noFill/>
          <a:ln/>
        </p:spPr>
      </p:sp>
      <p:sp>
        <p:nvSpPr>
          <p:cNvPr id="90" name="Shape 88"/>
          <p:cNvSpPr/>
          <p:nvPr/>
        </p:nvSpPr>
        <p:spPr>
          <a:xfrm>
            <a:off x="6620828" y="4193738"/>
            <a:ext cx="0" cy="481132"/>
          </a:xfrm>
          <a:prstGeom prst="line">
            <a:avLst/>
          </a:prstGeom>
          <a:noFill/>
          <a:ln w="5715">
            <a:solidFill>
              <a:srgbClr val="94A3B8">
                <a:alpha val="12000"/>
              </a:srgbClr>
            </a:solidFill>
            <a:prstDash val="solid"/>
          </a:ln>
        </p:spPr>
      </p:sp>
      <p:sp>
        <p:nvSpPr>
          <p:cNvPr id="91" name="Shape 89"/>
          <p:cNvSpPr/>
          <p:nvPr/>
        </p:nvSpPr>
        <p:spPr>
          <a:xfrm>
            <a:off x="6740843" y="4222313"/>
            <a:ext cx="28575" cy="28575"/>
          </a:xfrm>
          <a:prstGeom prst="ellipse">
            <a:avLst/>
          </a:prstGeom>
          <a:solidFill>
            <a:srgbClr val="00BCD4"/>
          </a:solidFill>
          <a:ln/>
          <a:effectLst>
            <a:outerShdw sx="100000" sy="100000" kx="0" ky="0" algn="bl" rotWithShape="0" blurRad="76200" dist="50800" dir="16200000">
              <a:srgbClr val="00BCD4">
                <a:alpha val="100000"/>
              </a:srgbClr>
            </a:outerShdw>
          </a:effectLst>
        </p:spPr>
      </p:sp>
      <p:sp>
        <p:nvSpPr>
          <p:cNvPr id="92" name="Text 90"/>
          <p:cNvSpPr/>
          <p:nvPr/>
        </p:nvSpPr>
        <p:spPr>
          <a:xfrm>
            <a:off x="6815138" y="4193738"/>
            <a:ext cx="422910" cy="85725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buNone/>
            </a:pPr>
            <a:r>
              <a:rPr lang="en-US" sz="450" spc="90" kern="0" dirty="0">
                <a:solidFill>
                  <a:srgbClr val="00BCD4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04 · 定位</a:t>
            </a:r>
            <a:endParaRPr lang="en-US" sz="450" dirty="0"/>
          </a:p>
        </p:txBody>
      </p:sp>
      <p:sp>
        <p:nvSpPr>
          <p:cNvPr id="93" name="Text 91"/>
          <p:cNvSpPr/>
          <p:nvPr/>
        </p:nvSpPr>
        <p:spPr>
          <a:xfrm>
            <a:off x="6740843" y="4325183"/>
            <a:ext cx="488097" cy="97155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buNone/>
            </a:pPr>
            <a:r>
              <a:rPr lang="en-US" sz="630" b="1" spc="13" kern="0" dirty="0">
                <a:solidFill>
                  <a:srgbClr val="F1F5F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制度实验场</a:t>
            </a:r>
            <a:endParaRPr lang="en-US" sz="630" dirty="0"/>
          </a:p>
        </p:txBody>
      </p:sp>
      <p:sp>
        <p:nvSpPr>
          <p:cNvPr id="94" name="Text 92"/>
          <p:cNvSpPr/>
          <p:nvPr/>
        </p:nvSpPr>
        <p:spPr>
          <a:xfrm>
            <a:off x="6740843" y="4468058"/>
            <a:ext cx="787298" cy="1919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55000"/>
              </a:lnSpc>
              <a:buNone/>
            </a:pPr>
            <a:r>
              <a:rPr lang="en-US" sz="540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不是产品</a:t>
            </a:r>
            <a:pPr algn="l" indent="0" marL="0">
              <a:lnSpc>
                <a:spcPct val="155000"/>
              </a:lnSpc>
              <a:buNone/>
            </a:pPr>
            <a:endParaRPr lang="en-US" sz="540" dirty="0"/>
          </a:p>
          <a:p>
            <a:pPr algn="l" indent="0" marL="0">
              <a:lnSpc>
                <a:spcPct val="155000"/>
              </a:lnSpc>
              <a:buNone/>
            </a:pPr>
            <a:r>
              <a:rPr lang="en-US" sz="540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是</a:t>
            </a:r>
            <a:pPr algn="l" indent="0" marL="0">
              <a:lnSpc>
                <a:spcPct val="155000"/>
              </a:lnSpc>
              <a:buNone/>
            </a:pPr>
            <a:r>
              <a:rPr lang="en-US" sz="495" b="1" dirty="0">
                <a:solidFill>
                  <a:srgbClr val="FF7043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Agent 制度的实验场</a:t>
            </a:r>
            <a:endParaRPr lang="en-US" sz="540" dirty="0"/>
          </a:p>
        </p:txBody>
      </p:sp>
      <p:sp>
        <p:nvSpPr>
          <p:cNvPr id="95" name="Text 93"/>
          <p:cNvSpPr/>
          <p:nvPr/>
        </p:nvSpPr>
        <p:spPr>
          <a:xfrm>
            <a:off x="342900" y="4840605"/>
            <a:ext cx="2448306" cy="74295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buNone/>
            </a:pPr>
            <a:r>
              <a:rPr lang="en-US" sz="450" spc="68" kern="0" dirty="0">
                <a:solidFill>
                  <a:srgbClr val="64748B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HERMES / PROJECT-SNAPSHOT · 2025 · PUBLIC EVOLUTION</a:t>
            </a:r>
            <a:endParaRPr lang="en-US" sz="450" dirty="0"/>
          </a:p>
        </p:txBody>
      </p:sp>
      <p:sp>
        <p:nvSpPr>
          <p:cNvPr id="96" name="Text 94"/>
          <p:cNvSpPr/>
          <p:nvPr/>
        </p:nvSpPr>
        <p:spPr>
          <a:xfrm>
            <a:off x="7258050" y="4840605"/>
            <a:ext cx="1728216" cy="74295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buNone/>
            </a:pPr>
            <a:r>
              <a:rPr lang="en-US" sz="450" spc="68" kern="0" dirty="0">
                <a:solidFill>
                  <a:srgbClr val="00BCD4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// DATA SOURCE: GITHUB PUBLIC RECORD</a:t>
            </a:r>
            <a:endParaRPr lang="en-US" sz="4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5080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BCD4">
              <a:alpha val="1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gradFill rotWithShape="1">
            <a:gsLst>
              <a:gs pos="0">
                <a:srgbClr val="000000">
                  <a:alpha val="2400"/>
                </a:srgbClr>
              </a:gs>
              <a:gs pos="25000">
                <a:srgbClr val="000000">
                  <a:alpha val="0"/>
                </a:srgbClr>
              </a:gs>
              <a:gs pos="50000">
                <a:srgbClr val="000000"/>
              </a:gs>
              <a:gs pos="75000">
                <a:srgbClr val="000000">
                  <a:alpha val="2400"/>
                </a:srgbClr>
              </a:gs>
              <a:gs pos="100000">
                <a:srgbClr val="000000">
                  <a:alpha val="0"/>
                </a:srgbClr>
              </a:gs>
            </a:gsLst>
            <a:lin ang="5400000" scaled="0"/>
          </a:gradFill>
          <a:ln/>
        </p:spPr>
      </p:sp>
      <p:sp>
        <p:nvSpPr>
          <p:cNvPr id="4" name="Text 2"/>
          <p:cNvSpPr/>
          <p:nvPr/>
        </p:nvSpPr>
        <p:spPr>
          <a:xfrm>
            <a:off x="6153894" y="148590"/>
            <a:ext cx="6035040" cy="2137410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lnSpc>
                <a:spcPct val="85000"/>
              </a:lnSpc>
              <a:buNone/>
            </a:pPr>
            <a:r>
              <a:rPr lang="en-US" sz="19800" b="1" spc="-1188" kern="0" dirty="0">
                <a:solidFill>
                  <a:srgbClr val="000000">
                    <a:alpha val="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01</a:t>
            </a:r>
            <a:endParaRPr lang="en-US" sz="19800" dirty="0"/>
          </a:p>
        </p:txBody>
      </p:sp>
      <p:sp>
        <p:nvSpPr>
          <p:cNvPr id="5" name="Text 3"/>
          <p:cNvSpPr/>
          <p:nvPr/>
        </p:nvSpPr>
        <p:spPr>
          <a:xfrm>
            <a:off x="571500" y="405765"/>
            <a:ext cx="603558" cy="108585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buNone/>
            </a:pPr>
            <a:r>
              <a:rPr lang="en-US" sz="675" spc="297" kern="0" dirty="0">
                <a:solidFill>
                  <a:srgbClr val="00BCD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ACT 01</a:t>
            </a:r>
            <a:endParaRPr lang="en-US" sz="675" dirty="0"/>
          </a:p>
        </p:txBody>
      </p:sp>
      <p:sp>
        <p:nvSpPr>
          <p:cNvPr id="6" name="Shape 4"/>
          <p:cNvSpPr/>
          <p:nvPr/>
        </p:nvSpPr>
        <p:spPr>
          <a:xfrm>
            <a:off x="1215063" y="457200"/>
            <a:ext cx="365760" cy="5715"/>
          </a:xfrm>
          <a:prstGeom prst="rect">
            <a:avLst/>
          </a:prstGeom>
          <a:solidFill>
            <a:srgbClr val="00BCD4">
              <a:alpha val="55000"/>
            </a:srgbClr>
          </a:solidFill>
          <a:ln/>
        </p:spPr>
      </p:sp>
      <p:sp>
        <p:nvSpPr>
          <p:cNvPr id="7" name="Text 5"/>
          <p:cNvSpPr/>
          <p:nvPr/>
        </p:nvSpPr>
        <p:spPr>
          <a:xfrm>
            <a:off x="1706553" y="400050"/>
            <a:ext cx="430411" cy="120015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buNone/>
            </a:pPr>
            <a:r>
              <a:rPr lang="en-US" sz="675" spc="230" kern="0" dirty="0">
                <a:solidFill>
                  <a:srgbClr val="8A99B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第一幕</a:t>
            </a:r>
            <a:endParaRPr lang="en-US" sz="675" dirty="0"/>
          </a:p>
        </p:txBody>
      </p:sp>
      <p:sp>
        <p:nvSpPr>
          <p:cNvPr id="8" name="Text 6"/>
          <p:cNvSpPr/>
          <p:nvPr/>
        </p:nvSpPr>
        <p:spPr>
          <a:xfrm>
            <a:off x="571500" y="691515"/>
            <a:ext cx="2879824" cy="914400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5940" b="1" spc="-208" kern="0" dirty="0">
                <a:solidFill>
                  <a:srgbClr val="E9EE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Agent</a:t>
            </a:r>
            <a:endParaRPr lang="en-US" sz="5940" dirty="0"/>
          </a:p>
        </p:txBody>
      </p:sp>
      <p:sp>
        <p:nvSpPr>
          <p:cNvPr id="9" name="Text 7"/>
          <p:cNvSpPr/>
          <p:nvPr/>
        </p:nvSpPr>
        <p:spPr>
          <a:xfrm>
            <a:off x="2836337" y="691515"/>
            <a:ext cx="3666351" cy="914400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5940" b="1" spc="-208" kern="0" dirty="0">
                <a:solidFill>
                  <a:srgbClr val="00BCD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发展简史</a:t>
            </a:r>
            <a:endParaRPr lang="en-US" sz="5940" dirty="0"/>
          </a:p>
        </p:txBody>
      </p:sp>
      <p:sp>
        <p:nvSpPr>
          <p:cNvPr id="10" name="Text 8"/>
          <p:cNvSpPr/>
          <p:nvPr/>
        </p:nvSpPr>
        <p:spPr>
          <a:xfrm>
            <a:off x="571500" y="1685925"/>
            <a:ext cx="8961120" cy="1988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1080" spc="43" kern="0" dirty="0">
                <a:solidFill>
                  <a:srgbClr val="8A99B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从文本生成器到数字员工</a:t>
            </a:r>
            <a:pPr algn="l" indent="0" marL="0">
              <a:lnSpc>
                <a:spcPct val="145000"/>
              </a:lnSpc>
              <a:buNone/>
            </a:pPr>
            <a:r>
              <a:rPr lang="en-US" sz="1080" spc="43" kern="0" dirty="0">
                <a:solidFill>
                  <a:srgbClr val="FF704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—</a:t>
            </a:r>
            <a:pPr algn="l" indent="0" marL="0">
              <a:lnSpc>
                <a:spcPct val="145000"/>
              </a:lnSpc>
              <a:buNone/>
            </a:pPr>
            <a:r>
              <a:rPr lang="en-US" sz="1080" spc="43" kern="0" dirty="0">
                <a:solidFill>
                  <a:srgbClr val="8A99B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不到 5 年</a:t>
            </a:r>
            <a:endParaRPr lang="en-US" sz="1080" dirty="0"/>
          </a:p>
        </p:txBody>
      </p:sp>
      <p:sp>
        <p:nvSpPr>
          <p:cNvPr id="11" name="Shape 9"/>
          <p:cNvSpPr/>
          <p:nvPr/>
        </p:nvSpPr>
        <p:spPr>
          <a:xfrm>
            <a:off x="1028700" y="2844731"/>
            <a:ext cx="7086600" cy="5715"/>
          </a:xfrm>
          <a:prstGeom prst="rect">
            <a:avLst/>
          </a:prstGeom>
          <a:gradFill rotWithShape="1">
            <a:gsLst>
              <a:gs pos="0">
                <a:srgbClr val="000000">
                  <a:alpha val="0"/>
                </a:srgbClr>
              </a:gs>
              <a:gs pos="5000">
                <a:srgbClr val="243448"/>
              </a:gs>
              <a:gs pos="50000">
                <a:srgbClr val="00BCD4">
                  <a:alpha val="55000"/>
                </a:srgbClr>
              </a:gs>
              <a:gs pos="95000">
                <a:srgbClr val="FF7043"/>
              </a:gs>
              <a:gs pos="100000">
                <a:srgbClr val="000000">
                  <a:alpha val="0"/>
                </a:srgbClr>
              </a:gs>
            </a:gsLst>
            <a:lin ang="0" scaled="0"/>
          </a:gradFill>
          <a:ln/>
        </p:spPr>
      </p:sp>
      <p:sp>
        <p:nvSpPr>
          <p:cNvPr id="12" name="Shape 10"/>
          <p:cNvSpPr/>
          <p:nvPr/>
        </p:nvSpPr>
        <p:spPr>
          <a:xfrm>
            <a:off x="1028700" y="2844731"/>
            <a:ext cx="80010" cy="5715"/>
          </a:xfrm>
          <a:prstGeom prst="rect">
            <a:avLst/>
          </a:prstGeom>
          <a:solidFill>
            <a:srgbClr val="00BCD4">
              <a:alpha val="55000"/>
            </a:srgbClr>
          </a:solidFill>
          <a:ln/>
        </p:spPr>
      </p:sp>
      <p:sp>
        <p:nvSpPr>
          <p:cNvPr id="13" name="Shape 11"/>
          <p:cNvSpPr/>
          <p:nvPr/>
        </p:nvSpPr>
        <p:spPr>
          <a:xfrm>
            <a:off x="8035290" y="2844731"/>
            <a:ext cx="80010" cy="5715"/>
          </a:xfrm>
          <a:prstGeom prst="rect">
            <a:avLst/>
          </a:prstGeom>
          <a:solidFill>
            <a:srgbClr val="FF7043"/>
          </a:solidFill>
          <a:ln/>
        </p:spPr>
      </p:sp>
      <p:sp>
        <p:nvSpPr>
          <p:cNvPr id="14" name="Text 12"/>
          <p:cNvSpPr/>
          <p:nvPr/>
        </p:nvSpPr>
        <p:spPr>
          <a:xfrm>
            <a:off x="928688" y="1944082"/>
            <a:ext cx="1536192" cy="148590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170" spc="23" kern="0" dirty="0">
                <a:solidFill>
                  <a:srgbClr val="00BCD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2022</a:t>
            </a:r>
            <a:endParaRPr lang="en-US" sz="1170" dirty="0"/>
          </a:p>
        </p:txBody>
      </p:sp>
      <p:sp>
        <p:nvSpPr>
          <p:cNvPr id="15" name="Text 13"/>
          <p:cNvSpPr/>
          <p:nvPr/>
        </p:nvSpPr>
        <p:spPr>
          <a:xfrm>
            <a:off x="928688" y="2126962"/>
            <a:ext cx="1536192" cy="68580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ctr" indent="0" marL="0">
              <a:buNone/>
            </a:pPr>
            <a:r>
              <a:rPr lang="en-US" sz="450" spc="153" kern="0" dirty="0">
                <a:solidFill>
                  <a:srgbClr val="4B597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ORIGIN</a:t>
            </a:r>
            <a:endParaRPr lang="en-US" sz="450" dirty="0"/>
          </a:p>
        </p:txBody>
      </p:sp>
      <p:sp>
        <p:nvSpPr>
          <p:cNvPr id="16" name="Text 14"/>
          <p:cNvSpPr/>
          <p:nvPr/>
        </p:nvSpPr>
        <p:spPr>
          <a:xfrm>
            <a:off x="928688" y="2275552"/>
            <a:ext cx="1536192" cy="128588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810" spc="32" kern="0" dirty="0">
                <a:solidFill>
                  <a:srgbClr val="E9EE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大模型涌现</a:t>
            </a:r>
            <a:endParaRPr lang="en-US" sz="810" dirty="0"/>
          </a:p>
        </p:txBody>
      </p:sp>
      <p:sp>
        <p:nvSpPr>
          <p:cNvPr id="17" name="Text 15"/>
          <p:cNvSpPr/>
          <p:nvPr/>
        </p:nvSpPr>
        <p:spPr>
          <a:xfrm>
            <a:off x="928688" y="2449860"/>
            <a:ext cx="1536192" cy="22627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65000"/>
              </a:lnSpc>
              <a:buNone/>
            </a:pPr>
            <a:r>
              <a:rPr lang="en-US" sz="540" spc="11" kern="0" dirty="0">
                <a:solidFill>
                  <a:srgbClr val="8A99B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GPT-3.5 上线，Agent 概念首次进入大众视野</a:t>
            </a:r>
            <a:endParaRPr lang="en-US" sz="540" dirty="0"/>
          </a:p>
        </p:txBody>
      </p:sp>
      <p:sp>
        <p:nvSpPr>
          <p:cNvPr id="18" name="Shape 16"/>
          <p:cNvSpPr/>
          <p:nvPr/>
        </p:nvSpPr>
        <p:spPr>
          <a:xfrm>
            <a:off x="1580198" y="2813298"/>
            <a:ext cx="68580" cy="68580"/>
          </a:xfrm>
          <a:prstGeom prst="ellipse">
            <a:avLst/>
          </a:prstGeom>
          <a:solidFill>
            <a:srgbClr val="00BCD4"/>
          </a:solidFill>
          <a:ln/>
          <a:effectLst>
            <a:outerShdw sx="100000" sy="100000" kx="0" ky="0" algn="bl" rotWithShape="0" blurRad="101600" dist="50800" dir="16200000">
              <a:srgbClr val="00BCD4">
                <a:alpha val="14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2900363" y="3019038"/>
            <a:ext cx="1536192" cy="148590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170" spc="23" kern="0" dirty="0">
                <a:solidFill>
                  <a:srgbClr val="00BCD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2023</a:t>
            </a:r>
            <a:endParaRPr lang="en-US" sz="1170" dirty="0"/>
          </a:p>
        </p:txBody>
      </p:sp>
      <p:sp>
        <p:nvSpPr>
          <p:cNvPr id="20" name="Text 18"/>
          <p:cNvSpPr/>
          <p:nvPr/>
        </p:nvSpPr>
        <p:spPr>
          <a:xfrm>
            <a:off x="2900363" y="3201918"/>
            <a:ext cx="1536192" cy="68580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ctr" indent="0" marL="0">
              <a:buNone/>
            </a:pPr>
            <a:r>
              <a:rPr lang="en-US" sz="450" spc="153" kern="0" dirty="0">
                <a:solidFill>
                  <a:srgbClr val="4B597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EXPLORATION</a:t>
            </a:r>
            <a:endParaRPr lang="en-US" sz="450" dirty="0"/>
          </a:p>
        </p:txBody>
      </p:sp>
      <p:sp>
        <p:nvSpPr>
          <p:cNvPr id="21" name="Text 19"/>
          <p:cNvSpPr/>
          <p:nvPr/>
        </p:nvSpPr>
        <p:spPr>
          <a:xfrm>
            <a:off x="2900363" y="3350508"/>
            <a:ext cx="1536192" cy="128588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810" spc="32" kern="0" dirty="0">
                <a:solidFill>
                  <a:srgbClr val="E9EE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应用雏形</a:t>
            </a:r>
            <a:endParaRPr lang="en-US" sz="810" dirty="0"/>
          </a:p>
        </p:txBody>
      </p:sp>
      <p:sp>
        <p:nvSpPr>
          <p:cNvPr id="22" name="Text 20"/>
          <p:cNvSpPr/>
          <p:nvPr/>
        </p:nvSpPr>
        <p:spPr>
          <a:xfrm>
            <a:off x="2900363" y="3524816"/>
            <a:ext cx="1536192" cy="113139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ctr" indent="0" marL="0">
              <a:lnSpc>
                <a:spcPct val="165000"/>
              </a:lnSpc>
              <a:buNone/>
            </a:pPr>
            <a:r>
              <a:rPr lang="en-US" sz="540" spc="11" kern="0" dirty="0">
                <a:solidFill>
                  <a:srgbClr val="8A99B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AutoGPT 引发热潮，ReAct 框架走向主流</a:t>
            </a:r>
            <a:endParaRPr lang="en-US" sz="540" dirty="0"/>
          </a:p>
        </p:txBody>
      </p:sp>
      <p:sp>
        <p:nvSpPr>
          <p:cNvPr id="23" name="Shape 21"/>
          <p:cNvSpPr/>
          <p:nvPr/>
        </p:nvSpPr>
        <p:spPr>
          <a:xfrm>
            <a:off x="3551873" y="2813298"/>
            <a:ext cx="68580" cy="68580"/>
          </a:xfrm>
          <a:prstGeom prst="ellipse">
            <a:avLst/>
          </a:prstGeom>
          <a:solidFill>
            <a:srgbClr val="00BCD4"/>
          </a:solidFill>
          <a:ln/>
          <a:effectLst>
            <a:outerShdw sx="100000" sy="100000" kx="0" ky="0" algn="bl" rotWithShape="0" blurRad="101600" dist="50800" dir="16200000">
              <a:srgbClr val="00BCD4">
                <a:alpha val="14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4872038" y="1944082"/>
            <a:ext cx="1536192" cy="148590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170" spc="23" kern="0" dirty="0">
                <a:solidFill>
                  <a:srgbClr val="00BCD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2024</a:t>
            </a:r>
            <a:endParaRPr lang="en-US" sz="1170" dirty="0"/>
          </a:p>
        </p:txBody>
      </p:sp>
      <p:sp>
        <p:nvSpPr>
          <p:cNvPr id="25" name="Text 23"/>
          <p:cNvSpPr/>
          <p:nvPr/>
        </p:nvSpPr>
        <p:spPr>
          <a:xfrm>
            <a:off x="4872038" y="2126962"/>
            <a:ext cx="1536192" cy="68580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ctr" indent="0" marL="0">
              <a:buNone/>
            </a:pPr>
            <a:r>
              <a:rPr lang="en-US" sz="450" spc="153" kern="0" dirty="0">
                <a:solidFill>
                  <a:srgbClr val="4B597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TOOL USE</a:t>
            </a:r>
            <a:endParaRPr lang="en-US" sz="450" dirty="0"/>
          </a:p>
        </p:txBody>
      </p:sp>
      <p:sp>
        <p:nvSpPr>
          <p:cNvPr id="26" name="Text 24"/>
          <p:cNvSpPr/>
          <p:nvPr/>
        </p:nvSpPr>
        <p:spPr>
          <a:xfrm>
            <a:off x="4872038" y="2275552"/>
            <a:ext cx="1536192" cy="128588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810" spc="32" kern="0" dirty="0">
                <a:solidFill>
                  <a:srgbClr val="E9EE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工具调用范式</a:t>
            </a:r>
            <a:endParaRPr lang="en-US" sz="810" dirty="0"/>
          </a:p>
        </p:txBody>
      </p:sp>
      <p:sp>
        <p:nvSpPr>
          <p:cNvPr id="27" name="Text 25"/>
          <p:cNvSpPr/>
          <p:nvPr/>
        </p:nvSpPr>
        <p:spPr>
          <a:xfrm>
            <a:off x="4872038" y="2449860"/>
            <a:ext cx="1536192" cy="22627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65000"/>
              </a:lnSpc>
              <a:buNone/>
            </a:pPr>
            <a:r>
              <a:rPr lang="en-US" sz="540" spc="11" kern="0" dirty="0">
                <a:solidFill>
                  <a:srgbClr val="8A99B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Function Calling、MCP 协议成型，多步任务可执行</a:t>
            </a:r>
            <a:endParaRPr lang="en-US" sz="540" dirty="0"/>
          </a:p>
        </p:txBody>
      </p:sp>
      <p:sp>
        <p:nvSpPr>
          <p:cNvPr id="28" name="Shape 26"/>
          <p:cNvSpPr/>
          <p:nvPr/>
        </p:nvSpPr>
        <p:spPr>
          <a:xfrm>
            <a:off x="5523548" y="2813298"/>
            <a:ext cx="68580" cy="68580"/>
          </a:xfrm>
          <a:prstGeom prst="ellipse">
            <a:avLst/>
          </a:prstGeom>
          <a:solidFill>
            <a:srgbClr val="00BCD4"/>
          </a:solidFill>
          <a:ln/>
          <a:effectLst>
            <a:outerShdw sx="100000" sy="100000" kx="0" ky="0" algn="bl" rotWithShape="0" blurRad="101600" dist="50800" dir="16200000">
              <a:srgbClr val="00BCD4">
                <a:alpha val="14000"/>
              </a:srgbClr>
            </a:outerShdw>
          </a:effectLst>
        </p:spPr>
      </p:sp>
      <p:sp>
        <p:nvSpPr>
          <p:cNvPr id="29" name="Text 27"/>
          <p:cNvSpPr/>
          <p:nvPr/>
        </p:nvSpPr>
        <p:spPr>
          <a:xfrm>
            <a:off x="6843713" y="3019038"/>
            <a:ext cx="1536192" cy="148590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170" spc="23" kern="0" dirty="0">
                <a:solidFill>
                  <a:srgbClr val="FF704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2026 · NOW</a:t>
            </a:r>
            <a:endParaRPr lang="en-US" sz="1170" dirty="0"/>
          </a:p>
        </p:txBody>
      </p:sp>
      <p:sp>
        <p:nvSpPr>
          <p:cNvPr id="30" name="Text 28"/>
          <p:cNvSpPr/>
          <p:nvPr/>
        </p:nvSpPr>
        <p:spPr>
          <a:xfrm>
            <a:off x="6843713" y="3201918"/>
            <a:ext cx="1536192" cy="68580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ctr" indent="0" marL="0">
              <a:buNone/>
            </a:pPr>
            <a:r>
              <a:rPr lang="en-US" sz="450" spc="153" kern="0" dirty="0">
                <a:solidFill>
                  <a:srgbClr val="4B597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DIGITAL WORKFORCE</a:t>
            </a:r>
            <a:endParaRPr lang="en-US" sz="450" dirty="0"/>
          </a:p>
        </p:txBody>
      </p:sp>
      <p:sp>
        <p:nvSpPr>
          <p:cNvPr id="31" name="Text 29"/>
          <p:cNvSpPr/>
          <p:nvPr/>
        </p:nvSpPr>
        <p:spPr>
          <a:xfrm>
            <a:off x="6843713" y="3350508"/>
            <a:ext cx="1536192" cy="128588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810" spc="32" kern="0" dirty="0">
                <a:solidFill>
                  <a:srgbClr val="FF704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数字员工规模化</a:t>
            </a:r>
            <a:endParaRPr lang="en-US" sz="810" dirty="0"/>
          </a:p>
        </p:txBody>
      </p:sp>
      <p:sp>
        <p:nvSpPr>
          <p:cNvPr id="32" name="Text 30"/>
          <p:cNvSpPr/>
          <p:nvPr/>
        </p:nvSpPr>
        <p:spPr>
          <a:xfrm>
            <a:off x="6843713" y="3524816"/>
            <a:ext cx="1536192" cy="113139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ctr" indent="0" marL="0">
              <a:lnSpc>
                <a:spcPct val="165000"/>
              </a:lnSpc>
              <a:buNone/>
            </a:pPr>
            <a:r>
              <a:rPr lang="en-US" sz="540" spc="11" kern="0" dirty="0">
                <a:solidFill>
                  <a:srgbClr val="8A99B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多 Agent 协作体系进入企业生产环境</a:t>
            </a:r>
            <a:endParaRPr lang="en-US" sz="540" dirty="0"/>
          </a:p>
        </p:txBody>
      </p:sp>
      <p:sp>
        <p:nvSpPr>
          <p:cNvPr id="33" name="Shape 31"/>
          <p:cNvSpPr/>
          <p:nvPr/>
        </p:nvSpPr>
        <p:spPr>
          <a:xfrm>
            <a:off x="7495223" y="2813298"/>
            <a:ext cx="68580" cy="68580"/>
          </a:xfrm>
          <a:prstGeom prst="ellipse">
            <a:avLst/>
          </a:prstGeom>
          <a:solidFill>
            <a:srgbClr val="FF7043"/>
          </a:solidFill>
          <a:ln/>
          <a:effectLst>
            <a:outerShdw sx="100000" sy="100000" kx="0" ky="0" algn="bl" rotWithShape="0" blurRad="101600" dist="50800" dir="16200000">
              <a:srgbClr val="FF7043">
                <a:alpha val="20000"/>
              </a:srgbClr>
            </a:outerShdw>
          </a:effectLst>
        </p:spPr>
      </p:sp>
      <p:sp>
        <p:nvSpPr>
          <p:cNvPr id="34" name="Shape 32"/>
          <p:cNvSpPr/>
          <p:nvPr/>
        </p:nvSpPr>
        <p:spPr>
          <a:xfrm>
            <a:off x="571500" y="3833247"/>
            <a:ext cx="8001000" cy="491490"/>
          </a:xfrm>
          <a:prstGeom prst="rect">
            <a:avLst/>
          </a:prstGeom>
          <a:noFill/>
          <a:ln/>
        </p:spPr>
      </p:sp>
      <p:sp>
        <p:nvSpPr>
          <p:cNvPr id="35" name="Shape 33"/>
          <p:cNvSpPr/>
          <p:nvPr/>
        </p:nvSpPr>
        <p:spPr>
          <a:xfrm>
            <a:off x="571500" y="3833247"/>
            <a:ext cx="8001000" cy="0"/>
          </a:xfrm>
          <a:prstGeom prst="line">
            <a:avLst/>
          </a:prstGeom>
          <a:noFill/>
          <a:ln w="5715">
            <a:solidFill>
              <a:srgbClr val="1A2536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571500" y="4324737"/>
            <a:ext cx="8001000" cy="0"/>
          </a:xfrm>
          <a:prstGeom prst="line">
            <a:avLst/>
          </a:prstGeom>
          <a:noFill/>
          <a:ln w="5715">
            <a:solidFill>
              <a:srgbClr val="1A2536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754380" y="3976122"/>
            <a:ext cx="349758" cy="205740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620" spc="7" kern="0" dirty="0">
                <a:solidFill>
                  <a:srgbClr val="00BCD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“</a:t>
            </a:r>
            <a:endParaRPr lang="en-US" sz="1620" dirty="0"/>
          </a:p>
        </p:txBody>
      </p:sp>
      <p:sp>
        <p:nvSpPr>
          <p:cNvPr id="38" name="Text 36"/>
          <p:cNvSpPr/>
          <p:nvPr/>
        </p:nvSpPr>
        <p:spPr>
          <a:xfrm>
            <a:off x="1015931" y="3996660"/>
            <a:ext cx="8258532" cy="16457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80000"/>
              </a:lnSpc>
              <a:buNone/>
            </a:pPr>
            <a:r>
              <a:rPr lang="en-US" sz="720" spc="22" kern="0" dirty="0">
                <a:solidFill>
                  <a:srgbClr val="8A99B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Agent 用了不到 5 年走完从</a:t>
            </a:r>
            <a:pPr algn="l" indent="0" marL="0">
              <a:lnSpc>
                <a:spcPct val="180000"/>
              </a:lnSpc>
              <a:buNone/>
            </a:pPr>
            <a:r>
              <a:rPr lang="en-US" sz="720" spc="22" kern="0" dirty="0">
                <a:solidFill>
                  <a:srgbClr val="00BCD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学术概念</a:t>
            </a:r>
            <a:pPr algn="l" indent="0" marL="0">
              <a:lnSpc>
                <a:spcPct val="180000"/>
              </a:lnSpc>
              <a:buNone/>
            </a:pPr>
            <a:r>
              <a:rPr lang="en-US" sz="720" spc="22" kern="0" dirty="0">
                <a:solidFill>
                  <a:srgbClr val="8A99B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到</a:t>
            </a:r>
            <a:pPr algn="l" indent="0" marL="0">
              <a:lnSpc>
                <a:spcPct val="180000"/>
              </a:lnSpc>
              <a:buNone/>
            </a:pPr>
            <a:r>
              <a:rPr lang="en-US" sz="720" spc="22" kern="0" dirty="0">
                <a:solidFill>
                  <a:srgbClr val="00BCD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产品落地</a:t>
            </a:r>
            <a:pPr algn="l" indent="0" marL="0">
              <a:lnSpc>
                <a:spcPct val="180000"/>
              </a:lnSpc>
              <a:buNone/>
            </a:pPr>
            <a:r>
              <a:rPr lang="en-US" sz="720" spc="22" kern="0" dirty="0">
                <a:solidFill>
                  <a:srgbClr val="8A99B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的完整链条 —— 本幕用一张时间线呈现</a:t>
            </a:r>
            <a:pPr algn="l" indent="0" marL="0">
              <a:lnSpc>
                <a:spcPct val="180000"/>
              </a:lnSpc>
              <a:buNone/>
            </a:pPr>
            <a:r>
              <a:rPr lang="en-US" sz="720" spc="22" kern="0" dirty="0">
                <a:solidFill>
                  <a:srgbClr val="00BCD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关键拐点</a:t>
            </a:r>
            <a:pPr algn="l" indent="0" marL="0">
              <a:lnSpc>
                <a:spcPct val="180000"/>
              </a:lnSpc>
              <a:buNone/>
            </a:pPr>
            <a:r>
              <a:rPr lang="en-US" sz="720" spc="22" kern="0" dirty="0">
                <a:solidFill>
                  <a:srgbClr val="8A99B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。</a:t>
            </a:r>
            <a:endParaRPr lang="en-US" sz="720" dirty="0"/>
          </a:p>
        </p:txBody>
      </p:sp>
      <p:sp>
        <p:nvSpPr>
          <p:cNvPr id="39" name="Text 37"/>
          <p:cNvSpPr/>
          <p:nvPr/>
        </p:nvSpPr>
        <p:spPr>
          <a:xfrm>
            <a:off x="571500" y="4447431"/>
            <a:ext cx="3536942" cy="85725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buNone/>
            </a:pPr>
            <a:r>
              <a:rPr lang="en-US" sz="450" spc="198" kern="0" dirty="0">
                <a:solidFill>
                  <a:srgbClr val="4B597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目标 · OBJECTIVE</a:t>
            </a:r>
            <a:endParaRPr lang="en-US" sz="450" dirty="0"/>
          </a:p>
        </p:txBody>
      </p:sp>
      <p:sp>
        <p:nvSpPr>
          <p:cNvPr id="40" name="Shape 38"/>
          <p:cNvSpPr/>
          <p:nvPr/>
        </p:nvSpPr>
        <p:spPr>
          <a:xfrm>
            <a:off x="571500" y="4447431"/>
            <a:ext cx="91440" cy="5715"/>
          </a:xfrm>
          <a:prstGeom prst="rect">
            <a:avLst/>
          </a:prstGeom>
          <a:solidFill>
            <a:srgbClr val="00BCD4">
              <a:alpha val="55000"/>
            </a:srgbClr>
          </a:solidFill>
          <a:ln/>
        </p:spPr>
      </p:sp>
      <p:sp>
        <p:nvSpPr>
          <p:cNvPr id="41" name="Text 39"/>
          <p:cNvSpPr/>
          <p:nvPr/>
        </p:nvSpPr>
        <p:spPr>
          <a:xfrm>
            <a:off x="571500" y="4601736"/>
            <a:ext cx="3536942" cy="141714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lnSpc>
                <a:spcPct val="155000"/>
              </a:lnSpc>
              <a:buNone/>
            </a:pPr>
            <a:r>
              <a:rPr lang="en-US" sz="720" spc="22" kern="0" dirty="0">
                <a:solidFill>
                  <a:srgbClr val="E9EE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勾勒 Agent 发展关键拐点，理清范式演进的骨架</a:t>
            </a:r>
            <a:endParaRPr lang="en-US" sz="720" dirty="0"/>
          </a:p>
        </p:txBody>
      </p:sp>
      <p:sp>
        <p:nvSpPr>
          <p:cNvPr id="42" name="Text 40"/>
          <p:cNvSpPr/>
          <p:nvPr/>
        </p:nvSpPr>
        <p:spPr>
          <a:xfrm>
            <a:off x="3958084" y="4447431"/>
            <a:ext cx="3537042" cy="85725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buNone/>
            </a:pPr>
            <a:r>
              <a:rPr lang="en-US" sz="450" spc="198" kern="0" dirty="0">
                <a:solidFill>
                  <a:srgbClr val="4B597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坐标 · COORDINATE</a:t>
            </a:r>
            <a:endParaRPr lang="en-US" sz="450" dirty="0"/>
          </a:p>
        </p:txBody>
      </p:sp>
      <p:sp>
        <p:nvSpPr>
          <p:cNvPr id="43" name="Shape 41"/>
          <p:cNvSpPr/>
          <p:nvPr/>
        </p:nvSpPr>
        <p:spPr>
          <a:xfrm>
            <a:off x="3958084" y="4447431"/>
            <a:ext cx="91440" cy="5715"/>
          </a:xfrm>
          <a:prstGeom prst="rect">
            <a:avLst/>
          </a:prstGeom>
          <a:solidFill>
            <a:srgbClr val="00BCD4">
              <a:alpha val="55000"/>
            </a:srgbClr>
          </a:solidFill>
          <a:ln/>
        </p:spPr>
      </p:sp>
      <p:sp>
        <p:nvSpPr>
          <p:cNvPr id="44" name="Text 42"/>
          <p:cNvSpPr/>
          <p:nvPr/>
        </p:nvSpPr>
        <p:spPr>
          <a:xfrm>
            <a:off x="3958084" y="4601736"/>
            <a:ext cx="3537042" cy="141714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lnSpc>
                <a:spcPct val="155000"/>
              </a:lnSpc>
              <a:buNone/>
            </a:pPr>
            <a:r>
              <a:rPr lang="en-US" sz="720" spc="22" kern="0" dirty="0">
                <a:solidFill>
                  <a:srgbClr val="E9EE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为后续 Hermes 分析提供历史坐标与参照基线</a:t>
            </a:r>
            <a:endParaRPr lang="en-US" sz="720" dirty="0"/>
          </a:p>
        </p:txBody>
      </p:sp>
      <p:sp>
        <p:nvSpPr>
          <p:cNvPr id="45" name="Text 43"/>
          <p:cNvSpPr/>
          <p:nvPr/>
        </p:nvSpPr>
        <p:spPr>
          <a:xfrm>
            <a:off x="7344757" y="4612005"/>
            <a:ext cx="1375072" cy="13144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lnSpc>
                <a:spcPct val="200000"/>
              </a:lnSpc>
              <a:buNone/>
            </a:pPr>
            <a:r>
              <a:rPr lang="en-US" sz="450" spc="171" kern="0" dirty="0">
                <a:solidFill>
                  <a:srgbClr val="4B597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CHAPTER 01</a:t>
            </a:r>
            <a:pPr algn="r" indent="0" marL="0">
              <a:lnSpc>
                <a:spcPct val="200000"/>
              </a:lnSpc>
              <a:buNone/>
            </a:pPr>
            <a:r>
              <a:rPr lang="en-US" sz="450" spc="171" kern="0" dirty="0">
                <a:solidFill>
                  <a:srgbClr val="00BCD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/</a:t>
            </a:r>
            <a:pPr algn="r" indent="0" marL="0">
              <a:lnSpc>
                <a:spcPct val="200000"/>
              </a:lnSpc>
              <a:buNone/>
            </a:pPr>
            <a:r>
              <a:rPr lang="en-US" sz="450" spc="171" kern="0" dirty="0">
                <a:solidFill>
                  <a:srgbClr val="4B597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PROLOGUE</a:t>
            </a:r>
            <a:endParaRPr lang="en-US" sz="4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11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gradFill rotWithShape="1">
            <a:gsLst>
              <a:gs pos="0">
                <a:srgbClr val="0B1424"/>
              </a:gs>
              <a:gs pos="100000">
                <a:srgbClr val="070D18"/>
              </a:gs>
            </a:gsLst>
            <a:lin ang="5400000" scaled="0"/>
          </a:gradFill>
          <a:ln/>
        </p:spPr>
      </p:sp>
      <p:sp>
        <p:nvSpPr>
          <p:cNvPr id="3" name="Shape 1"/>
          <p:cNvSpPr/>
          <p:nvPr/>
        </p:nvSpPr>
        <p:spPr>
          <a:xfrm>
            <a:off x="-4572000" y="-2263140"/>
            <a:ext cx="11338560" cy="6377940"/>
          </a:xfrm>
          <a:prstGeom prst="ellipse">
            <a:avLst/>
          </a:prstGeom>
          <a:gradFill rotWithShape="1">
            <a:gsLst>
              <a:gs pos="0">
                <a:srgbClr val="00BCD4">
                  <a:alpha val="12800"/>
                </a:srgbClr>
              </a:gs>
              <a:gs pos="100000">
                <a:srgbClr val="00BCD4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/>
        </p:spPr>
      </p:sp>
      <p:sp>
        <p:nvSpPr>
          <p:cNvPr id="4" name="Shape 2"/>
          <p:cNvSpPr/>
          <p:nvPr/>
        </p:nvSpPr>
        <p:spPr>
          <a:xfrm>
            <a:off x="2560320" y="1440180"/>
            <a:ext cx="10972800" cy="6172200"/>
          </a:xfrm>
          <a:prstGeom prst="ellipse">
            <a:avLst/>
          </a:prstGeom>
          <a:gradFill rotWithShape="1">
            <a:gsLst>
              <a:gs pos="0">
                <a:srgbClr val="FF7043">
                  <a:alpha val="8000"/>
                </a:srgbClr>
              </a:gs>
              <a:gs pos="100000">
                <a:srgbClr val="FF7043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/>
        </p:spPr>
      </p:sp>
      <p:sp>
        <p:nvSpPr>
          <p:cNvPr id="5" name="Shape 3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gradFill rotWithShape="1">
            <a:gsLst>
              <a:gs pos="0">
                <a:srgbClr val="000000">
                  <a:alpha val="4300"/>
                </a:srgbClr>
              </a:gs>
              <a:gs pos="25000">
                <a:srgbClr val="000000">
                  <a:alpha val="0"/>
                </a:srgbClr>
              </a:gs>
              <a:gs pos="50000">
                <a:srgbClr val="000000"/>
              </a:gs>
              <a:gs pos="75000">
                <a:srgbClr val="000000">
                  <a:alpha val="4300"/>
                </a:srgbClr>
              </a:gs>
              <a:gs pos="100000">
                <a:srgbClr val="000000">
                  <a:alpha val="0"/>
                </a:srgbClr>
              </a:gs>
            </a:gsLst>
            <a:lin ang="5400000" scaled="0"/>
          </a:gradFill>
          <a:ln/>
        </p:spPr>
      </p:sp>
      <p:sp>
        <p:nvSpPr>
          <p:cNvPr id="6" name="Shape 4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0000">
              <a:alpha val="55000"/>
            </a:srgbClr>
          </a:solidFill>
          <a:ln/>
        </p:spPr>
      </p:sp>
      <p:sp>
        <p:nvSpPr>
          <p:cNvPr id="7" name="Shape 5"/>
          <p:cNvSpPr/>
          <p:nvPr/>
        </p:nvSpPr>
        <p:spPr>
          <a:xfrm>
            <a:off x="400050" y="297180"/>
            <a:ext cx="887700" cy="182880"/>
          </a:xfrm>
          <a:prstGeom prst="roundRect">
            <a:avLst>
              <a:gd name="adj" fmla="val 9375"/>
            </a:avLst>
          </a:prstGeom>
          <a:solidFill>
            <a:srgbClr val="00BCD4">
              <a:alpha val="8000"/>
            </a:srgbClr>
          </a:solidFill>
          <a:ln w="5715">
            <a:solidFill>
              <a:srgbClr val="00BCD4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00050" y="297180"/>
            <a:ext cx="994224" cy="182880"/>
          </a:xfrm>
          <a:prstGeom prst="rect">
            <a:avLst/>
          </a:prstGeom>
          <a:noFill/>
          <a:ln/>
        </p:spPr>
        <p:txBody>
          <a:bodyPr wrap="square" lIns="34290" tIns="80010" rIns="80010" bIns="34290" rtlCol="0" anchor="ctr"/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540" spc="119" kern="0" dirty="0">
                <a:solidFill>
                  <a:srgbClr val="00BCD4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ACT · 01 / 04</a:t>
            </a:r>
            <a:endParaRPr lang="en-US" sz="540" dirty="0"/>
          </a:p>
        </p:txBody>
      </p:sp>
      <p:sp>
        <p:nvSpPr>
          <p:cNvPr id="9" name="Text 7"/>
          <p:cNvSpPr/>
          <p:nvPr/>
        </p:nvSpPr>
        <p:spPr>
          <a:xfrm>
            <a:off x="1390620" y="337185"/>
            <a:ext cx="741293" cy="102870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540" spc="189" kern="0" dirty="0">
                <a:solidFill>
                  <a:srgbClr val="EAF2F5">
                    <a:alpha val="40000"/>
                  </a:srgbClr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AGENT 演进史</a:t>
            </a:r>
            <a:endParaRPr lang="en-US" sz="540" dirty="0"/>
          </a:p>
        </p:txBody>
      </p:sp>
      <p:sp>
        <p:nvSpPr>
          <p:cNvPr id="10" name="Shape 8"/>
          <p:cNvSpPr/>
          <p:nvPr/>
        </p:nvSpPr>
        <p:spPr>
          <a:xfrm>
            <a:off x="2155359" y="385763"/>
            <a:ext cx="228600" cy="5715"/>
          </a:xfrm>
          <a:prstGeom prst="rect">
            <a:avLst/>
          </a:prstGeom>
          <a:gradFill rotWithShape="1">
            <a:gsLst>
              <a:gs pos="0">
                <a:srgbClr val="00BCD4"/>
              </a:gs>
              <a:gs pos="100000">
                <a:srgbClr val="000000">
                  <a:alpha val="0"/>
                </a:srgbClr>
              </a:gs>
            </a:gsLst>
            <a:lin ang="0" scaled="0"/>
          </a:gradFill>
          <a:ln/>
        </p:spPr>
      </p:sp>
      <p:sp>
        <p:nvSpPr>
          <p:cNvPr id="11" name="Shape 9"/>
          <p:cNvSpPr/>
          <p:nvPr/>
        </p:nvSpPr>
        <p:spPr>
          <a:xfrm>
            <a:off x="3850838" y="700177"/>
            <a:ext cx="1021646" cy="291465"/>
          </a:xfrm>
          <a:prstGeom prst="roundRect">
            <a:avLst>
              <a:gd name="adj" fmla="val 7843"/>
            </a:avLst>
          </a:prstGeom>
          <a:solidFill>
            <a:srgbClr val="00BCD4">
              <a:alpha val="6000"/>
            </a:srgbClr>
          </a:solidFill>
          <a:ln w="5715">
            <a:solidFill>
              <a:srgbClr val="00BCD4"/>
            </a:solidFill>
            <a:prstDash val="solid"/>
          </a:ln>
          <a:effectLst>
            <a:outerShdw sx="100000" sy="100000" kx="0" ky="0" algn="bl" rotWithShape="0" blurRad="228600" dist="50800" dir="16200000">
              <a:srgbClr val="00BCD4">
                <a:alpha val="15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3850838" y="700177"/>
            <a:ext cx="1147376" cy="291465"/>
          </a:xfrm>
          <a:prstGeom prst="rect">
            <a:avLst/>
          </a:prstGeom>
          <a:noFill/>
          <a:ln/>
        </p:spPr>
        <p:txBody>
          <a:bodyPr wrap="square" lIns="45720" tIns="102870" rIns="102870" bIns="45720" rtlCol="0" anchor="ctr"/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990" spc="119" kern="0" dirty="0">
                <a:solidFill>
                  <a:srgbClr val="4DD0E1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2022—2023</a:t>
            </a:r>
            <a:endParaRPr lang="en-US" sz="990" dirty="0"/>
          </a:p>
        </p:txBody>
      </p:sp>
      <p:sp>
        <p:nvSpPr>
          <p:cNvPr id="13" name="Text 11"/>
          <p:cNvSpPr/>
          <p:nvPr/>
        </p:nvSpPr>
        <p:spPr>
          <a:xfrm>
            <a:off x="400050" y="1163092"/>
            <a:ext cx="7680960" cy="16511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70000"/>
              </a:lnSpc>
              <a:buNone/>
            </a:pPr>
            <a:r>
              <a:rPr lang="en-US" sz="765" spc="8" kern="0" dirty="0">
                <a:solidFill>
                  <a:srgbClr val="EAF2F5">
                    <a:alpha val="68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2022-2023 是 Agent 概念觉醒期：ReAct 论文把</a:t>
            </a:r>
            <a:pPr algn="l" indent="0" marL="0">
              <a:lnSpc>
                <a:spcPct val="170000"/>
              </a:lnSpc>
              <a:buNone/>
            </a:pPr>
            <a:r>
              <a:rPr lang="en-US" sz="765" b="1" spc="8" kern="0" dirty="0">
                <a:solidFill>
                  <a:srgbClr val="4DD0E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1980 年代 BDI 理论</a:t>
            </a:r>
            <a:pPr algn="l" indent="0" marL="0">
              <a:lnSpc>
                <a:spcPct val="170000"/>
              </a:lnSpc>
              <a:buNone/>
            </a:pPr>
            <a:r>
              <a:rPr lang="en-US" sz="765" spc="8" kern="0" dirty="0">
                <a:solidFill>
                  <a:srgbClr val="EAF2F5">
                    <a:alpha val="68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推回产品层，Function Calling 让</a:t>
            </a:r>
            <a:pPr algn="l" indent="0" marL="0">
              <a:lnSpc>
                <a:spcPct val="170000"/>
              </a:lnSpc>
              <a:buNone/>
            </a:pPr>
            <a:r>
              <a:rPr lang="en-US" sz="765" b="1" spc="8" kern="0" dirty="0">
                <a:solidFill>
                  <a:srgbClr val="FF8A6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工具调用 API 原语</a:t>
            </a:r>
            <a:pPr algn="l" indent="0" marL="0">
              <a:lnSpc>
                <a:spcPct val="170000"/>
              </a:lnSpc>
              <a:buNone/>
            </a:pPr>
            <a:r>
              <a:rPr lang="en-US" sz="765" spc="8" kern="0" dirty="0">
                <a:solidFill>
                  <a:srgbClr val="EAF2F5">
                    <a:alpha val="68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成为 LLM 交互的标配。</a:t>
            </a:r>
            <a:endParaRPr lang="en-US" sz="765" dirty="0"/>
          </a:p>
        </p:txBody>
      </p:sp>
      <p:sp>
        <p:nvSpPr>
          <p:cNvPr id="14" name="Shape 12"/>
          <p:cNvSpPr/>
          <p:nvPr/>
        </p:nvSpPr>
        <p:spPr>
          <a:xfrm>
            <a:off x="400050" y="1203097"/>
            <a:ext cx="22860" cy="85725"/>
          </a:xfrm>
          <a:prstGeom prst="rect">
            <a:avLst/>
          </a:prstGeom>
          <a:solidFill>
            <a:srgbClr val="00BCD4"/>
          </a:solidFill>
          <a:ln/>
          <a:effectLst>
            <a:outerShdw sx="100000" sy="100000" kx="0" ky="0" algn="bl" rotWithShape="0" blurRad="76200" dist="50800" dir="16200000">
              <a:srgbClr val="00BCD4">
                <a:alpha val="55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514350" y="2305735"/>
            <a:ext cx="8115300" cy="11430"/>
          </a:xfrm>
          <a:prstGeom prst="rect">
            <a:avLst/>
          </a:prstGeom>
          <a:gradFill rotWithShape="1">
            <a:gsLst>
              <a:gs pos="0">
                <a:srgbClr val="000000">
                  <a:alpha val="0"/>
                </a:srgbClr>
              </a:gs>
              <a:gs pos="5000">
                <a:srgbClr val="00BCD4">
                  <a:alpha val="10000"/>
                </a:srgbClr>
              </a:gs>
              <a:gs pos="15000">
                <a:srgbClr val="00BCD4">
                  <a:alpha val="70000"/>
                </a:srgbClr>
              </a:gs>
              <a:gs pos="50000">
                <a:srgbClr val="00BCD4">
                  <a:alpha val="90000"/>
                </a:srgbClr>
              </a:gs>
              <a:gs pos="85000">
                <a:srgbClr val="00BCD4">
                  <a:alpha val="70000"/>
                </a:srgbClr>
              </a:gs>
              <a:gs pos="95000">
                <a:srgbClr val="00BCD4">
                  <a:alpha val="10000"/>
                </a:srgbClr>
              </a:gs>
              <a:gs pos="100000">
                <a:srgbClr val="000000">
                  <a:alpha val="0"/>
                </a:srgbClr>
              </a:gs>
            </a:gsLst>
            <a:lin ang="0" scaled="0"/>
          </a:gradFill>
          <a:ln/>
          <a:effectLst>
            <a:outerShdw sx="100000" sy="100000" kx="0" ky="0" algn="bl" rotWithShape="0" blurRad="114300" dist="50800" dir="16200000">
              <a:srgbClr val="00BCD4">
                <a:alpha val="40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514350" y="2300020"/>
            <a:ext cx="8115300" cy="22860"/>
          </a:xfrm>
          <a:prstGeom prst="rect">
            <a:avLst/>
          </a:prstGeom>
          <a:solidFill>
            <a:srgbClr val="AB0024">
              <a:alpha val="50000"/>
            </a:srgbClr>
          </a:solidFill>
          <a:ln/>
          <a:effectLst>
            <a:outerShdw sx="100000" sy="100000" kx="0" ky="0" algn="bl" rotWithShape="0" blurRad="22860" dist="50800" dir="16200000">
              <a:srgbClr val="AB0024">
                <a:alpha val="60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400050" y="1882825"/>
            <a:ext cx="2211476" cy="94298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ctr" indent="0" marL="0">
              <a:lnSpc>
                <a:spcPct val="150000"/>
              </a:lnSpc>
              <a:buNone/>
            </a:pPr>
            <a:r>
              <a:rPr lang="en-US" sz="495" spc="158" kern="0" dirty="0">
                <a:solidFill>
                  <a:srgbClr val="EAF2F5">
                    <a:alpha val="40000"/>
                  </a:srgbClr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NODE · 01</a:t>
            </a:r>
            <a:endParaRPr lang="en-US" sz="495" dirty="0"/>
          </a:p>
        </p:txBody>
      </p:sp>
      <p:sp>
        <p:nvSpPr>
          <p:cNvPr id="18" name="Text 16"/>
          <p:cNvSpPr/>
          <p:nvPr/>
        </p:nvSpPr>
        <p:spPr>
          <a:xfrm>
            <a:off x="400050" y="2022842"/>
            <a:ext cx="2211476" cy="171450"/>
          </a:xfrm>
          <a:prstGeom prst="rect">
            <a:avLst/>
          </a:prstGeom>
          <a:noFill/>
          <a:ln/>
          <a:effectLst>
            <a:outerShdw sx="100000" sy="100000" kx="0" ky="0" algn="bl" rotWithShape="0" blurRad="68580" dist="50800" dir="5400000">
              <a:srgbClr val="00BCD4">
                <a:alpha val="45000"/>
              </a:srgbClr>
            </a:outerShdw>
          </a:effectLst>
        </p:spPr>
        <p:txBody>
          <a:bodyPr wrap="none" rtlCol="0" anchor="ctr"/>
          <a:lstStyle/>
          <a:p>
            <a:pPr algn="ctr" indent="0" marL="0">
              <a:lnSpc>
                <a:spcPct val="150000"/>
              </a:lnSpc>
              <a:buNone/>
            </a:pPr>
            <a:r>
              <a:rPr lang="en-US" sz="900" spc="36" kern="0" dirty="0">
                <a:solidFill>
                  <a:srgbClr val="4DD0E1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2022 · 10 · 06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1255871" y="2331452"/>
            <a:ext cx="262890" cy="262890"/>
          </a:xfrm>
          <a:prstGeom prst="ellipse">
            <a:avLst/>
          </a:prstGeom>
          <a:noFill/>
          <a:ln w="11430">
            <a:solidFill>
              <a:srgbClr val="00BCD4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1255871" y="2331452"/>
            <a:ext cx="262890" cy="262890"/>
          </a:xfrm>
          <a:prstGeom prst="ellipse">
            <a:avLst/>
          </a:prstGeom>
          <a:noFill/>
          <a:ln w="11430">
            <a:solidFill>
              <a:srgbClr val="00BCD4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1335881" y="2411462"/>
            <a:ext cx="102870" cy="102870"/>
          </a:xfrm>
          <a:prstGeom prst="ellipse">
            <a:avLst/>
          </a:prstGeom>
          <a:solidFill>
            <a:srgbClr val="00BCD4"/>
          </a:solidFill>
          <a:ln w="11430">
            <a:solidFill>
              <a:srgbClr val="EAF2F5"/>
            </a:solidFill>
            <a:prstDash val="solid"/>
          </a:ln>
          <a:effectLst>
            <a:outerShdw sx="100000" sy="100000" kx="0" ky="0" algn="bl" rotWithShape="0" blurRad="133350" dist="50800" dir="16200000">
              <a:srgbClr val="00BCD4">
                <a:alpha val="90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400050" y="2720072"/>
            <a:ext cx="1974533" cy="960120"/>
          </a:xfrm>
          <a:prstGeom prst="roundRect">
            <a:avLst>
              <a:gd name="adj" fmla="val 5952"/>
            </a:avLst>
          </a:prstGeom>
          <a:gradFill rotWithShape="1">
            <a:gsLst>
              <a:gs pos="0">
                <a:srgbClr val="FFFFFF">
                  <a:alpha val="4300"/>
                </a:srgbClr>
              </a:gs>
              <a:gs pos="100000">
                <a:srgbClr val="FFFFFF">
                  <a:alpha val="2000"/>
                </a:srgbClr>
              </a:gs>
            </a:gsLst>
            <a:lin ang="5400000" scaled="0"/>
          </a:gradFill>
          <a:ln w="5715">
            <a:solidFill>
              <a:srgbClr val="00BCD4">
                <a:alpha val="28000"/>
              </a:srgbClr>
            </a:solidFill>
            <a:prstDash val="solid"/>
          </a:ln>
          <a:effectLst>
            <a:outerShdw sx="100000" sy="100000" kx="0" ky="0" algn="bl" rotWithShape="0" blurRad="304800" dist="76200" dir="16200000">
              <a:srgbClr val="000000">
                <a:alpha val="35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400050" y="2720072"/>
            <a:ext cx="1963103" cy="11430"/>
          </a:xfrm>
          <a:prstGeom prst="rect">
            <a:avLst/>
          </a:prstGeom>
          <a:gradFill rotWithShape="1">
            <a:gsLst>
              <a:gs pos="0">
                <a:srgbClr val="000000">
                  <a:alpha val="0"/>
                </a:srgbClr>
              </a:gs>
              <a:gs pos="50000">
                <a:srgbClr val="00BCD4"/>
              </a:gs>
              <a:gs pos="100000">
                <a:srgbClr val="000000">
                  <a:alpha val="0"/>
                </a:srgbClr>
              </a:gs>
            </a:gsLst>
            <a:lin ang="0" scaled="0"/>
          </a:gradFill>
          <a:ln/>
        </p:spPr>
      </p:sp>
      <p:sp>
        <p:nvSpPr>
          <p:cNvPr id="24" name="Shape 22"/>
          <p:cNvSpPr/>
          <p:nvPr/>
        </p:nvSpPr>
        <p:spPr>
          <a:xfrm>
            <a:off x="1809066" y="3000107"/>
            <a:ext cx="1143000" cy="1143000"/>
          </a:xfrm>
          <a:prstGeom prst="rect">
            <a:avLst/>
          </a:prstGeom>
          <a:solidFill>
            <a:srgbClr val="00BCD4">
              <a:alpha val="8000"/>
            </a:srgbClr>
          </a:solidFill>
          <a:ln/>
        </p:spPr>
      </p:sp>
      <p:sp>
        <p:nvSpPr>
          <p:cNvPr id="25" name="Text 23"/>
          <p:cNvSpPr/>
          <p:nvPr/>
        </p:nvSpPr>
        <p:spPr>
          <a:xfrm>
            <a:off x="520065" y="2851517"/>
            <a:ext cx="1942643" cy="144572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990" b="1" spc="-10" kern="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ReAct</a:t>
            </a:r>
            <a:endParaRPr lang="en-US" sz="990" dirty="0"/>
          </a:p>
        </p:txBody>
      </p:sp>
      <p:sp>
        <p:nvSpPr>
          <p:cNvPr id="26" name="Text 24"/>
          <p:cNvSpPr/>
          <p:nvPr/>
        </p:nvSpPr>
        <p:spPr>
          <a:xfrm>
            <a:off x="520065" y="3030379"/>
            <a:ext cx="1942643" cy="85725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450" spc="108" kern="0" dirty="0">
                <a:solidFill>
                  <a:srgbClr val="00BCD4">
                    <a:alpha val="85000"/>
                  </a:srgbClr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REASONING × ACTING</a:t>
            </a:r>
            <a:endParaRPr lang="en-US" sz="450" dirty="0"/>
          </a:p>
        </p:txBody>
      </p:sp>
      <p:sp>
        <p:nvSpPr>
          <p:cNvPr id="27" name="Shape 25"/>
          <p:cNvSpPr/>
          <p:nvPr/>
        </p:nvSpPr>
        <p:spPr>
          <a:xfrm>
            <a:off x="520065" y="3184684"/>
            <a:ext cx="160020" cy="11430"/>
          </a:xfrm>
          <a:prstGeom prst="roundRect">
            <a:avLst>
              <a:gd name="adj" fmla="val 50000"/>
            </a:avLst>
          </a:prstGeom>
          <a:solidFill>
            <a:srgbClr val="00BCD4"/>
          </a:solidFill>
          <a:ln/>
          <a:effectLst>
            <a:outerShdw sx="100000" sy="100000" kx="0" ky="0" algn="bl" rotWithShape="0" blurRad="76200" dist="50800" dir="16200000">
              <a:srgbClr val="00BCD4">
                <a:alpha val="55000"/>
              </a:srgbClr>
            </a:outerShdw>
          </a:effectLst>
        </p:spPr>
      </p:sp>
      <p:sp>
        <p:nvSpPr>
          <p:cNvPr id="28" name="Text 26"/>
          <p:cNvSpPr/>
          <p:nvPr/>
        </p:nvSpPr>
        <p:spPr>
          <a:xfrm>
            <a:off x="520065" y="3264694"/>
            <a:ext cx="1942643" cy="245031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65000"/>
              </a:lnSpc>
              <a:buNone/>
            </a:pPr>
            <a:r>
              <a:rPr lang="en-US" sz="585" dirty="0">
                <a:solidFill>
                  <a:srgbClr val="EAF2F5">
                    <a:alpha val="68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首次系统性展示"推理"与"行动"交替进行的 Agent 范式，把思维链与外部工具调用缝合起来。</a:t>
            </a:r>
            <a:endParaRPr lang="en-US" sz="585" dirty="0"/>
          </a:p>
        </p:txBody>
      </p:sp>
      <p:sp>
        <p:nvSpPr>
          <p:cNvPr id="29" name="Text 27"/>
          <p:cNvSpPr/>
          <p:nvPr/>
        </p:nvSpPr>
        <p:spPr>
          <a:xfrm>
            <a:off x="2523173" y="1882825"/>
            <a:ext cx="2211476" cy="94298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ctr" indent="0" marL="0">
              <a:lnSpc>
                <a:spcPct val="150000"/>
              </a:lnSpc>
              <a:buNone/>
            </a:pPr>
            <a:r>
              <a:rPr lang="en-US" sz="495" spc="158" kern="0" dirty="0">
                <a:solidFill>
                  <a:srgbClr val="EAF2F5">
                    <a:alpha val="40000"/>
                  </a:srgbClr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NODE · 02</a:t>
            </a:r>
            <a:endParaRPr lang="en-US" sz="495" dirty="0"/>
          </a:p>
        </p:txBody>
      </p:sp>
      <p:sp>
        <p:nvSpPr>
          <p:cNvPr id="30" name="Text 28"/>
          <p:cNvSpPr/>
          <p:nvPr/>
        </p:nvSpPr>
        <p:spPr>
          <a:xfrm>
            <a:off x="2523173" y="2022842"/>
            <a:ext cx="2211476" cy="171450"/>
          </a:xfrm>
          <a:prstGeom prst="rect">
            <a:avLst/>
          </a:prstGeom>
          <a:noFill/>
          <a:ln/>
          <a:effectLst>
            <a:outerShdw sx="100000" sy="100000" kx="0" ky="0" algn="bl" rotWithShape="0" blurRad="68580" dist="50800" dir="5400000">
              <a:srgbClr val="00BCD4">
                <a:alpha val="45000"/>
              </a:srgbClr>
            </a:outerShdw>
          </a:effectLst>
        </p:spPr>
        <p:txBody>
          <a:bodyPr wrap="none" rtlCol="0" anchor="ctr"/>
          <a:lstStyle/>
          <a:p>
            <a:pPr algn="ctr" indent="0" marL="0">
              <a:lnSpc>
                <a:spcPct val="150000"/>
              </a:lnSpc>
              <a:buNone/>
            </a:pPr>
            <a:r>
              <a:rPr lang="en-US" sz="900" spc="36" kern="0" dirty="0">
                <a:solidFill>
                  <a:srgbClr val="4DD0E1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2023 · 02</a:t>
            </a:r>
            <a:endParaRPr lang="en-US" sz="900" dirty="0"/>
          </a:p>
        </p:txBody>
      </p:sp>
      <p:sp>
        <p:nvSpPr>
          <p:cNvPr id="31" name="Shape 29"/>
          <p:cNvSpPr/>
          <p:nvPr/>
        </p:nvSpPr>
        <p:spPr>
          <a:xfrm>
            <a:off x="3378994" y="2331452"/>
            <a:ext cx="262890" cy="262890"/>
          </a:xfrm>
          <a:prstGeom prst="ellipse">
            <a:avLst/>
          </a:prstGeom>
          <a:noFill/>
          <a:ln w="11430">
            <a:solidFill>
              <a:srgbClr val="00BCD4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3378994" y="2331452"/>
            <a:ext cx="262890" cy="262890"/>
          </a:xfrm>
          <a:prstGeom prst="ellipse">
            <a:avLst/>
          </a:prstGeom>
          <a:noFill/>
          <a:ln w="11430">
            <a:solidFill>
              <a:srgbClr val="00BCD4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3459004" y="2411462"/>
            <a:ext cx="102870" cy="102870"/>
          </a:xfrm>
          <a:prstGeom prst="ellipse">
            <a:avLst/>
          </a:prstGeom>
          <a:solidFill>
            <a:srgbClr val="00BCD4"/>
          </a:solidFill>
          <a:ln w="11430">
            <a:solidFill>
              <a:srgbClr val="EAF2F5"/>
            </a:solidFill>
            <a:prstDash val="solid"/>
          </a:ln>
          <a:effectLst>
            <a:outerShdw sx="100000" sy="100000" kx="0" ky="0" algn="bl" rotWithShape="0" blurRad="133350" dist="50800" dir="16200000">
              <a:srgbClr val="00BCD4">
                <a:alpha val="90000"/>
              </a:srgbClr>
            </a:outerShdw>
          </a:effectLst>
        </p:spPr>
      </p:sp>
      <p:sp>
        <p:nvSpPr>
          <p:cNvPr id="34" name="Shape 32"/>
          <p:cNvSpPr/>
          <p:nvPr/>
        </p:nvSpPr>
        <p:spPr>
          <a:xfrm>
            <a:off x="2523173" y="2720072"/>
            <a:ext cx="1974533" cy="960120"/>
          </a:xfrm>
          <a:prstGeom prst="roundRect">
            <a:avLst>
              <a:gd name="adj" fmla="val 5952"/>
            </a:avLst>
          </a:prstGeom>
          <a:gradFill rotWithShape="1">
            <a:gsLst>
              <a:gs pos="0">
                <a:srgbClr val="FFFFFF">
                  <a:alpha val="4300"/>
                </a:srgbClr>
              </a:gs>
              <a:gs pos="100000">
                <a:srgbClr val="FFFFFF">
                  <a:alpha val="2000"/>
                </a:srgbClr>
              </a:gs>
            </a:gsLst>
            <a:lin ang="5400000" scaled="0"/>
          </a:gradFill>
          <a:ln w="5715">
            <a:solidFill>
              <a:srgbClr val="00BCD4">
                <a:alpha val="28000"/>
              </a:srgbClr>
            </a:solidFill>
            <a:prstDash val="solid"/>
          </a:ln>
          <a:effectLst>
            <a:outerShdw sx="100000" sy="100000" kx="0" ky="0" algn="bl" rotWithShape="0" blurRad="304800" dist="76200" dir="16200000">
              <a:srgbClr val="000000">
                <a:alpha val="35000"/>
              </a:srgbClr>
            </a:outerShdw>
          </a:effectLst>
        </p:spPr>
      </p:sp>
      <p:sp>
        <p:nvSpPr>
          <p:cNvPr id="35" name="Shape 33"/>
          <p:cNvSpPr/>
          <p:nvPr/>
        </p:nvSpPr>
        <p:spPr>
          <a:xfrm>
            <a:off x="2523173" y="2720072"/>
            <a:ext cx="1963103" cy="11430"/>
          </a:xfrm>
          <a:prstGeom prst="rect">
            <a:avLst/>
          </a:prstGeom>
          <a:gradFill rotWithShape="1">
            <a:gsLst>
              <a:gs pos="0">
                <a:srgbClr val="000000">
                  <a:alpha val="0"/>
                </a:srgbClr>
              </a:gs>
              <a:gs pos="50000">
                <a:srgbClr val="00BCD4"/>
              </a:gs>
              <a:gs pos="100000">
                <a:srgbClr val="000000">
                  <a:alpha val="0"/>
                </a:srgbClr>
              </a:gs>
            </a:gsLst>
            <a:lin ang="0" scaled="0"/>
          </a:gradFill>
          <a:ln/>
        </p:spPr>
      </p:sp>
      <p:sp>
        <p:nvSpPr>
          <p:cNvPr id="36" name="Shape 34"/>
          <p:cNvSpPr/>
          <p:nvPr/>
        </p:nvSpPr>
        <p:spPr>
          <a:xfrm>
            <a:off x="3932189" y="3000107"/>
            <a:ext cx="1143000" cy="1143000"/>
          </a:xfrm>
          <a:prstGeom prst="rect">
            <a:avLst/>
          </a:prstGeom>
          <a:solidFill>
            <a:srgbClr val="00BCD4">
              <a:alpha val="8000"/>
            </a:srgbClr>
          </a:solidFill>
          <a:ln/>
        </p:spPr>
      </p:sp>
      <p:sp>
        <p:nvSpPr>
          <p:cNvPr id="37" name="Text 35"/>
          <p:cNvSpPr/>
          <p:nvPr/>
        </p:nvSpPr>
        <p:spPr>
          <a:xfrm>
            <a:off x="2643188" y="2851517"/>
            <a:ext cx="1942643" cy="144572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990" b="1" spc="-10" kern="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Toolformer</a:t>
            </a:r>
            <a:endParaRPr lang="en-US" sz="990" dirty="0"/>
          </a:p>
        </p:txBody>
      </p:sp>
      <p:sp>
        <p:nvSpPr>
          <p:cNvPr id="38" name="Text 36"/>
          <p:cNvSpPr/>
          <p:nvPr/>
        </p:nvSpPr>
        <p:spPr>
          <a:xfrm>
            <a:off x="2643188" y="3030379"/>
            <a:ext cx="1942643" cy="85725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450" spc="108" kern="0" dirty="0">
                <a:solidFill>
                  <a:srgbClr val="00BCD4">
                    <a:alpha val="85000"/>
                  </a:srgbClr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SELF-SUPERVISED TOOLS</a:t>
            </a:r>
            <a:endParaRPr lang="en-US" sz="450" dirty="0"/>
          </a:p>
        </p:txBody>
      </p:sp>
      <p:sp>
        <p:nvSpPr>
          <p:cNvPr id="39" name="Shape 37"/>
          <p:cNvSpPr/>
          <p:nvPr/>
        </p:nvSpPr>
        <p:spPr>
          <a:xfrm>
            <a:off x="2643188" y="3184684"/>
            <a:ext cx="160020" cy="11430"/>
          </a:xfrm>
          <a:prstGeom prst="roundRect">
            <a:avLst>
              <a:gd name="adj" fmla="val 50000"/>
            </a:avLst>
          </a:prstGeom>
          <a:solidFill>
            <a:srgbClr val="00BCD4"/>
          </a:solidFill>
          <a:ln/>
          <a:effectLst>
            <a:outerShdw sx="100000" sy="100000" kx="0" ky="0" algn="bl" rotWithShape="0" blurRad="76200" dist="50800" dir="16200000">
              <a:srgbClr val="00BCD4">
                <a:alpha val="55000"/>
              </a:srgbClr>
            </a:outerShdw>
          </a:effectLst>
        </p:spPr>
      </p:sp>
      <p:sp>
        <p:nvSpPr>
          <p:cNvPr id="40" name="Text 38"/>
          <p:cNvSpPr/>
          <p:nvPr/>
        </p:nvSpPr>
        <p:spPr>
          <a:xfrm>
            <a:off x="2643188" y="3264694"/>
            <a:ext cx="1942643" cy="245031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65000"/>
              </a:lnSpc>
              <a:buNone/>
            </a:pPr>
            <a:r>
              <a:rPr lang="en-US" sz="585" dirty="0">
                <a:solidFill>
                  <a:srgbClr val="EAF2F5">
                    <a:alpha val="68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LLM 通过自监督学习自主决定是否调用外部 API，工具调用从"人工设计"走向"内生能力"。</a:t>
            </a:r>
            <a:endParaRPr lang="en-US" sz="585" dirty="0"/>
          </a:p>
        </p:txBody>
      </p:sp>
      <p:sp>
        <p:nvSpPr>
          <p:cNvPr id="41" name="Text 39"/>
          <p:cNvSpPr/>
          <p:nvPr/>
        </p:nvSpPr>
        <p:spPr>
          <a:xfrm>
            <a:off x="4646295" y="1882825"/>
            <a:ext cx="2211476" cy="94298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ctr" indent="0" marL="0">
              <a:lnSpc>
                <a:spcPct val="150000"/>
              </a:lnSpc>
              <a:buNone/>
            </a:pPr>
            <a:r>
              <a:rPr lang="en-US" sz="495" spc="158" kern="0" dirty="0">
                <a:solidFill>
                  <a:srgbClr val="EAF2F5">
                    <a:alpha val="40000"/>
                  </a:srgbClr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NODE · 03</a:t>
            </a:r>
            <a:endParaRPr lang="en-US" sz="495" dirty="0"/>
          </a:p>
        </p:txBody>
      </p:sp>
      <p:sp>
        <p:nvSpPr>
          <p:cNvPr id="42" name="Text 40"/>
          <p:cNvSpPr/>
          <p:nvPr/>
        </p:nvSpPr>
        <p:spPr>
          <a:xfrm>
            <a:off x="4646295" y="2022842"/>
            <a:ext cx="2211476" cy="171450"/>
          </a:xfrm>
          <a:prstGeom prst="rect">
            <a:avLst/>
          </a:prstGeom>
          <a:noFill/>
          <a:ln/>
          <a:effectLst>
            <a:outerShdw sx="100000" sy="100000" kx="0" ky="0" algn="bl" rotWithShape="0" blurRad="68580" dist="50800" dir="5400000">
              <a:srgbClr val="00BCD4">
                <a:alpha val="45000"/>
              </a:srgbClr>
            </a:outerShdw>
          </a:effectLst>
        </p:spPr>
        <p:txBody>
          <a:bodyPr wrap="none" rtlCol="0" anchor="ctr"/>
          <a:lstStyle/>
          <a:p>
            <a:pPr algn="ctr" indent="0" marL="0">
              <a:lnSpc>
                <a:spcPct val="150000"/>
              </a:lnSpc>
              <a:buNone/>
            </a:pPr>
            <a:r>
              <a:rPr lang="en-US" sz="900" spc="36" kern="0" dirty="0">
                <a:solidFill>
                  <a:srgbClr val="4DD0E1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2023 · 03</a:t>
            </a:r>
            <a:endParaRPr lang="en-US" sz="900" dirty="0"/>
          </a:p>
        </p:txBody>
      </p:sp>
      <p:sp>
        <p:nvSpPr>
          <p:cNvPr id="43" name="Shape 41"/>
          <p:cNvSpPr/>
          <p:nvPr/>
        </p:nvSpPr>
        <p:spPr>
          <a:xfrm>
            <a:off x="5502116" y="2331452"/>
            <a:ext cx="262890" cy="262890"/>
          </a:xfrm>
          <a:prstGeom prst="ellipse">
            <a:avLst/>
          </a:prstGeom>
          <a:noFill/>
          <a:ln w="11430">
            <a:solidFill>
              <a:srgbClr val="00BCD4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5502116" y="2331452"/>
            <a:ext cx="262890" cy="262890"/>
          </a:xfrm>
          <a:prstGeom prst="ellipse">
            <a:avLst/>
          </a:prstGeom>
          <a:noFill/>
          <a:ln w="11430">
            <a:solidFill>
              <a:srgbClr val="00BCD4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5582126" y="2411462"/>
            <a:ext cx="102870" cy="102870"/>
          </a:xfrm>
          <a:prstGeom prst="ellipse">
            <a:avLst/>
          </a:prstGeom>
          <a:solidFill>
            <a:srgbClr val="00BCD4"/>
          </a:solidFill>
          <a:ln w="11430">
            <a:solidFill>
              <a:srgbClr val="EAF2F5"/>
            </a:solidFill>
            <a:prstDash val="solid"/>
          </a:ln>
          <a:effectLst>
            <a:outerShdw sx="100000" sy="100000" kx="0" ky="0" algn="bl" rotWithShape="0" blurRad="133350" dist="50800" dir="16200000">
              <a:srgbClr val="00BCD4">
                <a:alpha val="90000"/>
              </a:srgbClr>
            </a:outerShdw>
          </a:effectLst>
        </p:spPr>
      </p:sp>
      <p:sp>
        <p:nvSpPr>
          <p:cNvPr id="46" name="Shape 44"/>
          <p:cNvSpPr/>
          <p:nvPr/>
        </p:nvSpPr>
        <p:spPr>
          <a:xfrm>
            <a:off x="4646295" y="2720072"/>
            <a:ext cx="1974533" cy="960120"/>
          </a:xfrm>
          <a:prstGeom prst="roundRect">
            <a:avLst>
              <a:gd name="adj" fmla="val 5952"/>
            </a:avLst>
          </a:prstGeom>
          <a:gradFill rotWithShape="1">
            <a:gsLst>
              <a:gs pos="0">
                <a:srgbClr val="FFFFFF">
                  <a:alpha val="4300"/>
                </a:srgbClr>
              </a:gs>
              <a:gs pos="100000">
                <a:srgbClr val="FFFFFF">
                  <a:alpha val="2000"/>
                </a:srgbClr>
              </a:gs>
            </a:gsLst>
            <a:lin ang="5400000" scaled="0"/>
          </a:gradFill>
          <a:ln w="5715">
            <a:solidFill>
              <a:srgbClr val="00BCD4">
                <a:alpha val="28000"/>
              </a:srgbClr>
            </a:solidFill>
            <a:prstDash val="solid"/>
          </a:ln>
          <a:effectLst>
            <a:outerShdw sx="100000" sy="100000" kx="0" ky="0" algn="bl" rotWithShape="0" blurRad="304800" dist="76200" dir="16200000">
              <a:srgbClr val="000000">
                <a:alpha val="35000"/>
              </a:srgbClr>
            </a:outerShdw>
          </a:effectLst>
        </p:spPr>
      </p:sp>
      <p:sp>
        <p:nvSpPr>
          <p:cNvPr id="47" name="Shape 45"/>
          <p:cNvSpPr/>
          <p:nvPr/>
        </p:nvSpPr>
        <p:spPr>
          <a:xfrm>
            <a:off x="4646295" y="2720072"/>
            <a:ext cx="1963103" cy="11430"/>
          </a:xfrm>
          <a:prstGeom prst="rect">
            <a:avLst/>
          </a:prstGeom>
          <a:gradFill rotWithShape="1">
            <a:gsLst>
              <a:gs pos="0">
                <a:srgbClr val="000000">
                  <a:alpha val="0"/>
                </a:srgbClr>
              </a:gs>
              <a:gs pos="50000">
                <a:srgbClr val="00BCD4"/>
              </a:gs>
              <a:gs pos="100000">
                <a:srgbClr val="000000">
                  <a:alpha val="0"/>
                </a:srgbClr>
              </a:gs>
            </a:gsLst>
            <a:lin ang="0" scaled="0"/>
          </a:gradFill>
          <a:ln/>
        </p:spPr>
      </p:sp>
      <p:sp>
        <p:nvSpPr>
          <p:cNvPr id="48" name="Shape 46"/>
          <p:cNvSpPr/>
          <p:nvPr/>
        </p:nvSpPr>
        <p:spPr>
          <a:xfrm>
            <a:off x="6055311" y="3000107"/>
            <a:ext cx="1143000" cy="1143000"/>
          </a:xfrm>
          <a:prstGeom prst="rect">
            <a:avLst/>
          </a:prstGeom>
          <a:solidFill>
            <a:srgbClr val="00BCD4">
              <a:alpha val="8000"/>
            </a:srgbClr>
          </a:solidFill>
          <a:ln/>
        </p:spPr>
      </p:sp>
      <p:sp>
        <p:nvSpPr>
          <p:cNvPr id="49" name="Text 47"/>
          <p:cNvSpPr/>
          <p:nvPr/>
        </p:nvSpPr>
        <p:spPr>
          <a:xfrm>
            <a:off x="4766310" y="2851517"/>
            <a:ext cx="1942643" cy="144572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990" b="1" spc="-10" kern="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AutoGPT</a:t>
            </a:r>
            <a:endParaRPr lang="en-US" sz="990" dirty="0"/>
          </a:p>
        </p:txBody>
      </p:sp>
      <p:sp>
        <p:nvSpPr>
          <p:cNvPr id="50" name="Text 48"/>
          <p:cNvSpPr/>
          <p:nvPr/>
        </p:nvSpPr>
        <p:spPr>
          <a:xfrm>
            <a:off x="4766310" y="3030379"/>
            <a:ext cx="1942643" cy="85725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450" spc="108" kern="0" dirty="0">
                <a:solidFill>
                  <a:srgbClr val="00BCD4">
                    <a:alpha val="85000"/>
                  </a:srgbClr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VIRAL AUTOPILOT</a:t>
            </a:r>
            <a:endParaRPr lang="en-US" sz="450" dirty="0"/>
          </a:p>
        </p:txBody>
      </p:sp>
      <p:sp>
        <p:nvSpPr>
          <p:cNvPr id="51" name="Shape 49"/>
          <p:cNvSpPr/>
          <p:nvPr/>
        </p:nvSpPr>
        <p:spPr>
          <a:xfrm>
            <a:off x="4766310" y="3184684"/>
            <a:ext cx="160020" cy="11430"/>
          </a:xfrm>
          <a:prstGeom prst="roundRect">
            <a:avLst>
              <a:gd name="adj" fmla="val 50000"/>
            </a:avLst>
          </a:prstGeom>
          <a:solidFill>
            <a:srgbClr val="00BCD4"/>
          </a:solidFill>
          <a:ln/>
          <a:effectLst>
            <a:outerShdw sx="100000" sy="100000" kx="0" ky="0" algn="bl" rotWithShape="0" blurRad="76200" dist="50800" dir="16200000">
              <a:srgbClr val="00BCD4">
                <a:alpha val="55000"/>
              </a:srgbClr>
            </a:outerShdw>
          </a:effectLst>
        </p:spPr>
      </p:sp>
      <p:sp>
        <p:nvSpPr>
          <p:cNvPr id="52" name="Text 50"/>
          <p:cNvSpPr/>
          <p:nvPr/>
        </p:nvSpPr>
        <p:spPr>
          <a:xfrm>
            <a:off x="4766310" y="3264694"/>
            <a:ext cx="1942643" cy="245031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65000"/>
              </a:lnSpc>
              <a:buNone/>
            </a:pPr>
            <a:r>
              <a:rPr lang="en-US" sz="585" dirty="0">
                <a:solidFill>
                  <a:srgbClr val="EAF2F5">
                    <a:alpha val="68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"自主 Agent 时刻" —— 一个循环调用 LLM 的开源项目病毒式传播，公众第一次大规模围观 Agent。</a:t>
            </a:r>
            <a:endParaRPr lang="en-US" sz="585" dirty="0"/>
          </a:p>
        </p:txBody>
      </p:sp>
      <p:sp>
        <p:nvSpPr>
          <p:cNvPr id="53" name="Text 51"/>
          <p:cNvSpPr/>
          <p:nvPr/>
        </p:nvSpPr>
        <p:spPr>
          <a:xfrm>
            <a:off x="6769418" y="1882825"/>
            <a:ext cx="2211476" cy="94298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ctr" indent="0" marL="0">
              <a:lnSpc>
                <a:spcPct val="150000"/>
              </a:lnSpc>
              <a:buNone/>
            </a:pPr>
            <a:r>
              <a:rPr lang="en-US" sz="495" spc="158" kern="0" dirty="0">
                <a:solidFill>
                  <a:srgbClr val="EAF2F5">
                    <a:alpha val="40000"/>
                  </a:srgbClr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NODE · 04</a:t>
            </a:r>
            <a:endParaRPr lang="en-US" sz="495" dirty="0"/>
          </a:p>
        </p:txBody>
      </p:sp>
      <p:sp>
        <p:nvSpPr>
          <p:cNvPr id="54" name="Text 52"/>
          <p:cNvSpPr/>
          <p:nvPr/>
        </p:nvSpPr>
        <p:spPr>
          <a:xfrm>
            <a:off x="6769418" y="2022842"/>
            <a:ext cx="2211476" cy="171450"/>
          </a:xfrm>
          <a:prstGeom prst="rect">
            <a:avLst/>
          </a:prstGeom>
          <a:noFill/>
          <a:ln/>
          <a:effectLst>
            <a:outerShdw sx="100000" sy="100000" kx="0" ky="0" algn="bl" rotWithShape="0" blurRad="68580" dist="50800" dir="5400000">
              <a:srgbClr val="00BCD4">
                <a:alpha val="45000"/>
              </a:srgbClr>
            </a:outerShdw>
          </a:effectLst>
        </p:spPr>
        <p:txBody>
          <a:bodyPr wrap="none" rtlCol="0" anchor="ctr"/>
          <a:lstStyle/>
          <a:p>
            <a:pPr algn="ctr" indent="0" marL="0">
              <a:lnSpc>
                <a:spcPct val="150000"/>
              </a:lnSpc>
              <a:buNone/>
            </a:pPr>
            <a:r>
              <a:rPr lang="en-US" sz="900" spc="36" kern="0" dirty="0">
                <a:solidFill>
                  <a:srgbClr val="4DD0E1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2023 · 06</a:t>
            </a:r>
            <a:endParaRPr lang="en-US" sz="900" dirty="0"/>
          </a:p>
        </p:txBody>
      </p:sp>
      <p:sp>
        <p:nvSpPr>
          <p:cNvPr id="55" name="Shape 53"/>
          <p:cNvSpPr/>
          <p:nvPr/>
        </p:nvSpPr>
        <p:spPr>
          <a:xfrm>
            <a:off x="7625239" y="2331452"/>
            <a:ext cx="262890" cy="262890"/>
          </a:xfrm>
          <a:prstGeom prst="ellipse">
            <a:avLst/>
          </a:prstGeom>
          <a:noFill/>
          <a:ln w="11430">
            <a:solidFill>
              <a:srgbClr val="00BCD4"/>
            </a:solidFill>
            <a:prstDash val="solid"/>
          </a:ln>
        </p:spPr>
      </p:sp>
      <p:sp>
        <p:nvSpPr>
          <p:cNvPr id="56" name="Shape 54"/>
          <p:cNvSpPr/>
          <p:nvPr/>
        </p:nvSpPr>
        <p:spPr>
          <a:xfrm>
            <a:off x="7625239" y="2331452"/>
            <a:ext cx="262890" cy="262890"/>
          </a:xfrm>
          <a:prstGeom prst="ellipse">
            <a:avLst/>
          </a:prstGeom>
          <a:noFill/>
          <a:ln w="11430">
            <a:solidFill>
              <a:srgbClr val="00BCD4"/>
            </a:solidFill>
            <a:prstDash val="solid"/>
          </a:ln>
        </p:spPr>
      </p:sp>
      <p:sp>
        <p:nvSpPr>
          <p:cNvPr id="57" name="Shape 55"/>
          <p:cNvSpPr/>
          <p:nvPr/>
        </p:nvSpPr>
        <p:spPr>
          <a:xfrm>
            <a:off x="7705249" y="2411462"/>
            <a:ext cx="102870" cy="102870"/>
          </a:xfrm>
          <a:prstGeom prst="ellipse">
            <a:avLst/>
          </a:prstGeom>
          <a:solidFill>
            <a:srgbClr val="00BCD4"/>
          </a:solidFill>
          <a:ln w="11430">
            <a:solidFill>
              <a:srgbClr val="EAF2F5"/>
            </a:solidFill>
            <a:prstDash val="solid"/>
          </a:ln>
          <a:effectLst>
            <a:outerShdw sx="100000" sy="100000" kx="0" ky="0" algn="bl" rotWithShape="0" blurRad="133350" dist="50800" dir="16200000">
              <a:srgbClr val="00BCD4">
                <a:alpha val="90000"/>
              </a:srgbClr>
            </a:outerShdw>
          </a:effectLst>
        </p:spPr>
      </p:sp>
      <p:sp>
        <p:nvSpPr>
          <p:cNvPr id="58" name="Shape 56"/>
          <p:cNvSpPr/>
          <p:nvPr/>
        </p:nvSpPr>
        <p:spPr>
          <a:xfrm>
            <a:off x="6769418" y="2720072"/>
            <a:ext cx="1974533" cy="960120"/>
          </a:xfrm>
          <a:prstGeom prst="roundRect">
            <a:avLst>
              <a:gd name="adj" fmla="val 5952"/>
            </a:avLst>
          </a:prstGeom>
          <a:gradFill rotWithShape="1">
            <a:gsLst>
              <a:gs pos="0">
                <a:srgbClr val="FFFFFF">
                  <a:alpha val="4300"/>
                </a:srgbClr>
              </a:gs>
              <a:gs pos="100000">
                <a:srgbClr val="FFFFFF">
                  <a:alpha val="2000"/>
                </a:srgbClr>
              </a:gs>
            </a:gsLst>
            <a:lin ang="5400000" scaled="0"/>
          </a:gradFill>
          <a:ln w="5715">
            <a:solidFill>
              <a:srgbClr val="00BCD4">
                <a:alpha val="28000"/>
              </a:srgbClr>
            </a:solidFill>
            <a:prstDash val="solid"/>
          </a:ln>
          <a:effectLst>
            <a:outerShdw sx="100000" sy="100000" kx="0" ky="0" algn="bl" rotWithShape="0" blurRad="304800" dist="76200" dir="16200000">
              <a:srgbClr val="000000">
                <a:alpha val="35000"/>
              </a:srgbClr>
            </a:outerShdw>
          </a:effectLst>
        </p:spPr>
      </p:sp>
      <p:sp>
        <p:nvSpPr>
          <p:cNvPr id="59" name="Shape 57"/>
          <p:cNvSpPr/>
          <p:nvPr/>
        </p:nvSpPr>
        <p:spPr>
          <a:xfrm>
            <a:off x="6769418" y="2720072"/>
            <a:ext cx="1963103" cy="11430"/>
          </a:xfrm>
          <a:prstGeom prst="rect">
            <a:avLst/>
          </a:prstGeom>
          <a:gradFill rotWithShape="1">
            <a:gsLst>
              <a:gs pos="0">
                <a:srgbClr val="000000">
                  <a:alpha val="0"/>
                </a:srgbClr>
              </a:gs>
              <a:gs pos="50000">
                <a:srgbClr val="00BCD4"/>
              </a:gs>
              <a:gs pos="100000">
                <a:srgbClr val="000000">
                  <a:alpha val="0"/>
                </a:srgbClr>
              </a:gs>
            </a:gsLst>
            <a:lin ang="0" scaled="0"/>
          </a:gradFill>
          <a:ln/>
        </p:spPr>
      </p:sp>
      <p:sp>
        <p:nvSpPr>
          <p:cNvPr id="60" name="Shape 58"/>
          <p:cNvSpPr/>
          <p:nvPr/>
        </p:nvSpPr>
        <p:spPr>
          <a:xfrm>
            <a:off x="8178434" y="3000107"/>
            <a:ext cx="1143000" cy="1143000"/>
          </a:xfrm>
          <a:prstGeom prst="rect">
            <a:avLst/>
          </a:prstGeom>
          <a:solidFill>
            <a:srgbClr val="00BCD4">
              <a:alpha val="8000"/>
            </a:srgbClr>
          </a:solidFill>
          <a:ln/>
        </p:spPr>
      </p:sp>
      <p:sp>
        <p:nvSpPr>
          <p:cNvPr id="61" name="Text 59"/>
          <p:cNvSpPr/>
          <p:nvPr/>
        </p:nvSpPr>
        <p:spPr>
          <a:xfrm>
            <a:off x="6889433" y="2851517"/>
            <a:ext cx="1942643" cy="144572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990" b="1" spc="-10" kern="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Function Calling</a:t>
            </a:r>
            <a:endParaRPr lang="en-US" sz="990" dirty="0"/>
          </a:p>
        </p:txBody>
      </p:sp>
      <p:sp>
        <p:nvSpPr>
          <p:cNvPr id="62" name="Text 60"/>
          <p:cNvSpPr/>
          <p:nvPr/>
        </p:nvSpPr>
        <p:spPr>
          <a:xfrm>
            <a:off x="6889433" y="3030379"/>
            <a:ext cx="1942643" cy="85725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450" spc="108" kern="0" dirty="0">
                <a:solidFill>
                  <a:srgbClr val="00BCD4">
                    <a:alpha val="85000"/>
                  </a:srgbClr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STANDARD PRIMITIVE</a:t>
            </a:r>
            <a:endParaRPr lang="en-US" sz="450" dirty="0"/>
          </a:p>
        </p:txBody>
      </p:sp>
      <p:sp>
        <p:nvSpPr>
          <p:cNvPr id="63" name="Shape 61"/>
          <p:cNvSpPr/>
          <p:nvPr/>
        </p:nvSpPr>
        <p:spPr>
          <a:xfrm>
            <a:off x="6889433" y="3184684"/>
            <a:ext cx="160020" cy="11430"/>
          </a:xfrm>
          <a:prstGeom prst="roundRect">
            <a:avLst>
              <a:gd name="adj" fmla="val 50000"/>
            </a:avLst>
          </a:prstGeom>
          <a:solidFill>
            <a:srgbClr val="00BCD4"/>
          </a:solidFill>
          <a:ln/>
          <a:effectLst>
            <a:outerShdw sx="100000" sy="100000" kx="0" ky="0" algn="bl" rotWithShape="0" blurRad="76200" dist="50800" dir="16200000">
              <a:srgbClr val="00BCD4">
                <a:alpha val="55000"/>
              </a:srgbClr>
            </a:outerShdw>
          </a:effectLst>
        </p:spPr>
      </p:sp>
      <p:sp>
        <p:nvSpPr>
          <p:cNvPr id="64" name="Text 62"/>
          <p:cNvSpPr/>
          <p:nvPr/>
        </p:nvSpPr>
        <p:spPr>
          <a:xfrm>
            <a:off x="6889433" y="3264694"/>
            <a:ext cx="1942643" cy="245031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65000"/>
              </a:lnSpc>
              <a:buNone/>
            </a:pPr>
            <a:r>
              <a:rPr lang="en-US" sz="585" dirty="0">
                <a:solidFill>
                  <a:srgbClr val="EAF2F5">
                    <a:alpha val="68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主流模型厂商齐发工具调用 API 原语，Agent 从"论文里的实验"变成"可上线的工程能力"。</a:t>
            </a:r>
            <a:endParaRPr lang="en-US" sz="585" dirty="0"/>
          </a:p>
        </p:txBody>
      </p:sp>
      <p:sp>
        <p:nvSpPr>
          <p:cNvPr id="65" name="Shape 63"/>
          <p:cNvSpPr/>
          <p:nvPr/>
        </p:nvSpPr>
        <p:spPr>
          <a:xfrm>
            <a:off x="400050" y="4246245"/>
            <a:ext cx="2743200" cy="645795"/>
          </a:xfrm>
          <a:prstGeom prst="roundRect">
            <a:avLst>
              <a:gd name="adj" fmla="val 7080"/>
            </a:avLst>
          </a:prstGeom>
          <a:gradFill rotWithShape="1">
            <a:gsLst>
              <a:gs pos="0">
                <a:srgbClr val="FF7043">
                  <a:alpha val="12000"/>
                </a:srgbClr>
              </a:gs>
              <a:gs pos="100000">
                <a:srgbClr val="FF7043">
                  <a:alpha val="3000"/>
                </a:srgbClr>
              </a:gs>
            </a:gsLst>
            <a:lin ang="2700000" scaled="0"/>
          </a:gradFill>
          <a:ln w="22860">
            <a:solidFill>
              <a:srgbClr val="FF7043">
                <a:alpha val="55000"/>
              </a:srgbClr>
            </a:solidFill>
            <a:prstDash val="solid"/>
          </a:ln>
          <a:effectLst>
            <a:outerShdw sx="100000" sy="100000" kx="0" ky="0" algn="bl" rotWithShape="0" blurRad="304800" dist="76200" dir="16200000">
              <a:srgbClr val="FF7043">
                <a:alpha val="8000"/>
              </a:srgbClr>
            </a:outerShdw>
          </a:effectLst>
        </p:spPr>
      </p:sp>
      <p:sp>
        <p:nvSpPr>
          <p:cNvPr id="66" name="Shape 64"/>
          <p:cNvSpPr/>
          <p:nvPr/>
        </p:nvSpPr>
        <p:spPr>
          <a:xfrm>
            <a:off x="400050" y="4246245"/>
            <a:ext cx="1143000" cy="1143000"/>
          </a:xfrm>
          <a:prstGeom prst="rect">
            <a:avLst/>
          </a:prstGeom>
          <a:solidFill>
            <a:srgbClr val="FF7043">
              <a:alpha val="15000"/>
            </a:srgbClr>
          </a:solidFill>
          <a:ln/>
        </p:spPr>
      </p:sp>
      <p:sp>
        <p:nvSpPr>
          <p:cNvPr id="67" name="Shape 65"/>
          <p:cNvSpPr/>
          <p:nvPr/>
        </p:nvSpPr>
        <p:spPr>
          <a:xfrm>
            <a:off x="582930" y="4400550"/>
            <a:ext cx="679013" cy="142875"/>
          </a:xfrm>
          <a:prstGeom prst="roundRect">
            <a:avLst>
              <a:gd name="adj" fmla="val 12000"/>
            </a:avLst>
          </a:prstGeom>
          <a:solidFill>
            <a:srgbClr val="FF7043">
              <a:alpha val="8000"/>
            </a:srgbClr>
          </a:solidFill>
          <a:ln w="5715">
            <a:solidFill>
              <a:srgbClr val="FF7043">
                <a:alpha val="50000"/>
              </a:srgbClr>
            </a:solidFill>
            <a:prstDash val="solid"/>
          </a:ln>
        </p:spPr>
      </p:sp>
      <p:sp>
        <p:nvSpPr>
          <p:cNvPr id="68" name="Text 66"/>
          <p:cNvSpPr/>
          <p:nvPr/>
        </p:nvSpPr>
        <p:spPr>
          <a:xfrm>
            <a:off x="582930" y="4400550"/>
            <a:ext cx="760495" cy="142875"/>
          </a:xfrm>
          <a:prstGeom prst="rect">
            <a:avLst/>
          </a:prstGeom>
          <a:noFill/>
          <a:ln/>
        </p:spPr>
        <p:txBody>
          <a:bodyPr wrap="square" lIns="22860" tIns="57150" rIns="57150" bIns="22860" rtlCol="0" anchor="ctr"/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450" spc="126" kern="0" dirty="0">
                <a:solidFill>
                  <a:srgbClr val="FF7043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IMPLICATION</a:t>
            </a:r>
            <a:endParaRPr lang="en-US" sz="450" dirty="0"/>
          </a:p>
        </p:txBody>
      </p:sp>
      <p:sp>
        <p:nvSpPr>
          <p:cNvPr id="69" name="Text 67"/>
          <p:cNvSpPr/>
          <p:nvPr/>
        </p:nvSpPr>
        <p:spPr>
          <a:xfrm>
            <a:off x="1330523" y="4377690"/>
            <a:ext cx="623649" cy="188595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990" b="1" spc="-10" kern="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制度含义</a:t>
            </a:r>
            <a:endParaRPr lang="en-US" sz="990" dirty="0"/>
          </a:p>
        </p:txBody>
      </p:sp>
      <p:sp>
        <p:nvSpPr>
          <p:cNvPr id="70" name="Text 68"/>
          <p:cNvSpPr/>
          <p:nvPr/>
        </p:nvSpPr>
        <p:spPr>
          <a:xfrm>
            <a:off x="582930" y="4623435"/>
            <a:ext cx="2694737" cy="137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60000"/>
              </a:lnSpc>
              <a:buNone/>
            </a:pPr>
            <a:r>
              <a:rPr lang="en-US" sz="675" dirty="0">
                <a:solidFill>
                  <a:srgbClr val="EAF2F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用</a:t>
            </a:r>
            <a:pPr algn="l" indent="0" marL="0">
              <a:lnSpc>
                <a:spcPct val="160000"/>
              </a:lnSpc>
              <a:buNone/>
            </a:pPr>
            <a:r>
              <a:rPr lang="en-US" sz="675" b="1" dirty="0">
                <a:solidFill>
                  <a:srgbClr val="000000">
                    <a:alpha val="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新范式</a:t>
            </a:r>
            <a:pPr algn="l" indent="0" marL="0">
              <a:lnSpc>
                <a:spcPct val="160000"/>
              </a:lnSpc>
              <a:buNone/>
            </a:pPr>
            <a:r>
              <a:rPr lang="en-US" sz="675" dirty="0">
                <a:solidFill>
                  <a:srgbClr val="EAF2F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激活</a:t>
            </a:r>
            <a:pPr algn="l" indent="0" marL="0">
              <a:lnSpc>
                <a:spcPct val="160000"/>
              </a:lnSpc>
              <a:buNone/>
            </a:pPr>
            <a:r>
              <a:rPr lang="en-US" sz="675" b="1" dirty="0">
                <a:solidFill>
                  <a:srgbClr val="000000">
                    <a:alpha val="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老理论</a:t>
            </a:r>
            <a:pPr algn="l" indent="0" marL="0">
              <a:lnSpc>
                <a:spcPct val="160000"/>
              </a:lnSpc>
              <a:buNone/>
            </a:pPr>
            <a:r>
              <a:rPr lang="en-US" sz="675" dirty="0">
                <a:solidFill>
                  <a:srgbClr val="EAF2F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——跨域套利。</a:t>
            </a:r>
            <a:endParaRPr lang="en-US" sz="675" dirty="0"/>
          </a:p>
        </p:txBody>
      </p:sp>
      <p:sp>
        <p:nvSpPr>
          <p:cNvPr id="71" name="Shape 69"/>
          <p:cNvSpPr/>
          <p:nvPr/>
        </p:nvSpPr>
        <p:spPr>
          <a:xfrm>
            <a:off x="668655" y="4634865"/>
            <a:ext cx="257175" cy="120015"/>
          </a:xfrm>
          <a:prstGeom prst="rect">
            <a:avLst/>
          </a:prstGeom>
          <a:noFill/>
          <a:ln/>
        </p:spPr>
      </p:sp>
      <p:sp>
        <p:nvSpPr>
          <p:cNvPr id="72" name="Shape 70"/>
          <p:cNvSpPr/>
          <p:nvPr/>
        </p:nvSpPr>
        <p:spPr>
          <a:xfrm>
            <a:off x="668655" y="4754880"/>
            <a:ext cx="257175" cy="0"/>
          </a:xfrm>
          <a:prstGeom prst="line">
            <a:avLst/>
          </a:prstGeom>
          <a:noFill/>
          <a:ln w="5715">
            <a:solidFill>
              <a:srgbClr val="FF7043">
                <a:alpha val="60000"/>
              </a:srgbClr>
            </a:solidFill>
            <a:prstDash val="dash"/>
          </a:ln>
        </p:spPr>
      </p:sp>
      <p:sp>
        <p:nvSpPr>
          <p:cNvPr id="73" name="Text 71"/>
          <p:cNvSpPr/>
          <p:nvPr/>
        </p:nvSpPr>
        <p:spPr>
          <a:xfrm>
            <a:off x="668655" y="4634865"/>
            <a:ext cx="342900" cy="120015"/>
          </a:xfrm>
          <a:prstGeom prst="rect">
            <a:avLst/>
          </a:prstGeom>
          <a:noFill/>
          <a:ln/>
        </p:spPr>
        <p:txBody>
          <a:bodyPr wrap="none" lIns="0" tIns="0" rIns="0" bIns="5715" rtlCol="0" anchor="ctr"/>
          <a:lstStyle/>
          <a:p>
            <a:pPr algn="l" indent="0" marL="0">
              <a:lnSpc>
                <a:spcPct val="160000"/>
              </a:lnSpc>
              <a:buNone/>
            </a:pPr>
            <a:r>
              <a:rPr lang="en-US" sz="675" b="1" dirty="0">
                <a:solidFill>
                  <a:srgbClr val="FF8A6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新范式</a:t>
            </a:r>
            <a:endParaRPr lang="en-US" sz="675" dirty="0"/>
          </a:p>
        </p:txBody>
      </p:sp>
      <p:sp>
        <p:nvSpPr>
          <p:cNvPr id="74" name="Shape 72"/>
          <p:cNvSpPr/>
          <p:nvPr/>
        </p:nvSpPr>
        <p:spPr>
          <a:xfrm>
            <a:off x="1097280" y="4634865"/>
            <a:ext cx="257175" cy="120015"/>
          </a:xfrm>
          <a:prstGeom prst="rect">
            <a:avLst/>
          </a:prstGeom>
          <a:noFill/>
          <a:ln/>
        </p:spPr>
      </p:sp>
      <p:sp>
        <p:nvSpPr>
          <p:cNvPr id="75" name="Shape 73"/>
          <p:cNvSpPr/>
          <p:nvPr/>
        </p:nvSpPr>
        <p:spPr>
          <a:xfrm>
            <a:off x="1097280" y="4754880"/>
            <a:ext cx="257175" cy="0"/>
          </a:xfrm>
          <a:prstGeom prst="line">
            <a:avLst/>
          </a:prstGeom>
          <a:noFill/>
          <a:ln w="5715">
            <a:solidFill>
              <a:srgbClr val="FF7043">
                <a:alpha val="60000"/>
              </a:srgbClr>
            </a:solidFill>
            <a:prstDash val="dash"/>
          </a:ln>
        </p:spPr>
      </p:sp>
      <p:sp>
        <p:nvSpPr>
          <p:cNvPr id="76" name="Text 74"/>
          <p:cNvSpPr/>
          <p:nvPr/>
        </p:nvSpPr>
        <p:spPr>
          <a:xfrm>
            <a:off x="1097280" y="4634865"/>
            <a:ext cx="342900" cy="120015"/>
          </a:xfrm>
          <a:prstGeom prst="rect">
            <a:avLst/>
          </a:prstGeom>
          <a:noFill/>
          <a:ln/>
        </p:spPr>
        <p:txBody>
          <a:bodyPr wrap="none" lIns="0" tIns="0" rIns="0" bIns="5715" rtlCol="0" anchor="ctr"/>
          <a:lstStyle/>
          <a:p>
            <a:pPr algn="l" indent="0" marL="0">
              <a:lnSpc>
                <a:spcPct val="160000"/>
              </a:lnSpc>
              <a:buNone/>
            </a:pPr>
            <a:r>
              <a:rPr lang="en-US" sz="675" b="1" dirty="0">
                <a:solidFill>
                  <a:srgbClr val="FF8A6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老理论</a:t>
            </a:r>
            <a:endParaRPr lang="en-US" sz="675" dirty="0"/>
          </a:p>
        </p:txBody>
      </p:sp>
      <p:sp>
        <p:nvSpPr>
          <p:cNvPr id="77" name="Shape 75"/>
          <p:cNvSpPr/>
          <p:nvPr/>
        </p:nvSpPr>
        <p:spPr>
          <a:xfrm>
            <a:off x="3280410" y="4246245"/>
            <a:ext cx="1314450" cy="645795"/>
          </a:xfrm>
          <a:prstGeom prst="roundRect">
            <a:avLst>
              <a:gd name="adj" fmla="val 5310"/>
            </a:avLst>
          </a:prstGeom>
          <a:gradFill rotWithShape="1">
            <a:gsLst>
              <a:gs pos="0">
                <a:srgbClr val="FFFFFF">
                  <a:alpha val="3000"/>
                </a:srgbClr>
              </a:gs>
              <a:gs pos="100000">
                <a:srgbClr val="FFFFFF">
                  <a:alpha val="1000"/>
                </a:srgbClr>
              </a:gs>
            </a:gsLst>
            <a:lin ang="5400000" scaled="0"/>
          </a:gradFill>
          <a:ln w="5715">
            <a:solidFill>
              <a:srgbClr val="00BCD4">
                <a:alpha val="20000"/>
              </a:srgbClr>
            </a:solidFill>
            <a:prstDash val="solid"/>
          </a:ln>
        </p:spPr>
      </p:sp>
      <p:sp>
        <p:nvSpPr>
          <p:cNvPr id="78" name="Shape 76"/>
          <p:cNvSpPr/>
          <p:nvPr/>
        </p:nvSpPr>
        <p:spPr>
          <a:xfrm>
            <a:off x="3280410" y="4246245"/>
            <a:ext cx="390852" cy="5715"/>
          </a:xfrm>
          <a:prstGeom prst="rect">
            <a:avLst/>
          </a:prstGeom>
          <a:solidFill>
            <a:srgbClr val="00BCD4">
              <a:alpha val="70000"/>
            </a:srgbClr>
          </a:solidFill>
          <a:ln/>
        </p:spPr>
      </p:sp>
      <p:sp>
        <p:nvSpPr>
          <p:cNvPr id="79" name="Text 77"/>
          <p:cNvSpPr/>
          <p:nvPr/>
        </p:nvSpPr>
        <p:spPr>
          <a:xfrm>
            <a:off x="3388995" y="4343400"/>
            <a:ext cx="1245870" cy="148590"/>
          </a:xfrm>
          <a:prstGeom prst="rect">
            <a:avLst/>
          </a:prstGeom>
          <a:noFill/>
          <a:ln/>
          <a:effectLst>
            <a:outerShdw sx="100000" sy="100000" kx="0" ky="0" algn="bl" rotWithShape="0" blurRad="68580" dist="50800" dir="5400000">
              <a:srgbClr val="00BCD4">
                <a:alpha val="40000"/>
              </a:srgbClr>
            </a:outerShdw>
          </a:effectLst>
        </p:spPr>
        <p:txBody>
          <a:bodyPr wrap="none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170" b="1" spc="-23" kern="0" dirty="0">
                <a:solidFill>
                  <a:srgbClr val="4DD0E1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04</a:t>
            </a:r>
            <a:endParaRPr lang="en-US" sz="1170" dirty="0"/>
          </a:p>
        </p:txBody>
      </p:sp>
      <p:sp>
        <p:nvSpPr>
          <p:cNvPr id="80" name="Text 78"/>
          <p:cNvSpPr/>
          <p:nvPr/>
        </p:nvSpPr>
        <p:spPr>
          <a:xfrm>
            <a:off x="3388995" y="4537710"/>
            <a:ext cx="1228954" cy="87957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495" spc="40" kern="0" dirty="0">
                <a:solidFill>
                  <a:srgbClr val="EAF2F5">
                    <a:alpha val="40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关键节点 · KEY MOMENTS</a:t>
            </a:r>
            <a:endParaRPr lang="en-US" sz="495" dirty="0"/>
          </a:p>
        </p:txBody>
      </p:sp>
      <p:sp>
        <p:nvSpPr>
          <p:cNvPr id="81" name="Shape 79"/>
          <p:cNvSpPr/>
          <p:nvPr/>
        </p:nvSpPr>
        <p:spPr>
          <a:xfrm>
            <a:off x="4663440" y="4246245"/>
            <a:ext cx="1314450" cy="645795"/>
          </a:xfrm>
          <a:prstGeom prst="roundRect">
            <a:avLst>
              <a:gd name="adj" fmla="val 5310"/>
            </a:avLst>
          </a:prstGeom>
          <a:gradFill rotWithShape="1">
            <a:gsLst>
              <a:gs pos="0">
                <a:srgbClr val="FFFFFF">
                  <a:alpha val="3000"/>
                </a:srgbClr>
              </a:gs>
              <a:gs pos="100000">
                <a:srgbClr val="FFFFFF">
                  <a:alpha val="1000"/>
                </a:srgbClr>
              </a:gs>
            </a:gsLst>
            <a:lin ang="5400000" scaled="0"/>
          </a:gradFill>
          <a:ln w="5715">
            <a:solidFill>
              <a:srgbClr val="00BCD4">
                <a:alpha val="20000"/>
              </a:srgbClr>
            </a:solidFill>
            <a:prstDash val="solid"/>
          </a:ln>
        </p:spPr>
      </p:sp>
      <p:sp>
        <p:nvSpPr>
          <p:cNvPr id="82" name="Shape 80"/>
          <p:cNvSpPr/>
          <p:nvPr/>
        </p:nvSpPr>
        <p:spPr>
          <a:xfrm>
            <a:off x="4663440" y="4246245"/>
            <a:ext cx="390852" cy="5715"/>
          </a:xfrm>
          <a:prstGeom prst="rect">
            <a:avLst/>
          </a:prstGeom>
          <a:solidFill>
            <a:srgbClr val="00BCD4">
              <a:alpha val="70000"/>
            </a:srgbClr>
          </a:solidFill>
          <a:ln/>
        </p:spPr>
      </p:sp>
      <p:sp>
        <p:nvSpPr>
          <p:cNvPr id="83" name="Text 81"/>
          <p:cNvSpPr/>
          <p:nvPr/>
        </p:nvSpPr>
        <p:spPr>
          <a:xfrm>
            <a:off x="4772025" y="4343400"/>
            <a:ext cx="1245870" cy="148590"/>
          </a:xfrm>
          <a:prstGeom prst="rect">
            <a:avLst/>
          </a:prstGeom>
          <a:noFill/>
          <a:ln/>
          <a:effectLst>
            <a:outerShdw sx="100000" sy="100000" kx="0" ky="0" algn="bl" rotWithShape="0" blurRad="68580" dist="50800" dir="5400000">
              <a:srgbClr val="00BCD4">
                <a:alpha val="40000"/>
              </a:srgbClr>
            </a:outerShdw>
          </a:effectLst>
        </p:spPr>
        <p:txBody>
          <a:bodyPr wrap="none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170" b="1" spc="-23" kern="0" dirty="0">
                <a:solidFill>
                  <a:srgbClr val="4DD0E1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8M</a:t>
            </a:r>
            <a:endParaRPr lang="en-US" sz="1170" dirty="0"/>
          </a:p>
        </p:txBody>
      </p:sp>
      <p:sp>
        <p:nvSpPr>
          <p:cNvPr id="84" name="Text 82"/>
          <p:cNvSpPr/>
          <p:nvPr/>
        </p:nvSpPr>
        <p:spPr>
          <a:xfrm>
            <a:off x="4772025" y="4537710"/>
            <a:ext cx="1228954" cy="87957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495" spc="40" kern="0" dirty="0">
                <a:solidFill>
                  <a:srgbClr val="EAF2F5">
                    <a:alpha val="40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ReAct 论文引用 · CITATIONS</a:t>
            </a:r>
            <a:endParaRPr lang="en-US" sz="495" dirty="0"/>
          </a:p>
        </p:txBody>
      </p:sp>
      <p:sp>
        <p:nvSpPr>
          <p:cNvPr id="85" name="Shape 83"/>
          <p:cNvSpPr/>
          <p:nvPr/>
        </p:nvSpPr>
        <p:spPr>
          <a:xfrm>
            <a:off x="6046470" y="4246245"/>
            <a:ext cx="1314450" cy="645795"/>
          </a:xfrm>
          <a:prstGeom prst="roundRect">
            <a:avLst>
              <a:gd name="adj" fmla="val 5310"/>
            </a:avLst>
          </a:prstGeom>
          <a:gradFill rotWithShape="1">
            <a:gsLst>
              <a:gs pos="0">
                <a:srgbClr val="FFFFFF">
                  <a:alpha val="3000"/>
                </a:srgbClr>
              </a:gs>
              <a:gs pos="100000">
                <a:srgbClr val="FFFFFF">
                  <a:alpha val="1000"/>
                </a:srgbClr>
              </a:gs>
            </a:gsLst>
            <a:lin ang="5400000" scaled="0"/>
          </a:gradFill>
          <a:ln w="5715">
            <a:solidFill>
              <a:srgbClr val="00BCD4">
                <a:alpha val="20000"/>
              </a:srgbClr>
            </a:solidFill>
            <a:prstDash val="solid"/>
          </a:ln>
        </p:spPr>
      </p:sp>
      <p:sp>
        <p:nvSpPr>
          <p:cNvPr id="86" name="Shape 84"/>
          <p:cNvSpPr/>
          <p:nvPr/>
        </p:nvSpPr>
        <p:spPr>
          <a:xfrm>
            <a:off x="6046470" y="4246245"/>
            <a:ext cx="390852" cy="5715"/>
          </a:xfrm>
          <a:prstGeom prst="rect">
            <a:avLst/>
          </a:prstGeom>
          <a:solidFill>
            <a:srgbClr val="00BCD4">
              <a:alpha val="70000"/>
            </a:srgbClr>
          </a:solidFill>
          <a:ln/>
        </p:spPr>
      </p:sp>
      <p:sp>
        <p:nvSpPr>
          <p:cNvPr id="87" name="Text 85"/>
          <p:cNvSpPr/>
          <p:nvPr/>
        </p:nvSpPr>
        <p:spPr>
          <a:xfrm>
            <a:off x="6155055" y="4343400"/>
            <a:ext cx="1245870" cy="148590"/>
          </a:xfrm>
          <a:prstGeom prst="rect">
            <a:avLst/>
          </a:prstGeom>
          <a:noFill/>
          <a:ln/>
          <a:effectLst>
            <a:outerShdw sx="100000" sy="100000" kx="0" ky="0" algn="bl" rotWithShape="0" blurRad="68580" dist="50800" dir="5400000">
              <a:srgbClr val="00BCD4">
                <a:alpha val="40000"/>
              </a:srgbClr>
            </a:outerShdw>
          </a:effectLst>
        </p:spPr>
        <p:txBody>
          <a:bodyPr wrap="none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170" b="1" spc="-23" kern="0" dirty="0">
                <a:solidFill>
                  <a:srgbClr val="4DD0E1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175K</a:t>
            </a:r>
            <a:endParaRPr lang="en-US" sz="1170" dirty="0"/>
          </a:p>
        </p:txBody>
      </p:sp>
      <p:sp>
        <p:nvSpPr>
          <p:cNvPr id="88" name="Text 86"/>
          <p:cNvSpPr/>
          <p:nvPr/>
        </p:nvSpPr>
        <p:spPr>
          <a:xfrm>
            <a:off x="6155055" y="4537710"/>
            <a:ext cx="1228954" cy="87957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495" spc="40" kern="0" dirty="0">
                <a:solidFill>
                  <a:srgbClr val="EAF2F5">
                    <a:alpha val="40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AutoGPT 首周 Star</a:t>
            </a:r>
            <a:endParaRPr lang="en-US" sz="495" dirty="0"/>
          </a:p>
        </p:txBody>
      </p:sp>
      <p:sp>
        <p:nvSpPr>
          <p:cNvPr id="89" name="Shape 87"/>
          <p:cNvSpPr/>
          <p:nvPr/>
        </p:nvSpPr>
        <p:spPr>
          <a:xfrm>
            <a:off x="7429500" y="4246245"/>
            <a:ext cx="1314450" cy="645795"/>
          </a:xfrm>
          <a:prstGeom prst="roundRect">
            <a:avLst>
              <a:gd name="adj" fmla="val 5310"/>
            </a:avLst>
          </a:prstGeom>
          <a:gradFill rotWithShape="1">
            <a:gsLst>
              <a:gs pos="0">
                <a:srgbClr val="FFFFFF">
                  <a:alpha val="3000"/>
                </a:srgbClr>
              </a:gs>
              <a:gs pos="100000">
                <a:srgbClr val="FFFFFF">
                  <a:alpha val="1000"/>
                </a:srgbClr>
              </a:gs>
            </a:gsLst>
            <a:lin ang="5400000" scaled="0"/>
          </a:gradFill>
          <a:ln w="5715">
            <a:solidFill>
              <a:srgbClr val="00BCD4">
                <a:alpha val="20000"/>
              </a:srgbClr>
            </a:solidFill>
            <a:prstDash val="solid"/>
          </a:ln>
        </p:spPr>
      </p:sp>
      <p:sp>
        <p:nvSpPr>
          <p:cNvPr id="90" name="Shape 88"/>
          <p:cNvSpPr/>
          <p:nvPr/>
        </p:nvSpPr>
        <p:spPr>
          <a:xfrm>
            <a:off x="7429500" y="4246245"/>
            <a:ext cx="390852" cy="5715"/>
          </a:xfrm>
          <a:prstGeom prst="rect">
            <a:avLst/>
          </a:prstGeom>
          <a:solidFill>
            <a:srgbClr val="00BCD4">
              <a:alpha val="70000"/>
            </a:srgbClr>
          </a:solidFill>
          <a:ln/>
        </p:spPr>
      </p:sp>
      <p:sp>
        <p:nvSpPr>
          <p:cNvPr id="91" name="Text 89"/>
          <p:cNvSpPr/>
          <p:nvPr/>
        </p:nvSpPr>
        <p:spPr>
          <a:xfrm>
            <a:off x="7538085" y="4343400"/>
            <a:ext cx="1245870" cy="148590"/>
          </a:xfrm>
          <a:prstGeom prst="rect">
            <a:avLst/>
          </a:prstGeom>
          <a:noFill/>
          <a:ln/>
          <a:effectLst>
            <a:outerShdw sx="100000" sy="100000" kx="0" ky="0" algn="bl" rotWithShape="0" blurRad="68580" dist="50800" dir="5400000">
              <a:srgbClr val="00BCD4">
                <a:alpha val="40000"/>
              </a:srgbClr>
            </a:outerShdw>
          </a:effectLst>
        </p:spPr>
        <p:txBody>
          <a:bodyPr wrap="none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170" b="1" spc="-23" kern="0" dirty="0">
                <a:solidFill>
                  <a:srgbClr val="4DD0E1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1980s</a:t>
            </a:r>
            <a:endParaRPr lang="en-US" sz="1170" dirty="0"/>
          </a:p>
        </p:txBody>
      </p:sp>
      <p:sp>
        <p:nvSpPr>
          <p:cNvPr id="92" name="Text 90"/>
          <p:cNvSpPr/>
          <p:nvPr/>
        </p:nvSpPr>
        <p:spPr>
          <a:xfrm>
            <a:off x="7538085" y="4537710"/>
            <a:ext cx="1228954" cy="87957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495" spc="40" kern="0" dirty="0">
                <a:solidFill>
                  <a:srgbClr val="EAF2F5">
                    <a:alpha val="40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BDI 理论来源 · ORIGIN</a:t>
            </a:r>
            <a:endParaRPr lang="en-US" sz="495" dirty="0"/>
          </a:p>
        </p:txBody>
      </p:sp>
      <p:sp>
        <p:nvSpPr>
          <p:cNvPr id="93" name="Shape 91"/>
          <p:cNvSpPr/>
          <p:nvPr/>
        </p:nvSpPr>
        <p:spPr>
          <a:xfrm>
            <a:off x="7443162" y="322898"/>
            <a:ext cx="34290" cy="34290"/>
          </a:xfrm>
          <a:prstGeom prst="ellipse">
            <a:avLst/>
          </a:prstGeom>
          <a:solidFill>
            <a:srgbClr val="00BCD4">
              <a:alpha val="75000"/>
            </a:srgbClr>
          </a:solidFill>
          <a:ln/>
          <a:effectLst>
            <a:outerShdw sx="100000" sy="100000" kx="0" ky="0" algn="bl" rotWithShape="0" blurRad="76200" dist="50800" dir="16200000">
              <a:srgbClr val="00BCD4">
                <a:alpha val="55000"/>
              </a:srgbClr>
            </a:outerShdw>
          </a:effectLst>
        </p:spPr>
      </p:sp>
      <p:sp>
        <p:nvSpPr>
          <p:cNvPr id="94" name="Text 92"/>
          <p:cNvSpPr/>
          <p:nvPr/>
        </p:nvSpPr>
        <p:spPr>
          <a:xfrm>
            <a:off x="7534602" y="297180"/>
            <a:ext cx="1354469" cy="85725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r" indent="0" marL="0">
              <a:lnSpc>
                <a:spcPct val="150000"/>
              </a:lnSpc>
              <a:buNone/>
            </a:pPr>
            <a:r>
              <a:rPr lang="en-US" sz="450" spc="144" kern="0" dirty="0">
                <a:solidFill>
                  <a:srgbClr val="EAF2F5">
                    <a:alpha val="40000"/>
                  </a:srgbClr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AGENT EVOLUTION / ACT I</a:t>
            </a:r>
            <a:endParaRPr lang="en-US" sz="450" dirty="0"/>
          </a:p>
        </p:txBody>
      </p:sp>
      <p:sp>
        <p:nvSpPr>
          <p:cNvPr id="95" name="Shape 93"/>
          <p:cNvSpPr/>
          <p:nvPr/>
        </p:nvSpPr>
        <p:spPr>
          <a:xfrm>
            <a:off x="7443162" y="417195"/>
            <a:ext cx="342900" cy="5715"/>
          </a:xfrm>
          <a:prstGeom prst="rect">
            <a:avLst/>
          </a:prstGeom>
          <a:gradFill rotWithShape="1">
            <a:gsLst>
              <a:gs pos="0">
                <a:srgbClr val="000000">
                  <a:alpha val="0"/>
                </a:srgbClr>
              </a:gs>
              <a:gs pos="50000">
                <a:srgbClr val="00BCD4">
                  <a:alpha val="60000"/>
                </a:srgbClr>
              </a:gs>
              <a:gs pos="100000">
                <a:srgbClr val="000000">
                  <a:alpha val="0"/>
                </a:srgbClr>
              </a:gs>
            </a:gsLst>
            <a:lin ang="0" scaled="0"/>
          </a:gradFill>
          <a:ln/>
        </p:spPr>
      </p:sp>
      <p:sp>
        <p:nvSpPr>
          <p:cNvPr id="96" name="Text 94"/>
          <p:cNvSpPr/>
          <p:nvPr/>
        </p:nvSpPr>
        <p:spPr>
          <a:xfrm>
            <a:off x="7443162" y="457200"/>
            <a:ext cx="1456882" cy="85725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r" indent="0" marL="0">
              <a:lnSpc>
                <a:spcPct val="150000"/>
              </a:lnSpc>
              <a:buNone/>
            </a:pPr>
            <a:r>
              <a:rPr lang="en-US" sz="450" spc="144" kern="0" dirty="0">
                <a:solidFill>
                  <a:srgbClr val="EAF2F5">
                    <a:alpha val="40000"/>
                  </a:srgbClr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SCROLL · 01 / 04</a:t>
            </a:r>
            <a:endParaRPr lang="en-US" sz="4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B11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gradFill rotWithShape="1">
            <a:gsLst>
              <a:gs pos="0">
                <a:srgbClr val="0F172A"/>
              </a:gs>
              <a:gs pos="100000">
                <a:srgbClr val="0B1120"/>
              </a:gs>
            </a:gsLst>
            <a:lin ang="5400000" scaled="0"/>
          </a:gradFill>
          <a:ln/>
        </p:spPr>
      </p:sp>
      <p:sp>
        <p:nvSpPr>
          <p:cNvPr id="3" name="Shape 1"/>
          <p:cNvSpPr/>
          <p:nvPr/>
        </p:nvSpPr>
        <p:spPr>
          <a:xfrm>
            <a:off x="-3657600" y="-1543050"/>
            <a:ext cx="10058400" cy="5657850"/>
          </a:xfrm>
          <a:prstGeom prst="ellipse">
            <a:avLst/>
          </a:prstGeom>
          <a:gradFill rotWithShape="1">
            <a:gsLst>
              <a:gs pos="0">
                <a:srgbClr val="00BCD4">
                  <a:alpha val="8000"/>
                </a:srgbClr>
              </a:gs>
              <a:gs pos="100000">
                <a:srgbClr val="00BCD4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/>
        </p:spPr>
      </p:sp>
      <p:sp>
        <p:nvSpPr>
          <p:cNvPr id="4" name="Shape 2"/>
          <p:cNvSpPr/>
          <p:nvPr/>
        </p:nvSpPr>
        <p:spPr>
          <a:xfrm>
            <a:off x="2743200" y="1028700"/>
            <a:ext cx="10058400" cy="5657850"/>
          </a:xfrm>
          <a:prstGeom prst="ellipse">
            <a:avLst/>
          </a:prstGeom>
          <a:gradFill rotWithShape="1">
            <a:gsLst>
              <a:gs pos="0">
                <a:srgbClr val="FF7043">
                  <a:alpha val="5600"/>
                </a:srgbClr>
              </a:gs>
              <a:gs pos="100000">
                <a:srgbClr val="FF7043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/>
        </p:spPr>
      </p:sp>
      <p:sp>
        <p:nvSpPr>
          <p:cNvPr id="5" name="Shape 3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gradFill rotWithShape="1">
            <a:gsLst>
              <a:gs pos="0">
                <a:srgbClr val="000000">
                  <a:alpha val="4000"/>
                </a:srgbClr>
              </a:gs>
              <a:gs pos="25000">
                <a:srgbClr val="000000">
                  <a:alpha val="0"/>
                </a:srgbClr>
              </a:gs>
              <a:gs pos="50000">
                <a:srgbClr val="000000"/>
              </a:gs>
              <a:gs pos="75000">
                <a:srgbClr val="000000">
                  <a:alpha val="4000"/>
                </a:srgbClr>
              </a:gs>
              <a:gs pos="100000">
                <a:srgbClr val="000000">
                  <a:alpha val="0"/>
                </a:srgbClr>
              </a:gs>
            </a:gsLst>
            <a:lin ang="5400000" scaled="0"/>
          </a:gradFill>
          <a:ln/>
        </p:spPr>
      </p:sp>
      <p:sp>
        <p:nvSpPr>
          <p:cNvPr id="6" name="Shape 4"/>
          <p:cNvSpPr/>
          <p:nvPr/>
        </p:nvSpPr>
        <p:spPr>
          <a:xfrm>
            <a:off x="365760" y="531316"/>
            <a:ext cx="1000125" cy="160020"/>
          </a:xfrm>
          <a:prstGeom prst="roundRect">
            <a:avLst>
              <a:gd name="adj" fmla="val 71429"/>
            </a:avLst>
          </a:prstGeom>
          <a:solidFill>
            <a:srgbClr val="00BCD4">
              <a:alpha val="8000"/>
            </a:srgbClr>
          </a:solidFill>
          <a:ln w="5715">
            <a:solidFill>
              <a:srgbClr val="00BCD4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51485" y="594181"/>
            <a:ext cx="34290" cy="34290"/>
          </a:xfrm>
          <a:prstGeom prst="ellipse">
            <a:avLst/>
          </a:prstGeom>
          <a:solidFill>
            <a:srgbClr val="00BCD4"/>
          </a:solidFill>
          <a:ln/>
          <a:effectLst>
            <a:outerShdw sx="100000" sy="100000" kx="0" ky="0" algn="bl" rotWithShape="0" blurRad="76200" dist="50800" dir="16200000">
              <a:srgbClr val="00BCD4">
                <a:alpha val="100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542925" y="571321"/>
            <a:ext cx="825703" cy="80010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buNone/>
            </a:pPr>
            <a:r>
              <a:rPr lang="en-US" sz="495" spc="135" kern="0" dirty="0">
                <a:solidFill>
                  <a:srgbClr val="00BCD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PHASE II · 2024</a:t>
            </a:r>
            <a:endParaRPr lang="en-US" sz="495" dirty="0"/>
          </a:p>
        </p:txBody>
      </p:sp>
      <p:sp>
        <p:nvSpPr>
          <p:cNvPr id="9" name="Text 7"/>
          <p:cNvSpPr/>
          <p:nvPr/>
        </p:nvSpPr>
        <p:spPr>
          <a:xfrm>
            <a:off x="365760" y="759916"/>
            <a:ext cx="5760720" cy="2765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980" b="1" spc="45" kern="0" dirty="0">
                <a:solidFill>
                  <a:srgbClr val="F8FAF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阶段二 ·</a:t>
            </a:r>
            <a:pPr algn="l" indent="0" marL="0">
              <a:lnSpc>
                <a:spcPct val="110000"/>
              </a:lnSpc>
              <a:buNone/>
            </a:pPr>
            <a:r>
              <a:rPr lang="en-US" sz="1980" b="1" spc="45" kern="0" dirty="0">
                <a:solidFill>
                  <a:srgbClr val="00BCD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能力硬化</a:t>
            </a:r>
            <a:pPr algn="l" indent="0" marL="0">
              <a:lnSpc>
                <a:spcPct val="110000"/>
              </a:lnSpc>
              <a:buNone/>
            </a:pPr>
            <a:r>
              <a:rPr lang="en-US" sz="1980" b="1" spc="45" kern="0" dirty="0">
                <a:solidFill>
                  <a:srgbClr val="F8FAF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（</a:t>
            </a:r>
            <a:pPr algn="l" indent="0" marL="0">
              <a:lnSpc>
                <a:spcPct val="110000"/>
              </a:lnSpc>
              <a:buNone/>
            </a:pPr>
            <a:r>
              <a:rPr lang="en-US" sz="1980" b="1" spc="45" kern="0" dirty="0">
                <a:solidFill>
                  <a:srgbClr val="00BCD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2024</a:t>
            </a:r>
            <a:pPr algn="l" indent="0" marL="0">
              <a:lnSpc>
                <a:spcPct val="110000"/>
              </a:lnSpc>
              <a:buNone/>
            </a:pPr>
            <a:r>
              <a:rPr lang="en-US" sz="1980" b="1" spc="45" kern="0" dirty="0">
                <a:solidFill>
                  <a:srgbClr val="F8FAF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）</a:t>
            </a:r>
            <a:endParaRPr lang="en-US" sz="1980" dirty="0"/>
          </a:p>
        </p:txBody>
      </p:sp>
      <p:sp>
        <p:nvSpPr>
          <p:cNvPr id="10" name="Text 8"/>
          <p:cNvSpPr/>
          <p:nvPr/>
        </p:nvSpPr>
        <p:spPr>
          <a:xfrm>
            <a:off x="365760" y="1105049"/>
            <a:ext cx="5760720" cy="140821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70000"/>
              </a:lnSpc>
              <a:buNone/>
            </a:pPr>
            <a:r>
              <a:rPr lang="en-US" sz="653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2024 年 Agent 从能力验证走向协议标准化 ——</a:t>
            </a:r>
            <a:pPr algn="l" indent="0" marL="0">
              <a:lnSpc>
                <a:spcPct val="170000"/>
              </a:lnSpc>
              <a:buNone/>
            </a:pPr>
            <a:r>
              <a:rPr lang="en-US" sz="653" b="1" dirty="0">
                <a:solidFill>
                  <a:srgbClr val="00BCD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Computer Use</a:t>
            </a:r>
            <a:pPr algn="l" indent="0" marL="0">
              <a:lnSpc>
                <a:spcPct val="170000"/>
              </a:lnSpc>
              <a:buNone/>
            </a:pPr>
            <a:r>
              <a:rPr lang="en-US" sz="653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扩展能力边界，</a:t>
            </a:r>
            <a:pPr algn="l" indent="0" marL="0">
              <a:lnSpc>
                <a:spcPct val="170000"/>
              </a:lnSpc>
              <a:buNone/>
            </a:pPr>
            <a:r>
              <a:rPr lang="en-US" sz="653" b="1" dirty="0">
                <a:solidFill>
                  <a:srgbClr val="FF704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MCP</a:t>
            </a:r>
            <a:pPr algn="l" indent="0" marL="0">
              <a:lnSpc>
                <a:spcPct val="170000"/>
              </a:lnSpc>
              <a:buNone/>
            </a:pPr>
            <a:r>
              <a:rPr lang="en-US" sz="653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定义生态接口，两者的组合让 Agent 具备生态化条件。</a:t>
            </a:r>
            <a:endParaRPr lang="en-US" sz="653" dirty="0"/>
          </a:p>
        </p:txBody>
      </p:sp>
      <p:sp>
        <p:nvSpPr>
          <p:cNvPr id="11" name="Shape 9"/>
          <p:cNvSpPr/>
          <p:nvPr/>
        </p:nvSpPr>
        <p:spPr>
          <a:xfrm>
            <a:off x="5737860" y="251460"/>
            <a:ext cx="1474470" cy="691515"/>
          </a:xfrm>
          <a:prstGeom prst="roundRect">
            <a:avLst>
              <a:gd name="adj" fmla="val 8264"/>
            </a:avLst>
          </a:prstGeom>
          <a:gradFill rotWithShape="1">
            <a:gsLst>
              <a:gs pos="0">
                <a:srgbClr val="1E293B">
                  <a:alpha val="95000"/>
                </a:srgbClr>
              </a:gs>
              <a:gs pos="100000">
                <a:srgbClr val="0F172A">
                  <a:alpha val="95000"/>
                </a:srgbClr>
              </a:gs>
            </a:gsLst>
            <a:lin ang="2700000" scaled="0"/>
          </a:gradFill>
          <a:ln w="17145">
            <a:solidFill>
              <a:srgbClr val="00BCD4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6846570" y="80010"/>
            <a:ext cx="514350" cy="514350"/>
          </a:xfrm>
          <a:prstGeom prst="ellipse">
            <a:avLst/>
          </a:prstGeom>
          <a:gradFill rotWithShape="1">
            <a:gsLst>
              <a:gs pos="0">
                <a:srgbClr val="00BCD4">
                  <a:alpha val="18000"/>
                </a:srgbClr>
              </a:gs>
              <a:gs pos="70000">
                <a:srgbClr val="000000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/>
        </p:spPr>
      </p:sp>
      <p:sp>
        <p:nvSpPr>
          <p:cNvPr id="13" name="Text 11"/>
          <p:cNvSpPr/>
          <p:nvPr/>
        </p:nvSpPr>
        <p:spPr>
          <a:xfrm>
            <a:off x="5880735" y="360045"/>
            <a:ext cx="1344168" cy="80010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buNone/>
            </a:pPr>
            <a:r>
              <a:rPr lang="en-US" sz="495" spc="90" kern="0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COMPUTER USE</a:t>
            </a:r>
            <a:endParaRPr lang="en-US" sz="495" dirty="0"/>
          </a:p>
        </p:txBody>
      </p:sp>
      <p:sp>
        <p:nvSpPr>
          <p:cNvPr id="14" name="Text 12"/>
          <p:cNvSpPr/>
          <p:nvPr/>
        </p:nvSpPr>
        <p:spPr>
          <a:xfrm>
            <a:off x="5880735" y="485775"/>
            <a:ext cx="1394460" cy="194310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530" b="1" spc="23" kern="0" dirty="0">
                <a:solidFill>
                  <a:srgbClr val="00BCD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2024-10</a:t>
            </a:r>
            <a:endParaRPr lang="en-US" sz="1530" dirty="0"/>
          </a:p>
        </p:txBody>
      </p:sp>
      <p:sp>
        <p:nvSpPr>
          <p:cNvPr id="15" name="Text 13"/>
          <p:cNvSpPr/>
          <p:nvPr/>
        </p:nvSpPr>
        <p:spPr>
          <a:xfrm>
            <a:off x="5880735" y="725805"/>
            <a:ext cx="1344168" cy="97155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buNone/>
            </a:pPr>
            <a:r>
              <a:rPr lang="en-US" sz="540" spc="14" kern="0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Agent 从 API 走向 GUI</a:t>
            </a:r>
            <a:endParaRPr lang="en-US" sz="540" dirty="0"/>
          </a:p>
        </p:txBody>
      </p:sp>
      <p:sp>
        <p:nvSpPr>
          <p:cNvPr id="16" name="Shape 14"/>
          <p:cNvSpPr/>
          <p:nvPr/>
        </p:nvSpPr>
        <p:spPr>
          <a:xfrm>
            <a:off x="7303770" y="251460"/>
            <a:ext cx="1474470" cy="691515"/>
          </a:xfrm>
          <a:prstGeom prst="roundRect">
            <a:avLst>
              <a:gd name="adj" fmla="val 8264"/>
            </a:avLst>
          </a:prstGeom>
          <a:gradFill rotWithShape="1">
            <a:gsLst>
              <a:gs pos="0">
                <a:srgbClr val="2E1E1E">
                  <a:alpha val="55000"/>
                </a:srgbClr>
              </a:gs>
              <a:gs pos="100000">
                <a:srgbClr val="0F172A">
                  <a:alpha val="95000"/>
                </a:srgbClr>
              </a:gs>
            </a:gsLst>
            <a:lin ang="2700000" scaled="0"/>
          </a:gradFill>
          <a:ln w="17145">
            <a:solidFill>
              <a:srgbClr val="FF7043">
                <a:alpha val="35000"/>
              </a:srgbClr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8412480" y="80010"/>
            <a:ext cx="514350" cy="514350"/>
          </a:xfrm>
          <a:prstGeom prst="ellipse">
            <a:avLst/>
          </a:prstGeom>
          <a:gradFill rotWithShape="1">
            <a:gsLst>
              <a:gs pos="0">
                <a:srgbClr val="FF7043">
                  <a:alpha val="22000"/>
                </a:srgbClr>
              </a:gs>
              <a:gs pos="70000">
                <a:srgbClr val="000000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/>
        </p:spPr>
      </p:sp>
      <p:sp>
        <p:nvSpPr>
          <p:cNvPr id="18" name="Text 16"/>
          <p:cNvSpPr/>
          <p:nvPr/>
        </p:nvSpPr>
        <p:spPr>
          <a:xfrm>
            <a:off x="7446645" y="360045"/>
            <a:ext cx="1344168" cy="91440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buNone/>
            </a:pPr>
            <a:r>
              <a:rPr lang="en-US" sz="495" spc="90" kern="0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MCP · 发布</a:t>
            </a:r>
            <a:endParaRPr lang="en-US" sz="495" dirty="0"/>
          </a:p>
        </p:txBody>
      </p:sp>
      <p:sp>
        <p:nvSpPr>
          <p:cNvPr id="19" name="Text 17"/>
          <p:cNvSpPr/>
          <p:nvPr/>
        </p:nvSpPr>
        <p:spPr>
          <a:xfrm>
            <a:off x="7446645" y="497205"/>
            <a:ext cx="1394460" cy="194310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530" b="1" spc="23" kern="0" dirty="0">
                <a:solidFill>
                  <a:srgbClr val="FF704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11-25</a:t>
            </a:r>
            <a:endParaRPr lang="en-US" sz="1530" dirty="0"/>
          </a:p>
        </p:txBody>
      </p:sp>
      <p:sp>
        <p:nvSpPr>
          <p:cNvPr id="20" name="Text 18"/>
          <p:cNvSpPr/>
          <p:nvPr/>
        </p:nvSpPr>
        <p:spPr>
          <a:xfrm>
            <a:off x="7446645" y="737235"/>
            <a:ext cx="1344168" cy="97155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buNone/>
            </a:pPr>
            <a:r>
              <a:rPr lang="en-US" sz="540" spc="14" kern="0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首个开放协议标准化</a:t>
            </a:r>
            <a:endParaRPr lang="en-US" sz="540" dirty="0"/>
          </a:p>
        </p:txBody>
      </p:sp>
      <p:sp>
        <p:nvSpPr>
          <p:cNvPr id="21" name="Shape 19"/>
          <p:cNvSpPr/>
          <p:nvPr/>
        </p:nvSpPr>
        <p:spPr>
          <a:xfrm>
            <a:off x="7608362" y="1022985"/>
            <a:ext cx="1169878" cy="222885"/>
          </a:xfrm>
          <a:prstGeom prst="roundRect">
            <a:avLst>
              <a:gd name="adj" fmla="val 20513"/>
            </a:avLst>
          </a:prstGeom>
          <a:solidFill>
            <a:srgbClr val="00BCD4">
              <a:alpha val="6000"/>
            </a:srgbClr>
          </a:solidFill>
          <a:ln w="5715">
            <a:solidFill>
              <a:srgbClr val="00BCD4">
                <a:alpha val="30000"/>
              </a:srgbClr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7705517" y="1117283"/>
            <a:ext cx="34290" cy="34290"/>
          </a:xfrm>
          <a:prstGeom prst="ellipse">
            <a:avLst/>
          </a:prstGeom>
          <a:solidFill>
            <a:srgbClr val="00BCD4"/>
          </a:solidFill>
          <a:ln/>
        </p:spPr>
      </p:sp>
      <p:sp>
        <p:nvSpPr>
          <p:cNvPr id="23" name="Text 21"/>
          <p:cNvSpPr/>
          <p:nvPr/>
        </p:nvSpPr>
        <p:spPr>
          <a:xfrm>
            <a:off x="7774097" y="1088708"/>
            <a:ext cx="348615" cy="91440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buNone/>
            </a:pPr>
            <a:r>
              <a:rPr lang="en-US" sz="495" spc="68" kern="0" dirty="0">
                <a:solidFill>
                  <a:srgbClr val="E2E8F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能力验证</a:t>
            </a:r>
            <a:endParaRPr lang="en-US" sz="495" dirty="0"/>
          </a:p>
        </p:txBody>
      </p:sp>
      <p:sp>
        <p:nvSpPr>
          <p:cNvPr id="24" name="Text 22"/>
          <p:cNvSpPr/>
          <p:nvPr/>
        </p:nvSpPr>
        <p:spPr>
          <a:xfrm>
            <a:off x="8094137" y="1085850"/>
            <a:ext cx="147072" cy="97155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buNone/>
            </a:pPr>
            <a:r>
              <a:rPr lang="en-US" sz="630" dirty="0">
                <a:solidFill>
                  <a:srgbClr val="00BCD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→</a:t>
            </a:r>
            <a:endParaRPr lang="en-US" sz="630" dirty="0"/>
          </a:p>
        </p:txBody>
      </p:sp>
      <p:sp>
        <p:nvSpPr>
          <p:cNvPr id="25" name="Text 23"/>
          <p:cNvSpPr/>
          <p:nvPr/>
        </p:nvSpPr>
        <p:spPr>
          <a:xfrm>
            <a:off x="8195489" y="1085850"/>
            <a:ext cx="147072" cy="97155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buNone/>
            </a:pPr>
            <a:r>
              <a:rPr lang="en-US" sz="630" dirty="0">
                <a:solidFill>
                  <a:srgbClr val="00BCD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→</a:t>
            </a:r>
            <a:endParaRPr lang="en-US" sz="630" dirty="0"/>
          </a:p>
        </p:txBody>
      </p:sp>
      <p:sp>
        <p:nvSpPr>
          <p:cNvPr id="26" name="Text 24"/>
          <p:cNvSpPr/>
          <p:nvPr/>
        </p:nvSpPr>
        <p:spPr>
          <a:xfrm>
            <a:off x="8296841" y="1085850"/>
            <a:ext cx="147072" cy="97155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buNone/>
            </a:pPr>
            <a:r>
              <a:rPr lang="en-US" sz="630" dirty="0">
                <a:solidFill>
                  <a:srgbClr val="00BCD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→</a:t>
            </a:r>
            <a:endParaRPr lang="en-US" sz="630" dirty="0"/>
          </a:p>
        </p:txBody>
      </p:sp>
      <p:sp>
        <p:nvSpPr>
          <p:cNvPr id="27" name="Text 25"/>
          <p:cNvSpPr/>
          <p:nvPr/>
        </p:nvSpPr>
        <p:spPr>
          <a:xfrm>
            <a:off x="8398193" y="1088708"/>
            <a:ext cx="277178" cy="91440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buNone/>
            </a:pPr>
            <a:r>
              <a:rPr lang="en-US" sz="495" spc="68" kern="0" dirty="0">
                <a:solidFill>
                  <a:srgbClr val="E2E8F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生态化</a:t>
            </a:r>
            <a:endParaRPr lang="en-US" sz="495" dirty="0"/>
          </a:p>
        </p:txBody>
      </p:sp>
      <p:sp>
        <p:nvSpPr>
          <p:cNvPr id="28" name="Shape 26"/>
          <p:cNvSpPr/>
          <p:nvPr/>
        </p:nvSpPr>
        <p:spPr>
          <a:xfrm>
            <a:off x="8646795" y="1117283"/>
            <a:ext cx="34290" cy="34290"/>
          </a:xfrm>
          <a:prstGeom prst="ellipse">
            <a:avLst/>
          </a:prstGeom>
          <a:solidFill>
            <a:srgbClr val="FF7043"/>
          </a:solidFill>
          <a:ln/>
        </p:spPr>
      </p:sp>
      <p:sp>
        <p:nvSpPr>
          <p:cNvPr id="29" name="Shape 27"/>
          <p:cNvSpPr/>
          <p:nvPr/>
        </p:nvSpPr>
        <p:spPr>
          <a:xfrm>
            <a:off x="365760" y="1371600"/>
            <a:ext cx="8412480" cy="3154680"/>
          </a:xfrm>
          <a:prstGeom prst="roundRect">
            <a:avLst>
              <a:gd name="adj" fmla="val 2536"/>
            </a:avLst>
          </a:prstGeom>
          <a:gradFill rotWithShape="1">
            <a:gsLst>
              <a:gs pos="0">
                <a:srgbClr val="1E293B">
                  <a:alpha val="45000"/>
                </a:srgbClr>
              </a:gs>
              <a:gs pos="100000">
                <a:srgbClr val="0F172A">
                  <a:alpha val="25000"/>
                </a:srgbClr>
              </a:gs>
            </a:gsLst>
            <a:lin ang="5400000" scaled="0"/>
          </a:gradFill>
          <a:ln w="5715">
            <a:solidFill>
              <a:srgbClr val="334155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1390129" y="1697355"/>
            <a:ext cx="8573" cy="171450"/>
          </a:xfrm>
          <a:prstGeom prst="rect">
            <a:avLst/>
          </a:prstGeom>
          <a:gradFill rotWithShape="1">
            <a:gsLst>
              <a:gs pos="0">
                <a:srgbClr val="00BCD4"/>
              </a:gs>
              <a:gs pos="100000">
                <a:srgbClr val="00BCD4">
                  <a:alpha val="20000"/>
                </a:srgbClr>
              </a:gs>
            </a:gsLst>
            <a:lin ang="5400000" scaled="0"/>
          </a:gradFill>
          <a:ln/>
        </p:spPr>
      </p:sp>
      <p:sp>
        <p:nvSpPr>
          <p:cNvPr id="31" name="Text 29"/>
          <p:cNvSpPr/>
          <p:nvPr/>
        </p:nvSpPr>
        <p:spPr>
          <a:xfrm>
            <a:off x="1207249" y="1891665"/>
            <a:ext cx="434340" cy="74295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ctr" indent="0" marL="0">
              <a:buNone/>
            </a:pPr>
            <a:r>
              <a:rPr lang="en-US" sz="473" spc="68" kern="0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2024 · Q1</a:t>
            </a:r>
            <a:endParaRPr lang="en-US" sz="473" dirty="0"/>
          </a:p>
        </p:txBody>
      </p:sp>
      <p:sp>
        <p:nvSpPr>
          <p:cNvPr id="32" name="Text 30"/>
          <p:cNvSpPr/>
          <p:nvPr/>
        </p:nvSpPr>
        <p:spPr>
          <a:xfrm>
            <a:off x="873815" y="2011680"/>
            <a:ext cx="1166246" cy="23252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720" b="1" spc="9" kern="0" dirty="0">
                <a:solidFill>
                  <a:srgbClr val="E2E8F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Anthropic Tool Use GA</a:t>
            </a:r>
            <a:pPr algn="ctr" indent="0" marL="0">
              <a:lnSpc>
                <a:spcPct val="130000"/>
              </a:lnSpc>
              <a:buNone/>
            </a:pPr>
            <a:r>
              <a:rPr lang="en-US" sz="585" b="1" spc="9" kern="0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Claude 3 生产可用</a:t>
            </a:r>
            <a:endParaRPr lang="en-US" sz="720" dirty="0"/>
          </a:p>
        </p:txBody>
      </p:sp>
      <p:sp>
        <p:nvSpPr>
          <p:cNvPr id="33" name="Text 31"/>
          <p:cNvSpPr/>
          <p:nvPr/>
        </p:nvSpPr>
        <p:spPr>
          <a:xfrm>
            <a:off x="554935" y="2301359"/>
            <a:ext cx="1880535" cy="21681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65000"/>
              </a:lnSpc>
              <a:buNone/>
            </a:pPr>
            <a:r>
              <a:rPr lang="en-US" sz="518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Claude 3 完成从 beta 到生产可用的跨越，工具调用进入稳定期</a:t>
            </a:r>
            <a:endParaRPr lang="en-US" sz="518" dirty="0"/>
          </a:p>
        </p:txBody>
      </p:sp>
      <p:sp>
        <p:nvSpPr>
          <p:cNvPr id="34" name="Shape 32"/>
          <p:cNvSpPr/>
          <p:nvPr/>
        </p:nvSpPr>
        <p:spPr>
          <a:xfrm>
            <a:off x="1208142" y="2586752"/>
            <a:ext cx="372636" cy="142875"/>
          </a:xfrm>
          <a:prstGeom prst="roundRect">
            <a:avLst>
              <a:gd name="adj" fmla="val 48000"/>
            </a:avLst>
          </a:prstGeom>
          <a:solidFill>
            <a:srgbClr val="00BCD4">
              <a:alpha val="12000"/>
            </a:srgbClr>
          </a:solidFill>
          <a:ln w="5715">
            <a:solidFill>
              <a:srgbClr val="00BCD4">
                <a:alpha val="35000"/>
              </a:srgbClr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1208142" y="2586752"/>
            <a:ext cx="429786" cy="142875"/>
          </a:xfrm>
          <a:prstGeom prst="rect">
            <a:avLst/>
          </a:prstGeom>
          <a:noFill/>
          <a:ln/>
        </p:spPr>
        <p:txBody>
          <a:bodyPr wrap="none" lIns="22860" tIns="57150" rIns="57150" bIns="22860" rtlCol="0" anchor="ctr"/>
          <a:lstStyle/>
          <a:p>
            <a:pPr algn="ctr" indent="0" marL="0">
              <a:buNone/>
            </a:pPr>
            <a:r>
              <a:rPr lang="en-US" sz="450" spc="36" kern="0" dirty="0">
                <a:solidFill>
                  <a:srgbClr val="00BCD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能力验证</a:t>
            </a:r>
            <a:endParaRPr lang="en-US" sz="450" dirty="0"/>
          </a:p>
        </p:txBody>
      </p:sp>
      <p:sp>
        <p:nvSpPr>
          <p:cNvPr id="36" name="Shape 34"/>
          <p:cNvSpPr/>
          <p:nvPr/>
        </p:nvSpPr>
        <p:spPr>
          <a:xfrm>
            <a:off x="1331550" y="1548765"/>
            <a:ext cx="125730" cy="125730"/>
          </a:xfrm>
          <a:prstGeom prst="ellipse">
            <a:avLst/>
          </a:prstGeom>
          <a:solidFill>
            <a:srgbClr val="00BCD4"/>
          </a:solidFill>
          <a:ln w="17145">
            <a:solidFill>
              <a:srgbClr val="0F172A"/>
            </a:solidFill>
            <a:prstDash val="solid"/>
          </a:ln>
          <a:effectLst>
            <a:outerShdw sx="100000" sy="100000" kx="0" ky="0" algn="bl" rotWithShape="0" blurRad="101600" dist="50800" dir="16200000">
              <a:srgbClr val="00BCD4">
                <a:alpha val="100000"/>
              </a:srgbClr>
            </a:outerShdw>
          </a:effectLst>
        </p:spPr>
      </p:sp>
      <p:sp>
        <p:nvSpPr>
          <p:cNvPr id="37" name="Shape 35"/>
          <p:cNvSpPr/>
          <p:nvPr/>
        </p:nvSpPr>
        <p:spPr>
          <a:xfrm>
            <a:off x="2978899" y="1697355"/>
            <a:ext cx="8573" cy="171450"/>
          </a:xfrm>
          <a:prstGeom prst="rect">
            <a:avLst/>
          </a:prstGeom>
          <a:gradFill rotWithShape="1">
            <a:gsLst>
              <a:gs pos="0">
                <a:srgbClr val="00BCD4"/>
              </a:gs>
              <a:gs pos="100000">
                <a:srgbClr val="00BCD4">
                  <a:alpha val="20000"/>
                </a:srgbClr>
              </a:gs>
            </a:gsLst>
            <a:lin ang="5400000" scaled="0"/>
          </a:gradFill>
          <a:ln/>
        </p:spPr>
      </p:sp>
      <p:sp>
        <p:nvSpPr>
          <p:cNvPr id="38" name="Text 36"/>
          <p:cNvSpPr/>
          <p:nvPr/>
        </p:nvSpPr>
        <p:spPr>
          <a:xfrm>
            <a:off x="2798877" y="1891665"/>
            <a:ext cx="428625" cy="74295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ctr" indent="0" marL="0">
              <a:buNone/>
            </a:pPr>
            <a:r>
              <a:rPr lang="en-US" sz="473" spc="68" kern="0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2024 · 08</a:t>
            </a:r>
            <a:endParaRPr lang="en-US" sz="473" dirty="0"/>
          </a:p>
        </p:txBody>
      </p:sp>
      <p:sp>
        <p:nvSpPr>
          <p:cNvPr id="39" name="Text 37"/>
          <p:cNvSpPr/>
          <p:nvPr/>
        </p:nvSpPr>
        <p:spPr>
          <a:xfrm>
            <a:off x="2354535" y="2011680"/>
            <a:ext cx="1408176" cy="23252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720" b="1" spc="9" kern="0" dirty="0">
                <a:solidFill>
                  <a:srgbClr val="E2E8F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OpenAI Structured Outputs</a:t>
            </a:r>
            <a:pPr algn="ctr" indent="0" marL="0">
              <a:lnSpc>
                <a:spcPct val="130000"/>
              </a:lnSpc>
              <a:buNone/>
            </a:pPr>
            <a:r>
              <a:rPr lang="en-US" sz="585" b="1" spc="9" kern="0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强 schema 校验</a:t>
            </a:r>
            <a:endParaRPr lang="en-US" sz="720" dirty="0"/>
          </a:p>
        </p:txBody>
      </p:sp>
      <p:sp>
        <p:nvSpPr>
          <p:cNvPr id="40" name="Text 38"/>
          <p:cNvSpPr/>
          <p:nvPr/>
        </p:nvSpPr>
        <p:spPr>
          <a:xfrm>
            <a:off x="2174513" y="2301359"/>
            <a:ext cx="1811426" cy="108406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ctr" indent="0" marL="0">
              <a:lnSpc>
                <a:spcPct val="165000"/>
              </a:lnSpc>
              <a:buNone/>
            </a:pPr>
            <a:r>
              <a:rPr lang="en-US" sz="518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OpenAI 推出强 schema 校验输出，Agent 契约能力成型</a:t>
            </a:r>
            <a:endParaRPr lang="en-US" sz="518" dirty="0"/>
          </a:p>
        </p:txBody>
      </p:sp>
      <p:sp>
        <p:nvSpPr>
          <p:cNvPr id="41" name="Shape 39"/>
          <p:cNvSpPr/>
          <p:nvPr/>
        </p:nvSpPr>
        <p:spPr>
          <a:xfrm>
            <a:off x="2796912" y="2478345"/>
            <a:ext cx="372636" cy="142875"/>
          </a:xfrm>
          <a:prstGeom prst="roundRect">
            <a:avLst>
              <a:gd name="adj" fmla="val 48000"/>
            </a:avLst>
          </a:prstGeom>
          <a:solidFill>
            <a:srgbClr val="00BCD4">
              <a:alpha val="12000"/>
            </a:srgbClr>
          </a:solidFill>
          <a:ln w="5715">
            <a:solidFill>
              <a:srgbClr val="00BCD4">
                <a:alpha val="35000"/>
              </a:srgbClr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2796912" y="2478345"/>
            <a:ext cx="429786" cy="142875"/>
          </a:xfrm>
          <a:prstGeom prst="rect">
            <a:avLst/>
          </a:prstGeom>
          <a:noFill/>
          <a:ln/>
        </p:spPr>
        <p:txBody>
          <a:bodyPr wrap="none" lIns="22860" tIns="57150" rIns="57150" bIns="22860" rtlCol="0" anchor="ctr"/>
          <a:lstStyle/>
          <a:p>
            <a:pPr algn="ctr" indent="0" marL="0">
              <a:buNone/>
            </a:pPr>
            <a:r>
              <a:rPr lang="en-US" sz="450" spc="36" kern="0" dirty="0">
                <a:solidFill>
                  <a:srgbClr val="00BCD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契约成型</a:t>
            </a:r>
            <a:endParaRPr lang="en-US" sz="450" dirty="0"/>
          </a:p>
        </p:txBody>
      </p:sp>
      <p:sp>
        <p:nvSpPr>
          <p:cNvPr id="43" name="Shape 41"/>
          <p:cNvSpPr/>
          <p:nvPr/>
        </p:nvSpPr>
        <p:spPr>
          <a:xfrm>
            <a:off x="2920320" y="1548765"/>
            <a:ext cx="125730" cy="125730"/>
          </a:xfrm>
          <a:prstGeom prst="ellipse">
            <a:avLst/>
          </a:prstGeom>
          <a:solidFill>
            <a:srgbClr val="00BCD4"/>
          </a:solidFill>
          <a:ln w="17145">
            <a:solidFill>
              <a:srgbClr val="0F172A"/>
            </a:solidFill>
            <a:prstDash val="solid"/>
          </a:ln>
          <a:effectLst>
            <a:outerShdw sx="100000" sy="100000" kx="0" ky="0" algn="bl" rotWithShape="0" blurRad="101600" dist="50800" dir="16200000">
              <a:srgbClr val="00BCD4">
                <a:alpha val="100000"/>
              </a:srgbClr>
            </a:outerShdw>
          </a:effectLst>
        </p:spPr>
      </p:sp>
      <p:sp>
        <p:nvSpPr>
          <p:cNvPr id="44" name="Shape 42"/>
          <p:cNvSpPr/>
          <p:nvPr/>
        </p:nvSpPr>
        <p:spPr>
          <a:xfrm>
            <a:off x="4567669" y="1697355"/>
            <a:ext cx="8573" cy="171450"/>
          </a:xfrm>
          <a:prstGeom prst="rect">
            <a:avLst/>
          </a:prstGeom>
          <a:gradFill rotWithShape="1">
            <a:gsLst>
              <a:gs pos="0">
                <a:srgbClr val="00BCD4"/>
              </a:gs>
              <a:gs pos="100000">
                <a:srgbClr val="00BCD4">
                  <a:alpha val="20000"/>
                </a:srgbClr>
              </a:gs>
            </a:gsLst>
            <a:lin ang="5400000" scaled="0"/>
          </a:gradFill>
          <a:ln/>
        </p:spPr>
      </p:sp>
      <p:sp>
        <p:nvSpPr>
          <p:cNvPr id="45" name="Text 43"/>
          <p:cNvSpPr/>
          <p:nvPr/>
        </p:nvSpPr>
        <p:spPr>
          <a:xfrm>
            <a:off x="4387647" y="1891665"/>
            <a:ext cx="428625" cy="74295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ctr" indent="0" marL="0">
              <a:buNone/>
            </a:pPr>
            <a:r>
              <a:rPr lang="en-US" sz="473" spc="68" kern="0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2024 · 10</a:t>
            </a:r>
            <a:endParaRPr lang="en-US" sz="473" dirty="0"/>
          </a:p>
        </p:txBody>
      </p:sp>
      <p:sp>
        <p:nvSpPr>
          <p:cNvPr id="46" name="Text 44"/>
          <p:cNvSpPr/>
          <p:nvPr/>
        </p:nvSpPr>
        <p:spPr>
          <a:xfrm>
            <a:off x="3996437" y="2011680"/>
            <a:ext cx="1289161" cy="23252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720" b="1" spc="9" kern="0" dirty="0">
                <a:solidFill>
                  <a:srgbClr val="E2E8F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Anthropic Computer Use</a:t>
            </a:r>
            <a:pPr algn="ctr" indent="0" marL="0">
              <a:lnSpc>
                <a:spcPct val="130000"/>
              </a:lnSpc>
              <a:buNone/>
            </a:pPr>
            <a:r>
              <a:rPr lang="en-US" sz="585" b="1" spc="9" kern="0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Agent 从 API 走到 GUI</a:t>
            </a:r>
            <a:endParaRPr lang="en-US" sz="720" dirty="0"/>
          </a:p>
        </p:txBody>
      </p:sp>
      <p:sp>
        <p:nvSpPr>
          <p:cNvPr id="47" name="Text 45"/>
          <p:cNvSpPr/>
          <p:nvPr/>
        </p:nvSpPr>
        <p:spPr>
          <a:xfrm>
            <a:off x="3960450" y="2301359"/>
            <a:ext cx="1369771" cy="108406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ctr" indent="0" marL="0">
              <a:lnSpc>
                <a:spcPct val="165000"/>
              </a:lnSpc>
              <a:buNone/>
            </a:pPr>
            <a:r>
              <a:rPr lang="en-US" sz="518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Agent 首次直接操作 GUI，能力边界被打开</a:t>
            </a:r>
            <a:endParaRPr lang="en-US" sz="518" dirty="0"/>
          </a:p>
        </p:txBody>
      </p:sp>
      <p:sp>
        <p:nvSpPr>
          <p:cNvPr id="48" name="Shape 46"/>
          <p:cNvSpPr/>
          <p:nvPr/>
        </p:nvSpPr>
        <p:spPr>
          <a:xfrm>
            <a:off x="4385682" y="2478345"/>
            <a:ext cx="372636" cy="142875"/>
          </a:xfrm>
          <a:prstGeom prst="roundRect">
            <a:avLst>
              <a:gd name="adj" fmla="val 48000"/>
            </a:avLst>
          </a:prstGeom>
          <a:solidFill>
            <a:srgbClr val="00BCD4">
              <a:alpha val="12000"/>
            </a:srgbClr>
          </a:solidFill>
          <a:ln w="5715">
            <a:solidFill>
              <a:srgbClr val="00BCD4">
                <a:alpha val="35000"/>
              </a:srgbClr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4385682" y="2478345"/>
            <a:ext cx="429786" cy="142875"/>
          </a:xfrm>
          <a:prstGeom prst="rect">
            <a:avLst/>
          </a:prstGeom>
          <a:noFill/>
          <a:ln/>
        </p:spPr>
        <p:txBody>
          <a:bodyPr wrap="none" lIns="22860" tIns="57150" rIns="57150" bIns="22860" rtlCol="0" anchor="ctr"/>
          <a:lstStyle/>
          <a:p>
            <a:pPr algn="ctr" indent="0" marL="0">
              <a:buNone/>
            </a:pPr>
            <a:r>
              <a:rPr lang="en-US" sz="450" spc="36" kern="0" dirty="0">
                <a:solidFill>
                  <a:srgbClr val="00BCD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边界突破</a:t>
            </a:r>
            <a:endParaRPr lang="en-US" sz="450" dirty="0"/>
          </a:p>
        </p:txBody>
      </p:sp>
      <p:sp>
        <p:nvSpPr>
          <p:cNvPr id="50" name="Shape 48"/>
          <p:cNvSpPr/>
          <p:nvPr/>
        </p:nvSpPr>
        <p:spPr>
          <a:xfrm>
            <a:off x="4509090" y="1548765"/>
            <a:ext cx="125730" cy="125730"/>
          </a:xfrm>
          <a:prstGeom prst="ellipse">
            <a:avLst/>
          </a:prstGeom>
          <a:solidFill>
            <a:srgbClr val="00BCD4"/>
          </a:solidFill>
          <a:ln w="17145">
            <a:solidFill>
              <a:srgbClr val="0F172A"/>
            </a:solidFill>
            <a:prstDash val="solid"/>
          </a:ln>
          <a:effectLst>
            <a:outerShdw sx="100000" sy="100000" kx="0" ky="0" algn="bl" rotWithShape="0" blurRad="101600" dist="50800" dir="16200000">
              <a:srgbClr val="00BCD4">
                <a:alpha val="100000"/>
              </a:srgbClr>
            </a:outerShdw>
          </a:effectLst>
        </p:spPr>
      </p:sp>
      <p:sp>
        <p:nvSpPr>
          <p:cNvPr id="51" name="Shape 49"/>
          <p:cNvSpPr/>
          <p:nvPr/>
        </p:nvSpPr>
        <p:spPr>
          <a:xfrm>
            <a:off x="6156439" y="1725930"/>
            <a:ext cx="8573" cy="171450"/>
          </a:xfrm>
          <a:prstGeom prst="rect">
            <a:avLst/>
          </a:prstGeom>
          <a:gradFill rotWithShape="1">
            <a:gsLst>
              <a:gs pos="0">
                <a:srgbClr val="FF7043"/>
              </a:gs>
              <a:gs pos="100000">
                <a:srgbClr val="FF7043">
                  <a:alpha val="20000"/>
                </a:srgbClr>
              </a:gs>
            </a:gsLst>
            <a:lin ang="5400000" scaled="0"/>
          </a:gradFill>
          <a:ln/>
        </p:spPr>
      </p:sp>
      <p:sp>
        <p:nvSpPr>
          <p:cNvPr id="52" name="Text 50"/>
          <p:cNvSpPr/>
          <p:nvPr/>
        </p:nvSpPr>
        <p:spPr>
          <a:xfrm>
            <a:off x="5883548" y="1920240"/>
            <a:ext cx="620878" cy="74295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ctr" indent="0" marL="0">
              <a:buNone/>
            </a:pPr>
            <a:r>
              <a:rPr lang="en-US" sz="473" b="1" spc="68" kern="0" dirty="0">
                <a:solidFill>
                  <a:srgbClr val="FF704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2024 · 11 · 25</a:t>
            </a:r>
            <a:endParaRPr lang="en-US" sz="473" dirty="0"/>
          </a:p>
        </p:txBody>
      </p:sp>
      <p:sp>
        <p:nvSpPr>
          <p:cNvPr id="53" name="Text 51"/>
          <p:cNvSpPr/>
          <p:nvPr/>
        </p:nvSpPr>
        <p:spPr>
          <a:xfrm>
            <a:off x="5894710" y="2040255"/>
            <a:ext cx="629275" cy="239941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765" b="1" spc="9" kern="0" dirty="0">
                <a:solidFill>
                  <a:srgbClr val="FF704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MCP 发布</a:t>
            </a:r>
            <a:pPr algn="ctr" indent="0" marL="0">
              <a:lnSpc>
                <a:spcPct val="130000"/>
              </a:lnSpc>
              <a:buNone/>
            </a:pPr>
            <a:r>
              <a:rPr lang="en-US" sz="585" b="1" spc="9" kern="0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开放协议标准化</a:t>
            </a:r>
            <a:endParaRPr lang="en-US" sz="765" dirty="0"/>
          </a:p>
        </p:txBody>
      </p:sp>
      <p:sp>
        <p:nvSpPr>
          <p:cNvPr id="54" name="Text 52"/>
          <p:cNvSpPr/>
          <p:nvPr/>
        </p:nvSpPr>
        <p:spPr>
          <a:xfrm>
            <a:off x="5429205" y="2337346"/>
            <a:ext cx="1638605" cy="108406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ctr" indent="0" marL="0">
              <a:lnSpc>
                <a:spcPct val="165000"/>
              </a:lnSpc>
              <a:buNone/>
            </a:pPr>
            <a:r>
              <a:rPr lang="en-US" sz="518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首个开放协议标准化 agent-tools 接口，分水岭节点</a:t>
            </a:r>
            <a:endParaRPr lang="en-US" sz="518" dirty="0"/>
          </a:p>
        </p:txBody>
      </p:sp>
      <p:sp>
        <p:nvSpPr>
          <p:cNvPr id="55" name="Shape 53"/>
          <p:cNvSpPr/>
          <p:nvPr/>
        </p:nvSpPr>
        <p:spPr>
          <a:xfrm>
            <a:off x="5908462" y="2514332"/>
            <a:ext cx="504617" cy="142875"/>
          </a:xfrm>
          <a:prstGeom prst="roundRect">
            <a:avLst>
              <a:gd name="adj" fmla="val 48000"/>
            </a:avLst>
          </a:prstGeom>
          <a:solidFill>
            <a:srgbClr val="FF7043">
              <a:alpha val="12000"/>
            </a:srgbClr>
          </a:solidFill>
          <a:ln w="5715">
            <a:solidFill>
              <a:srgbClr val="FF7043">
                <a:alpha val="45000"/>
              </a:srgbClr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5908462" y="2514332"/>
            <a:ext cx="565171" cy="142875"/>
          </a:xfrm>
          <a:prstGeom prst="rect">
            <a:avLst/>
          </a:prstGeom>
          <a:noFill/>
          <a:ln/>
        </p:spPr>
        <p:txBody>
          <a:bodyPr wrap="square" lIns="22860" tIns="57150" rIns="57150" bIns="22860" rtlCol="0" anchor="ctr"/>
          <a:lstStyle/>
          <a:p>
            <a:pPr algn="ctr" indent="0" marL="0">
              <a:buNone/>
            </a:pPr>
            <a:r>
              <a:rPr lang="en-US" sz="450" spc="36" kern="0" dirty="0">
                <a:solidFill>
                  <a:srgbClr val="FF704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◆ 生态分水岭</a:t>
            </a:r>
            <a:endParaRPr lang="en-US" sz="450" dirty="0"/>
          </a:p>
        </p:txBody>
      </p:sp>
      <p:sp>
        <p:nvSpPr>
          <p:cNvPr id="57" name="Shape 55"/>
          <p:cNvSpPr/>
          <p:nvPr/>
        </p:nvSpPr>
        <p:spPr>
          <a:xfrm>
            <a:off x="6069285" y="1520190"/>
            <a:ext cx="182880" cy="182880"/>
          </a:xfrm>
          <a:prstGeom prst="ellipse">
            <a:avLst/>
          </a:prstGeom>
          <a:solidFill>
            <a:srgbClr val="FF7043"/>
          </a:solidFill>
          <a:ln w="17145">
            <a:solidFill>
              <a:srgbClr val="0F172A"/>
            </a:solidFill>
            <a:prstDash val="solid"/>
          </a:ln>
          <a:effectLst>
            <a:outerShdw sx="100000" sy="100000" kx="0" ky="0" algn="bl" rotWithShape="0" blurRad="101600" dist="50800" dir="16200000">
              <a:srgbClr val="FF7043">
                <a:alpha val="100000"/>
              </a:srgbClr>
            </a:outerShdw>
          </a:effectLst>
        </p:spPr>
      </p:sp>
      <p:sp>
        <p:nvSpPr>
          <p:cNvPr id="58" name="Shape 56"/>
          <p:cNvSpPr/>
          <p:nvPr/>
        </p:nvSpPr>
        <p:spPr>
          <a:xfrm>
            <a:off x="7745209" y="1697355"/>
            <a:ext cx="8573" cy="171450"/>
          </a:xfrm>
          <a:prstGeom prst="rect">
            <a:avLst/>
          </a:prstGeom>
          <a:gradFill rotWithShape="1">
            <a:gsLst>
              <a:gs pos="0">
                <a:srgbClr val="00BCD4"/>
              </a:gs>
              <a:gs pos="100000">
                <a:srgbClr val="00BCD4">
                  <a:alpha val="20000"/>
                </a:srgbClr>
              </a:gs>
            </a:gsLst>
            <a:lin ang="5400000" scaled="0"/>
          </a:gradFill>
          <a:ln/>
        </p:spPr>
      </p:sp>
      <p:sp>
        <p:nvSpPr>
          <p:cNvPr id="59" name="Text 57"/>
          <p:cNvSpPr/>
          <p:nvPr/>
        </p:nvSpPr>
        <p:spPr>
          <a:xfrm>
            <a:off x="7482319" y="1891665"/>
            <a:ext cx="598475" cy="85725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ctr" indent="0" marL="0">
              <a:buNone/>
            </a:pPr>
            <a:r>
              <a:rPr lang="en-US" sz="473" spc="68" kern="0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2024 · 制度含义</a:t>
            </a:r>
            <a:endParaRPr lang="en-US" sz="473" dirty="0"/>
          </a:p>
        </p:txBody>
      </p:sp>
      <p:sp>
        <p:nvSpPr>
          <p:cNvPr id="60" name="Text 58"/>
          <p:cNvSpPr/>
          <p:nvPr/>
        </p:nvSpPr>
        <p:spPr>
          <a:xfrm>
            <a:off x="7332836" y="2023110"/>
            <a:ext cx="933317" cy="23252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720" b="1" spc="9" kern="0" dirty="0">
                <a:solidFill>
                  <a:srgbClr val="E2E8F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能力与生态的分水岭</a:t>
            </a:r>
            <a:pPr algn="ctr" indent="0" marL="0">
              <a:lnSpc>
                <a:spcPct val="130000"/>
              </a:lnSpc>
              <a:buNone/>
            </a:pPr>
            <a:r>
              <a:rPr lang="en-US" sz="585" b="1" spc="9" kern="0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总结与展望</a:t>
            </a:r>
            <a:endParaRPr lang="en-US" sz="720" dirty="0"/>
          </a:p>
        </p:txBody>
      </p:sp>
      <p:sp>
        <p:nvSpPr>
          <p:cNvPr id="61" name="Text 59"/>
          <p:cNvSpPr/>
          <p:nvPr/>
        </p:nvSpPr>
        <p:spPr>
          <a:xfrm>
            <a:off x="6910015" y="2312789"/>
            <a:ext cx="1880535" cy="21681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65000"/>
              </a:lnSpc>
              <a:buNone/>
            </a:pPr>
            <a:r>
              <a:rPr lang="en-US" sz="518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协议是生态的起点，Computer Use 与 MCP 同时打开两条通道</a:t>
            </a:r>
            <a:endParaRPr lang="en-US" sz="518" dirty="0"/>
          </a:p>
        </p:txBody>
      </p:sp>
      <p:sp>
        <p:nvSpPr>
          <p:cNvPr id="62" name="Shape 60"/>
          <p:cNvSpPr/>
          <p:nvPr/>
        </p:nvSpPr>
        <p:spPr>
          <a:xfrm>
            <a:off x="7532325" y="2598182"/>
            <a:ext cx="434340" cy="142875"/>
          </a:xfrm>
          <a:prstGeom prst="roundRect">
            <a:avLst>
              <a:gd name="adj" fmla="val 48000"/>
            </a:avLst>
          </a:prstGeom>
          <a:solidFill>
            <a:srgbClr val="00BCD4">
              <a:alpha val="12000"/>
            </a:srgbClr>
          </a:solidFill>
          <a:ln w="5715">
            <a:solidFill>
              <a:srgbClr val="00BCD4">
                <a:alpha val="35000"/>
              </a:srgbClr>
            </a:solidFill>
            <a:prstDash val="solid"/>
          </a:ln>
        </p:spPr>
      </p:sp>
      <p:sp>
        <p:nvSpPr>
          <p:cNvPr id="63" name="Text 61"/>
          <p:cNvSpPr/>
          <p:nvPr/>
        </p:nvSpPr>
        <p:spPr>
          <a:xfrm>
            <a:off x="7532325" y="2598182"/>
            <a:ext cx="491490" cy="142875"/>
          </a:xfrm>
          <a:prstGeom prst="rect">
            <a:avLst/>
          </a:prstGeom>
          <a:noFill/>
          <a:ln/>
        </p:spPr>
        <p:txBody>
          <a:bodyPr wrap="square" lIns="22860" tIns="57150" rIns="57150" bIns="22860" rtlCol="0" anchor="ctr"/>
          <a:lstStyle/>
          <a:p>
            <a:pPr algn="ctr" indent="0" marL="0">
              <a:buNone/>
            </a:pPr>
            <a:r>
              <a:rPr lang="en-US" sz="450" spc="36" kern="0" dirty="0">
                <a:solidFill>
                  <a:srgbClr val="00BCD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协议即生态</a:t>
            </a:r>
            <a:endParaRPr lang="en-US" sz="450" dirty="0"/>
          </a:p>
        </p:txBody>
      </p:sp>
      <p:sp>
        <p:nvSpPr>
          <p:cNvPr id="64" name="Shape 62"/>
          <p:cNvSpPr/>
          <p:nvPr/>
        </p:nvSpPr>
        <p:spPr>
          <a:xfrm>
            <a:off x="7686630" y="1548765"/>
            <a:ext cx="125730" cy="125730"/>
          </a:xfrm>
          <a:prstGeom prst="ellipse">
            <a:avLst/>
          </a:prstGeom>
          <a:solidFill>
            <a:srgbClr val="00BCD4"/>
          </a:solidFill>
          <a:ln w="17145">
            <a:solidFill>
              <a:srgbClr val="0F172A"/>
            </a:solidFill>
            <a:prstDash val="solid"/>
          </a:ln>
          <a:effectLst>
            <a:outerShdw sx="100000" sy="100000" kx="0" ky="0" algn="bl" rotWithShape="0" blurRad="101600" dist="50800" dir="16200000">
              <a:srgbClr val="00BCD4">
                <a:alpha val="100000"/>
              </a:srgbClr>
            </a:outerShdw>
          </a:effectLst>
        </p:spPr>
      </p:sp>
      <p:sp>
        <p:nvSpPr>
          <p:cNvPr id="65" name="Shape 63"/>
          <p:cNvSpPr/>
          <p:nvPr/>
        </p:nvSpPr>
        <p:spPr>
          <a:xfrm>
            <a:off x="1791653" y="1657350"/>
            <a:ext cx="5560695" cy="11430"/>
          </a:xfrm>
          <a:prstGeom prst="rect">
            <a:avLst/>
          </a:prstGeom>
          <a:gradFill rotWithShape="1">
            <a:gsLst>
              <a:gs pos="0">
                <a:srgbClr val="00BCD4">
                  <a:alpha val="15000"/>
                </a:srgbClr>
              </a:gs>
              <a:gs pos="35000">
                <a:srgbClr val="00BCD4">
                  <a:alpha val="60000"/>
                </a:srgbClr>
              </a:gs>
              <a:gs pos="72000">
                <a:srgbClr val="FF7043">
                  <a:alpha val="75000"/>
                </a:srgbClr>
              </a:gs>
              <a:gs pos="100000">
                <a:srgbClr val="FF7043">
                  <a:alpha val="35000"/>
                </a:srgbClr>
              </a:gs>
            </a:gsLst>
            <a:lin ang="0" scaled="0"/>
          </a:gradFill>
          <a:ln/>
          <a:effectLst>
            <a:outerShdw sx="100000" sy="100000" kx="0" ky="0" algn="bl" rotWithShape="0" blurRad="95250" dist="50800" dir="16200000">
              <a:srgbClr val="00BCD4">
                <a:alpha val="25000"/>
              </a:srgbClr>
            </a:outerShdw>
          </a:effectLst>
        </p:spPr>
      </p:sp>
      <p:sp>
        <p:nvSpPr>
          <p:cNvPr id="66" name="Shape 64"/>
          <p:cNvSpPr/>
          <p:nvPr/>
        </p:nvSpPr>
        <p:spPr>
          <a:xfrm>
            <a:off x="645795" y="4280535"/>
            <a:ext cx="45720" cy="45720"/>
          </a:xfrm>
          <a:prstGeom prst="ellipse">
            <a:avLst/>
          </a:prstGeom>
          <a:solidFill>
            <a:srgbClr val="00BCD4"/>
          </a:solidFill>
          <a:ln/>
          <a:effectLst>
            <a:outerShdw sx="100000" sy="100000" kx="0" ky="0" algn="bl" rotWithShape="0" blurRad="95250" dist="50800" dir="16200000">
              <a:srgbClr val="00BCD4">
                <a:alpha val="35000"/>
              </a:srgbClr>
            </a:outerShdw>
          </a:effectLst>
        </p:spPr>
      </p:sp>
      <p:sp>
        <p:nvSpPr>
          <p:cNvPr id="67" name="Text 65"/>
          <p:cNvSpPr/>
          <p:nvPr/>
        </p:nvSpPr>
        <p:spPr>
          <a:xfrm>
            <a:off x="760095" y="4249103"/>
            <a:ext cx="402908" cy="108585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buNone/>
            </a:pPr>
            <a:r>
              <a:rPr lang="en-US" sz="563" b="1" spc="68" kern="0" dirty="0">
                <a:solidFill>
                  <a:srgbClr val="00BCD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能力验证</a:t>
            </a:r>
            <a:endParaRPr lang="en-US" sz="563" dirty="0"/>
          </a:p>
        </p:txBody>
      </p:sp>
      <p:sp>
        <p:nvSpPr>
          <p:cNvPr id="68" name="Text 66"/>
          <p:cNvSpPr/>
          <p:nvPr/>
        </p:nvSpPr>
        <p:spPr>
          <a:xfrm>
            <a:off x="1160145" y="4266248"/>
            <a:ext cx="408623" cy="74295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buNone/>
            </a:pPr>
            <a:r>
              <a:rPr lang="en-US" sz="473" spc="45" kern="0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Capability</a:t>
            </a:r>
            <a:endParaRPr lang="en-US" sz="473" dirty="0"/>
          </a:p>
        </p:txBody>
      </p:sp>
      <p:sp>
        <p:nvSpPr>
          <p:cNvPr id="69" name="Shape 67"/>
          <p:cNvSpPr/>
          <p:nvPr/>
        </p:nvSpPr>
        <p:spPr>
          <a:xfrm>
            <a:off x="1634490" y="4297680"/>
            <a:ext cx="5940743" cy="11430"/>
          </a:xfrm>
          <a:prstGeom prst="roundRect">
            <a:avLst>
              <a:gd name="adj" fmla="val 50000"/>
            </a:avLst>
          </a:prstGeom>
          <a:gradFill rotWithShape="1">
            <a:gsLst>
              <a:gs pos="0">
                <a:srgbClr val="00BCD4">
                  <a:alpha val="55000"/>
                </a:srgbClr>
              </a:gs>
              <a:gs pos="100000">
                <a:srgbClr val="FF7043">
                  <a:alpha val="75000"/>
                </a:srgbClr>
              </a:gs>
            </a:gsLst>
            <a:lin ang="0" scaled="0"/>
          </a:gradFill>
          <a:ln/>
        </p:spPr>
      </p:sp>
      <p:sp>
        <p:nvSpPr>
          <p:cNvPr id="70" name="Text 68"/>
          <p:cNvSpPr/>
          <p:nvPr/>
        </p:nvSpPr>
        <p:spPr>
          <a:xfrm>
            <a:off x="7700963" y="4266248"/>
            <a:ext cx="425768" cy="74295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buNone/>
            </a:pPr>
            <a:r>
              <a:rPr lang="en-US" sz="473" spc="45" kern="0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Ecosystem</a:t>
            </a:r>
            <a:endParaRPr lang="en-US" sz="473" dirty="0"/>
          </a:p>
        </p:txBody>
      </p:sp>
      <p:sp>
        <p:nvSpPr>
          <p:cNvPr id="71" name="Text 69"/>
          <p:cNvSpPr/>
          <p:nvPr/>
        </p:nvSpPr>
        <p:spPr>
          <a:xfrm>
            <a:off x="8135303" y="4249103"/>
            <a:ext cx="320040" cy="108585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buNone/>
            </a:pPr>
            <a:r>
              <a:rPr lang="en-US" sz="563" b="1" spc="68" kern="0" dirty="0">
                <a:solidFill>
                  <a:srgbClr val="FF704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生态化</a:t>
            </a:r>
            <a:endParaRPr lang="en-US" sz="563" dirty="0"/>
          </a:p>
        </p:txBody>
      </p:sp>
      <p:sp>
        <p:nvSpPr>
          <p:cNvPr id="72" name="Shape 70"/>
          <p:cNvSpPr/>
          <p:nvPr/>
        </p:nvSpPr>
        <p:spPr>
          <a:xfrm>
            <a:off x="8452485" y="4280535"/>
            <a:ext cx="45720" cy="45720"/>
          </a:xfrm>
          <a:prstGeom prst="ellipse">
            <a:avLst/>
          </a:prstGeom>
          <a:solidFill>
            <a:srgbClr val="FF7043"/>
          </a:solidFill>
          <a:ln/>
          <a:effectLst>
            <a:outerShdw sx="100000" sy="100000" kx="0" ky="0" algn="bl" rotWithShape="0" blurRad="95250" dist="50800" dir="16200000">
              <a:srgbClr val="FF7043">
                <a:alpha val="45000"/>
              </a:srgbClr>
            </a:outerShdw>
          </a:effectLst>
        </p:spPr>
      </p:sp>
      <p:sp>
        <p:nvSpPr>
          <p:cNvPr id="73" name="Shape 71"/>
          <p:cNvSpPr/>
          <p:nvPr/>
        </p:nvSpPr>
        <p:spPr>
          <a:xfrm>
            <a:off x="365760" y="4652010"/>
            <a:ext cx="8412480" cy="297180"/>
          </a:xfrm>
          <a:prstGeom prst="roundRect">
            <a:avLst>
              <a:gd name="adj" fmla="val 19231"/>
            </a:avLst>
          </a:prstGeom>
          <a:gradFill rotWithShape="1">
            <a:gsLst>
              <a:gs pos="0">
                <a:srgbClr val="00BCD4">
                  <a:alpha val="6000"/>
                </a:srgbClr>
              </a:gs>
              <a:gs pos="100000">
                <a:srgbClr val="FF7043">
                  <a:alpha val="8000"/>
                </a:srgbClr>
              </a:gs>
            </a:gsLst>
            <a:lin ang="0" scaled="0"/>
          </a:gradFill>
          <a:ln w="5715">
            <a:solidFill>
              <a:srgbClr val="334155"/>
            </a:solidFill>
            <a:prstDash val="solid"/>
          </a:ln>
        </p:spPr>
      </p:sp>
      <p:sp>
        <p:nvSpPr>
          <p:cNvPr id="74" name="Shape 72"/>
          <p:cNvSpPr/>
          <p:nvPr/>
        </p:nvSpPr>
        <p:spPr>
          <a:xfrm>
            <a:off x="2124730" y="4794885"/>
            <a:ext cx="171450" cy="11430"/>
          </a:xfrm>
          <a:prstGeom prst="rect">
            <a:avLst/>
          </a:prstGeom>
          <a:solidFill>
            <a:srgbClr val="00BCD4"/>
          </a:solidFill>
          <a:ln/>
        </p:spPr>
      </p:sp>
      <p:sp>
        <p:nvSpPr>
          <p:cNvPr id="75" name="Text 73"/>
          <p:cNvSpPr/>
          <p:nvPr/>
        </p:nvSpPr>
        <p:spPr>
          <a:xfrm>
            <a:off x="2399050" y="4737735"/>
            <a:ext cx="4867308" cy="12573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698" b="1" spc="27" kern="0" dirty="0">
                <a:solidFill>
                  <a:srgbClr val="E2E8F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能力与生态的分水岭已在</a:t>
            </a:r>
            <a:pPr algn="l" indent="0" marL="0">
              <a:buNone/>
            </a:pPr>
            <a:r>
              <a:rPr lang="en-US" sz="698" b="1" spc="27" kern="0" dirty="0">
                <a:solidFill>
                  <a:srgbClr val="00BCD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2024</a:t>
            </a:r>
            <a:pPr algn="l" indent="0" marL="0">
              <a:buNone/>
            </a:pPr>
            <a:r>
              <a:rPr lang="en-US" sz="698" b="1" spc="27" kern="0" dirty="0">
                <a:solidFill>
                  <a:srgbClr val="E2E8F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年被</a:t>
            </a:r>
            <a:pPr algn="l" indent="0" marL="0">
              <a:buNone/>
            </a:pPr>
            <a:r>
              <a:rPr lang="en-US" sz="698" b="1" spc="27" kern="0" dirty="0">
                <a:solidFill>
                  <a:srgbClr val="FF704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同时</a:t>
            </a:r>
            <a:pPr algn="l" indent="0" marL="0">
              <a:buNone/>
            </a:pPr>
            <a:r>
              <a:rPr lang="en-US" sz="698" b="1" spc="27" kern="0" dirty="0">
                <a:solidFill>
                  <a:srgbClr val="E2E8F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打开 —— Computer Use 撑开能力边界，MCP 铺就生态接口</a:t>
            </a:r>
            <a:endParaRPr lang="en-US" sz="698" dirty="0"/>
          </a:p>
        </p:txBody>
      </p:sp>
      <p:sp>
        <p:nvSpPr>
          <p:cNvPr id="76" name="Shape 74"/>
          <p:cNvSpPr/>
          <p:nvPr/>
        </p:nvSpPr>
        <p:spPr>
          <a:xfrm>
            <a:off x="6847731" y="4794885"/>
            <a:ext cx="171450" cy="11430"/>
          </a:xfrm>
          <a:prstGeom prst="rect">
            <a:avLst/>
          </a:prstGeom>
          <a:solidFill>
            <a:srgbClr val="FF7043"/>
          </a:solidFill>
          <a:ln/>
        </p:spPr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gradFill rotWithShape="1">
            <a:gsLst>
              <a:gs pos="0">
                <a:srgbClr val="0F172A"/>
              </a:gs>
              <a:gs pos="50000">
                <a:srgbClr val="1E293B"/>
              </a:gs>
              <a:gs pos="100000">
                <a:srgbClr val="0F172A"/>
              </a:gs>
            </a:gsLst>
            <a:lin ang="2700000" scaled="0"/>
          </a:gra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gradFill rotWithShape="1">
            <a:gsLst>
              <a:gs pos="0">
                <a:srgbClr val="000000">
                  <a:alpha val="6000"/>
                </a:srgbClr>
              </a:gs>
              <a:gs pos="25000">
                <a:srgbClr val="000000">
                  <a:alpha val="0"/>
                </a:srgbClr>
              </a:gs>
              <a:gs pos="50000">
                <a:srgbClr val="000000"/>
              </a:gs>
              <a:gs pos="75000">
                <a:srgbClr val="000000">
                  <a:alpha val="6000"/>
                </a:srgbClr>
              </a:gs>
              <a:gs pos="100000">
                <a:srgbClr val="000000">
                  <a:alpha val="0"/>
                </a:srgbClr>
              </a:gs>
            </a:gsLst>
            <a:lin ang="5400000" scaled="0"/>
          </a:gradFill>
          <a:ln/>
        </p:spPr>
      </p:sp>
      <p:sp>
        <p:nvSpPr>
          <p:cNvPr id="4" name="Shape 2"/>
          <p:cNvSpPr/>
          <p:nvPr/>
        </p:nvSpPr>
        <p:spPr>
          <a:xfrm>
            <a:off x="6972300" y="-1028700"/>
            <a:ext cx="2857500" cy="2857500"/>
          </a:xfrm>
          <a:prstGeom prst="rect">
            <a:avLst/>
          </a:prstGeom>
          <a:solidFill>
            <a:srgbClr val="00BCD4">
              <a:alpha val="15000"/>
            </a:srgbClr>
          </a:solidFill>
          <a:ln/>
          <a:effectLst>
            <a:outerShdw sx="100000" sy="100000" kx="0" ky="0" algn="bl" rotWithShape="0" blurRad="114300" dist="50800" dir="16200000">
              <a:srgbClr val="00BCD4">
                <a:alpha val="6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-571500" y="2857500"/>
            <a:ext cx="3429000" cy="3429000"/>
          </a:xfrm>
          <a:prstGeom prst="rect">
            <a:avLst/>
          </a:prstGeom>
          <a:solidFill>
            <a:srgbClr val="FF7043">
              <a:alpha val="10000"/>
            </a:srgbClr>
          </a:solidFill>
          <a:ln/>
          <a:effectLst>
            <a:outerShdw sx="100000" sy="100000" kx="0" ky="0" algn="bl" rotWithShape="0" blurRad="171450" dist="50800" dir="16200000">
              <a:srgbClr val="FF7043">
                <a:alpha val="6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BCD4">
              <a:alpha val="2000"/>
            </a:srgbClr>
          </a:solidFill>
          <a:ln/>
        </p:spPr>
      </p:sp>
      <p:sp>
        <p:nvSpPr>
          <p:cNvPr id="7" name="Shape 5"/>
          <p:cNvSpPr/>
          <p:nvPr/>
        </p:nvSpPr>
        <p:spPr>
          <a:xfrm>
            <a:off x="411480" y="162878"/>
            <a:ext cx="28575" cy="28575"/>
          </a:xfrm>
          <a:prstGeom prst="ellipse">
            <a:avLst/>
          </a:prstGeom>
          <a:solidFill>
            <a:srgbClr val="00BCD4"/>
          </a:solidFill>
          <a:ln/>
          <a:effectLst>
            <a:outerShdw sx="100000" sy="100000" kx="0" ky="0" algn="bl" rotWithShape="0" blurRad="57150" dist="50800" dir="16200000">
              <a:srgbClr val="00BCD4">
                <a:alpha val="50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508635" y="137160"/>
            <a:ext cx="1394374" cy="80010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buNone/>
            </a:pPr>
            <a:r>
              <a:rPr lang="en-US" sz="495" spc="139" kern="0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MCP · PROTOCOL TIMELINE</a:t>
            </a:r>
            <a:endParaRPr lang="en-US" sz="495" dirty="0"/>
          </a:p>
        </p:txBody>
      </p:sp>
      <p:sp>
        <p:nvSpPr>
          <p:cNvPr id="9" name="Text 7"/>
          <p:cNvSpPr/>
          <p:nvPr/>
        </p:nvSpPr>
        <p:spPr>
          <a:xfrm>
            <a:off x="1822192" y="137160"/>
            <a:ext cx="106871" cy="80010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buNone/>
            </a:pPr>
            <a:r>
              <a:rPr lang="en-US" sz="495" spc="139" kern="0" dirty="0">
                <a:solidFill>
                  <a:srgbClr val="64748B">
                    <a:alpha val="40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/</a:t>
            </a:r>
            <a:endParaRPr lang="en-US" sz="495" dirty="0"/>
          </a:p>
        </p:txBody>
      </p:sp>
      <p:sp>
        <p:nvSpPr>
          <p:cNvPr id="10" name="Text 8"/>
          <p:cNvSpPr/>
          <p:nvPr/>
        </p:nvSpPr>
        <p:spPr>
          <a:xfrm>
            <a:off x="1931313" y="137160"/>
            <a:ext cx="501402" cy="80010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buNone/>
            </a:pPr>
            <a:r>
              <a:rPr lang="en-US" sz="495" spc="139" kern="0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PHASE III</a:t>
            </a:r>
            <a:endParaRPr lang="en-US" sz="495" dirty="0"/>
          </a:p>
        </p:txBody>
      </p:sp>
      <p:sp>
        <p:nvSpPr>
          <p:cNvPr id="11" name="Text 9"/>
          <p:cNvSpPr/>
          <p:nvPr/>
        </p:nvSpPr>
        <p:spPr>
          <a:xfrm>
            <a:off x="6360259" y="137160"/>
            <a:ext cx="2656932" cy="80010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buNone/>
            </a:pPr>
            <a:r>
              <a:rPr lang="en-US" sz="495" spc="139" kern="0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ANTHROPIC → OPENAI → AWS → LINUX FOUNDATION</a:t>
            </a:r>
            <a:endParaRPr lang="en-US" sz="495" dirty="0"/>
          </a:p>
        </p:txBody>
      </p:sp>
      <p:sp>
        <p:nvSpPr>
          <p:cNvPr id="12" name="Shape 10"/>
          <p:cNvSpPr/>
          <p:nvPr/>
        </p:nvSpPr>
        <p:spPr>
          <a:xfrm>
            <a:off x="411480" y="362903"/>
            <a:ext cx="240030" cy="5715"/>
          </a:xfrm>
          <a:prstGeom prst="rect">
            <a:avLst/>
          </a:prstGeom>
          <a:solidFill>
            <a:srgbClr val="00BCD4">
              <a:alpha val="60000"/>
            </a:srgbClr>
          </a:solidFill>
          <a:ln/>
        </p:spPr>
      </p:sp>
      <p:sp>
        <p:nvSpPr>
          <p:cNvPr id="13" name="Text 11"/>
          <p:cNvSpPr/>
          <p:nvPr/>
        </p:nvSpPr>
        <p:spPr>
          <a:xfrm>
            <a:off x="731520" y="320040"/>
            <a:ext cx="1486086" cy="91440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buNone/>
            </a:pPr>
            <a:r>
              <a:rPr lang="en-US" sz="585" spc="164" kern="0" dirty="0">
                <a:solidFill>
                  <a:srgbClr val="00BCD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PROTOCOL MATURATION</a:t>
            </a:r>
            <a:endParaRPr lang="en-US" sz="585" dirty="0"/>
          </a:p>
        </p:txBody>
      </p:sp>
      <p:sp>
        <p:nvSpPr>
          <p:cNvPr id="14" name="Text 12"/>
          <p:cNvSpPr/>
          <p:nvPr/>
        </p:nvSpPr>
        <p:spPr>
          <a:xfrm>
            <a:off x="411480" y="491490"/>
            <a:ext cx="4043905" cy="28914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2070" b="1" spc="-41" kern="0" dirty="0">
                <a:solidFill>
                  <a:srgbClr val="00BCD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阶段三</a:t>
            </a:r>
            <a:pPr algn="l" indent="0" marL="0">
              <a:lnSpc>
                <a:spcPct val="110000"/>
              </a:lnSpc>
              <a:buNone/>
            </a:pPr>
            <a:r>
              <a:rPr lang="en-US" sz="2070" b="1" spc="-41" kern="0" dirty="0">
                <a:solidFill>
                  <a:srgbClr val="E2E8F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· 协议成熟</a:t>
            </a:r>
            <a:pPr algn="l" indent="0" marL="0">
              <a:lnSpc>
                <a:spcPct val="110000"/>
              </a:lnSpc>
              <a:buNone/>
            </a:pPr>
            <a:r>
              <a:rPr lang="en-US" sz="1710" b="1" spc="-41" kern="0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（2025–2026） </a:t>
            </a:r>
            <a:endParaRPr lang="en-US" sz="2070" dirty="0"/>
          </a:p>
        </p:txBody>
      </p:sp>
      <p:sp>
        <p:nvSpPr>
          <p:cNvPr id="15" name="Text 13"/>
          <p:cNvSpPr/>
          <p:nvPr/>
        </p:nvSpPr>
        <p:spPr>
          <a:xfrm>
            <a:off x="411480" y="849213"/>
            <a:ext cx="4043905" cy="137160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lnSpc>
                <a:spcPct val="160000"/>
              </a:lnSpc>
              <a:buNone/>
            </a:pPr>
            <a:r>
              <a:rPr lang="en-US" sz="675" spc="14" kern="0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MCP 从 Anthropic 单厂商私有协议，走向 Linux Foundation 中立资产的制度化跃迁。</a:t>
            </a:r>
            <a:endParaRPr lang="en-US" sz="675" dirty="0"/>
          </a:p>
        </p:txBody>
      </p:sp>
      <p:sp>
        <p:nvSpPr>
          <p:cNvPr id="16" name="Shape 14"/>
          <p:cNvSpPr/>
          <p:nvPr/>
        </p:nvSpPr>
        <p:spPr>
          <a:xfrm>
            <a:off x="7360920" y="320040"/>
            <a:ext cx="1371600" cy="611505"/>
          </a:xfrm>
          <a:prstGeom prst="roundRect">
            <a:avLst>
              <a:gd name="adj" fmla="val 3738"/>
            </a:avLst>
          </a:prstGeom>
          <a:solidFill>
            <a:srgbClr val="00BCD4">
              <a:alpha val="4000"/>
            </a:srgbClr>
          </a:solidFill>
          <a:ln w="5715">
            <a:solidFill>
              <a:srgbClr val="00BCD4">
                <a:alpha val="25000"/>
              </a:srgbClr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857857" y="405765"/>
            <a:ext cx="845206" cy="80010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buNone/>
            </a:pPr>
            <a:r>
              <a:rPr lang="en-US" sz="495" spc="139" kern="0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CURRENT PHASE</a:t>
            </a:r>
            <a:endParaRPr lang="en-US" sz="495" dirty="0"/>
          </a:p>
        </p:txBody>
      </p:sp>
      <p:sp>
        <p:nvSpPr>
          <p:cNvPr id="18" name="Text 16"/>
          <p:cNvSpPr/>
          <p:nvPr/>
        </p:nvSpPr>
        <p:spPr>
          <a:xfrm>
            <a:off x="8098334" y="542925"/>
            <a:ext cx="548640" cy="228600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800" b="1" spc="7" kern="0" dirty="0">
                <a:solidFill>
                  <a:srgbClr val="00BCD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03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8454539" y="657225"/>
            <a:ext cx="304038" cy="97155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buNone/>
            </a:pPr>
            <a:r>
              <a:rPr lang="en-US" sz="630" spc="7" kern="0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/ 04</a:t>
            </a:r>
            <a:endParaRPr lang="en-US" sz="630" dirty="0"/>
          </a:p>
        </p:txBody>
      </p:sp>
      <p:sp>
        <p:nvSpPr>
          <p:cNvPr id="20" name="Shape 18"/>
          <p:cNvSpPr/>
          <p:nvPr/>
        </p:nvSpPr>
        <p:spPr>
          <a:xfrm>
            <a:off x="7480935" y="828675"/>
            <a:ext cx="265748" cy="17145"/>
          </a:xfrm>
          <a:prstGeom prst="roundRect">
            <a:avLst>
              <a:gd name="adj" fmla="val 66667"/>
            </a:avLst>
          </a:prstGeom>
          <a:solidFill>
            <a:srgbClr val="00BCD4"/>
          </a:solidFill>
          <a:ln/>
        </p:spPr>
      </p:sp>
      <p:sp>
        <p:nvSpPr>
          <p:cNvPr id="21" name="Shape 19"/>
          <p:cNvSpPr/>
          <p:nvPr/>
        </p:nvSpPr>
        <p:spPr>
          <a:xfrm>
            <a:off x="7769543" y="828675"/>
            <a:ext cx="265748" cy="17145"/>
          </a:xfrm>
          <a:prstGeom prst="roundRect">
            <a:avLst>
              <a:gd name="adj" fmla="val 66667"/>
            </a:avLst>
          </a:prstGeom>
          <a:solidFill>
            <a:srgbClr val="00BCD4"/>
          </a:solidFill>
          <a:ln/>
        </p:spPr>
      </p:sp>
      <p:sp>
        <p:nvSpPr>
          <p:cNvPr id="22" name="Shape 20"/>
          <p:cNvSpPr/>
          <p:nvPr/>
        </p:nvSpPr>
        <p:spPr>
          <a:xfrm>
            <a:off x="8058150" y="828675"/>
            <a:ext cx="265748" cy="17145"/>
          </a:xfrm>
          <a:prstGeom prst="roundRect">
            <a:avLst>
              <a:gd name="adj" fmla="val 66667"/>
            </a:avLst>
          </a:prstGeom>
          <a:solidFill>
            <a:srgbClr val="00BCD4"/>
          </a:solidFill>
          <a:ln/>
          <a:effectLst>
            <a:outerShdw sx="100000" sy="100000" kx="0" ky="0" algn="bl" rotWithShape="0" blurRad="76200" dist="50800" dir="16200000">
              <a:srgbClr val="00BCD4">
                <a:alpha val="50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8346758" y="828675"/>
            <a:ext cx="265748" cy="17145"/>
          </a:xfrm>
          <a:prstGeom prst="roundRect">
            <a:avLst>
              <a:gd name="adj" fmla="val 66667"/>
            </a:avLst>
          </a:prstGeom>
          <a:solidFill>
            <a:srgbClr val="FFFFFF">
              <a:alpha val="8000"/>
            </a:srgbClr>
          </a:solidFill>
          <a:ln/>
        </p:spPr>
      </p:sp>
      <p:sp>
        <p:nvSpPr>
          <p:cNvPr id="24" name="Text 22"/>
          <p:cNvSpPr/>
          <p:nvPr/>
        </p:nvSpPr>
        <p:spPr>
          <a:xfrm>
            <a:off x="582930" y="1443573"/>
            <a:ext cx="425678" cy="80010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buNone/>
            </a:pPr>
            <a:r>
              <a:rPr lang="en-US" sz="495" spc="119" kern="0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2025 Q1</a:t>
            </a:r>
            <a:endParaRPr lang="en-US" sz="495" dirty="0"/>
          </a:p>
        </p:txBody>
      </p:sp>
      <p:sp>
        <p:nvSpPr>
          <p:cNvPr id="25" name="Text 23"/>
          <p:cNvSpPr/>
          <p:nvPr/>
        </p:nvSpPr>
        <p:spPr>
          <a:xfrm>
            <a:off x="2483435" y="1443573"/>
            <a:ext cx="437108" cy="80010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buNone/>
            </a:pPr>
            <a:r>
              <a:rPr lang="en-US" sz="495" spc="119" kern="0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2025 Q3</a:t>
            </a:r>
            <a:endParaRPr lang="en-US" sz="495" dirty="0"/>
          </a:p>
        </p:txBody>
      </p:sp>
      <p:sp>
        <p:nvSpPr>
          <p:cNvPr id="26" name="Text 24"/>
          <p:cNvSpPr/>
          <p:nvPr/>
        </p:nvSpPr>
        <p:spPr>
          <a:xfrm>
            <a:off x="4395281" y="1443573"/>
            <a:ext cx="425678" cy="80010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buNone/>
            </a:pPr>
            <a:r>
              <a:rPr lang="en-US" sz="495" spc="119" kern="0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2026 Q1</a:t>
            </a:r>
            <a:endParaRPr lang="en-US" sz="495" dirty="0"/>
          </a:p>
        </p:txBody>
      </p:sp>
      <p:sp>
        <p:nvSpPr>
          <p:cNvPr id="27" name="Text 25"/>
          <p:cNvSpPr/>
          <p:nvPr/>
        </p:nvSpPr>
        <p:spPr>
          <a:xfrm>
            <a:off x="6295787" y="1443573"/>
            <a:ext cx="283250" cy="80010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buNone/>
            </a:pPr>
            <a:r>
              <a:rPr lang="en-US" sz="495" spc="119" kern="0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2026</a:t>
            </a:r>
            <a:endParaRPr lang="en-US" sz="495" dirty="0"/>
          </a:p>
        </p:txBody>
      </p:sp>
      <p:sp>
        <p:nvSpPr>
          <p:cNvPr id="28" name="Text 26"/>
          <p:cNvSpPr/>
          <p:nvPr/>
        </p:nvSpPr>
        <p:spPr>
          <a:xfrm>
            <a:off x="8053774" y="1443573"/>
            <a:ext cx="570161" cy="80010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buNone/>
            </a:pPr>
            <a:r>
              <a:rPr lang="en-US" sz="495" spc="119" kern="0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SEMANTICS</a:t>
            </a:r>
            <a:endParaRPr lang="en-US" sz="495" dirty="0"/>
          </a:p>
        </p:txBody>
      </p:sp>
      <p:sp>
        <p:nvSpPr>
          <p:cNvPr id="29" name="Shape 27"/>
          <p:cNvSpPr/>
          <p:nvPr/>
        </p:nvSpPr>
        <p:spPr>
          <a:xfrm>
            <a:off x="640080" y="2655153"/>
            <a:ext cx="7863840" cy="11430"/>
          </a:xfrm>
          <a:prstGeom prst="rect">
            <a:avLst/>
          </a:prstGeom>
          <a:gradFill rotWithShape="1">
            <a:gsLst>
              <a:gs pos="0">
                <a:srgbClr val="00BCD4">
                  <a:alpha val="15000"/>
                </a:srgbClr>
              </a:gs>
              <a:gs pos="30000">
                <a:srgbClr val="00BCD4">
                  <a:alpha val="60000"/>
                </a:srgbClr>
              </a:gs>
              <a:gs pos="62000">
                <a:srgbClr val="FF7043">
                  <a:alpha val="80000"/>
                </a:srgbClr>
              </a:gs>
              <a:gs pos="85000">
                <a:srgbClr val="00BCD4">
                  <a:alpha val="60000"/>
                </a:srgbClr>
              </a:gs>
              <a:gs pos="100000">
                <a:srgbClr val="00BCD4">
                  <a:alpha val="15000"/>
                </a:srgbClr>
              </a:gs>
            </a:gsLst>
            <a:lin ang="0" scaled="0"/>
          </a:gradFill>
          <a:ln/>
          <a:effectLst>
            <a:outerShdw sx="100000" sy="100000" kx="0" ky="0" algn="bl" rotWithShape="0" blurRad="114300" dist="50800" dir="16200000">
              <a:srgbClr val="00BCD4">
                <a:alpha val="25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8463915" y="2632293"/>
            <a:ext cx="57150" cy="57150"/>
          </a:xfrm>
          <a:prstGeom prst="ellipse">
            <a:avLst/>
          </a:prstGeom>
          <a:solidFill>
            <a:srgbClr val="00BCD4">
              <a:alpha val="10000"/>
            </a:srgbClr>
          </a:solidFill>
          <a:ln w="5715">
            <a:solidFill>
              <a:srgbClr val="00BCD4">
                <a:alpha val="40000"/>
              </a:srgbClr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1147465" y="1884789"/>
            <a:ext cx="672138" cy="137160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ctr" indent="0" marL="0">
              <a:buNone/>
            </a:pPr>
            <a:r>
              <a:rPr lang="en-US" sz="900" b="1" spc="18" kern="0" dirty="0">
                <a:solidFill>
                  <a:srgbClr val="00BCD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2025 · 03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1031825" y="2056239"/>
            <a:ext cx="883910" cy="118854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720" b="1" spc="7" kern="0" dirty="0">
                <a:solidFill>
                  <a:srgbClr val="E2E8F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OpenAI 采纳 MCP</a:t>
            </a:r>
            <a:endParaRPr lang="en-US" sz="720" dirty="0"/>
          </a:p>
        </p:txBody>
      </p:sp>
      <p:sp>
        <p:nvSpPr>
          <p:cNvPr id="33" name="Text 31"/>
          <p:cNvSpPr/>
          <p:nvPr/>
        </p:nvSpPr>
        <p:spPr>
          <a:xfrm>
            <a:off x="797778" y="2220813"/>
            <a:ext cx="1408176" cy="2057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50000"/>
              </a:lnSpc>
              <a:buNone/>
            </a:pPr>
            <a:r>
              <a:rPr lang="en-US" sz="540" spc="7" kern="0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第二个前沿实验室加入，MCP 成为跨厂商事实标准。</a:t>
            </a:r>
            <a:endParaRPr lang="en-US" sz="540" dirty="0"/>
          </a:p>
        </p:txBody>
      </p:sp>
      <p:sp>
        <p:nvSpPr>
          <p:cNvPr id="34" name="Shape 32"/>
          <p:cNvSpPr/>
          <p:nvPr/>
        </p:nvSpPr>
        <p:spPr>
          <a:xfrm>
            <a:off x="1423571" y="2083653"/>
            <a:ext cx="5715" cy="457200"/>
          </a:xfrm>
          <a:prstGeom prst="rect">
            <a:avLst/>
          </a:prstGeom>
          <a:solidFill>
            <a:srgbClr val="00BCD4">
              <a:alpha val="25000"/>
            </a:srgbClr>
          </a:solidFill>
          <a:ln/>
        </p:spPr>
      </p:sp>
      <p:sp>
        <p:nvSpPr>
          <p:cNvPr id="35" name="Shape 33"/>
          <p:cNvSpPr/>
          <p:nvPr/>
        </p:nvSpPr>
        <p:spPr>
          <a:xfrm>
            <a:off x="1374993" y="2540853"/>
            <a:ext cx="102870" cy="102870"/>
          </a:xfrm>
          <a:prstGeom prst="ellipse">
            <a:avLst/>
          </a:prstGeom>
          <a:solidFill>
            <a:srgbClr val="1E293B"/>
          </a:solidFill>
          <a:ln w="11430">
            <a:solidFill>
              <a:srgbClr val="00BCD4"/>
            </a:solidFill>
            <a:prstDash val="solid"/>
          </a:ln>
          <a:effectLst>
            <a:outerShdw sx="100000" sy="100000" kx="0" ky="0" algn="bl" rotWithShape="0" blurRad="101600" dist="50800" dir="16200000">
              <a:srgbClr val="00BCD4">
                <a:alpha val="12000"/>
              </a:srgbClr>
            </a:outerShdw>
          </a:effectLst>
        </p:spPr>
      </p:sp>
      <p:sp>
        <p:nvSpPr>
          <p:cNvPr id="36" name="Text 34"/>
          <p:cNvSpPr/>
          <p:nvPr/>
        </p:nvSpPr>
        <p:spPr>
          <a:xfrm>
            <a:off x="2723108" y="2758023"/>
            <a:ext cx="666423" cy="137160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ctr" indent="0" marL="0">
              <a:buNone/>
            </a:pPr>
            <a:r>
              <a:rPr lang="en-US" sz="900" b="1" spc="18" kern="0" dirty="0">
                <a:solidFill>
                  <a:srgbClr val="00BCD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2025 · 07</a:t>
            </a:r>
            <a:endParaRPr lang="en-US" sz="900" dirty="0"/>
          </a:p>
        </p:txBody>
      </p:sp>
      <p:sp>
        <p:nvSpPr>
          <p:cNvPr id="37" name="Text 35"/>
          <p:cNvSpPr/>
          <p:nvPr/>
        </p:nvSpPr>
        <p:spPr>
          <a:xfrm>
            <a:off x="2420928" y="2929473"/>
            <a:ext cx="1295362" cy="118854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720" b="1" spc="7" kern="0" dirty="0">
                <a:solidFill>
                  <a:srgbClr val="E2E8F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AWS Bedrock AgentCore</a:t>
            </a:r>
            <a:endParaRPr lang="en-US" sz="720" dirty="0"/>
          </a:p>
        </p:txBody>
      </p:sp>
      <p:sp>
        <p:nvSpPr>
          <p:cNvPr id="38" name="Text 36"/>
          <p:cNvSpPr/>
          <p:nvPr/>
        </p:nvSpPr>
        <p:spPr>
          <a:xfrm>
            <a:off x="2370564" y="3094047"/>
            <a:ext cx="1408176" cy="2057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50000"/>
              </a:lnSpc>
              <a:buNone/>
            </a:pPr>
            <a:r>
              <a:rPr lang="en-US" sz="540" spc="7" kern="0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云原生 agent 平台化，公有云主力厂商跟进。</a:t>
            </a:r>
            <a:endParaRPr lang="en-US" sz="540" dirty="0"/>
          </a:p>
        </p:txBody>
      </p:sp>
      <p:sp>
        <p:nvSpPr>
          <p:cNvPr id="39" name="Shape 37"/>
          <p:cNvSpPr/>
          <p:nvPr/>
        </p:nvSpPr>
        <p:spPr>
          <a:xfrm>
            <a:off x="2996357" y="2769453"/>
            <a:ext cx="5715" cy="457200"/>
          </a:xfrm>
          <a:prstGeom prst="rect">
            <a:avLst/>
          </a:prstGeom>
          <a:solidFill>
            <a:srgbClr val="00BCD4">
              <a:alpha val="25000"/>
            </a:srgbClr>
          </a:solidFill>
          <a:ln/>
        </p:spPr>
      </p:sp>
      <p:sp>
        <p:nvSpPr>
          <p:cNvPr id="40" name="Shape 38"/>
          <p:cNvSpPr/>
          <p:nvPr/>
        </p:nvSpPr>
        <p:spPr>
          <a:xfrm>
            <a:off x="2947779" y="2540853"/>
            <a:ext cx="102870" cy="102870"/>
          </a:xfrm>
          <a:prstGeom prst="ellipse">
            <a:avLst/>
          </a:prstGeom>
          <a:solidFill>
            <a:srgbClr val="1E293B"/>
          </a:solidFill>
          <a:ln w="11430">
            <a:solidFill>
              <a:srgbClr val="00BCD4"/>
            </a:solidFill>
            <a:prstDash val="solid"/>
          </a:ln>
          <a:effectLst>
            <a:outerShdw sx="100000" sy="100000" kx="0" ky="0" algn="bl" rotWithShape="0" blurRad="101600" dist="50800" dir="16200000">
              <a:srgbClr val="00BCD4">
                <a:alpha val="12000"/>
              </a:srgbClr>
            </a:outerShdw>
          </a:effectLst>
        </p:spPr>
      </p:sp>
      <p:sp>
        <p:nvSpPr>
          <p:cNvPr id="41" name="Text 39"/>
          <p:cNvSpPr/>
          <p:nvPr/>
        </p:nvSpPr>
        <p:spPr>
          <a:xfrm>
            <a:off x="4301520" y="1884789"/>
            <a:ext cx="654993" cy="137160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ctr" indent="0" marL="0">
              <a:buNone/>
            </a:pPr>
            <a:r>
              <a:rPr lang="en-US" sz="900" b="1" spc="18" kern="0" dirty="0">
                <a:solidFill>
                  <a:srgbClr val="00BCD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2026 · 01</a:t>
            </a:r>
            <a:endParaRPr lang="en-US" sz="900" dirty="0"/>
          </a:p>
        </p:txBody>
      </p:sp>
      <p:sp>
        <p:nvSpPr>
          <p:cNvPr id="42" name="Text 40"/>
          <p:cNvSpPr/>
          <p:nvPr/>
        </p:nvSpPr>
        <p:spPr>
          <a:xfrm>
            <a:off x="4276785" y="2056239"/>
            <a:ext cx="681692" cy="118854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720" b="1" spc="7" kern="0" dirty="0">
                <a:solidFill>
                  <a:srgbClr val="E2E8F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A2A 协议发布</a:t>
            </a:r>
            <a:endParaRPr lang="en-US" sz="720" dirty="0"/>
          </a:p>
        </p:txBody>
      </p:sp>
      <p:sp>
        <p:nvSpPr>
          <p:cNvPr id="43" name="Text 41"/>
          <p:cNvSpPr/>
          <p:nvPr/>
        </p:nvSpPr>
        <p:spPr>
          <a:xfrm>
            <a:off x="3943261" y="2220813"/>
            <a:ext cx="1408176" cy="2057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50000"/>
              </a:lnSpc>
              <a:buNone/>
            </a:pPr>
            <a:r>
              <a:rPr lang="en-US" sz="540" spc="7" kern="0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agent-agent 协作标准，扩展 MCP 的能力边界。</a:t>
            </a:r>
            <a:endParaRPr lang="en-US" sz="540" dirty="0"/>
          </a:p>
        </p:txBody>
      </p:sp>
      <p:sp>
        <p:nvSpPr>
          <p:cNvPr id="44" name="Shape 42"/>
          <p:cNvSpPr/>
          <p:nvPr/>
        </p:nvSpPr>
        <p:spPr>
          <a:xfrm>
            <a:off x="4569053" y="2083653"/>
            <a:ext cx="5715" cy="457200"/>
          </a:xfrm>
          <a:prstGeom prst="rect">
            <a:avLst/>
          </a:prstGeom>
          <a:solidFill>
            <a:srgbClr val="00BCD4">
              <a:alpha val="25000"/>
            </a:srgbClr>
          </a:solidFill>
          <a:ln/>
        </p:spPr>
      </p:sp>
      <p:sp>
        <p:nvSpPr>
          <p:cNvPr id="45" name="Shape 43"/>
          <p:cNvSpPr/>
          <p:nvPr/>
        </p:nvSpPr>
        <p:spPr>
          <a:xfrm>
            <a:off x="4520476" y="2540853"/>
            <a:ext cx="102870" cy="102870"/>
          </a:xfrm>
          <a:prstGeom prst="ellipse">
            <a:avLst/>
          </a:prstGeom>
          <a:solidFill>
            <a:srgbClr val="1E293B"/>
          </a:solidFill>
          <a:ln w="11430">
            <a:solidFill>
              <a:srgbClr val="00BCD4"/>
            </a:solidFill>
            <a:prstDash val="solid"/>
          </a:ln>
          <a:effectLst>
            <a:outerShdw sx="100000" sy="100000" kx="0" ky="0" algn="bl" rotWithShape="0" blurRad="101600" dist="50800" dir="16200000">
              <a:srgbClr val="00BCD4">
                <a:alpha val="12000"/>
              </a:srgbClr>
            </a:outerShdw>
          </a:effectLst>
        </p:spPr>
      </p:sp>
      <p:sp>
        <p:nvSpPr>
          <p:cNvPr id="46" name="Shape 44"/>
          <p:cNvSpPr/>
          <p:nvPr/>
        </p:nvSpPr>
        <p:spPr>
          <a:xfrm>
            <a:off x="6141839" y="2769453"/>
            <a:ext cx="5715" cy="457200"/>
          </a:xfrm>
          <a:prstGeom prst="rect">
            <a:avLst/>
          </a:prstGeom>
          <a:gradFill rotWithShape="1">
            <a:gsLst>
              <a:gs pos="0">
                <a:srgbClr val="FF7043"/>
              </a:gs>
              <a:gs pos="100000">
                <a:srgbClr val="FF7043">
                  <a:alpha val="30000"/>
                </a:srgbClr>
              </a:gs>
            </a:gsLst>
            <a:lin ang="5400000" scaled="0"/>
          </a:gradFill>
          <a:ln/>
        </p:spPr>
      </p:sp>
      <p:sp>
        <p:nvSpPr>
          <p:cNvPr id="47" name="Shape 45"/>
          <p:cNvSpPr/>
          <p:nvPr/>
        </p:nvSpPr>
        <p:spPr>
          <a:xfrm>
            <a:off x="6047542" y="2540853"/>
            <a:ext cx="194310" cy="194310"/>
          </a:xfrm>
          <a:prstGeom prst="ellipse">
            <a:avLst/>
          </a:prstGeom>
          <a:solidFill>
            <a:srgbClr val="FF7043"/>
          </a:solidFill>
          <a:ln w="11430">
            <a:solidFill>
              <a:srgbClr val="FFAB91"/>
            </a:solidFill>
            <a:prstDash val="solid"/>
          </a:ln>
          <a:effectLst>
            <a:outerShdw sx="100000" sy="100000" kx="0" ky="0" algn="bl" rotWithShape="0" blurRad="101600" dist="50800" dir="16200000">
              <a:srgbClr val="FF7043">
                <a:alpha val="15000"/>
              </a:srgbClr>
            </a:outerShdw>
          </a:effectLst>
        </p:spPr>
      </p:sp>
      <p:sp>
        <p:nvSpPr>
          <p:cNvPr id="48" name="Shape 46"/>
          <p:cNvSpPr/>
          <p:nvPr/>
        </p:nvSpPr>
        <p:spPr>
          <a:xfrm>
            <a:off x="5807512" y="2472273"/>
            <a:ext cx="674370" cy="120015"/>
          </a:xfrm>
          <a:prstGeom prst="roundRect">
            <a:avLst>
              <a:gd name="adj" fmla="val 9524"/>
            </a:avLst>
          </a:prstGeom>
          <a:solidFill>
            <a:srgbClr val="FF7043"/>
          </a:solidFill>
          <a:ln/>
        </p:spPr>
      </p:sp>
      <p:sp>
        <p:nvSpPr>
          <p:cNvPr id="49" name="Text 47"/>
          <p:cNvSpPr/>
          <p:nvPr/>
        </p:nvSpPr>
        <p:spPr>
          <a:xfrm>
            <a:off x="5807512" y="2472273"/>
            <a:ext cx="755294" cy="120015"/>
          </a:xfrm>
          <a:prstGeom prst="rect">
            <a:avLst/>
          </a:prstGeom>
          <a:noFill/>
          <a:ln/>
        </p:spPr>
        <p:txBody>
          <a:bodyPr wrap="none" lIns="17145" tIns="57150" rIns="57150" bIns="17145" rtlCol="0" anchor="ctr"/>
          <a:lstStyle/>
          <a:p>
            <a:pPr algn="l" indent="0" marL="0">
              <a:buNone/>
            </a:pPr>
            <a:r>
              <a:rPr lang="en-US" sz="450" b="1" spc="90" kern="0" dirty="0">
                <a:solidFill>
                  <a:srgbClr val="1E293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PEAK · 制度跃迁</a:t>
            </a:r>
            <a:endParaRPr lang="en-US" sz="450" dirty="0"/>
          </a:p>
        </p:txBody>
      </p:sp>
      <p:sp>
        <p:nvSpPr>
          <p:cNvPr id="50" name="Text 48"/>
          <p:cNvSpPr/>
          <p:nvPr/>
        </p:nvSpPr>
        <p:spPr>
          <a:xfrm>
            <a:off x="5976818" y="2849463"/>
            <a:ext cx="477774" cy="148590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ctr" indent="0" marL="0">
              <a:buNone/>
            </a:pPr>
            <a:r>
              <a:rPr lang="en-US" sz="990" b="1" spc="20" kern="0" dirty="0">
                <a:solidFill>
                  <a:srgbClr val="FF704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2026</a:t>
            </a:r>
            <a:endParaRPr lang="en-US" sz="990" dirty="0"/>
          </a:p>
        </p:txBody>
      </p:sp>
      <p:sp>
        <p:nvSpPr>
          <p:cNvPr id="51" name="Text 49"/>
          <p:cNvSpPr/>
          <p:nvPr/>
        </p:nvSpPr>
        <p:spPr>
          <a:xfrm>
            <a:off x="5849124" y="3032343"/>
            <a:ext cx="688390" cy="126266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765" b="1" spc="7" kern="0" dirty="0">
                <a:solidFill>
                  <a:srgbClr val="FF704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MCP 捐给 LF</a:t>
            </a:r>
            <a:endParaRPr lang="en-US" sz="765" dirty="0"/>
          </a:p>
        </p:txBody>
      </p:sp>
      <p:sp>
        <p:nvSpPr>
          <p:cNvPr id="52" name="Text 50"/>
          <p:cNvSpPr/>
          <p:nvPr/>
        </p:nvSpPr>
        <p:spPr>
          <a:xfrm>
            <a:off x="5404068" y="3204329"/>
            <a:ext cx="1659107" cy="22288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50000"/>
              </a:lnSpc>
              <a:buNone/>
            </a:pPr>
            <a:r>
              <a:rPr lang="en-US" sz="585" spc="7" kern="0" dirty="0">
                <a:solidFill>
                  <a:srgbClr val="FECAC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加入 Agentic AI Foundation（Linux Foundation），完成中立托管。</a:t>
            </a:r>
            <a:endParaRPr lang="en-US" sz="585" dirty="0"/>
          </a:p>
        </p:txBody>
      </p:sp>
      <p:sp>
        <p:nvSpPr>
          <p:cNvPr id="53" name="Text 51"/>
          <p:cNvSpPr/>
          <p:nvPr/>
        </p:nvSpPr>
        <p:spPr>
          <a:xfrm>
            <a:off x="7228671" y="1884789"/>
            <a:ext cx="1094837" cy="97155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ctr" indent="0" marL="0">
              <a:buNone/>
            </a:pPr>
            <a:r>
              <a:rPr lang="en-US" sz="630" spc="151" kern="0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SEMANTIC CLOSE</a:t>
            </a:r>
            <a:endParaRPr lang="en-US" sz="630" dirty="0"/>
          </a:p>
        </p:txBody>
      </p:sp>
      <p:sp>
        <p:nvSpPr>
          <p:cNvPr id="54" name="Text 52"/>
          <p:cNvSpPr/>
          <p:nvPr/>
        </p:nvSpPr>
        <p:spPr>
          <a:xfrm>
            <a:off x="7472273" y="2039094"/>
            <a:ext cx="587573" cy="135999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ctr" indent="0" marL="0">
              <a:lnSpc>
                <a:spcPct val="140000"/>
              </a:lnSpc>
              <a:buNone/>
            </a:pPr>
            <a:r>
              <a:rPr lang="en-US" sz="765" b="1" spc="7" kern="0" dirty="0">
                <a:solidFill>
                  <a:srgbClr val="00BCD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协议制度化</a:t>
            </a:r>
            <a:endParaRPr lang="en-US" sz="765" dirty="0"/>
          </a:p>
        </p:txBody>
      </p:sp>
      <p:sp>
        <p:nvSpPr>
          <p:cNvPr id="55" name="Text 53"/>
          <p:cNvSpPr/>
          <p:nvPr/>
        </p:nvSpPr>
        <p:spPr>
          <a:xfrm>
            <a:off x="7088832" y="2220813"/>
            <a:ext cx="1408176" cy="2057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50000"/>
              </a:lnSpc>
              <a:buNone/>
            </a:pPr>
            <a:r>
              <a:rPr lang="en-US" sz="540" spc="7" kern="0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行政动员失败后的自发秩序——从私有协议到中立公共品。</a:t>
            </a:r>
            <a:endParaRPr lang="en-US" sz="540" dirty="0"/>
          </a:p>
        </p:txBody>
      </p:sp>
      <p:sp>
        <p:nvSpPr>
          <p:cNvPr id="56" name="Shape 54"/>
          <p:cNvSpPr/>
          <p:nvPr/>
        </p:nvSpPr>
        <p:spPr>
          <a:xfrm>
            <a:off x="7714625" y="2083653"/>
            <a:ext cx="5715" cy="457200"/>
          </a:xfrm>
          <a:prstGeom prst="rect">
            <a:avLst/>
          </a:prstGeom>
          <a:solidFill>
            <a:srgbClr val="00BCD4">
              <a:alpha val="25000"/>
            </a:srgbClr>
          </a:solidFill>
          <a:ln/>
        </p:spPr>
      </p:sp>
      <p:sp>
        <p:nvSpPr>
          <p:cNvPr id="57" name="Shape 55"/>
          <p:cNvSpPr/>
          <p:nvPr/>
        </p:nvSpPr>
        <p:spPr>
          <a:xfrm>
            <a:off x="7666047" y="2540853"/>
            <a:ext cx="102870" cy="102870"/>
          </a:xfrm>
          <a:prstGeom prst="ellipse">
            <a:avLst/>
          </a:prstGeom>
          <a:solidFill>
            <a:srgbClr val="00BCD4"/>
          </a:solidFill>
          <a:ln w="11430">
            <a:solidFill>
              <a:srgbClr val="00BCD4"/>
            </a:solidFill>
            <a:prstDash val="solid"/>
          </a:ln>
          <a:effectLst>
            <a:outerShdw sx="100000" sy="100000" kx="0" ky="0" algn="bl" rotWithShape="0" blurRad="101600" dist="50800" dir="16200000">
              <a:srgbClr val="00BCD4">
                <a:alpha val="20000"/>
              </a:srgbClr>
            </a:outerShdw>
          </a:effectLst>
        </p:spPr>
      </p:sp>
      <p:sp>
        <p:nvSpPr>
          <p:cNvPr id="58" name="Shape 56"/>
          <p:cNvSpPr/>
          <p:nvPr/>
        </p:nvSpPr>
        <p:spPr>
          <a:xfrm>
            <a:off x="411480" y="4429750"/>
            <a:ext cx="8321040" cy="439430"/>
          </a:xfrm>
          <a:prstGeom prst="rect">
            <a:avLst/>
          </a:prstGeom>
          <a:noFill/>
          <a:ln/>
        </p:spPr>
      </p:sp>
      <p:sp>
        <p:nvSpPr>
          <p:cNvPr id="59" name="Shape 57"/>
          <p:cNvSpPr/>
          <p:nvPr/>
        </p:nvSpPr>
        <p:spPr>
          <a:xfrm>
            <a:off x="411480" y="4429750"/>
            <a:ext cx="8321040" cy="0"/>
          </a:xfrm>
          <a:prstGeom prst="line">
            <a:avLst/>
          </a:prstGeom>
          <a:noFill/>
          <a:ln w="5715">
            <a:solidFill>
              <a:srgbClr val="00BCD4">
                <a:alpha val="20000"/>
              </a:srgbClr>
            </a:solidFill>
            <a:prstDash val="solid"/>
          </a:ln>
        </p:spPr>
      </p:sp>
      <p:sp>
        <p:nvSpPr>
          <p:cNvPr id="60" name="Shape 58"/>
          <p:cNvSpPr/>
          <p:nvPr/>
        </p:nvSpPr>
        <p:spPr>
          <a:xfrm>
            <a:off x="411480" y="4572625"/>
            <a:ext cx="251460" cy="251460"/>
          </a:xfrm>
          <a:prstGeom prst="rect">
            <a:avLst/>
          </a:prstGeom>
          <a:solidFill>
            <a:srgbClr val="00BCD4">
              <a:alpha val="5000"/>
            </a:srgbClr>
          </a:solidFill>
          <a:ln w="5715">
            <a:solidFill>
              <a:srgbClr val="00BCD4"/>
            </a:solidFill>
            <a:prstDash val="solid"/>
          </a:ln>
        </p:spPr>
      </p:sp>
      <p:sp>
        <p:nvSpPr>
          <p:cNvPr id="61" name="Text 59"/>
          <p:cNvSpPr/>
          <p:nvPr/>
        </p:nvSpPr>
        <p:spPr>
          <a:xfrm>
            <a:off x="411480" y="4572625"/>
            <a:ext cx="354330" cy="251460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buNone/>
            </a:pPr>
            <a:r>
              <a:rPr lang="en-US" sz="810" b="1" spc="81" kern="0" dirty="0">
                <a:solidFill>
                  <a:srgbClr val="00BCD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MCP</a:t>
            </a:r>
            <a:endParaRPr lang="en-US" sz="810" dirty="0"/>
          </a:p>
        </p:txBody>
      </p:sp>
      <p:sp>
        <p:nvSpPr>
          <p:cNvPr id="62" name="Text 60"/>
          <p:cNvSpPr/>
          <p:nvPr/>
        </p:nvSpPr>
        <p:spPr>
          <a:xfrm>
            <a:off x="800100" y="4572625"/>
            <a:ext cx="8884310" cy="29655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70000"/>
              </a:lnSpc>
              <a:buNone/>
            </a:pPr>
            <a:r>
              <a:rPr lang="en-US" sz="585" b="1" spc="6" kern="0" dirty="0">
                <a:solidFill>
                  <a:srgbClr val="000000">
                    <a:alpha val="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INSTITUTIONALIZATION</a:t>
            </a:r>
            <a:pPr algn="l" indent="0" marL="0">
              <a:lnSpc>
                <a:spcPct val="170000"/>
              </a:lnSpc>
              <a:buNone/>
            </a:pPr>
            <a:r>
              <a:rPr lang="en-US" sz="630" spc="6" kern="0" dirty="0">
                <a:solidFill>
                  <a:srgbClr val="E2E8F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MCP 从</a:t>
            </a:r>
            <a:pPr algn="l" indent="0" marL="0">
              <a:lnSpc>
                <a:spcPct val="170000"/>
              </a:lnSpc>
              <a:buNone/>
            </a:pPr>
            <a:r>
              <a:rPr lang="en-US" sz="630" b="1" spc="6" kern="0" dirty="0">
                <a:solidFill>
                  <a:srgbClr val="00BCD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Anthropic 单厂商私产</a:t>
            </a:r>
            <a:pPr algn="l" indent="0" marL="0">
              <a:lnSpc>
                <a:spcPct val="170000"/>
              </a:lnSpc>
              <a:buNone/>
            </a:pPr>
            <a:r>
              <a:rPr lang="en-US" sz="630" spc="6" kern="0" dirty="0">
                <a:solidFill>
                  <a:srgbClr val="E2E8F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走向</a:t>
            </a:r>
            <a:pPr algn="l" indent="0" marL="0">
              <a:lnSpc>
                <a:spcPct val="170000"/>
              </a:lnSpc>
              <a:buNone/>
            </a:pPr>
            <a:r>
              <a:rPr lang="en-US" sz="630" b="1" spc="6" kern="0" dirty="0">
                <a:solidFill>
                  <a:srgbClr val="FF704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Linux Foundation 中立资产</a:t>
            </a:r>
            <a:pPr algn="l" indent="0" marL="0">
              <a:lnSpc>
                <a:spcPct val="170000"/>
              </a:lnSpc>
              <a:buNone/>
            </a:pPr>
            <a:r>
              <a:rPr lang="en-US" sz="630" spc="6" kern="0" dirty="0">
                <a:solidFill>
                  <a:srgbClr val="E2E8F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，是协议制度化的教科书样本——这不是任何行政命令能促成的，而是 Anthropic、OpenAI、AWS 多厂商自发采纳后，协议自然生长出的公共秩序。</a:t>
            </a:r>
            <a:endParaRPr lang="en-US" sz="630" dirty="0"/>
          </a:p>
        </p:txBody>
      </p:sp>
      <p:sp>
        <p:nvSpPr>
          <p:cNvPr id="63" name="Shape 61"/>
          <p:cNvSpPr/>
          <p:nvPr/>
        </p:nvSpPr>
        <p:spPr>
          <a:xfrm>
            <a:off x="800100" y="4572625"/>
            <a:ext cx="1373922" cy="160556"/>
          </a:xfrm>
          <a:prstGeom prst="rect">
            <a:avLst/>
          </a:prstGeom>
          <a:solidFill>
            <a:srgbClr val="00BCD4">
              <a:alpha val="8000"/>
            </a:srgbClr>
          </a:solidFill>
          <a:ln w="5715">
            <a:solidFill>
              <a:srgbClr val="00BCD4">
                <a:alpha val="25000"/>
              </a:srgbClr>
            </a:solidFill>
            <a:prstDash val="solid"/>
          </a:ln>
        </p:spPr>
      </p:sp>
      <p:sp>
        <p:nvSpPr>
          <p:cNvPr id="64" name="Text 62"/>
          <p:cNvSpPr/>
          <p:nvPr/>
        </p:nvSpPr>
        <p:spPr>
          <a:xfrm>
            <a:off x="800100" y="4572625"/>
            <a:ext cx="1538792" cy="160556"/>
          </a:xfrm>
          <a:prstGeom prst="rect">
            <a:avLst/>
          </a:prstGeom>
          <a:noFill/>
          <a:ln/>
        </p:spPr>
        <p:txBody>
          <a:bodyPr wrap="square" lIns="11430" tIns="45720" rIns="45720" bIns="11430" rtlCol="0" anchor="ctr"/>
          <a:lstStyle/>
          <a:p>
            <a:pPr algn="l" indent="0" marL="0">
              <a:lnSpc>
                <a:spcPct val="170000"/>
              </a:lnSpc>
              <a:buNone/>
            </a:pPr>
            <a:r>
              <a:rPr lang="en-US" sz="585" b="1" spc="140" kern="0" dirty="0">
                <a:solidFill>
                  <a:srgbClr val="00BCD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INSTITUTIONALIZATION</a:t>
            </a:r>
            <a:endParaRPr lang="en-US" sz="585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3108960" y="-1543050"/>
            <a:ext cx="7680960" cy="4320540"/>
          </a:xfrm>
          <a:prstGeom prst="ellipse">
            <a:avLst/>
          </a:prstGeom>
          <a:gradFill rotWithShape="1">
            <a:gsLst>
              <a:gs pos="0">
                <a:srgbClr val="00BCD4">
                  <a:alpha val="12800"/>
                </a:srgbClr>
              </a:gs>
              <a:gs pos="100000">
                <a:srgbClr val="00BCD4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/>
        </p:spPr>
      </p:sp>
      <p:sp>
        <p:nvSpPr>
          <p:cNvPr id="3" name="Shape 1"/>
          <p:cNvSpPr/>
          <p:nvPr/>
        </p:nvSpPr>
        <p:spPr>
          <a:xfrm>
            <a:off x="4389120" y="2468880"/>
            <a:ext cx="8046720" cy="4526280"/>
          </a:xfrm>
          <a:prstGeom prst="ellipse">
            <a:avLst/>
          </a:prstGeom>
          <a:gradFill rotWithShape="1">
            <a:gsLst>
              <a:gs pos="0">
                <a:srgbClr val="FF7043">
                  <a:alpha val="8800"/>
                </a:srgbClr>
              </a:gs>
              <a:gs pos="100000">
                <a:srgbClr val="FF7043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/>
        </p:spPr>
      </p:sp>
      <p:sp>
        <p:nvSpPr>
          <p:cNvPr id="4" name="Text 2"/>
          <p:cNvSpPr/>
          <p:nvPr/>
        </p:nvSpPr>
        <p:spPr>
          <a:xfrm>
            <a:off x="342900" y="251460"/>
            <a:ext cx="9473184" cy="276017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890" b="1" spc="-19" kern="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MCP 捐给</a:t>
            </a:r>
            <a:pPr algn="l" indent="0" marL="0">
              <a:lnSpc>
                <a:spcPct val="115000"/>
              </a:lnSpc>
              <a:buNone/>
            </a:pPr>
            <a:r>
              <a:rPr lang="en-US" sz="1890" b="1" spc="-19" kern="0" dirty="0">
                <a:solidFill>
                  <a:srgbClr val="00BCD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Linux Foundation</a:t>
            </a:r>
            <a:endParaRPr lang="en-US" sz="1890" dirty="0"/>
          </a:p>
        </p:txBody>
      </p:sp>
      <p:sp>
        <p:nvSpPr>
          <p:cNvPr id="5" name="Text 3"/>
          <p:cNvSpPr/>
          <p:nvPr/>
        </p:nvSpPr>
        <p:spPr>
          <a:xfrm>
            <a:off x="342900" y="596057"/>
            <a:ext cx="9473184" cy="137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720" b="1" dirty="0">
                <a:solidFill>
                  <a:srgbClr val="FF704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制度经济学的教科书案例</a:t>
            </a:r>
            <a:pPr algn="l" indent="0" marL="0">
              <a:lnSpc>
                <a:spcPct val="150000"/>
              </a:lnSpc>
              <a:buNone/>
            </a:pPr>
            <a:r>
              <a:rPr lang="en-US" sz="720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— 从厂商私产到社区共识的完整演化路径</a:t>
            </a:r>
            <a:endParaRPr lang="en-US" sz="720" dirty="0"/>
          </a:p>
        </p:txBody>
      </p:sp>
      <p:sp>
        <p:nvSpPr>
          <p:cNvPr id="6" name="Shape 4"/>
          <p:cNvSpPr/>
          <p:nvPr/>
        </p:nvSpPr>
        <p:spPr>
          <a:xfrm>
            <a:off x="800100" y="973247"/>
            <a:ext cx="1828800" cy="1325880"/>
          </a:xfrm>
          <a:prstGeom prst="roundRect">
            <a:avLst>
              <a:gd name="adj" fmla="val 6034"/>
            </a:avLst>
          </a:prstGeom>
          <a:solidFill>
            <a:srgbClr val="1E293B">
              <a:alpha val="65000"/>
            </a:srgbClr>
          </a:solidFill>
          <a:ln w="17145">
            <a:solidFill>
              <a:srgbClr val="00BCD4">
                <a:alpha val="16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965835" y="1298198"/>
            <a:ext cx="57150" cy="57150"/>
          </a:xfrm>
          <a:prstGeom prst="roundRect">
            <a:avLst>
              <a:gd name="adj" fmla="val 20000"/>
            </a:avLst>
          </a:prstGeom>
          <a:solidFill>
            <a:srgbClr val="00BCD4"/>
          </a:solidFill>
          <a:ln/>
          <a:effectLst>
            <a:outerShdw sx="100000" sy="100000" kx="0" ky="0" algn="bl" rotWithShape="0" blurRad="95250" dist="50800" dir="16200000">
              <a:srgbClr val="00BCD4">
                <a:alpha val="35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1091565" y="1298198"/>
            <a:ext cx="782509" cy="188595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990" b="1" spc="40" kern="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Anthropic</a:t>
            </a:r>
            <a:endParaRPr lang="en-US" sz="990" dirty="0"/>
          </a:p>
        </p:txBody>
      </p:sp>
      <p:sp>
        <p:nvSpPr>
          <p:cNvPr id="9" name="Text 7"/>
          <p:cNvSpPr/>
          <p:nvPr/>
        </p:nvSpPr>
        <p:spPr>
          <a:xfrm>
            <a:off x="965835" y="1555373"/>
            <a:ext cx="1689811" cy="120015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630" b="1" spc="31" kern="0" dirty="0">
                <a:solidFill>
                  <a:srgbClr val="00BCD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2024-11-25</a:t>
            </a:r>
            <a:endParaRPr lang="en-US" sz="630" dirty="0"/>
          </a:p>
        </p:txBody>
      </p:sp>
      <p:sp>
        <p:nvSpPr>
          <p:cNvPr id="10" name="Text 8"/>
          <p:cNvSpPr/>
          <p:nvPr/>
        </p:nvSpPr>
        <p:spPr>
          <a:xfrm>
            <a:off x="965835" y="1743968"/>
            <a:ext cx="1689811" cy="230207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55000"/>
              </a:lnSpc>
              <a:buNone/>
            </a:pPr>
            <a:r>
              <a:rPr lang="en-US" sz="585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单厂商私有发布，作为 Claude 生态的内部工具，尚未公开标准化。</a:t>
            </a:r>
            <a:endParaRPr lang="en-US" sz="585" dirty="0"/>
          </a:p>
        </p:txBody>
      </p:sp>
      <p:sp>
        <p:nvSpPr>
          <p:cNvPr id="11" name="Shape 9"/>
          <p:cNvSpPr/>
          <p:nvPr/>
        </p:nvSpPr>
        <p:spPr>
          <a:xfrm>
            <a:off x="2628900" y="1624757"/>
            <a:ext cx="982980" cy="22860"/>
          </a:xfrm>
          <a:prstGeom prst="roundRect">
            <a:avLst>
              <a:gd name="adj" fmla="val 50000"/>
            </a:avLst>
          </a:prstGeom>
          <a:gradFill rotWithShape="1">
            <a:gsLst>
              <a:gs pos="0">
                <a:srgbClr val="00BCD4"/>
              </a:gs>
              <a:gs pos="100000">
                <a:srgbClr val="00BCD4">
                  <a:alpha val="40000"/>
                </a:srgbClr>
              </a:gs>
            </a:gsLst>
            <a:lin ang="0" scaled="0"/>
          </a:gradFill>
          <a:ln/>
        </p:spPr>
      </p:sp>
      <p:sp>
        <p:nvSpPr>
          <p:cNvPr id="12" name="Shape 10"/>
          <p:cNvSpPr/>
          <p:nvPr/>
        </p:nvSpPr>
        <p:spPr>
          <a:xfrm>
            <a:off x="3103245" y="1596182"/>
            <a:ext cx="80010" cy="80010"/>
          </a:xfrm>
          <a:prstGeom prst="ellipse">
            <a:avLst/>
          </a:prstGeom>
          <a:solidFill>
            <a:srgbClr val="FF7043"/>
          </a:solidFill>
          <a:ln/>
          <a:effectLst>
            <a:outerShdw sx="100000" sy="100000" kx="0" ky="0" algn="bl" rotWithShape="0" blurRad="114300" dist="50800" dir="16200000">
              <a:srgbClr val="FF7043">
                <a:alpha val="60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3657600" y="973247"/>
            <a:ext cx="1828800" cy="1325880"/>
          </a:xfrm>
          <a:prstGeom prst="roundRect">
            <a:avLst>
              <a:gd name="adj" fmla="val 6034"/>
            </a:avLst>
          </a:prstGeom>
          <a:solidFill>
            <a:srgbClr val="00BCD4">
              <a:alpha val="6000"/>
            </a:srgbClr>
          </a:solidFill>
          <a:ln w="11430">
            <a:solidFill>
              <a:srgbClr val="00BCD4"/>
            </a:solidFill>
            <a:prstDash val="solid"/>
          </a:ln>
          <a:effectLst>
            <a:outerShdw sx="100000" sy="100000" kx="0" ky="0" algn="bl" rotWithShape="0" blurRad="228600" dist="50800" dir="16200000">
              <a:srgbClr val="00BCD4">
                <a:alpha val="14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3817620" y="1298198"/>
            <a:ext cx="57150" cy="57150"/>
          </a:xfrm>
          <a:prstGeom prst="roundRect">
            <a:avLst>
              <a:gd name="adj" fmla="val 20000"/>
            </a:avLst>
          </a:prstGeom>
          <a:solidFill>
            <a:srgbClr val="FF7043"/>
          </a:solidFill>
          <a:ln/>
          <a:effectLst>
            <a:outerShdw sx="100000" sy="100000" kx="0" ky="0" algn="bl" rotWithShape="0" blurRad="95250" dist="50800" dir="16200000">
              <a:srgbClr val="FF7043">
                <a:alpha val="40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3943350" y="1298198"/>
            <a:ext cx="518011" cy="188595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990" b="1" spc="40" kern="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转折点</a:t>
            </a:r>
            <a:endParaRPr lang="en-US" sz="990" dirty="0"/>
          </a:p>
        </p:txBody>
      </p:sp>
      <p:sp>
        <p:nvSpPr>
          <p:cNvPr id="16" name="Text 14"/>
          <p:cNvSpPr/>
          <p:nvPr/>
        </p:nvSpPr>
        <p:spPr>
          <a:xfrm>
            <a:off x="3817620" y="1555373"/>
            <a:ext cx="1689811" cy="120015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630" b="1" spc="31" kern="0" dirty="0">
                <a:solidFill>
                  <a:srgbClr val="00BCD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2025-03</a:t>
            </a:r>
            <a:endParaRPr lang="en-US" sz="630" dirty="0"/>
          </a:p>
        </p:txBody>
      </p:sp>
      <p:sp>
        <p:nvSpPr>
          <p:cNvPr id="17" name="Text 15"/>
          <p:cNvSpPr/>
          <p:nvPr/>
        </p:nvSpPr>
        <p:spPr>
          <a:xfrm>
            <a:off x="3817620" y="1743968"/>
            <a:ext cx="1689811" cy="230207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55000"/>
              </a:lnSpc>
              <a:buNone/>
            </a:pPr>
            <a:r>
              <a:rPr lang="en-US" sz="585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OpenAI 率先采纳，Google / Microsoft / 云厂密集加入，生态从"单点"跃迁到"网络"。</a:t>
            </a:r>
            <a:endParaRPr lang="en-US" sz="585" dirty="0"/>
          </a:p>
        </p:txBody>
      </p:sp>
      <p:sp>
        <p:nvSpPr>
          <p:cNvPr id="18" name="Shape 16"/>
          <p:cNvSpPr/>
          <p:nvPr/>
        </p:nvSpPr>
        <p:spPr>
          <a:xfrm>
            <a:off x="5486400" y="1624757"/>
            <a:ext cx="982980" cy="22860"/>
          </a:xfrm>
          <a:prstGeom prst="roundRect">
            <a:avLst>
              <a:gd name="adj" fmla="val 50000"/>
            </a:avLst>
          </a:prstGeom>
          <a:gradFill rotWithShape="1">
            <a:gsLst>
              <a:gs pos="0">
                <a:srgbClr val="00BCD4"/>
              </a:gs>
              <a:gs pos="100000">
                <a:srgbClr val="00BCD4">
                  <a:alpha val="40000"/>
                </a:srgbClr>
              </a:gs>
            </a:gsLst>
            <a:lin ang="0" scaled="0"/>
          </a:gradFill>
          <a:ln/>
        </p:spPr>
      </p:sp>
      <p:sp>
        <p:nvSpPr>
          <p:cNvPr id="19" name="Shape 17"/>
          <p:cNvSpPr/>
          <p:nvPr/>
        </p:nvSpPr>
        <p:spPr>
          <a:xfrm>
            <a:off x="5960745" y="1596182"/>
            <a:ext cx="80010" cy="80010"/>
          </a:xfrm>
          <a:prstGeom prst="ellipse">
            <a:avLst/>
          </a:prstGeom>
          <a:solidFill>
            <a:srgbClr val="FF7043"/>
          </a:solidFill>
          <a:ln/>
          <a:effectLst>
            <a:outerShdw sx="100000" sy="100000" kx="0" ky="0" algn="bl" rotWithShape="0" blurRad="114300" dist="50800" dir="16200000">
              <a:srgbClr val="FF7043">
                <a:alpha val="60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6515100" y="973247"/>
            <a:ext cx="1828800" cy="1325880"/>
          </a:xfrm>
          <a:prstGeom prst="roundRect">
            <a:avLst>
              <a:gd name="adj" fmla="val 6034"/>
            </a:avLst>
          </a:prstGeom>
          <a:solidFill>
            <a:srgbClr val="1E293B">
              <a:alpha val="65000"/>
            </a:srgbClr>
          </a:solidFill>
          <a:ln w="17145">
            <a:solidFill>
              <a:srgbClr val="00BCD4">
                <a:alpha val="16000"/>
              </a:srgbClr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6680835" y="1298198"/>
            <a:ext cx="57150" cy="57150"/>
          </a:xfrm>
          <a:prstGeom prst="roundRect">
            <a:avLst>
              <a:gd name="adj" fmla="val 20000"/>
            </a:avLst>
          </a:prstGeom>
          <a:solidFill>
            <a:srgbClr val="00BCD4"/>
          </a:solidFill>
          <a:ln/>
          <a:effectLst>
            <a:outerShdw sx="100000" sy="100000" kx="0" ky="0" algn="bl" rotWithShape="0" blurRad="95250" dist="50800" dir="16200000">
              <a:srgbClr val="00BCD4">
                <a:alpha val="35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6806565" y="1298198"/>
            <a:ext cx="1287161" cy="188595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990" b="1" spc="40" kern="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Linux Foundation</a:t>
            </a:r>
            <a:endParaRPr lang="en-US" sz="990" dirty="0"/>
          </a:p>
        </p:txBody>
      </p:sp>
      <p:sp>
        <p:nvSpPr>
          <p:cNvPr id="23" name="Text 21"/>
          <p:cNvSpPr/>
          <p:nvPr/>
        </p:nvSpPr>
        <p:spPr>
          <a:xfrm>
            <a:off x="6680835" y="1555373"/>
            <a:ext cx="1689811" cy="120015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630" b="1" spc="31" kern="0" dirty="0">
                <a:solidFill>
                  <a:srgbClr val="00BCD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2026</a:t>
            </a:r>
            <a:endParaRPr lang="en-US" sz="630" dirty="0"/>
          </a:p>
        </p:txBody>
      </p:sp>
      <p:sp>
        <p:nvSpPr>
          <p:cNvPr id="24" name="Text 22"/>
          <p:cNvSpPr/>
          <p:nvPr/>
        </p:nvSpPr>
        <p:spPr>
          <a:xfrm>
            <a:off x="6680835" y="1743968"/>
            <a:ext cx="1689811" cy="230207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55000"/>
              </a:lnSpc>
              <a:buNone/>
            </a:pPr>
            <a:r>
              <a:rPr lang="en-US" sz="585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捐入 LF 旗下 Agentic AI Foundation，成为中立第三方托管的社区标准。</a:t>
            </a:r>
            <a:endParaRPr lang="en-US" sz="585" dirty="0"/>
          </a:p>
        </p:txBody>
      </p:sp>
      <p:sp>
        <p:nvSpPr>
          <p:cNvPr id="25" name="Shape 23"/>
          <p:cNvSpPr/>
          <p:nvPr/>
        </p:nvSpPr>
        <p:spPr>
          <a:xfrm>
            <a:off x="342900" y="2390567"/>
            <a:ext cx="2735520" cy="1045934"/>
          </a:xfrm>
          <a:prstGeom prst="roundRect">
            <a:avLst>
              <a:gd name="adj" fmla="val 6557"/>
            </a:avLst>
          </a:prstGeom>
          <a:solidFill>
            <a:srgbClr val="0F172A">
              <a:alpha val="55000"/>
            </a:srgbClr>
          </a:solidFill>
          <a:ln w="11430">
            <a:solidFill>
              <a:srgbClr val="00BCD4">
                <a:alpha val="16000"/>
              </a:srgbClr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474345" y="2504867"/>
            <a:ext cx="2472630" cy="180023"/>
          </a:xfrm>
          <a:prstGeom prst="rect">
            <a:avLst/>
          </a:prstGeom>
          <a:noFill/>
          <a:ln/>
        </p:spPr>
      </p:sp>
      <p:sp>
        <p:nvSpPr>
          <p:cNvPr id="27" name="Shape 25"/>
          <p:cNvSpPr/>
          <p:nvPr/>
        </p:nvSpPr>
        <p:spPr>
          <a:xfrm>
            <a:off x="474345" y="2684889"/>
            <a:ext cx="2472630" cy="0"/>
          </a:xfrm>
          <a:prstGeom prst="line">
            <a:avLst/>
          </a:prstGeom>
          <a:noFill/>
          <a:ln w="5715">
            <a:solidFill>
              <a:srgbClr val="94A3B8">
                <a:alpha val="20000"/>
              </a:srgbClr>
            </a:solidFill>
            <a:prstDash val="dash"/>
          </a:ln>
        </p:spPr>
      </p:sp>
      <p:sp>
        <p:nvSpPr>
          <p:cNvPr id="28" name="Shape 26"/>
          <p:cNvSpPr/>
          <p:nvPr/>
        </p:nvSpPr>
        <p:spPr>
          <a:xfrm>
            <a:off x="474345" y="2504867"/>
            <a:ext cx="45720" cy="45720"/>
          </a:xfrm>
          <a:prstGeom prst="ellipse">
            <a:avLst/>
          </a:prstGeom>
          <a:solidFill>
            <a:srgbClr val="00BCD4"/>
          </a:solidFill>
          <a:ln/>
          <a:effectLst>
            <a:outerShdw sx="100000" sy="100000" kx="0" ky="0" algn="bl" rotWithShape="0" blurRad="76200" dist="50800" dir="16200000">
              <a:srgbClr val="00BCD4">
                <a:alpha val="35000"/>
              </a:srgbClr>
            </a:outerShdw>
          </a:effectLst>
        </p:spPr>
      </p:sp>
      <p:sp>
        <p:nvSpPr>
          <p:cNvPr id="29" name="Text 27"/>
          <p:cNvSpPr/>
          <p:nvPr/>
        </p:nvSpPr>
        <p:spPr>
          <a:xfrm>
            <a:off x="588645" y="2504867"/>
            <a:ext cx="257175" cy="128588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675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起点</a:t>
            </a:r>
            <a:endParaRPr lang="en-US" sz="675" dirty="0"/>
          </a:p>
        </p:txBody>
      </p:sp>
      <p:sp>
        <p:nvSpPr>
          <p:cNvPr id="30" name="Text 28"/>
          <p:cNvSpPr/>
          <p:nvPr/>
        </p:nvSpPr>
        <p:spPr>
          <a:xfrm>
            <a:off x="828675" y="2516297"/>
            <a:ext cx="526941" cy="111443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585" b="1" spc="23" kern="0" dirty="0">
                <a:solidFill>
                  <a:srgbClr val="00BCD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2024-11-25</a:t>
            </a:r>
            <a:endParaRPr lang="en-US" sz="585" dirty="0"/>
          </a:p>
        </p:txBody>
      </p:sp>
      <p:sp>
        <p:nvSpPr>
          <p:cNvPr id="31" name="Text 29"/>
          <p:cNvSpPr/>
          <p:nvPr/>
        </p:nvSpPr>
        <p:spPr>
          <a:xfrm>
            <a:off x="474345" y="2753469"/>
            <a:ext cx="908914" cy="97155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lnSpc>
                <a:spcPct val="160000"/>
              </a:lnSpc>
              <a:buNone/>
            </a:pPr>
            <a:r>
              <a:rPr lang="en-US" sz="630" b="1" dirty="0">
                <a:solidFill>
                  <a:srgbClr val="00BCD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Anthropic 单厂商发布</a:t>
            </a:r>
            <a:endParaRPr lang="en-US" sz="630" dirty="0"/>
          </a:p>
        </p:txBody>
      </p:sp>
      <p:sp>
        <p:nvSpPr>
          <p:cNvPr id="32" name="Text 30"/>
          <p:cNvSpPr/>
          <p:nvPr/>
        </p:nvSpPr>
        <p:spPr>
          <a:xfrm>
            <a:off x="474345" y="2927152"/>
            <a:ext cx="2596262" cy="37790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marL="342900" indent="-342900">
              <a:buSzPct val="100000"/>
              <a:buChar char="›"/>
            </a:pPr>
            <a:r>
              <a:rPr lang="en-US" sz="563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协议最初为 Claude 内部集成工具服务</a:t>
            </a:r>
            <a:endParaRPr lang="en-US" sz="563" dirty="0"/>
          </a:p>
          <a:p>
            <a:pPr algn="l" marL="342900" indent="-342900">
              <a:buSzPct val="100000"/>
              <a:buChar char="›"/>
            </a:pPr>
            <a:r>
              <a:rPr lang="en-US" sz="563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无跨厂商治理，属典型"厂商私产"形态</a:t>
            </a:r>
            <a:endParaRPr lang="en-US" sz="563" dirty="0"/>
          </a:p>
          <a:p>
            <a:pPr algn="l" marL="342900" indent="-342900">
              <a:buSzPct val="100000"/>
              <a:buChar char="›"/>
            </a:pPr>
            <a:r>
              <a:rPr lang="en-US" sz="563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生态位狭窄，仅覆盖单一产品线</a:t>
            </a:r>
            <a:endParaRPr lang="en-US" sz="563" dirty="0"/>
          </a:p>
        </p:txBody>
      </p:sp>
      <p:sp>
        <p:nvSpPr>
          <p:cNvPr id="33" name="Shape 31"/>
          <p:cNvSpPr/>
          <p:nvPr/>
        </p:nvSpPr>
        <p:spPr>
          <a:xfrm>
            <a:off x="3204150" y="2390567"/>
            <a:ext cx="2735610" cy="1045934"/>
          </a:xfrm>
          <a:prstGeom prst="roundRect">
            <a:avLst>
              <a:gd name="adj" fmla="val 6557"/>
            </a:avLst>
          </a:prstGeom>
          <a:solidFill>
            <a:srgbClr val="0F172A">
              <a:alpha val="55000"/>
            </a:srgbClr>
          </a:solidFill>
          <a:ln w="11430">
            <a:solidFill>
              <a:srgbClr val="FF7043">
                <a:alpha val="16000"/>
              </a:srgbClr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3335595" y="2504867"/>
            <a:ext cx="2472720" cy="180023"/>
          </a:xfrm>
          <a:prstGeom prst="rect">
            <a:avLst/>
          </a:prstGeom>
          <a:noFill/>
          <a:ln/>
        </p:spPr>
      </p:sp>
      <p:sp>
        <p:nvSpPr>
          <p:cNvPr id="35" name="Shape 33"/>
          <p:cNvSpPr/>
          <p:nvPr/>
        </p:nvSpPr>
        <p:spPr>
          <a:xfrm>
            <a:off x="3335595" y="2684889"/>
            <a:ext cx="2472720" cy="0"/>
          </a:xfrm>
          <a:prstGeom prst="line">
            <a:avLst/>
          </a:prstGeom>
          <a:noFill/>
          <a:ln w="5715">
            <a:solidFill>
              <a:srgbClr val="94A3B8">
                <a:alpha val="20000"/>
              </a:srgbClr>
            </a:solidFill>
            <a:prstDash val="dash"/>
          </a:ln>
        </p:spPr>
      </p:sp>
      <p:sp>
        <p:nvSpPr>
          <p:cNvPr id="36" name="Shape 34"/>
          <p:cNvSpPr/>
          <p:nvPr/>
        </p:nvSpPr>
        <p:spPr>
          <a:xfrm>
            <a:off x="3335595" y="2504867"/>
            <a:ext cx="45720" cy="45720"/>
          </a:xfrm>
          <a:prstGeom prst="ellipse">
            <a:avLst/>
          </a:prstGeom>
          <a:solidFill>
            <a:srgbClr val="FF7043"/>
          </a:solidFill>
          <a:ln/>
          <a:effectLst>
            <a:outerShdw sx="100000" sy="100000" kx="0" ky="0" algn="bl" rotWithShape="0" blurRad="76200" dist="50800" dir="16200000">
              <a:srgbClr val="FF7043">
                <a:alpha val="40000"/>
              </a:srgbClr>
            </a:outerShdw>
          </a:effectLst>
        </p:spPr>
      </p:sp>
      <p:sp>
        <p:nvSpPr>
          <p:cNvPr id="37" name="Text 35"/>
          <p:cNvSpPr/>
          <p:nvPr/>
        </p:nvSpPr>
        <p:spPr>
          <a:xfrm>
            <a:off x="3449895" y="2504867"/>
            <a:ext cx="257175" cy="128588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675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演化</a:t>
            </a:r>
            <a:endParaRPr lang="en-US" sz="675" dirty="0"/>
          </a:p>
        </p:txBody>
      </p:sp>
      <p:sp>
        <p:nvSpPr>
          <p:cNvPr id="38" name="Text 36"/>
          <p:cNvSpPr/>
          <p:nvPr/>
        </p:nvSpPr>
        <p:spPr>
          <a:xfrm>
            <a:off x="3689925" y="2516297"/>
            <a:ext cx="415141" cy="111443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585" b="1" spc="23" kern="0" dirty="0">
                <a:solidFill>
                  <a:srgbClr val="FF704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2025-03</a:t>
            </a:r>
            <a:endParaRPr lang="en-US" sz="585" dirty="0"/>
          </a:p>
        </p:txBody>
      </p:sp>
      <p:sp>
        <p:nvSpPr>
          <p:cNvPr id="39" name="Text 37"/>
          <p:cNvSpPr/>
          <p:nvPr/>
        </p:nvSpPr>
        <p:spPr>
          <a:xfrm>
            <a:off x="3335595" y="2753469"/>
            <a:ext cx="1152144" cy="97155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lnSpc>
                <a:spcPct val="160000"/>
              </a:lnSpc>
              <a:buNone/>
            </a:pPr>
            <a:r>
              <a:rPr lang="en-US" sz="630" b="1" dirty="0">
                <a:solidFill>
                  <a:srgbClr val="FF704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OpenAI 采纳；云厂密集加入</a:t>
            </a:r>
            <a:endParaRPr lang="en-US" sz="630" dirty="0"/>
          </a:p>
        </p:txBody>
      </p:sp>
      <p:sp>
        <p:nvSpPr>
          <p:cNvPr id="40" name="Text 38"/>
          <p:cNvSpPr/>
          <p:nvPr/>
        </p:nvSpPr>
        <p:spPr>
          <a:xfrm>
            <a:off x="3335595" y="2927152"/>
            <a:ext cx="2596356" cy="37790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marL="342900" indent="-342900">
              <a:buSzPct val="100000"/>
              <a:buChar char="›"/>
            </a:pPr>
            <a:r>
              <a:rPr lang="en-US" sz="563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OpenAI 率先在 API 侧支持，形成跨平台共识</a:t>
            </a:r>
            <a:endParaRPr lang="en-US" sz="563" dirty="0"/>
          </a:p>
          <a:p>
            <a:pPr algn="l" marL="342900" indent="-342900">
              <a:buSzPct val="100000"/>
              <a:buChar char="›"/>
            </a:pPr>
            <a:r>
              <a:rPr lang="en-US" sz="563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Google / Microsoft / AWS 云侧工具链跟进</a:t>
            </a:r>
            <a:endParaRPr lang="en-US" sz="563" dirty="0"/>
          </a:p>
          <a:p>
            <a:pPr algn="l" marL="342900" indent="-342900">
              <a:buSzPct val="100000"/>
              <a:buChar char="›"/>
            </a:pPr>
            <a:r>
              <a:rPr lang="en-US" sz="563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开源社区涌现实现，多方自发治理雏形</a:t>
            </a:r>
            <a:endParaRPr lang="en-US" sz="563" dirty="0"/>
          </a:p>
        </p:txBody>
      </p:sp>
      <p:sp>
        <p:nvSpPr>
          <p:cNvPr id="41" name="Shape 39"/>
          <p:cNvSpPr/>
          <p:nvPr/>
        </p:nvSpPr>
        <p:spPr>
          <a:xfrm>
            <a:off x="6065490" y="2390567"/>
            <a:ext cx="2735520" cy="1045934"/>
          </a:xfrm>
          <a:prstGeom prst="roundRect">
            <a:avLst>
              <a:gd name="adj" fmla="val 6557"/>
            </a:avLst>
          </a:prstGeom>
          <a:solidFill>
            <a:srgbClr val="0F172A">
              <a:alpha val="55000"/>
            </a:srgbClr>
          </a:solidFill>
          <a:ln w="11430">
            <a:solidFill>
              <a:srgbClr val="00BCD4">
                <a:alpha val="16000"/>
              </a:srgbClr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6196935" y="2504867"/>
            <a:ext cx="2472630" cy="180023"/>
          </a:xfrm>
          <a:prstGeom prst="rect">
            <a:avLst/>
          </a:prstGeom>
          <a:noFill/>
          <a:ln/>
        </p:spPr>
      </p:sp>
      <p:sp>
        <p:nvSpPr>
          <p:cNvPr id="43" name="Shape 41"/>
          <p:cNvSpPr/>
          <p:nvPr/>
        </p:nvSpPr>
        <p:spPr>
          <a:xfrm>
            <a:off x="6196935" y="2684889"/>
            <a:ext cx="2472630" cy="0"/>
          </a:xfrm>
          <a:prstGeom prst="line">
            <a:avLst/>
          </a:prstGeom>
          <a:noFill/>
          <a:ln w="5715">
            <a:solidFill>
              <a:srgbClr val="94A3B8">
                <a:alpha val="20000"/>
              </a:srgbClr>
            </a:solidFill>
            <a:prstDash val="dash"/>
          </a:ln>
        </p:spPr>
      </p:sp>
      <p:sp>
        <p:nvSpPr>
          <p:cNvPr id="44" name="Shape 42"/>
          <p:cNvSpPr/>
          <p:nvPr/>
        </p:nvSpPr>
        <p:spPr>
          <a:xfrm>
            <a:off x="6196935" y="2504867"/>
            <a:ext cx="45720" cy="45720"/>
          </a:xfrm>
          <a:prstGeom prst="ellipse">
            <a:avLst/>
          </a:prstGeom>
          <a:solidFill>
            <a:srgbClr val="00BCD4"/>
          </a:solidFill>
          <a:ln/>
          <a:effectLst>
            <a:outerShdw sx="100000" sy="100000" kx="0" ky="0" algn="bl" rotWithShape="0" blurRad="76200" dist="50800" dir="16200000">
              <a:srgbClr val="00BCD4">
                <a:alpha val="35000"/>
              </a:srgbClr>
            </a:outerShdw>
          </a:effectLst>
        </p:spPr>
      </p:sp>
      <p:sp>
        <p:nvSpPr>
          <p:cNvPr id="45" name="Text 43"/>
          <p:cNvSpPr/>
          <p:nvPr/>
        </p:nvSpPr>
        <p:spPr>
          <a:xfrm>
            <a:off x="6311235" y="2504867"/>
            <a:ext cx="257175" cy="128588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675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终点</a:t>
            </a:r>
            <a:endParaRPr lang="en-US" sz="675" dirty="0"/>
          </a:p>
        </p:txBody>
      </p:sp>
      <p:sp>
        <p:nvSpPr>
          <p:cNvPr id="46" name="Text 44"/>
          <p:cNvSpPr/>
          <p:nvPr/>
        </p:nvSpPr>
        <p:spPr>
          <a:xfrm>
            <a:off x="6551265" y="2516297"/>
            <a:ext cx="282321" cy="111443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585" b="1" spc="23" kern="0" dirty="0">
                <a:solidFill>
                  <a:srgbClr val="00BCD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2026</a:t>
            </a:r>
            <a:endParaRPr lang="en-US" sz="585" dirty="0"/>
          </a:p>
        </p:txBody>
      </p:sp>
      <p:sp>
        <p:nvSpPr>
          <p:cNvPr id="47" name="Text 45"/>
          <p:cNvSpPr/>
          <p:nvPr/>
        </p:nvSpPr>
        <p:spPr>
          <a:xfrm>
            <a:off x="6196935" y="2742039"/>
            <a:ext cx="2769346" cy="12796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60000"/>
              </a:lnSpc>
              <a:buNone/>
            </a:pPr>
            <a:r>
              <a:rPr lang="en-US" sz="630" dirty="0">
                <a:solidFill>
                  <a:srgbClr val="E2E8F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捐给</a:t>
            </a:r>
            <a:pPr algn="l" indent="0" marL="0">
              <a:lnSpc>
                <a:spcPct val="160000"/>
              </a:lnSpc>
              <a:buNone/>
            </a:pPr>
            <a:r>
              <a:rPr lang="en-US" sz="630" b="1" dirty="0">
                <a:solidFill>
                  <a:srgbClr val="00BCD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Agentic AI Foundation</a:t>
            </a:r>
            <a:pPr algn="l" indent="0" marL="0">
              <a:lnSpc>
                <a:spcPct val="160000"/>
              </a:lnSpc>
              <a:buNone/>
            </a:pPr>
            <a:r>
              <a:rPr lang="en-US" sz="630" dirty="0">
                <a:solidFill>
                  <a:srgbClr val="E2E8F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（LF 旗下）</a:t>
            </a:r>
            <a:endParaRPr lang="en-US" sz="630" dirty="0"/>
          </a:p>
        </p:txBody>
      </p:sp>
      <p:sp>
        <p:nvSpPr>
          <p:cNvPr id="48" name="Text 46"/>
          <p:cNvSpPr/>
          <p:nvPr/>
        </p:nvSpPr>
        <p:spPr>
          <a:xfrm>
            <a:off x="6196935" y="2927152"/>
            <a:ext cx="2596262" cy="37790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marL="342900" indent="-342900">
              <a:buSzPct val="100000"/>
              <a:buChar char="›"/>
            </a:pPr>
            <a:r>
              <a:rPr lang="en-US" sz="563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由 Linux Foundation 中立托管、多厂商共同治理</a:t>
            </a:r>
            <a:endParaRPr lang="en-US" sz="563" dirty="0"/>
          </a:p>
          <a:p>
            <a:pPr algn="l" marL="342900" indent="-342900">
              <a:buSzPct val="100000"/>
              <a:buChar char="›"/>
            </a:pPr>
            <a:r>
              <a:rPr lang="en-US" sz="563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协议版本、商标、路线图公开化</a:t>
            </a:r>
            <a:endParaRPr lang="en-US" sz="563" dirty="0"/>
          </a:p>
          <a:p>
            <a:pPr algn="l" marL="342900" indent="-342900">
              <a:buSzPct val="100000"/>
              <a:buChar char="›"/>
            </a:pPr>
            <a:r>
              <a:rPr lang="en-US" sz="563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从"厂商协议"跃迁为"行业标准"</a:t>
            </a:r>
            <a:endParaRPr lang="en-US" sz="563" dirty="0"/>
          </a:p>
        </p:txBody>
      </p:sp>
      <p:sp>
        <p:nvSpPr>
          <p:cNvPr id="49" name="Shape 47"/>
          <p:cNvSpPr/>
          <p:nvPr/>
        </p:nvSpPr>
        <p:spPr>
          <a:xfrm>
            <a:off x="342900" y="3562231"/>
            <a:ext cx="8458200" cy="292537"/>
          </a:xfrm>
          <a:prstGeom prst="roundRect">
            <a:avLst>
              <a:gd name="adj" fmla="val 11722"/>
            </a:avLst>
          </a:prstGeom>
          <a:gradFill rotWithShape="1">
            <a:gsLst>
              <a:gs pos="0">
                <a:srgbClr val="00BCD4">
                  <a:alpha val="10000"/>
                </a:srgbClr>
              </a:gs>
              <a:gs pos="100000">
                <a:srgbClr val="000000">
                  <a:alpha val="0"/>
                </a:srgbClr>
              </a:gs>
            </a:gsLst>
            <a:lin ang="0" scaled="0"/>
          </a:gradFill>
          <a:ln/>
        </p:spPr>
      </p:sp>
      <p:sp>
        <p:nvSpPr>
          <p:cNvPr id="50" name="Shape 48"/>
          <p:cNvSpPr/>
          <p:nvPr/>
        </p:nvSpPr>
        <p:spPr>
          <a:xfrm>
            <a:off x="342900" y="3562231"/>
            <a:ext cx="0" cy="292537"/>
          </a:xfrm>
          <a:prstGeom prst="line">
            <a:avLst/>
          </a:prstGeom>
          <a:noFill/>
          <a:ln w="22860">
            <a:solidFill>
              <a:srgbClr val="00BCD4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514350" y="3642241"/>
            <a:ext cx="9114739" cy="132517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60000"/>
              </a:lnSpc>
              <a:buNone/>
            </a:pPr>
            <a:r>
              <a:rPr lang="en-US" sz="653" b="1" dirty="0">
                <a:solidFill>
                  <a:srgbClr val="00BCD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制度含义 · 教科书案例：</a:t>
            </a:r>
            <a:pPr algn="l" indent="0" marL="0">
              <a:lnSpc>
                <a:spcPct val="160000"/>
              </a:lnSpc>
              <a:buNone/>
            </a:pPr>
            <a:r>
              <a:rPr lang="en-US" sz="653" dirty="0">
                <a:solidFill>
                  <a:srgbClr val="E2E8F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MCP 的迁移是</a:t>
            </a:r>
            <a:pPr algn="l" indent="0" marL="0">
              <a:lnSpc>
                <a:spcPct val="160000"/>
              </a:lnSpc>
              <a:buNone/>
            </a:pPr>
            <a:r>
              <a:rPr lang="en-US" sz="653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多厂商自发采纳后的自然结果，非行政命令能促成</a:t>
            </a:r>
            <a:pPr algn="l" indent="0" marL="0">
              <a:lnSpc>
                <a:spcPct val="160000"/>
              </a:lnSpc>
              <a:buNone/>
            </a:pPr>
            <a:r>
              <a:rPr lang="en-US" sz="653" dirty="0">
                <a:solidFill>
                  <a:srgbClr val="E2E8F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；对照来看，</a:t>
            </a:r>
            <a:pPr algn="l" indent="0" marL="0">
              <a:lnSpc>
                <a:spcPct val="160000"/>
              </a:lnSpc>
              <a:buNone/>
            </a:pPr>
            <a:r>
              <a:rPr lang="en-US" sz="653" b="1" dirty="0">
                <a:solidFill>
                  <a:srgbClr val="FF704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中国行政开源试图以行政力量复制此流程——制度演化需要时间尺度</a:t>
            </a:r>
            <a:pPr algn="l" indent="0" marL="0">
              <a:lnSpc>
                <a:spcPct val="160000"/>
              </a:lnSpc>
              <a:buNone/>
            </a:pPr>
            <a:r>
              <a:rPr lang="en-US" sz="653" dirty="0">
                <a:solidFill>
                  <a:srgbClr val="E2E8F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。</a:t>
            </a:r>
            <a:endParaRPr lang="en-US" sz="653" dirty="0"/>
          </a:p>
        </p:txBody>
      </p:sp>
      <p:sp>
        <p:nvSpPr>
          <p:cNvPr id="52" name="Shape 50"/>
          <p:cNvSpPr/>
          <p:nvPr/>
        </p:nvSpPr>
        <p:spPr>
          <a:xfrm>
            <a:off x="342900" y="3911918"/>
            <a:ext cx="8458200" cy="172879"/>
          </a:xfrm>
          <a:prstGeom prst="rect">
            <a:avLst/>
          </a:prstGeom>
          <a:noFill/>
          <a:ln/>
        </p:spPr>
      </p:sp>
      <p:sp>
        <p:nvSpPr>
          <p:cNvPr id="53" name="Shape 51"/>
          <p:cNvSpPr/>
          <p:nvPr/>
        </p:nvSpPr>
        <p:spPr>
          <a:xfrm>
            <a:off x="342900" y="3911918"/>
            <a:ext cx="8458200" cy="0"/>
          </a:xfrm>
          <a:prstGeom prst="line">
            <a:avLst/>
          </a:prstGeom>
          <a:noFill/>
          <a:ln w="5715">
            <a:solidFill>
              <a:srgbClr val="94A3B8">
                <a:alpha val="12000"/>
              </a:srgbClr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342900" y="3986213"/>
            <a:ext cx="2657832" cy="98584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518" spc="31" kern="0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MCP 从厂商私产到社区共识的完整演化路径 —— 制度经济学教科书的经典案例</a:t>
            </a:r>
            <a:endParaRPr lang="en-US" sz="518" dirty="0"/>
          </a:p>
        </p:txBody>
      </p:sp>
      <p:sp>
        <p:nvSpPr>
          <p:cNvPr id="55" name="Text 53"/>
          <p:cNvSpPr/>
          <p:nvPr/>
        </p:nvSpPr>
        <p:spPr>
          <a:xfrm>
            <a:off x="7939653" y="3986213"/>
            <a:ext cx="964821" cy="98584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518" spc="31" kern="0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慢演化 · 多主体 · 无中央命令</a:t>
            </a:r>
            <a:endParaRPr lang="en-US" sz="518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gradFill rotWithShape="1">
            <a:gsLst>
              <a:gs pos="0">
                <a:srgbClr val="0F172A"/>
              </a:gs>
              <a:gs pos="100000">
                <a:srgbClr val="1E293B"/>
              </a:gs>
            </a:gsLst>
            <a:lin ang="2700000" scaled="0"/>
          </a:gra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gradFill rotWithShape="1">
            <a:gsLst>
              <a:gs pos="0">
                <a:srgbClr val="000000">
                  <a:alpha val="4300"/>
                </a:srgbClr>
              </a:gs>
              <a:gs pos="25000">
                <a:srgbClr val="000000">
                  <a:alpha val="0"/>
                </a:srgbClr>
              </a:gs>
              <a:gs pos="50000">
                <a:srgbClr val="000000"/>
              </a:gs>
              <a:gs pos="75000">
                <a:srgbClr val="000000">
                  <a:alpha val="4300"/>
                </a:srgbClr>
              </a:gs>
              <a:gs pos="100000">
                <a:srgbClr val="000000">
                  <a:alpha val="0"/>
                </a:srgbClr>
              </a:gs>
            </a:gsLst>
            <a:lin ang="5400000" scaled="0"/>
          </a:gradFill>
          <a:ln/>
        </p:spPr>
      </p:sp>
      <p:sp>
        <p:nvSpPr>
          <p:cNvPr id="4" name="Shape 2"/>
          <p:cNvSpPr/>
          <p:nvPr/>
        </p:nvSpPr>
        <p:spPr>
          <a:xfrm>
            <a:off x="2903220" y="828675"/>
            <a:ext cx="2971800" cy="2971800"/>
          </a:xfrm>
          <a:prstGeom prst="ellipse">
            <a:avLst/>
          </a:prstGeom>
          <a:solidFill>
            <a:srgbClr val="AB004F">
              <a:alpha val="50000"/>
            </a:srgbClr>
          </a:solidFill>
          <a:ln/>
          <a:effectLst>
            <a:outerShdw sx="100000" sy="100000" kx="0" ky="0" algn="bl" rotWithShape="0" blurRad="171450" dist="50800" dir="16200000">
              <a:srgbClr val="AB004F">
                <a:alpha val="6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F172A">
              <a:alpha val="55000"/>
            </a:srgbClr>
          </a:solidFill>
          <a:ln/>
        </p:spPr>
      </p:sp>
      <p:sp>
        <p:nvSpPr>
          <p:cNvPr id="6" name="Shape 4"/>
          <p:cNvSpPr/>
          <p:nvPr/>
        </p:nvSpPr>
        <p:spPr>
          <a:xfrm>
            <a:off x="342900" y="385763"/>
            <a:ext cx="274320" cy="11430"/>
          </a:xfrm>
          <a:prstGeom prst="rect">
            <a:avLst/>
          </a:prstGeom>
          <a:solidFill>
            <a:srgbClr val="00BCD4"/>
          </a:solidFill>
          <a:ln/>
          <a:effectLst>
            <a:outerShdw sx="100000" sy="100000" kx="0" ky="0" algn="bl" rotWithShape="0" blurRad="76200" dist="50800" dir="16200000">
              <a:srgbClr val="00BCD4">
                <a:alpha val="55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708660" y="342900"/>
            <a:ext cx="870509" cy="97155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buNone/>
            </a:pPr>
            <a:r>
              <a:rPr lang="en-US" sz="630" spc="221" kern="0" dirty="0">
                <a:solidFill>
                  <a:srgbClr val="00BCD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CHAPTER 02</a:t>
            </a:r>
            <a:endParaRPr lang="en-US" sz="630" dirty="0"/>
          </a:p>
        </p:txBody>
      </p:sp>
      <p:sp>
        <p:nvSpPr>
          <p:cNvPr id="8" name="Text 6"/>
          <p:cNvSpPr/>
          <p:nvPr/>
        </p:nvSpPr>
        <p:spPr>
          <a:xfrm>
            <a:off x="7758648" y="342900"/>
            <a:ext cx="1052332" cy="91440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buNone/>
            </a:pPr>
            <a:r>
              <a:rPr lang="en-US" sz="585" spc="187" kern="0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HERMES · ACT II</a:t>
            </a:r>
            <a:endParaRPr lang="en-US" sz="585" dirty="0"/>
          </a:p>
        </p:txBody>
      </p:sp>
      <p:sp>
        <p:nvSpPr>
          <p:cNvPr id="9" name="Shape 7"/>
          <p:cNvSpPr/>
          <p:nvPr/>
        </p:nvSpPr>
        <p:spPr>
          <a:xfrm>
            <a:off x="8766810" y="371475"/>
            <a:ext cx="34290" cy="34290"/>
          </a:xfrm>
          <a:prstGeom prst="ellipse">
            <a:avLst/>
          </a:prstGeom>
          <a:solidFill>
            <a:srgbClr val="00BCD4"/>
          </a:solidFill>
          <a:ln/>
          <a:effectLst>
            <a:outerShdw sx="100000" sy="100000" kx="0" ky="0" algn="bl" rotWithShape="0" blurRad="95250" dist="50800" dir="16200000">
              <a:srgbClr val="00BCD4">
                <a:alpha val="55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342900" y="1171575"/>
            <a:ext cx="9473184" cy="91440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ctr" indent="0" marL="0">
              <a:buNone/>
            </a:pPr>
            <a:r>
              <a:rPr lang="en-US" sz="585" spc="322" kern="0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ARCHITECTURE · CHAPTER TRANSITION</a:t>
            </a:r>
            <a:endParaRPr lang="en-US" sz="585" dirty="0"/>
          </a:p>
        </p:txBody>
      </p:sp>
      <p:sp>
        <p:nvSpPr>
          <p:cNvPr id="11" name="Text 9"/>
          <p:cNvSpPr/>
          <p:nvPr/>
        </p:nvSpPr>
        <p:spPr>
          <a:xfrm>
            <a:off x="1318022" y="1405890"/>
            <a:ext cx="2169914" cy="662940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ctr" indent="0" marL="0">
              <a:lnSpc>
                <a:spcPct val="112000"/>
              </a:lnSpc>
              <a:buNone/>
            </a:pPr>
            <a:r>
              <a:rPr lang="en-US" sz="4320" b="1" spc="-65" kern="0" dirty="0">
                <a:solidFill>
                  <a:srgbClr val="F8FAF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第二幕</a:t>
            </a:r>
            <a:endParaRPr lang="en-US" sz="4320" dirty="0"/>
          </a:p>
        </p:txBody>
      </p:sp>
      <p:sp>
        <p:nvSpPr>
          <p:cNvPr id="12" name="Text 10"/>
          <p:cNvSpPr/>
          <p:nvPr/>
        </p:nvSpPr>
        <p:spPr>
          <a:xfrm>
            <a:off x="3048953" y="1405890"/>
            <a:ext cx="932688" cy="662940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ctr" indent="0" marL="0">
              <a:lnSpc>
                <a:spcPct val="112000"/>
              </a:lnSpc>
              <a:buNone/>
            </a:pPr>
            <a:r>
              <a:rPr lang="en-US" sz="4320" b="1" spc="-65" kern="0" dirty="0">
                <a:solidFill>
                  <a:srgbClr val="00BCD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·</a:t>
            </a:r>
            <a:endParaRPr lang="en-US" sz="4320" dirty="0"/>
          </a:p>
        </p:txBody>
      </p:sp>
      <p:sp>
        <p:nvSpPr>
          <p:cNvPr id="13" name="Text 11"/>
          <p:cNvSpPr/>
          <p:nvPr/>
        </p:nvSpPr>
        <p:spPr>
          <a:xfrm>
            <a:off x="3415516" y="1405890"/>
            <a:ext cx="4959102" cy="662940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ctr" indent="0" marL="0">
              <a:lnSpc>
                <a:spcPct val="112000"/>
              </a:lnSpc>
              <a:buNone/>
            </a:pPr>
            <a:r>
              <a:rPr lang="en-US" sz="4320" b="1" spc="-22" kern="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Hermes 技术架构</a:t>
            </a:r>
            <a:endParaRPr lang="en-US" sz="4320" dirty="0"/>
          </a:p>
        </p:txBody>
      </p:sp>
      <p:sp>
        <p:nvSpPr>
          <p:cNvPr id="14" name="Text 12"/>
          <p:cNvSpPr/>
          <p:nvPr/>
        </p:nvSpPr>
        <p:spPr>
          <a:xfrm>
            <a:off x="342900" y="2197507"/>
            <a:ext cx="9473184" cy="182880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ctr" indent="0" marL="0">
              <a:buNone/>
            </a:pPr>
            <a:r>
              <a:rPr lang="en-US" sz="990" spc="158" kern="0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两条不变量决定了所有设计决策</a:t>
            </a:r>
            <a:endParaRPr lang="en-US" sz="990" dirty="0"/>
          </a:p>
        </p:txBody>
      </p:sp>
      <p:sp>
        <p:nvSpPr>
          <p:cNvPr id="15" name="Shape 13"/>
          <p:cNvSpPr/>
          <p:nvPr/>
        </p:nvSpPr>
        <p:spPr>
          <a:xfrm>
            <a:off x="3960495" y="3128963"/>
            <a:ext cx="514350" cy="5715"/>
          </a:xfrm>
          <a:prstGeom prst="rect">
            <a:avLst/>
          </a:prstGeom>
          <a:gradFill rotWithShape="1">
            <a:gsLst>
              <a:gs pos="0">
                <a:srgbClr val="000000">
                  <a:alpha val="0"/>
                </a:srgbClr>
              </a:gs>
              <a:gs pos="100000">
                <a:srgbClr val="00BCD4">
                  <a:alpha val="32000"/>
                </a:srgbClr>
              </a:gs>
            </a:gsLst>
            <a:lin ang="0" scaled="0"/>
          </a:gradFill>
          <a:ln/>
        </p:spPr>
      </p:sp>
      <p:sp>
        <p:nvSpPr>
          <p:cNvPr id="16" name="Shape 14"/>
          <p:cNvSpPr/>
          <p:nvPr/>
        </p:nvSpPr>
        <p:spPr>
          <a:xfrm>
            <a:off x="4554855" y="3114675"/>
            <a:ext cx="34290" cy="34290"/>
          </a:xfrm>
          <a:prstGeom prst="ellipse">
            <a:avLst/>
          </a:prstGeom>
          <a:solidFill>
            <a:srgbClr val="00BCD4"/>
          </a:solidFill>
          <a:ln/>
          <a:effectLst>
            <a:outerShdw sx="100000" sy="100000" kx="0" ky="0" algn="bl" rotWithShape="0" blurRad="95250" dist="50800" dir="16200000">
              <a:srgbClr val="00BCD4">
                <a:alpha val="55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4669155" y="3128963"/>
            <a:ext cx="514350" cy="5715"/>
          </a:xfrm>
          <a:prstGeom prst="rect">
            <a:avLst/>
          </a:prstGeom>
          <a:gradFill rotWithShape="1">
            <a:gsLst>
              <a:gs pos="0">
                <a:srgbClr val="00BCD4">
                  <a:alpha val="32000"/>
                </a:srgbClr>
              </a:gs>
              <a:gs pos="100000">
                <a:srgbClr val="000000">
                  <a:alpha val="0"/>
                </a:srgbClr>
              </a:gs>
            </a:gsLst>
            <a:lin ang="0" scaled="0"/>
          </a:gradFill>
          <a:ln/>
        </p:spPr>
      </p:sp>
      <p:sp>
        <p:nvSpPr>
          <p:cNvPr id="18" name="Shape 16"/>
          <p:cNvSpPr/>
          <p:nvPr/>
        </p:nvSpPr>
        <p:spPr>
          <a:xfrm>
            <a:off x="2628900" y="1800225"/>
            <a:ext cx="11430" cy="1485900"/>
          </a:xfrm>
          <a:prstGeom prst="rect">
            <a:avLst/>
          </a:prstGeom>
          <a:gradFill rotWithShape="1">
            <a:gsLst>
              <a:gs pos="0">
                <a:srgbClr val="000000">
                  <a:alpha val="0"/>
                </a:srgbClr>
              </a:gs>
              <a:gs pos="22000">
                <a:srgbClr val="00BCD4"/>
              </a:gs>
              <a:gs pos="78000">
                <a:srgbClr val="00BCD4"/>
              </a:gs>
              <a:gs pos="100000">
                <a:srgbClr val="000000">
                  <a:alpha val="0"/>
                </a:srgbClr>
              </a:gs>
            </a:gsLst>
            <a:lin ang="5400000" scaled="0"/>
          </a:gradFill>
          <a:ln/>
          <a:effectLst>
            <a:outerShdw sx="100000" sy="100000" kx="0" ky="0" algn="bl" rotWithShape="0" blurRad="133350" dist="50800" dir="16200000">
              <a:srgbClr val="00BCD4">
                <a:alpha val="60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2634615" y="1777365"/>
            <a:ext cx="45720" cy="45720"/>
          </a:xfrm>
          <a:prstGeom prst="ellipse">
            <a:avLst/>
          </a:prstGeom>
          <a:solidFill>
            <a:srgbClr val="00BCD4"/>
          </a:solidFill>
          <a:ln/>
          <a:effectLst>
            <a:outerShdw sx="100000" sy="100000" kx="0" ky="0" algn="bl" rotWithShape="0" blurRad="133350" dist="50800" dir="16200000">
              <a:srgbClr val="00BCD4">
                <a:alpha val="55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2634615" y="3263265"/>
            <a:ext cx="45720" cy="45720"/>
          </a:xfrm>
          <a:prstGeom prst="ellipse">
            <a:avLst/>
          </a:prstGeom>
          <a:solidFill>
            <a:srgbClr val="00BCD4"/>
          </a:solidFill>
          <a:ln/>
          <a:effectLst>
            <a:outerShdw sx="100000" sy="100000" kx="0" ky="0" algn="bl" rotWithShape="0" blurRad="133350" dist="50800" dir="16200000">
              <a:srgbClr val="00BCD4">
                <a:alpha val="55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2613452" y="1651635"/>
            <a:ext cx="106871" cy="80010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buNone/>
            </a:pPr>
            <a:r>
              <a:rPr lang="en-US" sz="495" spc="198" kern="0" dirty="0">
                <a:solidFill>
                  <a:srgbClr val="00BCD4">
                    <a:alpha val="85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</a:t>
            </a:r>
            <a:endParaRPr lang="en-US" sz="495" dirty="0"/>
          </a:p>
        </p:txBody>
      </p:sp>
      <p:sp>
        <p:nvSpPr>
          <p:cNvPr id="22" name="Shape 20"/>
          <p:cNvSpPr/>
          <p:nvPr/>
        </p:nvSpPr>
        <p:spPr>
          <a:xfrm>
            <a:off x="6503670" y="1800225"/>
            <a:ext cx="11430" cy="1485900"/>
          </a:xfrm>
          <a:prstGeom prst="rect">
            <a:avLst/>
          </a:prstGeom>
          <a:gradFill rotWithShape="1">
            <a:gsLst>
              <a:gs pos="0">
                <a:srgbClr val="000000">
                  <a:alpha val="0"/>
                </a:srgbClr>
              </a:gs>
              <a:gs pos="22000">
                <a:srgbClr val="00BCD4"/>
              </a:gs>
              <a:gs pos="78000">
                <a:srgbClr val="00BCD4"/>
              </a:gs>
              <a:gs pos="100000">
                <a:srgbClr val="000000">
                  <a:alpha val="0"/>
                </a:srgbClr>
              </a:gs>
            </a:gsLst>
            <a:lin ang="5400000" scaled="0"/>
          </a:gradFill>
          <a:ln/>
          <a:effectLst>
            <a:outerShdw sx="100000" sy="100000" kx="0" ky="0" algn="bl" rotWithShape="0" blurRad="133350" dist="50800" dir="16200000">
              <a:srgbClr val="00BCD4">
                <a:alpha val="60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6509385" y="1777365"/>
            <a:ext cx="45720" cy="45720"/>
          </a:xfrm>
          <a:prstGeom prst="ellipse">
            <a:avLst/>
          </a:prstGeom>
          <a:solidFill>
            <a:srgbClr val="00BCD4"/>
          </a:solidFill>
          <a:ln/>
          <a:effectLst>
            <a:outerShdw sx="100000" sy="100000" kx="0" ky="0" algn="bl" rotWithShape="0" blurRad="133350" dist="50800" dir="16200000">
              <a:srgbClr val="00BCD4">
                <a:alpha val="55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6509385" y="3263265"/>
            <a:ext cx="45720" cy="45720"/>
          </a:xfrm>
          <a:prstGeom prst="ellipse">
            <a:avLst/>
          </a:prstGeom>
          <a:solidFill>
            <a:srgbClr val="00BCD4"/>
          </a:solidFill>
          <a:ln/>
          <a:effectLst>
            <a:outerShdw sx="100000" sy="100000" kx="0" ky="0" algn="bl" rotWithShape="0" blurRad="133350" dist="50800" dir="16200000">
              <a:srgbClr val="00BCD4">
                <a:alpha val="55000"/>
              </a:srgbClr>
            </a:outerShdw>
          </a:effectLst>
        </p:spPr>
      </p:sp>
      <p:sp>
        <p:nvSpPr>
          <p:cNvPr id="25" name="Text 23"/>
          <p:cNvSpPr/>
          <p:nvPr/>
        </p:nvSpPr>
        <p:spPr>
          <a:xfrm>
            <a:off x="6467058" y="1651635"/>
            <a:ext cx="150876" cy="80010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buNone/>
            </a:pPr>
            <a:r>
              <a:rPr lang="en-US" sz="495" spc="198" kern="0" dirty="0">
                <a:solidFill>
                  <a:srgbClr val="00BCD4">
                    <a:alpha val="85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II</a:t>
            </a:r>
            <a:endParaRPr lang="en-US" sz="495" dirty="0"/>
          </a:p>
        </p:txBody>
      </p:sp>
      <p:sp>
        <p:nvSpPr>
          <p:cNvPr id="26" name="Shape 24"/>
          <p:cNvSpPr/>
          <p:nvPr/>
        </p:nvSpPr>
        <p:spPr>
          <a:xfrm>
            <a:off x="2175272" y="4254818"/>
            <a:ext cx="80010" cy="80010"/>
          </a:xfrm>
          <a:prstGeom prst="rect">
            <a:avLst/>
          </a:prstGeom>
          <a:solidFill>
            <a:srgbClr val="00BCD4"/>
          </a:solidFill>
          <a:ln/>
          <a:effectLst>
            <a:outerShdw sx="100000" sy="100000" kx="0" ky="0" algn="bl" rotWithShape="0" blurRad="95250" dist="50800" dir="16200000">
              <a:srgbClr val="00BCD4">
                <a:alpha val="55000"/>
              </a:srgbClr>
            </a:outerShdw>
          </a:effectLst>
        </p:spPr>
      </p:sp>
      <p:sp>
        <p:nvSpPr>
          <p:cNvPr id="27" name="Text 25"/>
          <p:cNvSpPr/>
          <p:nvPr/>
        </p:nvSpPr>
        <p:spPr>
          <a:xfrm>
            <a:off x="2346722" y="4217670"/>
            <a:ext cx="2385698" cy="15430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810" b="1" spc="41" kern="0" dirty="0">
                <a:solidFill>
                  <a:srgbClr val="00BCD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目标</a:t>
            </a:r>
            <a:pPr algn="l" indent="0" marL="0">
              <a:lnSpc>
                <a:spcPct val="150000"/>
              </a:lnSpc>
              <a:buNone/>
            </a:pPr>
            <a:r>
              <a:rPr lang="en-US" sz="810" spc="41" kern="0" dirty="0">
                <a:solidFill>
                  <a:srgbClr val="CBD5E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先讲不变量，再讲架构，最后讲独特性</a:t>
            </a:r>
            <a:endParaRPr lang="en-US" sz="810" dirty="0"/>
          </a:p>
        </p:txBody>
      </p:sp>
      <p:sp>
        <p:nvSpPr>
          <p:cNvPr id="28" name="Shape 26"/>
          <p:cNvSpPr/>
          <p:nvPr/>
        </p:nvSpPr>
        <p:spPr>
          <a:xfrm>
            <a:off x="4991160" y="4254818"/>
            <a:ext cx="80010" cy="80010"/>
          </a:xfrm>
          <a:prstGeom prst="rect">
            <a:avLst/>
          </a:prstGeom>
          <a:solidFill>
            <a:srgbClr val="FF7043"/>
          </a:solidFill>
          <a:ln/>
          <a:effectLst>
            <a:outerShdw sx="100000" sy="100000" kx="0" ky="0" algn="bl" rotWithShape="0" blurRad="95250" dist="50800" dir="16200000">
              <a:srgbClr val="FF7043">
                <a:alpha val="50000"/>
              </a:srgbClr>
            </a:outerShdw>
          </a:effectLst>
        </p:spPr>
      </p:sp>
      <p:sp>
        <p:nvSpPr>
          <p:cNvPr id="29" name="Text 27"/>
          <p:cNvSpPr/>
          <p:nvPr/>
        </p:nvSpPr>
        <p:spPr>
          <a:xfrm>
            <a:off x="5162610" y="4217670"/>
            <a:ext cx="2022753" cy="15430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810" b="1" spc="41" kern="0" dirty="0">
                <a:solidFill>
                  <a:srgbClr val="FF704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方法</a:t>
            </a:r>
            <a:pPr algn="l" indent="0" marL="0">
              <a:lnSpc>
                <a:spcPct val="150000"/>
              </a:lnSpc>
              <a:buNone/>
            </a:pPr>
            <a:r>
              <a:rPr lang="en-US" sz="810" spc="41" kern="0" dirty="0">
                <a:solidFill>
                  <a:srgbClr val="CBD5E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从设计原则推导出能力落地路径</a:t>
            </a:r>
            <a:endParaRPr lang="en-US" sz="810" dirty="0"/>
          </a:p>
        </p:txBody>
      </p:sp>
      <p:sp>
        <p:nvSpPr>
          <p:cNvPr id="30" name="Text 28"/>
          <p:cNvSpPr/>
          <p:nvPr/>
        </p:nvSpPr>
        <p:spPr>
          <a:xfrm>
            <a:off x="342900" y="4743450"/>
            <a:ext cx="1770721" cy="8572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540" spc="216" kern="0" dirty="0">
                <a:solidFill>
                  <a:srgbClr val="00BCD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▎</a:t>
            </a:r>
            <a:pPr algn="l" indent="0" marL="0">
              <a:buNone/>
            </a:pPr>
            <a:r>
              <a:rPr lang="en-US" sz="540" spc="216" kern="0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HERMES / ARCHITECTURE</a:t>
            </a:r>
            <a:endParaRPr lang="en-US" sz="540" dirty="0"/>
          </a:p>
        </p:txBody>
      </p:sp>
      <p:sp>
        <p:nvSpPr>
          <p:cNvPr id="31" name="Text 29"/>
          <p:cNvSpPr/>
          <p:nvPr/>
        </p:nvSpPr>
        <p:spPr>
          <a:xfrm>
            <a:off x="8156377" y="4743450"/>
            <a:ext cx="722090" cy="85725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buNone/>
            </a:pPr>
            <a:r>
              <a:rPr lang="en-US" sz="540" spc="216" kern="0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ACT II · 02</a:t>
            </a:r>
            <a:endParaRPr lang="en-US" sz="54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509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251460"/>
            <a:ext cx="205740" cy="11430"/>
          </a:xfrm>
          <a:prstGeom prst="rect">
            <a:avLst/>
          </a:prstGeom>
          <a:solidFill>
            <a:srgbClr val="00BCD4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205740"/>
            <a:ext cx="1804025" cy="102870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540" spc="173" kern="0" dirty="0">
                <a:solidFill>
                  <a:srgbClr val="00BCD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HERMES · DESIGN INVARIANTS</a:t>
            </a:r>
            <a:endParaRPr lang="en-US" sz="540" dirty="0"/>
          </a:p>
        </p:txBody>
      </p:sp>
      <p:sp>
        <p:nvSpPr>
          <p:cNvPr id="4" name="Text 2"/>
          <p:cNvSpPr/>
          <p:nvPr/>
        </p:nvSpPr>
        <p:spPr>
          <a:xfrm>
            <a:off x="365760" y="354330"/>
            <a:ext cx="3002775" cy="2765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980" b="1" spc="59" kern="0" dirty="0">
                <a:solidFill>
                  <a:srgbClr val="F8FAF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两条不变量</a:t>
            </a:r>
            <a:pPr algn="l" indent="0" marL="0">
              <a:lnSpc>
                <a:spcPct val="110000"/>
              </a:lnSpc>
              <a:buNone/>
            </a:pPr>
            <a:r>
              <a:rPr lang="en-US" sz="1980" b="1" spc="59" kern="0" dirty="0">
                <a:solidFill>
                  <a:srgbClr val="F8FAF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设计灵魂</a:t>
            </a:r>
            <a:endParaRPr lang="en-US" sz="1980" dirty="0"/>
          </a:p>
        </p:txBody>
      </p:sp>
      <p:sp>
        <p:nvSpPr>
          <p:cNvPr id="5" name="Shape 3"/>
          <p:cNvSpPr/>
          <p:nvPr/>
        </p:nvSpPr>
        <p:spPr>
          <a:xfrm>
            <a:off x="1740843" y="463987"/>
            <a:ext cx="57150" cy="57150"/>
          </a:xfrm>
          <a:prstGeom prst="roundRect">
            <a:avLst>
              <a:gd name="adj" fmla="val 10000"/>
            </a:avLst>
          </a:prstGeom>
          <a:solidFill>
            <a:srgbClr val="FF7043"/>
          </a:solidFill>
          <a:ln/>
          <a:effectLst>
            <a:outerShdw sx="100000" sy="100000" kx="0" ky="0" algn="bl" rotWithShape="0" blurRad="152400" dist="50800" dir="16200000">
              <a:srgbClr val="FF7043">
                <a:alpha val="100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365760" y="688032"/>
            <a:ext cx="3002775" cy="120015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630" spc="88" kern="0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TWO INVARIANTS  ·  THE SOUL OF THE ARCHITECTURE</a:t>
            </a:r>
            <a:endParaRPr lang="en-US" sz="630" dirty="0"/>
          </a:p>
        </p:txBody>
      </p:sp>
      <p:sp>
        <p:nvSpPr>
          <p:cNvPr id="7" name="Text 5"/>
          <p:cNvSpPr/>
          <p:nvPr/>
        </p:nvSpPr>
        <p:spPr>
          <a:xfrm>
            <a:off x="7275016" y="240030"/>
            <a:ext cx="1683610" cy="12680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lnSpc>
                <a:spcPct val="185000"/>
              </a:lnSpc>
              <a:buNone/>
            </a:pPr>
            <a:r>
              <a:rPr lang="en-US" sz="540" spc="151" kern="0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SCOPE</a:t>
            </a:r>
            <a:pPr algn="r" indent="0" marL="0">
              <a:lnSpc>
                <a:spcPct val="185000"/>
              </a:lnSpc>
              <a:buNone/>
            </a:pPr>
            <a:r>
              <a:rPr lang="en-US" sz="540" spc="151" kern="0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·</a:t>
            </a:r>
            <a:pPr algn="r" indent="0" marL="0">
              <a:lnSpc>
                <a:spcPct val="185000"/>
              </a:lnSpc>
              <a:buNone/>
            </a:pPr>
            <a:r>
              <a:rPr lang="en-US" sz="540" spc="151" kern="0" dirty="0">
                <a:solidFill>
                  <a:srgbClr val="00BCD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CORE ARCHITECTURE</a:t>
            </a:r>
            <a:endParaRPr lang="en-US" sz="540" dirty="0"/>
          </a:p>
        </p:txBody>
      </p:sp>
      <p:sp>
        <p:nvSpPr>
          <p:cNvPr id="8" name="Text 6"/>
          <p:cNvSpPr/>
          <p:nvPr/>
        </p:nvSpPr>
        <p:spPr>
          <a:xfrm>
            <a:off x="7275016" y="366832"/>
            <a:ext cx="1683610" cy="12680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lnSpc>
                <a:spcPct val="185000"/>
              </a:lnSpc>
              <a:buNone/>
            </a:pPr>
            <a:r>
              <a:rPr lang="en-US" sz="540" spc="151" kern="0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PRINCIPLES</a:t>
            </a:r>
            <a:pPr algn="r" indent="0" marL="0">
              <a:lnSpc>
                <a:spcPct val="185000"/>
              </a:lnSpc>
              <a:buNone/>
            </a:pPr>
            <a:r>
              <a:rPr lang="en-US" sz="540" spc="151" kern="0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·</a:t>
            </a:r>
            <a:pPr algn="r" indent="0" marL="0">
              <a:lnSpc>
                <a:spcPct val="185000"/>
              </a:lnSpc>
              <a:buNone/>
            </a:pPr>
            <a:r>
              <a:rPr lang="en-US" sz="540" spc="151" kern="0" dirty="0">
                <a:solidFill>
                  <a:srgbClr val="00BCD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02 / 02</a:t>
            </a:r>
            <a:endParaRPr lang="en-US" sz="540" dirty="0"/>
          </a:p>
        </p:txBody>
      </p:sp>
      <p:sp>
        <p:nvSpPr>
          <p:cNvPr id="9" name="Shape 7"/>
          <p:cNvSpPr/>
          <p:nvPr/>
        </p:nvSpPr>
        <p:spPr>
          <a:xfrm>
            <a:off x="388620" y="999500"/>
            <a:ext cx="274320" cy="17145"/>
          </a:xfrm>
          <a:prstGeom prst="rect">
            <a:avLst/>
          </a:prstGeom>
          <a:solidFill>
            <a:srgbClr val="00BCD4"/>
          </a:solidFill>
          <a:ln/>
        </p:spPr>
      </p:sp>
      <p:sp>
        <p:nvSpPr>
          <p:cNvPr id="10" name="Text 8"/>
          <p:cNvSpPr/>
          <p:nvPr/>
        </p:nvSpPr>
        <p:spPr>
          <a:xfrm>
            <a:off x="742950" y="956637"/>
            <a:ext cx="907913" cy="10287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540" b="1" spc="194" kern="0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INVARIANT</a:t>
            </a:r>
            <a:pPr algn="l" indent="0" marL="0">
              <a:lnSpc>
                <a:spcPct val="150000"/>
              </a:lnSpc>
              <a:buNone/>
            </a:pPr>
            <a:r>
              <a:rPr lang="en-US" sz="540" b="1" spc="194" kern="0" dirty="0">
                <a:solidFill>
                  <a:srgbClr val="00BCD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#1</a:t>
            </a:r>
            <a:endParaRPr lang="en-US" sz="540" dirty="0"/>
          </a:p>
        </p:txBody>
      </p:sp>
      <p:sp>
        <p:nvSpPr>
          <p:cNvPr id="11" name="Text 9"/>
          <p:cNvSpPr/>
          <p:nvPr/>
        </p:nvSpPr>
        <p:spPr>
          <a:xfrm>
            <a:off x="388620" y="1116657"/>
            <a:ext cx="4454957" cy="202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22000"/>
              </a:lnSpc>
              <a:buNone/>
            </a:pPr>
            <a:r>
              <a:rPr lang="en-US" sz="1305" b="1" spc="7" kern="0" dirty="0">
                <a:solidFill>
                  <a:srgbClr val="F8FAF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Prompt Caching</a:t>
            </a:r>
            <a:pPr algn="l" indent="0" marL="0">
              <a:lnSpc>
                <a:spcPct val="122000"/>
              </a:lnSpc>
              <a:buNone/>
            </a:pPr>
            <a:r>
              <a:rPr lang="en-US" sz="1305" b="1" spc="7" kern="0" dirty="0">
                <a:solidFill>
                  <a:srgbClr val="00BCD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is Sacred</a:t>
            </a:r>
            <a:endParaRPr lang="en-US" sz="1305" dirty="0"/>
          </a:p>
        </p:txBody>
      </p:sp>
      <p:pic>
        <p:nvPicPr>
          <p:cNvPr id="12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388620" y="1410266"/>
            <a:ext cx="3977640" cy="2294751"/>
          </a:xfrm>
          <a:prstGeom prst="rect">
            <a:avLst/>
          </a:prstGeom>
        </p:spPr>
      </p:pic>
      <p:sp>
        <p:nvSpPr>
          <p:cNvPr id="13" name="Text 10"/>
          <p:cNvSpPr/>
          <p:nvPr/>
        </p:nvSpPr>
        <p:spPr>
          <a:xfrm>
            <a:off x="388620" y="3853607"/>
            <a:ext cx="4454957" cy="10287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50000"/>
              </a:lnSpc>
              <a:buNone/>
            </a:pPr>
            <a:r>
              <a:rPr lang="en-US" sz="540" spc="97" kern="0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缓存 ·</a:t>
            </a:r>
            <a:pPr algn="ctr" indent="0" marL="0">
              <a:lnSpc>
                <a:spcPct val="150000"/>
              </a:lnSpc>
              <a:buNone/>
            </a:pPr>
            <a:r>
              <a:rPr lang="en-US" sz="540" b="1" spc="97" kern="0" dirty="0">
                <a:solidFill>
                  <a:srgbClr val="00BCD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神圣不可侵犯</a:t>
            </a:r>
            <a:endParaRPr lang="en-US" sz="540" dirty="0"/>
          </a:p>
        </p:txBody>
      </p:sp>
      <p:sp>
        <p:nvSpPr>
          <p:cNvPr id="14" name="Shape 11"/>
          <p:cNvSpPr/>
          <p:nvPr/>
        </p:nvSpPr>
        <p:spPr>
          <a:xfrm>
            <a:off x="388620" y="4002197"/>
            <a:ext cx="45720" cy="45720"/>
          </a:xfrm>
          <a:prstGeom prst="ellipse">
            <a:avLst/>
          </a:prstGeom>
          <a:solidFill>
            <a:srgbClr val="00BCD4"/>
          </a:solidFill>
          <a:ln/>
          <a:effectLst>
            <a:outerShdw sx="100000" sy="100000" kx="0" ky="0" algn="bl" rotWithShape="0" blurRad="114300" dist="50800" dir="16200000">
              <a:srgbClr val="00BCD4">
                <a:alpha val="55000"/>
              </a:srgbClr>
            </a:outerShdw>
          </a:effectLst>
        </p:spPr>
      </p:sp>
      <p:sp>
        <p:nvSpPr>
          <p:cNvPr id="15" name="Text 12"/>
          <p:cNvSpPr/>
          <p:nvPr/>
        </p:nvSpPr>
        <p:spPr>
          <a:xfrm>
            <a:off x="502920" y="3956477"/>
            <a:ext cx="3552444" cy="138857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62000"/>
              </a:lnSpc>
              <a:buNone/>
            </a:pPr>
            <a:r>
              <a:rPr lang="en-US" sz="675" dirty="0">
                <a:solidFill>
                  <a:srgbClr val="CBD5E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任何改变</a:t>
            </a:r>
            <a:pPr algn="l" indent="0" marL="0">
              <a:lnSpc>
                <a:spcPct val="162000"/>
              </a:lnSpc>
              <a:buNone/>
            </a:pPr>
            <a:r>
              <a:rPr lang="en-US" sz="675" b="1" dirty="0">
                <a:solidFill>
                  <a:srgbClr val="F8FAF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历史上下文</a:t>
            </a:r>
            <a:pPr algn="l" indent="0" marL="0">
              <a:lnSpc>
                <a:spcPct val="162000"/>
              </a:lnSpc>
              <a:buNone/>
            </a:pPr>
            <a:r>
              <a:rPr lang="en-US" sz="675" dirty="0">
                <a:solidFill>
                  <a:srgbClr val="CBD5E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的操作都会</a:t>
            </a:r>
            <a:pPr algn="l" indent="0" marL="0">
              <a:lnSpc>
                <a:spcPct val="162000"/>
              </a:lnSpc>
              <a:buNone/>
            </a:pPr>
            <a:r>
              <a:rPr lang="en-US" sz="675" b="1" dirty="0">
                <a:solidFill>
                  <a:srgbClr val="FF704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击穿缓存、放大用户成本</a:t>
            </a:r>
            <a:pPr algn="l" indent="0" marL="0">
              <a:lnSpc>
                <a:spcPct val="162000"/>
              </a:lnSpc>
              <a:buNone/>
            </a:pPr>
            <a:r>
              <a:rPr lang="en-US" sz="675" dirty="0">
                <a:solidFill>
                  <a:srgbClr val="CBD5E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——这是不可协商的红线。</a:t>
            </a:r>
            <a:endParaRPr lang="en-US" sz="675" dirty="0"/>
          </a:p>
        </p:txBody>
      </p:sp>
      <p:sp>
        <p:nvSpPr>
          <p:cNvPr id="16" name="Shape 13"/>
          <p:cNvSpPr/>
          <p:nvPr/>
        </p:nvSpPr>
        <p:spPr>
          <a:xfrm>
            <a:off x="388620" y="4209633"/>
            <a:ext cx="45720" cy="45720"/>
          </a:xfrm>
          <a:prstGeom prst="ellipse">
            <a:avLst/>
          </a:prstGeom>
          <a:solidFill>
            <a:srgbClr val="00BCD4"/>
          </a:solidFill>
          <a:ln/>
          <a:effectLst>
            <a:outerShdw sx="100000" sy="100000" kx="0" ky="0" algn="bl" rotWithShape="0" blurRad="114300" dist="50800" dir="16200000">
              <a:srgbClr val="00BCD4">
                <a:alpha val="55000"/>
              </a:srgbClr>
            </a:outerShdw>
          </a:effectLst>
        </p:spPr>
      </p:sp>
      <p:sp>
        <p:nvSpPr>
          <p:cNvPr id="17" name="Text 14"/>
          <p:cNvSpPr/>
          <p:nvPr/>
        </p:nvSpPr>
        <p:spPr>
          <a:xfrm>
            <a:off x="502920" y="4163913"/>
            <a:ext cx="2688336" cy="138857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62000"/>
              </a:lnSpc>
              <a:buNone/>
            </a:pPr>
            <a:r>
              <a:rPr lang="en-US" sz="675" dirty="0">
                <a:solidFill>
                  <a:srgbClr val="CBD5E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缓存命中是</a:t>
            </a:r>
            <a:pPr algn="l" indent="0" marL="0">
              <a:lnSpc>
                <a:spcPct val="162000"/>
              </a:lnSpc>
              <a:buNone/>
            </a:pPr>
            <a:r>
              <a:rPr lang="en-US" sz="675" b="1" dirty="0">
                <a:solidFill>
                  <a:srgbClr val="F8FAF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系统性能的基石</a:t>
            </a:r>
            <a:pPr algn="l" indent="0" marL="0">
              <a:lnSpc>
                <a:spcPct val="162000"/>
              </a:lnSpc>
              <a:buNone/>
            </a:pPr>
            <a:r>
              <a:rPr lang="en-US" sz="675" dirty="0">
                <a:solidFill>
                  <a:srgbClr val="CBD5E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，任何破坏它的代价都远高于收益。</a:t>
            </a:r>
            <a:endParaRPr lang="en-US" sz="675" dirty="0"/>
          </a:p>
        </p:txBody>
      </p:sp>
      <p:sp>
        <p:nvSpPr>
          <p:cNvPr id="18" name="Shape 15"/>
          <p:cNvSpPr/>
          <p:nvPr/>
        </p:nvSpPr>
        <p:spPr>
          <a:xfrm>
            <a:off x="388620" y="4405640"/>
            <a:ext cx="3977640" cy="401122"/>
          </a:xfrm>
          <a:prstGeom prst="rect">
            <a:avLst/>
          </a:prstGeom>
          <a:gradFill rotWithShape="1">
            <a:gsLst>
              <a:gs pos="0">
                <a:srgbClr val="00BCD4">
                  <a:alpha val="10000"/>
                </a:srgbClr>
              </a:gs>
              <a:gs pos="100000">
                <a:srgbClr val="000000">
                  <a:alpha val="0"/>
                </a:srgbClr>
              </a:gs>
            </a:gsLst>
            <a:lin ang="0" scaled="0"/>
          </a:gradFill>
          <a:ln/>
        </p:spPr>
      </p:sp>
      <p:sp>
        <p:nvSpPr>
          <p:cNvPr id="19" name="Shape 16"/>
          <p:cNvSpPr/>
          <p:nvPr/>
        </p:nvSpPr>
        <p:spPr>
          <a:xfrm>
            <a:off x="388620" y="4405640"/>
            <a:ext cx="0" cy="401122"/>
          </a:xfrm>
          <a:prstGeom prst="line">
            <a:avLst/>
          </a:prstGeom>
          <a:noFill/>
          <a:ln w="17145">
            <a:solidFill>
              <a:srgbClr val="00BCD4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508635" y="4485650"/>
            <a:ext cx="4205326" cy="94298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495" b="1" spc="158" kern="0" dirty="0">
                <a:solidFill>
                  <a:srgbClr val="00BCD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SOLE EXCEPTION · 唯一例外</a:t>
            </a:r>
            <a:endParaRPr lang="en-US" sz="495" dirty="0"/>
          </a:p>
        </p:txBody>
      </p:sp>
      <p:sp>
        <p:nvSpPr>
          <p:cNvPr id="21" name="Text 18"/>
          <p:cNvSpPr/>
          <p:nvPr/>
        </p:nvSpPr>
        <p:spPr>
          <a:xfrm>
            <a:off x="508635" y="4602807"/>
            <a:ext cx="4205326" cy="1239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55000"/>
              </a:lnSpc>
              <a:buNone/>
            </a:pPr>
            <a:r>
              <a:rPr lang="en-US" sz="585" b="1" dirty="0">
                <a:solidFill>
                  <a:srgbClr val="000000">
                    <a:alpha val="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context compression</a:t>
            </a:r>
            <a:pPr algn="l" indent="0" marL="0">
              <a:lnSpc>
                <a:spcPct val="155000"/>
              </a:lnSpc>
              <a:buNone/>
            </a:pPr>
            <a:r>
              <a:rPr lang="en-US" sz="630" dirty="0">
                <a:solidFill>
                  <a:srgbClr val="E2E8F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— 上下文压缩是唯一被许可的、受控的缓存重塑动作。</a:t>
            </a:r>
            <a:endParaRPr lang="en-US" sz="630" dirty="0"/>
          </a:p>
        </p:txBody>
      </p:sp>
      <p:sp>
        <p:nvSpPr>
          <p:cNvPr id="22" name="Shape 19"/>
          <p:cNvSpPr/>
          <p:nvPr/>
        </p:nvSpPr>
        <p:spPr>
          <a:xfrm>
            <a:off x="508635" y="4602807"/>
            <a:ext cx="868680" cy="125730"/>
          </a:xfrm>
          <a:prstGeom prst="roundRect">
            <a:avLst>
              <a:gd name="adj" fmla="val 18182"/>
            </a:avLst>
          </a:prstGeom>
          <a:solidFill>
            <a:srgbClr val="00BCD4">
              <a:alpha val="14000"/>
            </a:srgbClr>
          </a:solidFill>
          <a:ln w="5715">
            <a:solidFill>
              <a:srgbClr val="00BCD4">
                <a:alpha val="35000"/>
              </a:srgbClr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508635" y="4602807"/>
            <a:ext cx="972922" cy="125730"/>
          </a:xfrm>
          <a:prstGeom prst="rect">
            <a:avLst/>
          </a:prstGeom>
          <a:noFill/>
          <a:ln/>
        </p:spPr>
        <p:txBody>
          <a:bodyPr wrap="none" lIns="11430" tIns="45720" rIns="45720" bIns="11430" rtlCol="0" anchor="ctr"/>
          <a:lstStyle/>
          <a:p>
            <a:pPr algn="l" indent="0" marL="0">
              <a:lnSpc>
                <a:spcPct val="155000"/>
              </a:lnSpc>
              <a:buNone/>
            </a:pPr>
            <a:r>
              <a:rPr lang="en-US" sz="585" dirty="0">
                <a:solidFill>
                  <a:srgbClr val="00BCD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context compression</a:t>
            </a:r>
            <a:endParaRPr lang="en-US" sz="585" dirty="0"/>
          </a:p>
        </p:txBody>
      </p:sp>
      <p:sp>
        <p:nvSpPr>
          <p:cNvPr id="24" name="Shape 21"/>
          <p:cNvSpPr/>
          <p:nvPr/>
        </p:nvSpPr>
        <p:spPr>
          <a:xfrm>
            <a:off x="4777740" y="999500"/>
            <a:ext cx="274320" cy="17145"/>
          </a:xfrm>
          <a:prstGeom prst="rect">
            <a:avLst/>
          </a:prstGeom>
          <a:solidFill>
            <a:srgbClr val="FF7043"/>
          </a:solidFill>
          <a:ln/>
        </p:spPr>
      </p:sp>
      <p:sp>
        <p:nvSpPr>
          <p:cNvPr id="25" name="Text 22"/>
          <p:cNvSpPr/>
          <p:nvPr/>
        </p:nvSpPr>
        <p:spPr>
          <a:xfrm>
            <a:off x="5132070" y="956637"/>
            <a:ext cx="927116" cy="10287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540" b="1" spc="194" kern="0" dirty="0">
                <a:solidFill>
                  <a:srgbClr val="FF704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INVARIANT</a:t>
            </a:r>
            <a:pPr algn="l" indent="0" marL="0">
              <a:lnSpc>
                <a:spcPct val="150000"/>
              </a:lnSpc>
              <a:buNone/>
            </a:pPr>
            <a:r>
              <a:rPr lang="en-US" sz="540" b="1" spc="194" kern="0" dirty="0">
                <a:solidFill>
                  <a:srgbClr val="FF704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#2</a:t>
            </a:r>
            <a:endParaRPr lang="en-US" sz="540" dirty="0"/>
          </a:p>
        </p:txBody>
      </p:sp>
      <p:sp>
        <p:nvSpPr>
          <p:cNvPr id="26" name="Text 23"/>
          <p:cNvSpPr/>
          <p:nvPr/>
        </p:nvSpPr>
        <p:spPr>
          <a:xfrm>
            <a:off x="4777740" y="1116657"/>
            <a:ext cx="4454957" cy="404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22000"/>
              </a:lnSpc>
              <a:buNone/>
            </a:pPr>
            <a:r>
              <a:rPr lang="en-US" sz="1305" b="1" dirty="0">
                <a:solidFill>
                  <a:srgbClr val="F8FAF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Core is a Narrow Waist</a:t>
            </a:r>
            <a:pPr algn="l" indent="0" marL="0">
              <a:lnSpc>
                <a:spcPct val="122000"/>
              </a:lnSpc>
              <a:buNone/>
            </a:pPr>
            <a:r>
              <a:rPr lang="en-US" sz="1305" b="1" dirty="0">
                <a:solidFill>
                  <a:srgbClr val="FF704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,</a:t>
            </a:r>
            <a:pPr algn="l" indent="0" marL="0">
              <a:lnSpc>
                <a:spcPct val="122000"/>
              </a:lnSpc>
              <a:buNone/>
            </a:pPr>
            <a:r>
              <a:rPr lang="en-US" sz="1305" b="1" dirty="0">
                <a:solidFill>
                  <a:srgbClr val="F8FAF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Capability Lives at the Edges</a:t>
            </a:r>
            <a:endParaRPr lang="en-US" sz="1305" dirty="0"/>
          </a:p>
        </p:txBody>
      </p:sp>
      <p:pic>
        <p:nvPicPr>
          <p:cNvPr id="27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777740" y="1612434"/>
            <a:ext cx="3977640" cy="2130802"/>
          </a:xfrm>
          <a:prstGeom prst="rect">
            <a:avLst/>
          </a:prstGeom>
        </p:spPr>
      </p:pic>
      <p:sp>
        <p:nvSpPr>
          <p:cNvPr id="28" name="Text 24"/>
          <p:cNvSpPr/>
          <p:nvPr/>
        </p:nvSpPr>
        <p:spPr>
          <a:xfrm>
            <a:off x="4777740" y="3891826"/>
            <a:ext cx="4454957" cy="10287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50000"/>
              </a:lnSpc>
              <a:buNone/>
            </a:pPr>
            <a:r>
              <a:rPr lang="en-US" sz="540" spc="97" kern="0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核心 ·</a:t>
            </a:r>
            <a:pPr algn="ctr" indent="0" marL="0">
              <a:lnSpc>
                <a:spcPct val="150000"/>
              </a:lnSpc>
              <a:buNone/>
            </a:pPr>
            <a:r>
              <a:rPr lang="en-US" sz="540" b="1" spc="97" kern="0" dirty="0">
                <a:solidFill>
                  <a:srgbClr val="FF704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极窄</a:t>
            </a:r>
            <a:pPr algn="ctr" indent="0" marL="0">
              <a:lnSpc>
                <a:spcPct val="150000"/>
              </a:lnSpc>
              <a:buNone/>
            </a:pPr>
            <a:r>
              <a:rPr lang="en-US" sz="540" spc="97" kern="0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| 能力 ·</a:t>
            </a:r>
            <a:pPr algn="ctr" indent="0" marL="0">
              <a:lnSpc>
                <a:spcPct val="150000"/>
              </a:lnSpc>
              <a:buNone/>
            </a:pPr>
            <a:r>
              <a:rPr lang="en-US" sz="540" b="1" spc="97" kern="0" dirty="0">
                <a:solidFill>
                  <a:srgbClr val="FF704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极宽</a:t>
            </a:r>
            <a:endParaRPr lang="en-US" sz="540" dirty="0"/>
          </a:p>
        </p:txBody>
      </p:sp>
      <p:sp>
        <p:nvSpPr>
          <p:cNvPr id="29" name="Shape 25"/>
          <p:cNvSpPr/>
          <p:nvPr/>
        </p:nvSpPr>
        <p:spPr>
          <a:xfrm>
            <a:off x="4777740" y="4040416"/>
            <a:ext cx="45720" cy="45720"/>
          </a:xfrm>
          <a:prstGeom prst="ellipse">
            <a:avLst/>
          </a:prstGeom>
          <a:solidFill>
            <a:srgbClr val="FF7043"/>
          </a:solidFill>
          <a:ln/>
          <a:effectLst>
            <a:outerShdw sx="100000" sy="100000" kx="0" ky="0" algn="bl" rotWithShape="0" blurRad="114300" dist="50800" dir="16200000">
              <a:srgbClr val="FF7043">
                <a:alpha val="60000"/>
              </a:srgbClr>
            </a:outerShdw>
          </a:effectLst>
        </p:spPr>
      </p:sp>
      <p:sp>
        <p:nvSpPr>
          <p:cNvPr id="30" name="Text 26"/>
          <p:cNvSpPr/>
          <p:nvPr/>
        </p:nvSpPr>
        <p:spPr>
          <a:xfrm>
            <a:off x="4892040" y="3994696"/>
            <a:ext cx="2925166" cy="138857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62000"/>
              </a:lnSpc>
              <a:buNone/>
            </a:pPr>
            <a:r>
              <a:rPr lang="en-US" sz="675" dirty="0">
                <a:solidFill>
                  <a:srgbClr val="CBD5E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核心工具的</a:t>
            </a:r>
            <a:pPr algn="l" indent="0" marL="0">
              <a:lnSpc>
                <a:spcPct val="162000"/>
              </a:lnSpc>
              <a:buNone/>
            </a:pPr>
            <a:r>
              <a:rPr lang="en-US" sz="675" b="1" dirty="0">
                <a:solidFill>
                  <a:srgbClr val="F8FAF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门槛极高、宽度极窄</a:t>
            </a:r>
            <a:pPr algn="l" indent="0" marL="0">
              <a:lnSpc>
                <a:spcPct val="162000"/>
              </a:lnSpc>
              <a:buNone/>
            </a:pPr>
            <a:r>
              <a:rPr lang="en-US" sz="675" dirty="0">
                <a:solidFill>
                  <a:srgbClr val="CBD5E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——不是每个能力都值得进入 core。</a:t>
            </a:r>
            <a:endParaRPr lang="en-US" sz="675" dirty="0"/>
          </a:p>
        </p:txBody>
      </p:sp>
      <p:sp>
        <p:nvSpPr>
          <p:cNvPr id="31" name="Shape 27"/>
          <p:cNvSpPr/>
          <p:nvPr/>
        </p:nvSpPr>
        <p:spPr>
          <a:xfrm>
            <a:off x="4777740" y="4247852"/>
            <a:ext cx="45720" cy="45720"/>
          </a:xfrm>
          <a:prstGeom prst="ellipse">
            <a:avLst/>
          </a:prstGeom>
          <a:solidFill>
            <a:srgbClr val="FF7043"/>
          </a:solidFill>
          <a:ln/>
          <a:effectLst>
            <a:outerShdw sx="100000" sy="100000" kx="0" ky="0" algn="bl" rotWithShape="0" blurRad="114300" dist="50800" dir="16200000">
              <a:srgbClr val="FF7043">
                <a:alpha val="60000"/>
              </a:srgbClr>
            </a:outerShdw>
          </a:effectLst>
        </p:spPr>
      </p:sp>
      <p:sp>
        <p:nvSpPr>
          <p:cNvPr id="32" name="Text 28"/>
          <p:cNvSpPr/>
          <p:nvPr/>
        </p:nvSpPr>
        <p:spPr>
          <a:xfrm>
            <a:off x="4892040" y="4202132"/>
            <a:ext cx="1920240" cy="138857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62000"/>
              </a:lnSpc>
              <a:buNone/>
            </a:pPr>
            <a:r>
              <a:rPr lang="en-US" sz="675" dirty="0">
                <a:solidFill>
                  <a:srgbClr val="CBD5E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新能力只允许沿</a:t>
            </a:r>
            <a:pPr algn="l" indent="0" marL="0">
              <a:lnSpc>
                <a:spcPct val="162000"/>
              </a:lnSpc>
              <a:buNone/>
            </a:pPr>
            <a:r>
              <a:rPr lang="en-US" sz="675" b="1" dirty="0">
                <a:solidFill>
                  <a:srgbClr val="F8FAF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边缘</a:t>
            </a:r>
            <a:pPr algn="l" indent="0" marL="0">
              <a:lnSpc>
                <a:spcPct val="162000"/>
              </a:lnSpc>
              <a:buNone/>
            </a:pPr>
            <a:r>
              <a:rPr lang="en-US" sz="675" dirty="0">
                <a:solidFill>
                  <a:srgbClr val="CBD5E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落地，核心保持最小面。</a:t>
            </a:r>
            <a:endParaRPr lang="en-US" sz="675" dirty="0"/>
          </a:p>
        </p:txBody>
      </p:sp>
      <p:sp>
        <p:nvSpPr>
          <p:cNvPr id="33" name="Shape 29"/>
          <p:cNvSpPr/>
          <p:nvPr/>
        </p:nvSpPr>
        <p:spPr>
          <a:xfrm>
            <a:off x="4777740" y="4455289"/>
            <a:ext cx="45720" cy="45720"/>
          </a:xfrm>
          <a:prstGeom prst="ellipse">
            <a:avLst/>
          </a:prstGeom>
          <a:solidFill>
            <a:srgbClr val="FF7043"/>
          </a:solidFill>
          <a:ln/>
          <a:effectLst>
            <a:outerShdw sx="100000" sy="100000" kx="0" ky="0" algn="bl" rotWithShape="0" blurRad="114300" dist="50800" dir="16200000">
              <a:srgbClr val="FF7043">
                <a:alpha val="60000"/>
              </a:srgbClr>
            </a:outerShdw>
          </a:effectLst>
        </p:spPr>
      </p:sp>
      <p:sp>
        <p:nvSpPr>
          <p:cNvPr id="34" name="Text 30"/>
          <p:cNvSpPr/>
          <p:nvPr/>
        </p:nvSpPr>
        <p:spPr>
          <a:xfrm>
            <a:off x="4892040" y="4409569"/>
            <a:ext cx="3546043" cy="138857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62000"/>
              </a:lnSpc>
              <a:buNone/>
            </a:pPr>
            <a:r>
              <a:rPr lang="en-US" sz="675" dirty="0">
                <a:solidFill>
                  <a:srgbClr val="CBD5E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四条明确的扩展路径：</a:t>
            </a:r>
            <a:pPr algn="l" indent="0" marL="0">
              <a:lnSpc>
                <a:spcPct val="162000"/>
              </a:lnSpc>
              <a:buNone/>
            </a:pPr>
            <a:r>
              <a:rPr lang="en-US" sz="585" b="1" dirty="0">
                <a:solidFill>
                  <a:srgbClr val="000000">
                    <a:alpha val="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CLI+skill</a:t>
            </a:r>
            <a:pPr algn="l" indent="0" marL="0">
              <a:lnSpc>
                <a:spcPct val="162000"/>
              </a:lnSpc>
              <a:buNone/>
            </a:pPr>
            <a:r>
              <a:rPr lang="en-US" sz="675" dirty="0">
                <a:solidFill>
                  <a:srgbClr val="CBD5E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·</a:t>
            </a:r>
            <a:pPr algn="l" indent="0" marL="0">
              <a:lnSpc>
                <a:spcPct val="162000"/>
              </a:lnSpc>
              <a:buNone/>
            </a:pPr>
            <a:r>
              <a:rPr lang="en-US" sz="585" b="1" dirty="0">
                <a:solidFill>
                  <a:srgbClr val="000000">
                    <a:alpha val="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service-gated tool</a:t>
            </a:r>
            <a:pPr algn="l" indent="0" marL="0">
              <a:lnSpc>
                <a:spcPct val="162000"/>
              </a:lnSpc>
              <a:buNone/>
            </a:pPr>
            <a:r>
              <a:rPr lang="en-US" sz="675" dirty="0">
                <a:solidFill>
                  <a:srgbClr val="CBD5E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·</a:t>
            </a:r>
            <a:pPr algn="l" indent="0" marL="0">
              <a:lnSpc>
                <a:spcPct val="162000"/>
              </a:lnSpc>
              <a:buNone/>
            </a:pPr>
            <a:r>
              <a:rPr lang="en-US" sz="585" b="1" dirty="0">
                <a:solidFill>
                  <a:srgbClr val="000000">
                    <a:alpha val="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plugin</a:t>
            </a:r>
            <a:pPr algn="l" indent="0" marL="0">
              <a:lnSpc>
                <a:spcPct val="162000"/>
              </a:lnSpc>
              <a:buNone/>
            </a:pPr>
            <a:r>
              <a:rPr lang="en-US" sz="675" dirty="0">
                <a:solidFill>
                  <a:srgbClr val="CBD5E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·</a:t>
            </a:r>
            <a:pPr algn="l" indent="0" marL="0">
              <a:lnSpc>
                <a:spcPct val="162000"/>
              </a:lnSpc>
              <a:buNone/>
            </a:pPr>
            <a:r>
              <a:rPr lang="en-US" sz="585" b="1" dirty="0">
                <a:solidFill>
                  <a:srgbClr val="000000">
                    <a:alpha val="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MCP server</a:t>
            </a:r>
            <a:pPr algn="l" indent="0" marL="0">
              <a:lnSpc>
                <a:spcPct val="162000"/>
              </a:lnSpc>
              <a:buNone/>
            </a:pPr>
            <a:r>
              <a:rPr lang="en-US" sz="675" dirty="0">
                <a:solidFill>
                  <a:srgbClr val="CBD5E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。</a:t>
            </a:r>
            <a:endParaRPr lang="en-US" sz="675" dirty="0"/>
          </a:p>
        </p:txBody>
      </p:sp>
      <p:sp>
        <p:nvSpPr>
          <p:cNvPr id="35" name="Shape 31"/>
          <p:cNvSpPr/>
          <p:nvPr/>
        </p:nvSpPr>
        <p:spPr>
          <a:xfrm>
            <a:off x="5749290" y="4415284"/>
            <a:ext cx="405765" cy="125730"/>
          </a:xfrm>
          <a:prstGeom prst="roundRect">
            <a:avLst>
              <a:gd name="adj" fmla="val 18182"/>
            </a:avLst>
          </a:prstGeom>
          <a:solidFill>
            <a:srgbClr val="FF7043">
              <a:alpha val="8000"/>
            </a:srgbClr>
          </a:solidFill>
          <a:ln w="5715">
            <a:solidFill>
              <a:srgbClr val="FF7043">
                <a:alpha val="30000"/>
              </a:srgbClr>
            </a:solidFill>
            <a:prstDash val="solid"/>
          </a:ln>
        </p:spPr>
      </p:sp>
      <p:sp>
        <p:nvSpPr>
          <p:cNvPr id="36" name="Text 32"/>
          <p:cNvSpPr/>
          <p:nvPr/>
        </p:nvSpPr>
        <p:spPr>
          <a:xfrm>
            <a:off x="5749290" y="4415284"/>
            <a:ext cx="480060" cy="125730"/>
          </a:xfrm>
          <a:prstGeom prst="rect">
            <a:avLst/>
          </a:prstGeom>
          <a:noFill/>
          <a:ln/>
        </p:spPr>
        <p:txBody>
          <a:bodyPr wrap="none" lIns="11430" tIns="45720" rIns="45720" bIns="11430" rtlCol="0" anchor="ctr"/>
          <a:lstStyle/>
          <a:p>
            <a:pPr algn="l" indent="0" marL="0">
              <a:lnSpc>
                <a:spcPct val="162000"/>
              </a:lnSpc>
              <a:buNone/>
            </a:pPr>
            <a:r>
              <a:rPr lang="en-US" sz="585" dirty="0">
                <a:solidFill>
                  <a:srgbClr val="FF704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CLI+skill</a:t>
            </a:r>
            <a:endParaRPr lang="en-US" sz="585" dirty="0"/>
          </a:p>
        </p:txBody>
      </p:sp>
      <p:sp>
        <p:nvSpPr>
          <p:cNvPr id="37" name="Shape 33"/>
          <p:cNvSpPr/>
          <p:nvPr/>
        </p:nvSpPr>
        <p:spPr>
          <a:xfrm>
            <a:off x="6223635" y="4415284"/>
            <a:ext cx="765810" cy="125730"/>
          </a:xfrm>
          <a:prstGeom prst="roundRect">
            <a:avLst>
              <a:gd name="adj" fmla="val 18182"/>
            </a:avLst>
          </a:prstGeom>
          <a:solidFill>
            <a:srgbClr val="FF7043">
              <a:alpha val="8000"/>
            </a:srgbClr>
          </a:solidFill>
          <a:ln w="5715">
            <a:solidFill>
              <a:srgbClr val="FF7043">
                <a:alpha val="30000"/>
              </a:srgbClr>
            </a:solidFill>
            <a:prstDash val="solid"/>
          </a:ln>
        </p:spPr>
      </p:sp>
      <p:sp>
        <p:nvSpPr>
          <p:cNvPr id="38" name="Text 34"/>
          <p:cNvSpPr/>
          <p:nvPr/>
        </p:nvSpPr>
        <p:spPr>
          <a:xfrm>
            <a:off x="6223635" y="4415284"/>
            <a:ext cx="857707" cy="125730"/>
          </a:xfrm>
          <a:prstGeom prst="rect">
            <a:avLst/>
          </a:prstGeom>
          <a:noFill/>
          <a:ln/>
        </p:spPr>
        <p:txBody>
          <a:bodyPr wrap="none" lIns="11430" tIns="45720" rIns="45720" bIns="11430" rtlCol="0" anchor="ctr"/>
          <a:lstStyle/>
          <a:p>
            <a:pPr algn="l" indent="0" marL="0">
              <a:lnSpc>
                <a:spcPct val="162000"/>
              </a:lnSpc>
              <a:buNone/>
            </a:pPr>
            <a:r>
              <a:rPr lang="en-US" sz="585" dirty="0">
                <a:solidFill>
                  <a:srgbClr val="FF704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service-gated tool</a:t>
            </a:r>
            <a:endParaRPr lang="en-US" sz="585" dirty="0"/>
          </a:p>
        </p:txBody>
      </p:sp>
      <p:sp>
        <p:nvSpPr>
          <p:cNvPr id="39" name="Shape 35"/>
          <p:cNvSpPr/>
          <p:nvPr/>
        </p:nvSpPr>
        <p:spPr>
          <a:xfrm>
            <a:off x="7058025" y="4415284"/>
            <a:ext cx="320040" cy="125730"/>
          </a:xfrm>
          <a:prstGeom prst="roundRect">
            <a:avLst>
              <a:gd name="adj" fmla="val 18182"/>
            </a:avLst>
          </a:prstGeom>
          <a:solidFill>
            <a:srgbClr val="FF7043">
              <a:alpha val="8000"/>
            </a:srgbClr>
          </a:solidFill>
          <a:ln w="5715">
            <a:solidFill>
              <a:srgbClr val="FF7043">
                <a:alpha val="30000"/>
              </a:srgbClr>
            </a:solidFill>
            <a:prstDash val="solid"/>
          </a:ln>
        </p:spPr>
      </p:sp>
      <p:sp>
        <p:nvSpPr>
          <p:cNvPr id="40" name="Text 36"/>
          <p:cNvSpPr/>
          <p:nvPr/>
        </p:nvSpPr>
        <p:spPr>
          <a:xfrm>
            <a:off x="7058025" y="4415284"/>
            <a:ext cx="394335" cy="125730"/>
          </a:xfrm>
          <a:prstGeom prst="rect">
            <a:avLst/>
          </a:prstGeom>
          <a:noFill/>
          <a:ln/>
        </p:spPr>
        <p:txBody>
          <a:bodyPr wrap="none" lIns="11430" tIns="45720" rIns="45720" bIns="11430" rtlCol="0" anchor="ctr"/>
          <a:lstStyle/>
          <a:p>
            <a:pPr algn="l" indent="0" marL="0">
              <a:lnSpc>
                <a:spcPct val="162000"/>
              </a:lnSpc>
              <a:buNone/>
            </a:pPr>
            <a:r>
              <a:rPr lang="en-US" sz="585" dirty="0">
                <a:solidFill>
                  <a:srgbClr val="FF704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plugin</a:t>
            </a:r>
            <a:endParaRPr lang="en-US" sz="585" dirty="0"/>
          </a:p>
        </p:txBody>
      </p:sp>
      <p:sp>
        <p:nvSpPr>
          <p:cNvPr id="41" name="Shape 37"/>
          <p:cNvSpPr/>
          <p:nvPr/>
        </p:nvSpPr>
        <p:spPr>
          <a:xfrm>
            <a:off x="7446645" y="4415284"/>
            <a:ext cx="525780" cy="125730"/>
          </a:xfrm>
          <a:prstGeom prst="roundRect">
            <a:avLst>
              <a:gd name="adj" fmla="val 18182"/>
            </a:avLst>
          </a:prstGeom>
          <a:solidFill>
            <a:srgbClr val="FF7043">
              <a:alpha val="8000"/>
            </a:srgbClr>
          </a:solidFill>
          <a:ln w="5715">
            <a:solidFill>
              <a:srgbClr val="FF7043">
                <a:alpha val="30000"/>
              </a:srgbClr>
            </a:solidFill>
            <a:prstDash val="solid"/>
          </a:ln>
        </p:spPr>
      </p:sp>
      <p:sp>
        <p:nvSpPr>
          <p:cNvPr id="42" name="Text 38"/>
          <p:cNvSpPr/>
          <p:nvPr/>
        </p:nvSpPr>
        <p:spPr>
          <a:xfrm>
            <a:off x="7446645" y="4415284"/>
            <a:ext cx="600075" cy="125730"/>
          </a:xfrm>
          <a:prstGeom prst="rect">
            <a:avLst/>
          </a:prstGeom>
          <a:noFill/>
          <a:ln/>
        </p:spPr>
        <p:txBody>
          <a:bodyPr wrap="none" lIns="11430" tIns="45720" rIns="45720" bIns="11430" rtlCol="0" anchor="ctr"/>
          <a:lstStyle/>
          <a:p>
            <a:pPr algn="l" indent="0" marL="0">
              <a:lnSpc>
                <a:spcPct val="162000"/>
              </a:lnSpc>
              <a:buNone/>
            </a:pPr>
            <a:r>
              <a:rPr lang="en-US" sz="585" dirty="0">
                <a:solidFill>
                  <a:srgbClr val="FF704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MCP server</a:t>
            </a:r>
            <a:endParaRPr lang="en-US" sz="585" dirty="0"/>
          </a:p>
        </p:txBody>
      </p:sp>
      <p:sp>
        <p:nvSpPr>
          <p:cNvPr id="43" name="Shape 39"/>
          <p:cNvSpPr/>
          <p:nvPr/>
        </p:nvSpPr>
        <p:spPr>
          <a:xfrm>
            <a:off x="4394835" y="1722447"/>
            <a:ext cx="354330" cy="2672837"/>
          </a:xfrm>
          <a:prstGeom prst="rect">
            <a:avLst/>
          </a:prstGeom>
          <a:solidFill>
            <a:srgbClr val="AB0055">
              <a:alpha val="50000"/>
            </a:srgbClr>
          </a:solidFill>
          <a:ln/>
          <a:effectLst>
            <a:outerShdw sx="100000" sy="100000" kx="0" ky="0" algn="bl" rotWithShape="0" blurRad="34290" dist="50800" dir="16200000">
              <a:srgbClr val="AB0055">
                <a:alpha val="60000"/>
              </a:srgbClr>
            </a:outerShdw>
          </a:effectLst>
        </p:spPr>
      </p:sp>
      <p:sp>
        <p:nvSpPr>
          <p:cNvPr id="44" name="Shape 40"/>
          <p:cNvSpPr/>
          <p:nvPr/>
        </p:nvSpPr>
        <p:spPr>
          <a:xfrm>
            <a:off x="4569143" y="1779597"/>
            <a:ext cx="5715" cy="2558534"/>
          </a:xfrm>
          <a:prstGeom prst="rect">
            <a:avLst/>
          </a:prstGeom>
          <a:gradFill rotWithShape="1">
            <a:gsLst>
              <a:gs pos="0">
                <a:srgbClr val="000000">
                  <a:alpha val="0"/>
                </a:srgbClr>
              </a:gs>
              <a:gs pos="15000">
                <a:srgbClr val="94A3B8">
                  <a:alpha val="18000"/>
                </a:srgbClr>
              </a:gs>
              <a:gs pos="50000">
                <a:srgbClr val="94A3B8">
                  <a:alpha val="42000"/>
                </a:srgbClr>
              </a:gs>
              <a:gs pos="85000">
                <a:srgbClr val="94A3B8">
                  <a:alpha val="18000"/>
                </a:srgbClr>
              </a:gs>
              <a:gs pos="100000">
                <a:srgbClr val="000000">
                  <a:alpha val="0"/>
                </a:srgbClr>
              </a:gs>
            </a:gsLst>
            <a:lin ang="5400000" scaled="0"/>
          </a:gradFill>
          <a:ln/>
        </p:spPr>
      </p:sp>
      <p:sp>
        <p:nvSpPr>
          <p:cNvPr id="45" name="Shape 41"/>
          <p:cNvSpPr/>
          <p:nvPr/>
        </p:nvSpPr>
        <p:spPr>
          <a:xfrm>
            <a:off x="4531995" y="1739592"/>
            <a:ext cx="80010" cy="80010"/>
          </a:xfrm>
          <a:prstGeom prst="ellipse">
            <a:avLst/>
          </a:prstGeom>
          <a:solidFill>
            <a:srgbClr val="0F172A"/>
          </a:solidFill>
          <a:ln w="11430">
            <a:solidFill>
              <a:srgbClr val="00BCD4"/>
            </a:solidFill>
            <a:prstDash val="solid"/>
          </a:ln>
          <a:effectLst>
            <a:outerShdw sx="100000" sy="100000" kx="0" ky="0" algn="bl" rotWithShape="0" blurRad="190500" dist="50800" dir="16200000">
              <a:srgbClr val="00BCD4">
                <a:alpha val="55000"/>
              </a:srgbClr>
            </a:outerShdw>
          </a:effectLst>
        </p:spPr>
      </p:sp>
      <p:sp>
        <p:nvSpPr>
          <p:cNvPr id="46" name="Shape 42"/>
          <p:cNvSpPr/>
          <p:nvPr/>
        </p:nvSpPr>
        <p:spPr>
          <a:xfrm>
            <a:off x="4531995" y="4298126"/>
            <a:ext cx="80010" cy="80010"/>
          </a:xfrm>
          <a:prstGeom prst="ellipse">
            <a:avLst/>
          </a:prstGeom>
          <a:solidFill>
            <a:srgbClr val="0F172A"/>
          </a:solidFill>
          <a:ln w="11430">
            <a:solidFill>
              <a:srgbClr val="FF7043"/>
            </a:solidFill>
            <a:prstDash val="solid"/>
          </a:ln>
          <a:effectLst>
            <a:outerShdw sx="100000" sy="100000" kx="0" ky="0" algn="bl" rotWithShape="0" blurRad="190500" dist="50800" dir="16200000">
              <a:srgbClr val="FF7043">
                <a:alpha val="22000"/>
              </a:srgbClr>
            </a:outerShdw>
          </a:effectLst>
        </p:spPr>
      </p:sp>
      <p:sp>
        <p:nvSpPr>
          <p:cNvPr id="47" name="Shape 43"/>
          <p:cNvSpPr/>
          <p:nvPr/>
        </p:nvSpPr>
        <p:spPr>
          <a:xfrm>
            <a:off x="4457700" y="3016002"/>
            <a:ext cx="228600" cy="85725"/>
          </a:xfrm>
          <a:prstGeom prst="rect">
            <a:avLst/>
          </a:prstGeom>
          <a:solidFill>
            <a:srgbClr val="0B1220"/>
          </a:solidFill>
          <a:ln/>
        </p:spPr>
      </p:sp>
      <p:sp>
        <p:nvSpPr>
          <p:cNvPr id="48" name="Text 44"/>
          <p:cNvSpPr/>
          <p:nvPr/>
        </p:nvSpPr>
        <p:spPr>
          <a:xfrm>
            <a:off x="4457700" y="3016002"/>
            <a:ext cx="285750" cy="85725"/>
          </a:xfrm>
          <a:prstGeom prst="rect">
            <a:avLst/>
          </a:prstGeom>
          <a:noFill/>
          <a:ln/>
        </p:spPr>
        <p:txBody>
          <a:bodyPr wrap="none" lIns="0" tIns="57150" rIns="57150" bIns="0" rtlCol="0" anchor="ctr"/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450" spc="135" kern="0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VS</a:t>
            </a:r>
            <a:endParaRPr lang="en-US" sz="450" dirty="0"/>
          </a:p>
        </p:txBody>
      </p:sp>
      <p:sp>
        <p:nvSpPr>
          <p:cNvPr id="49" name="Shape 45"/>
          <p:cNvSpPr/>
          <p:nvPr/>
        </p:nvSpPr>
        <p:spPr>
          <a:xfrm>
            <a:off x="365760" y="4943921"/>
            <a:ext cx="8412480" cy="380048"/>
          </a:xfrm>
          <a:prstGeom prst="roundRect">
            <a:avLst>
              <a:gd name="adj" fmla="val 9023"/>
            </a:avLst>
          </a:prstGeom>
          <a:gradFill rotWithShape="1">
            <a:gsLst>
              <a:gs pos="0">
                <a:srgbClr val="00BCD4">
                  <a:alpha val="5000"/>
                </a:srgbClr>
              </a:gs>
              <a:gs pos="50000">
                <a:srgbClr val="00BCD4">
                  <a:alpha val="13000"/>
                </a:srgbClr>
              </a:gs>
              <a:gs pos="100000">
                <a:srgbClr val="FF7043">
                  <a:alpha val="13000"/>
                </a:srgbClr>
              </a:gs>
            </a:gsLst>
            <a:lin ang="0" scaled="0"/>
          </a:gradFill>
          <a:ln w="5715">
            <a:solidFill>
              <a:srgbClr val="00BCD4">
                <a:alpha val="24000"/>
              </a:srgbClr>
            </a:solidFill>
            <a:prstDash val="solid"/>
          </a:ln>
        </p:spPr>
      </p:sp>
      <p:sp>
        <p:nvSpPr>
          <p:cNvPr id="50" name="Shape 46"/>
          <p:cNvSpPr/>
          <p:nvPr/>
        </p:nvSpPr>
        <p:spPr>
          <a:xfrm>
            <a:off x="480060" y="5128230"/>
            <a:ext cx="45720" cy="45720"/>
          </a:xfrm>
          <a:prstGeom prst="ellipse">
            <a:avLst/>
          </a:prstGeom>
          <a:solidFill>
            <a:srgbClr val="00BCD4"/>
          </a:solidFill>
          <a:ln/>
          <a:effectLst>
            <a:outerShdw sx="100000" sy="100000" kx="0" ky="0" algn="bl" rotWithShape="0" blurRad="114300" dist="50800" dir="16200000">
              <a:srgbClr val="00BCD4">
                <a:alpha val="55000"/>
              </a:srgbClr>
            </a:outerShdw>
          </a:effectLst>
        </p:spPr>
      </p:sp>
      <p:sp>
        <p:nvSpPr>
          <p:cNvPr id="51" name="Shape 47"/>
          <p:cNvSpPr/>
          <p:nvPr/>
        </p:nvSpPr>
        <p:spPr>
          <a:xfrm>
            <a:off x="8606790" y="5128230"/>
            <a:ext cx="45720" cy="45720"/>
          </a:xfrm>
          <a:prstGeom prst="ellipse">
            <a:avLst/>
          </a:prstGeom>
          <a:solidFill>
            <a:srgbClr val="FF7043"/>
          </a:solidFill>
          <a:ln/>
          <a:effectLst>
            <a:outerShdw sx="100000" sy="100000" kx="0" ky="0" algn="bl" rotWithShape="0" blurRad="114300" dist="50800" dir="16200000">
              <a:srgbClr val="FF7043">
                <a:alpha val="50000"/>
              </a:srgbClr>
            </a:outerShdw>
          </a:effectLst>
        </p:spPr>
      </p:sp>
      <p:sp>
        <p:nvSpPr>
          <p:cNvPr id="52" name="Text 48"/>
          <p:cNvSpPr/>
          <p:nvPr/>
        </p:nvSpPr>
        <p:spPr>
          <a:xfrm>
            <a:off x="2168396" y="5052506"/>
            <a:ext cx="2864458" cy="16287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855" b="1" spc="51" kern="0" dirty="0">
                <a:solidFill>
                  <a:srgbClr val="00BCD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边缘扩张</a:t>
            </a:r>
            <a:pPr algn="l" indent="0" marL="0">
              <a:lnSpc>
                <a:spcPct val="150000"/>
              </a:lnSpc>
              <a:buNone/>
            </a:pPr>
            <a:r>
              <a:rPr lang="en-US" sz="855" b="1" spc="51" kern="0" dirty="0">
                <a:solidFill>
                  <a:srgbClr val="F8FAF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，</a:t>
            </a:r>
            <a:pPr algn="l" indent="0" marL="0">
              <a:lnSpc>
                <a:spcPct val="150000"/>
              </a:lnSpc>
              <a:buNone/>
            </a:pPr>
            <a:r>
              <a:rPr lang="en-US" sz="855" b="1" spc="51" kern="0" dirty="0">
                <a:solidFill>
                  <a:srgbClr val="FF704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腰部保守</a:t>
            </a:r>
            <a:pPr algn="l" indent="0" marL="0">
              <a:lnSpc>
                <a:spcPct val="150000"/>
              </a:lnSpc>
              <a:buNone/>
            </a:pPr>
            <a:r>
              <a:rPr lang="en-US" sz="855" b="1" spc="51" kern="0" dirty="0">
                <a:solidFill>
                  <a:srgbClr val="F8FAF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——Hermes 的制度设计原则</a:t>
            </a:r>
            <a:endParaRPr lang="en-US" sz="855" dirty="0"/>
          </a:p>
        </p:txBody>
      </p:sp>
      <p:sp>
        <p:nvSpPr>
          <p:cNvPr id="53" name="Shape 49"/>
          <p:cNvSpPr/>
          <p:nvPr/>
        </p:nvSpPr>
        <p:spPr>
          <a:xfrm>
            <a:off x="4885968" y="5131088"/>
            <a:ext cx="125730" cy="5715"/>
          </a:xfrm>
          <a:prstGeom prst="rect">
            <a:avLst/>
          </a:prstGeom>
          <a:solidFill>
            <a:srgbClr val="64748B"/>
          </a:solidFill>
          <a:ln/>
        </p:spPr>
      </p:sp>
      <p:sp>
        <p:nvSpPr>
          <p:cNvPr id="54" name="Text 50"/>
          <p:cNvSpPr/>
          <p:nvPr/>
        </p:nvSpPr>
        <p:spPr>
          <a:xfrm>
            <a:off x="5171718" y="5086796"/>
            <a:ext cx="2020353" cy="94298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495" spc="139" kern="0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EXPAND AT EDGES · GUARD THE WAIST</a:t>
            </a:r>
            <a:endParaRPr lang="en-US" sz="495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B12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gradFill rotWithShape="1">
            <a:gsLst>
              <a:gs pos="0">
                <a:srgbClr val="0B1220"/>
              </a:gs>
              <a:gs pos="55000">
                <a:srgbClr val="1E293B"/>
              </a:gs>
              <a:gs pos="100000">
                <a:srgbClr val="0B1220"/>
              </a:gs>
            </a:gsLst>
            <a:lin ang="2700000" scaled="0"/>
          </a:gra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noFill/>
          <a:ln/>
        </p:spPr>
      </p:sp>
      <p:sp>
        <p:nvSpPr>
          <p:cNvPr id="4" name="Shape 2"/>
          <p:cNvSpPr/>
          <p:nvPr/>
        </p:nvSpPr>
        <p:spPr>
          <a:xfrm>
            <a:off x="-2000250" y="-2000250"/>
            <a:ext cx="5715000" cy="5715000"/>
          </a:xfrm>
          <a:prstGeom prst="rect">
            <a:avLst/>
          </a:prstGeom>
          <a:solidFill>
            <a:srgbClr val="00BCD4">
              <a:alpha val="28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6000750" y="2286000"/>
            <a:ext cx="4572000" cy="4572000"/>
          </a:xfrm>
          <a:prstGeom prst="rect">
            <a:avLst/>
          </a:prstGeom>
          <a:solidFill>
            <a:srgbClr val="FF7043">
              <a:alpha val="22000"/>
            </a:srgbClr>
          </a:solidFill>
          <a:ln/>
        </p:spPr>
      </p:sp>
      <p:sp>
        <p:nvSpPr>
          <p:cNvPr id="6" name="Shape 4"/>
          <p:cNvSpPr/>
          <p:nvPr/>
        </p:nvSpPr>
        <p:spPr>
          <a:xfrm>
            <a:off x="342900" y="262890"/>
            <a:ext cx="228600" cy="5715"/>
          </a:xfrm>
          <a:prstGeom prst="rect">
            <a:avLst/>
          </a:prstGeom>
          <a:solidFill>
            <a:srgbClr val="00BCD4"/>
          </a:solidFill>
          <a:ln/>
        </p:spPr>
      </p:sp>
      <p:sp>
        <p:nvSpPr>
          <p:cNvPr id="7" name="Text 5"/>
          <p:cNvSpPr/>
          <p:nvPr/>
        </p:nvSpPr>
        <p:spPr>
          <a:xfrm>
            <a:off x="651510" y="262890"/>
            <a:ext cx="1228954" cy="91440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buNone/>
            </a:pPr>
            <a:r>
              <a:rPr lang="en-US" sz="540" spc="225" kern="0" dirty="0">
                <a:solidFill>
                  <a:srgbClr val="00BCD4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FOOTPRINT LADDER</a:t>
            </a:r>
            <a:endParaRPr lang="en-US" sz="540" dirty="0"/>
          </a:p>
        </p:txBody>
      </p:sp>
      <p:sp>
        <p:nvSpPr>
          <p:cNvPr id="8" name="Text 6"/>
          <p:cNvSpPr/>
          <p:nvPr/>
        </p:nvSpPr>
        <p:spPr>
          <a:xfrm>
            <a:off x="1828800" y="262890"/>
            <a:ext cx="125730" cy="91440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buNone/>
            </a:pPr>
            <a:r>
              <a:rPr lang="en-US" sz="540" spc="135" kern="0" dirty="0">
                <a:solidFill>
                  <a:srgbClr val="64748B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/</a:t>
            </a:r>
            <a:endParaRPr lang="en-US" sz="540" dirty="0"/>
          </a:p>
        </p:txBody>
      </p:sp>
      <p:sp>
        <p:nvSpPr>
          <p:cNvPr id="9" name="Text 7"/>
          <p:cNvSpPr/>
          <p:nvPr/>
        </p:nvSpPr>
        <p:spPr>
          <a:xfrm>
            <a:off x="1965960" y="262890"/>
            <a:ext cx="1305763" cy="91440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buNone/>
            </a:pPr>
            <a:r>
              <a:rPr lang="en-US" sz="540" spc="225" kern="0" dirty="0">
                <a:solidFill>
                  <a:srgbClr val="00BCD4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CAPABILITY LADDER</a:t>
            </a:r>
            <a:endParaRPr lang="en-US" sz="540" dirty="0"/>
          </a:p>
        </p:txBody>
      </p:sp>
      <p:sp>
        <p:nvSpPr>
          <p:cNvPr id="10" name="Text 8"/>
          <p:cNvSpPr/>
          <p:nvPr/>
        </p:nvSpPr>
        <p:spPr>
          <a:xfrm>
            <a:off x="342900" y="422910"/>
            <a:ext cx="2514600" cy="342900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2250" b="1" spc="-45" kern="0" dirty="0">
                <a:solidFill>
                  <a:srgbClr val="00BCD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Footprint Ladder</a:t>
            </a:r>
            <a:endParaRPr lang="en-US" sz="2250" dirty="0"/>
          </a:p>
        </p:txBody>
      </p:sp>
      <p:sp>
        <p:nvSpPr>
          <p:cNvPr id="11" name="Text 9"/>
          <p:cNvSpPr/>
          <p:nvPr/>
        </p:nvSpPr>
        <p:spPr>
          <a:xfrm>
            <a:off x="2686050" y="422910"/>
            <a:ext cx="485775" cy="342900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2250" spc="-45" kern="0" dirty="0">
                <a:solidFill>
                  <a:srgbClr val="FF704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·</a:t>
            </a:r>
            <a:endParaRPr lang="en-US" sz="2250" dirty="0"/>
          </a:p>
        </p:txBody>
      </p:sp>
      <p:sp>
        <p:nvSpPr>
          <p:cNvPr id="12" name="Text 10"/>
          <p:cNvSpPr/>
          <p:nvPr/>
        </p:nvSpPr>
        <p:spPr>
          <a:xfrm>
            <a:off x="2874645" y="422910"/>
            <a:ext cx="1965960" cy="342900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2250" b="1" spc="-45" kern="0" dirty="0">
                <a:solidFill>
                  <a:srgbClr val="F1F5F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六级能力阶梯</a:t>
            </a:r>
            <a:endParaRPr lang="en-US" sz="2250" dirty="0"/>
          </a:p>
        </p:txBody>
      </p:sp>
      <p:sp>
        <p:nvSpPr>
          <p:cNvPr id="13" name="Text 11"/>
          <p:cNvSpPr/>
          <p:nvPr/>
        </p:nvSpPr>
        <p:spPr>
          <a:xfrm>
            <a:off x="342900" y="820103"/>
            <a:ext cx="9473184" cy="15430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55" b="1" spc="23" kern="0" dirty="0">
                <a:solidFill>
                  <a:srgbClr val="F1F5F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能力必须有明确的落地路径</a:t>
            </a:r>
            <a:pPr algn="l" indent="0" marL="0">
              <a:buNone/>
            </a:pPr>
            <a:r>
              <a:rPr lang="en-US" sz="855" spc="23" kern="0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— 从「零新面」到「核心工具」，每一级都是可审计的准入标准。</a:t>
            </a:r>
            <a:endParaRPr lang="en-US" sz="855" dirty="0"/>
          </a:p>
        </p:txBody>
      </p:sp>
      <p:sp>
        <p:nvSpPr>
          <p:cNvPr id="14" name="Shape 12"/>
          <p:cNvSpPr/>
          <p:nvPr/>
        </p:nvSpPr>
        <p:spPr>
          <a:xfrm>
            <a:off x="365760" y="2542103"/>
            <a:ext cx="1333470" cy="1571625"/>
          </a:xfrm>
          <a:prstGeom prst="roundRect">
            <a:avLst>
              <a:gd name="adj" fmla="val 4286"/>
            </a:avLst>
          </a:prstGeom>
          <a:gradFill rotWithShape="1">
            <a:gsLst>
              <a:gs pos="0">
                <a:srgbClr val="00BCD4">
                  <a:alpha val="2000"/>
                </a:srgbClr>
              </a:gs>
              <a:gs pos="100000">
                <a:srgbClr val="00BCD4">
                  <a:alpha val="6000"/>
                </a:srgbClr>
              </a:gs>
            </a:gsLst>
            <a:lin ang="5400000" scaled="0"/>
          </a:gradFill>
          <a:ln w="5715">
            <a:solidFill>
              <a:srgbClr val="00BCD4">
                <a:alpha val="20000"/>
              </a:srgbClr>
            </a:solidFill>
            <a:prstDash val="solid"/>
          </a:ln>
          <a:effectLst>
            <a:outerShdw sx="100000" sy="100000" kx="0" ky="0" algn="bl" rotWithShape="0" blurRad="133350" dist="38100" dir="16200000">
              <a:srgbClr val="000000">
                <a:alpha val="25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365760" y="2542103"/>
            <a:ext cx="1322040" cy="11430"/>
          </a:xfrm>
          <a:prstGeom prst="rect">
            <a:avLst/>
          </a:prstGeom>
          <a:solidFill>
            <a:srgbClr val="00BCD4">
              <a:alpha val="35000"/>
            </a:srgbClr>
          </a:solidFill>
          <a:ln/>
        </p:spPr>
      </p:sp>
      <p:sp>
        <p:nvSpPr>
          <p:cNvPr id="16" name="Text 14"/>
          <p:cNvSpPr/>
          <p:nvPr/>
        </p:nvSpPr>
        <p:spPr>
          <a:xfrm>
            <a:off x="1499205" y="2627828"/>
            <a:ext cx="178308" cy="97155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buNone/>
            </a:pPr>
            <a:r>
              <a:rPr lang="en-US" sz="585" b="1" spc="45" kern="0" dirty="0">
                <a:solidFill>
                  <a:srgbClr val="00BCD4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L1</a:t>
            </a:r>
            <a:endParaRPr lang="en-US" sz="585" dirty="0"/>
          </a:p>
        </p:txBody>
      </p:sp>
      <p:sp>
        <p:nvSpPr>
          <p:cNvPr id="17" name="Text 15"/>
          <p:cNvSpPr/>
          <p:nvPr/>
        </p:nvSpPr>
        <p:spPr>
          <a:xfrm>
            <a:off x="462915" y="3608308"/>
            <a:ext cx="1275859" cy="115729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675" b="1" dirty="0">
                <a:solidFill>
                  <a:srgbClr val="F1F5F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Extend existing code</a:t>
            </a:r>
            <a:endParaRPr lang="en-US" sz="675" dirty="0"/>
          </a:p>
        </p:txBody>
      </p:sp>
      <p:sp>
        <p:nvSpPr>
          <p:cNvPr id="18" name="Text 16"/>
          <p:cNvSpPr/>
          <p:nvPr/>
        </p:nvSpPr>
        <p:spPr>
          <a:xfrm>
            <a:off x="462915" y="3769757"/>
            <a:ext cx="1275859" cy="212527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55000"/>
              </a:lnSpc>
              <a:buNone/>
            </a:pPr>
            <a:r>
              <a:rPr lang="en-US" sz="540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零新面 · 仅在既有代码内延伸，不引入任何新接口</a:t>
            </a:r>
            <a:endParaRPr lang="en-US" sz="540" dirty="0"/>
          </a:p>
        </p:txBody>
      </p:sp>
      <p:sp>
        <p:nvSpPr>
          <p:cNvPr id="19" name="Shape 17"/>
          <p:cNvSpPr/>
          <p:nvPr/>
        </p:nvSpPr>
        <p:spPr>
          <a:xfrm>
            <a:off x="1779240" y="2342078"/>
            <a:ext cx="1333560" cy="1771650"/>
          </a:xfrm>
          <a:prstGeom prst="roundRect">
            <a:avLst>
              <a:gd name="adj" fmla="val 4286"/>
            </a:avLst>
          </a:prstGeom>
          <a:gradFill rotWithShape="1">
            <a:gsLst>
              <a:gs pos="0">
                <a:srgbClr val="00BCD4">
                  <a:alpha val="3000"/>
                </a:srgbClr>
              </a:gs>
              <a:gs pos="100000">
                <a:srgbClr val="00BCD4">
                  <a:alpha val="9000"/>
                </a:srgbClr>
              </a:gs>
            </a:gsLst>
            <a:lin ang="5400000" scaled="0"/>
          </a:gradFill>
          <a:ln w="5715">
            <a:solidFill>
              <a:srgbClr val="00BCD4">
                <a:alpha val="30000"/>
              </a:srgbClr>
            </a:solidFill>
            <a:prstDash val="solid"/>
          </a:ln>
          <a:effectLst>
            <a:outerShdw sx="100000" sy="100000" kx="0" ky="0" algn="bl" rotWithShape="0" blurRad="133350" dist="38100" dir="16200000">
              <a:srgbClr val="000000">
                <a:alpha val="25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1779240" y="2342078"/>
            <a:ext cx="1322131" cy="11430"/>
          </a:xfrm>
          <a:prstGeom prst="rect">
            <a:avLst/>
          </a:prstGeom>
          <a:solidFill>
            <a:srgbClr val="00BCD4">
              <a:alpha val="50000"/>
            </a:srgbClr>
          </a:solidFill>
          <a:ln/>
        </p:spPr>
      </p:sp>
      <p:sp>
        <p:nvSpPr>
          <p:cNvPr id="21" name="Text 19"/>
          <p:cNvSpPr/>
          <p:nvPr/>
        </p:nvSpPr>
        <p:spPr>
          <a:xfrm>
            <a:off x="2912775" y="2427803"/>
            <a:ext cx="178308" cy="97155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buNone/>
            </a:pPr>
            <a:r>
              <a:rPr lang="en-US" sz="585" b="1" spc="45" kern="0" dirty="0">
                <a:solidFill>
                  <a:srgbClr val="00BCD4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L2</a:t>
            </a:r>
            <a:endParaRPr lang="en-US" sz="585" dirty="0"/>
          </a:p>
        </p:txBody>
      </p:sp>
      <p:sp>
        <p:nvSpPr>
          <p:cNvPr id="22" name="Text 20"/>
          <p:cNvSpPr/>
          <p:nvPr/>
        </p:nvSpPr>
        <p:spPr>
          <a:xfrm>
            <a:off x="1876395" y="3608308"/>
            <a:ext cx="1275959" cy="115729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675" b="1" dirty="0">
                <a:solidFill>
                  <a:srgbClr val="F1F5F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CLI command + skill</a:t>
            </a:r>
            <a:endParaRPr lang="en-US" sz="675" dirty="0"/>
          </a:p>
        </p:txBody>
      </p:sp>
      <p:sp>
        <p:nvSpPr>
          <p:cNvPr id="23" name="Text 21"/>
          <p:cNvSpPr/>
          <p:nvPr/>
        </p:nvSpPr>
        <p:spPr>
          <a:xfrm>
            <a:off x="1876395" y="3769757"/>
            <a:ext cx="1275959" cy="212527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55000"/>
              </a:lnSpc>
              <a:buNone/>
            </a:pPr>
            <a:r>
              <a:rPr lang="en-US" sz="540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hermes webhook / cron / tools 等命令级能力</a:t>
            </a:r>
            <a:endParaRPr lang="en-US" sz="540" dirty="0"/>
          </a:p>
        </p:txBody>
      </p:sp>
      <p:sp>
        <p:nvSpPr>
          <p:cNvPr id="24" name="Shape 22"/>
          <p:cNvSpPr/>
          <p:nvPr/>
        </p:nvSpPr>
        <p:spPr>
          <a:xfrm>
            <a:off x="3192810" y="2142053"/>
            <a:ext cx="1333470" cy="1971675"/>
          </a:xfrm>
          <a:prstGeom prst="roundRect">
            <a:avLst>
              <a:gd name="adj" fmla="val 4286"/>
            </a:avLst>
          </a:prstGeom>
          <a:gradFill rotWithShape="1">
            <a:gsLst>
              <a:gs pos="0">
                <a:srgbClr val="00BCD4">
                  <a:alpha val="4000"/>
                </a:srgbClr>
              </a:gs>
              <a:gs pos="100000">
                <a:srgbClr val="00BCD4">
                  <a:alpha val="14000"/>
                </a:srgbClr>
              </a:gs>
            </a:gsLst>
            <a:lin ang="5400000" scaled="0"/>
          </a:gradFill>
          <a:ln w="5715">
            <a:solidFill>
              <a:srgbClr val="00BCD4">
                <a:alpha val="45000"/>
              </a:srgbClr>
            </a:solidFill>
            <a:prstDash val="solid"/>
          </a:ln>
          <a:effectLst>
            <a:outerShdw sx="100000" sy="100000" kx="0" ky="0" algn="bl" rotWithShape="0" blurRad="133350" dist="38100" dir="16200000">
              <a:srgbClr val="000000">
                <a:alpha val="25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3192810" y="2142053"/>
            <a:ext cx="1322040" cy="17145"/>
          </a:xfrm>
          <a:prstGeom prst="rect">
            <a:avLst/>
          </a:prstGeom>
          <a:solidFill>
            <a:srgbClr val="00BCD4">
              <a:alpha val="70000"/>
            </a:srgbClr>
          </a:solidFill>
          <a:ln/>
        </p:spPr>
      </p:sp>
      <p:sp>
        <p:nvSpPr>
          <p:cNvPr id="26" name="Text 24"/>
          <p:cNvSpPr/>
          <p:nvPr/>
        </p:nvSpPr>
        <p:spPr>
          <a:xfrm>
            <a:off x="4326255" y="2227778"/>
            <a:ext cx="178308" cy="97155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buNone/>
            </a:pPr>
            <a:r>
              <a:rPr lang="en-US" sz="585" b="1" spc="45" kern="0" dirty="0">
                <a:solidFill>
                  <a:srgbClr val="00BCD4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L3</a:t>
            </a:r>
            <a:endParaRPr lang="en-US" sz="585" dirty="0"/>
          </a:p>
        </p:txBody>
      </p:sp>
      <p:sp>
        <p:nvSpPr>
          <p:cNvPr id="27" name="Text 25"/>
          <p:cNvSpPr/>
          <p:nvPr/>
        </p:nvSpPr>
        <p:spPr>
          <a:xfrm>
            <a:off x="3289965" y="3608308"/>
            <a:ext cx="1275859" cy="115729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675" b="1" dirty="0">
                <a:solidFill>
                  <a:srgbClr val="F1F5F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Service-gated tool</a:t>
            </a:r>
            <a:endParaRPr lang="en-US" sz="675" dirty="0"/>
          </a:p>
        </p:txBody>
      </p:sp>
      <p:sp>
        <p:nvSpPr>
          <p:cNvPr id="28" name="Text 26"/>
          <p:cNvSpPr/>
          <p:nvPr/>
        </p:nvSpPr>
        <p:spPr>
          <a:xfrm>
            <a:off x="3289965" y="3769757"/>
            <a:ext cx="1275859" cy="212527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55000"/>
              </a:lnSpc>
              <a:buNone/>
            </a:pPr>
            <a:r>
              <a:rPr lang="en-US" sz="540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check_fn 门禁 · 如 Home Assistant 等外部服务</a:t>
            </a:r>
            <a:endParaRPr lang="en-US" sz="540" dirty="0"/>
          </a:p>
        </p:txBody>
      </p:sp>
      <p:sp>
        <p:nvSpPr>
          <p:cNvPr id="29" name="Shape 27"/>
          <p:cNvSpPr/>
          <p:nvPr/>
        </p:nvSpPr>
        <p:spPr>
          <a:xfrm>
            <a:off x="4606290" y="1942028"/>
            <a:ext cx="1333560" cy="2171700"/>
          </a:xfrm>
          <a:prstGeom prst="roundRect">
            <a:avLst>
              <a:gd name="adj" fmla="val 4286"/>
            </a:avLst>
          </a:prstGeom>
          <a:gradFill rotWithShape="1">
            <a:gsLst>
              <a:gs pos="0">
                <a:srgbClr val="00BCD4">
                  <a:alpha val="5000"/>
                </a:srgbClr>
              </a:gs>
              <a:gs pos="100000">
                <a:srgbClr val="00BCD4">
                  <a:alpha val="18000"/>
                </a:srgbClr>
              </a:gs>
            </a:gsLst>
            <a:lin ang="5400000" scaled="0"/>
          </a:gradFill>
          <a:ln w="5715">
            <a:solidFill>
              <a:srgbClr val="00BCD4">
                <a:alpha val="60000"/>
              </a:srgbClr>
            </a:solidFill>
            <a:prstDash val="solid"/>
          </a:ln>
          <a:effectLst>
            <a:outerShdw sx="100000" sy="100000" kx="0" ky="0" algn="bl" rotWithShape="0" blurRad="133350" dist="38100" dir="16200000">
              <a:srgbClr val="000000">
                <a:alpha val="25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4606290" y="1942028"/>
            <a:ext cx="1322131" cy="17145"/>
          </a:xfrm>
          <a:prstGeom prst="rect">
            <a:avLst/>
          </a:prstGeom>
          <a:solidFill>
            <a:srgbClr val="00BCD4">
              <a:alpha val="85000"/>
            </a:srgbClr>
          </a:solidFill>
          <a:ln/>
        </p:spPr>
      </p:sp>
      <p:sp>
        <p:nvSpPr>
          <p:cNvPr id="31" name="Text 29"/>
          <p:cNvSpPr/>
          <p:nvPr/>
        </p:nvSpPr>
        <p:spPr>
          <a:xfrm>
            <a:off x="5739825" y="2027753"/>
            <a:ext cx="178308" cy="97155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buNone/>
            </a:pPr>
            <a:r>
              <a:rPr lang="en-US" sz="585" b="1" spc="45" kern="0" dirty="0">
                <a:solidFill>
                  <a:srgbClr val="00BCD4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L4</a:t>
            </a:r>
            <a:endParaRPr lang="en-US" sz="585" dirty="0"/>
          </a:p>
        </p:txBody>
      </p:sp>
      <p:sp>
        <p:nvSpPr>
          <p:cNvPr id="32" name="Text 30"/>
          <p:cNvSpPr/>
          <p:nvPr/>
        </p:nvSpPr>
        <p:spPr>
          <a:xfrm>
            <a:off x="4703445" y="3608308"/>
            <a:ext cx="1275959" cy="115729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675" b="1" dirty="0">
                <a:solidFill>
                  <a:srgbClr val="F1F5F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Plugin</a:t>
            </a:r>
            <a:endParaRPr lang="en-US" sz="675" dirty="0"/>
          </a:p>
        </p:txBody>
      </p:sp>
      <p:sp>
        <p:nvSpPr>
          <p:cNvPr id="33" name="Text 31"/>
          <p:cNvSpPr/>
          <p:nvPr/>
        </p:nvSpPr>
        <p:spPr>
          <a:xfrm>
            <a:off x="4703445" y="3769757"/>
            <a:ext cx="1275959" cy="212527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55000"/>
              </a:lnSpc>
              <a:buNone/>
            </a:pPr>
            <a:r>
              <a:rPr lang="en-US" sz="540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~/.hermes/plugins/ · 承载第三方与 niche 扩展</a:t>
            </a:r>
            <a:endParaRPr lang="en-US" sz="540" dirty="0"/>
          </a:p>
        </p:txBody>
      </p:sp>
      <p:sp>
        <p:nvSpPr>
          <p:cNvPr id="34" name="Shape 32"/>
          <p:cNvSpPr/>
          <p:nvPr/>
        </p:nvSpPr>
        <p:spPr>
          <a:xfrm>
            <a:off x="6019860" y="1742003"/>
            <a:ext cx="1333470" cy="2371725"/>
          </a:xfrm>
          <a:prstGeom prst="roundRect">
            <a:avLst>
              <a:gd name="adj" fmla="val 4286"/>
            </a:avLst>
          </a:prstGeom>
          <a:gradFill rotWithShape="1">
            <a:gsLst>
              <a:gs pos="0">
                <a:srgbClr val="00BCD4">
                  <a:alpha val="7000"/>
                </a:srgbClr>
              </a:gs>
              <a:gs pos="100000">
                <a:srgbClr val="00BCD4">
                  <a:alpha val="24000"/>
                </a:srgbClr>
              </a:gs>
            </a:gsLst>
            <a:lin ang="5400000" scaled="0"/>
          </a:gradFill>
          <a:ln w="5715">
            <a:solidFill>
              <a:srgbClr val="00BCD4">
                <a:alpha val="78000"/>
              </a:srgbClr>
            </a:solidFill>
            <a:prstDash val="solid"/>
          </a:ln>
          <a:effectLst>
            <a:outerShdw sx="100000" sy="100000" kx="0" ky="0" algn="bl" rotWithShape="0" blurRad="133350" dist="38100" dir="16200000">
              <a:srgbClr val="000000">
                <a:alpha val="25000"/>
              </a:srgbClr>
            </a:outerShdw>
          </a:effectLst>
        </p:spPr>
      </p:sp>
      <p:sp>
        <p:nvSpPr>
          <p:cNvPr id="35" name="Shape 33"/>
          <p:cNvSpPr/>
          <p:nvPr/>
        </p:nvSpPr>
        <p:spPr>
          <a:xfrm>
            <a:off x="6019860" y="1742003"/>
            <a:ext cx="1322040" cy="22860"/>
          </a:xfrm>
          <a:prstGeom prst="rect">
            <a:avLst/>
          </a:prstGeom>
          <a:solidFill>
            <a:srgbClr val="00BCD4"/>
          </a:solidFill>
          <a:ln/>
        </p:spPr>
      </p:sp>
      <p:sp>
        <p:nvSpPr>
          <p:cNvPr id="36" name="Text 34"/>
          <p:cNvSpPr/>
          <p:nvPr/>
        </p:nvSpPr>
        <p:spPr>
          <a:xfrm>
            <a:off x="7153305" y="1827728"/>
            <a:ext cx="178308" cy="97155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buNone/>
            </a:pPr>
            <a:r>
              <a:rPr lang="en-US" sz="585" b="1" spc="45" kern="0" dirty="0">
                <a:solidFill>
                  <a:srgbClr val="00BCD4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L5</a:t>
            </a:r>
            <a:endParaRPr lang="en-US" sz="585" dirty="0"/>
          </a:p>
        </p:txBody>
      </p:sp>
      <p:sp>
        <p:nvSpPr>
          <p:cNvPr id="37" name="Text 35"/>
          <p:cNvSpPr/>
          <p:nvPr/>
        </p:nvSpPr>
        <p:spPr>
          <a:xfrm>
            <a:off x="6117015" y="3608308"/>
            <a:ext cx="1275859" cy="115729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675" b="1" dirty="0">
                <a:solidFill>
                  <a:srgbClr val="F1F5F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MCP server</a:t>
            </a:r>
            <a:endParaRPr lang="en-US" sz="675" dirty="0"/>
          </a:p>
        </p:txBody>
      </p:sp>
      <p:sp>
        <p:nvSpPr>
          <p:cNvPr id="38" name="Text 36"/>
          <p:cNvSpPr/>
          <p:nvPr/>
        </p:nvSpPr>
        <p:spPr>
          <a:xfrm>
            <a:off x="6117015" y="3769757"/>
            <a:ext cx="1275859" cy="212527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55000"/>
              </a:lnSpc>
              <a:buNone/>
            </a:pPr>
            <a:r>
              <a:rPr lang="en-US" sz="540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catalog 内注册 · 工具类，但非核心基础能力</a:t>
            </a:r>
            <a:endParaRPr lang="en-US" sz="540" dirty="0"/>
          </a:p>
        </p:txBody>
      </p:sp>
      <p:sp>
        <p:nvSpPr>
          <p:cNvPr id="39" name="Shape 37"/>
          <p:cNvSpPr/>
          <p:nvPr/>
        </p:nvSpPr>
        <p:spPr>
          <a:xfrm>
            <a:off x="7433340" y="1541978"/>
            <a:ext cx="1344900" cy="2571750"/>
          </a:xfrm>
          <a:prstGeom prst="roundRect">
            <a:avLst>
              <a:gd name="adj" fmla="val 4249"/>
            </a:avLst>
          </a:prstGeom>
          <a:gradFill rotWithShape="1">
            <a:gsLst>
              <a:gs pos="0">
                <a:srgbClr val="00BCD4">
                  <a:alpha val="8000"/>
                </a:srgbClr>
              </a:gs>
              <a:gs pos="100000">
                <a:srgbClr val="00BCD4">
                  <a:alpha val="30000"/>
                </a:srgbClr>
              </a:gs>
            </a:gsLst>
            <a:lin ang="5400000" scaled="0"/>
          </a:gradFill>
          <a:ln w="11430">
            <a:solidFill>
              <a:srgbClr val="00BCD4">
                <a:alpha val="95000"/>
              </a:srgbClr>
            </a:solidFill>
            <a:prstDash val="solid"/>
          </a:ln>
          <a:effectLst>
            <a:outerShdw sx="100000" sy="100000" kx="0" ky="0" algn="bl" rotWithShape="0" blurRad="381000" dist="50800" dir="16200000">
              <a:srgbClr val="00BCD4">
                <a:alpha val="30000"/>
              </a:srgbClr>
            </a:outerShdw>
          </a:effectLst>
        </p:spPr>
      </p:sp>
      <p:sp>
        <p:nvSpPr>
          <p:cNvPr id="40" name="Shape 38"/>
          <p:cNvSpPr/>
          <p:nvPr/>
        </p:nvSpPr>
        <p:spPr>
          <a:xfrm>
            <a:off x="7433340" y="1541978"/>
            <a:ext cx="1322040" cy="28575"/>
          </a:xfrm>
          <a:prstGeom prst="rect">
            <a:avLst/>
          </a:prstGeom>
          <a:gradFill rotWithShape="1">
            <a:gsLst>
              <a:gs pos="0">
                <a:srgbClr val="00BCD4"/>
              </a:gs>
              <a:gs pos="100000">
                <a:srgbClr val="FF7043"/>
              </a:gs>
            </a:gsLst>
            <a:lin ang="0" scaled="0"/>
          </a:gradFill>
          <a:ln/>
        </p:spPr>
      </p:sp>
      <p:sp>
        <p:nvSpPr>
          <p:cNvPr id="41" name="Text 39"/>
          <p:cNvSpPr/>
          <p:nvPr/>
        </p:nvSpPr>
        <p:spPr>
          <a:xfrm>
            <a:off x="8561070" y="1633418"/>
            <a:ext cx="205740" cy="114300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buNone/>
            </a:pPr>
            <a:r>
              <a:rPr lang="en-US" sz="675" b="1" spc="45" kern="0" dirty="0">
                <a:solidFill>
                  <a:srgbClr val="FF7043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L6</a:t>
            </a:r>
            <a:endParaRPr lang="en-US" sz="675" dirty="0"/>
          </a:p>
        </p:txBody>
      </p:sp>
      <p:sp>
        <p:nvSpPr>
          <p:cNvPr id="42" name="Text 40"/>
          <p:cNvSpPr/>
          <p:nvPr/>
        </p:nvSpPr>
        <p:spPr>
          <a:xfrm>
            <a:off x="7536210" y="3587234"/>
            <a:ext cx="1275859" cy="131088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765" b="1" dirty="0">
                <a:solidFill>
                  <a:srgbClr val="00BCD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New core tool</a:t>
            </a:r>
            <a:endParaRPr lang="en-US" sz="765" dirty="0"/>
          </a:p>
        </p:txBody>
      </p:sp>
      <p:sp>
        <p:nvSpPr>
          <p:cNvPr id="43" name="Text 41"/>
          <p:cNvSpPr/>
          <p:nvPr/>
        </p:nvSpPr>
        <p:spPr>
          <a:xfrm>
            <a:off x="7536210" y="3764042"/>
            <a:ext cx="1275859" cy="212527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55000"/>
              </a:lnSpc>
              <a:buNone/>
            </a:pPr>
            <a:r>
              <a:rPr lang="en-US" sz="540" dirty="0">
                <a:solidFill>
                  <a:srgbClr val="F1F5F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只有 terminal / read_file / web_search 这类够格</a:t>
            </a:r>
            <a:endParaRPr lang="en-US" sz="540" dirty="0"/>
          </a:p>
        </p:txBody>
      </p:sp>
      <p:sp>
        <p:nvSpPr>
          <p:cNvPr id="44" name="Shape 42"/>
          <p:cNvSpPr/>
          <p:nvPr/>
        </p:nvSpPr>
        <p:spPr>
          <a:xfrm>
            <a:off x="342900" y="4108013"/>
            <a:ext cx="8458200" cy="5715"/>
          </a:xfrm>
          <a:prstGeom prst="rect">
            <a:avLst/>
          </a:prstGeom>
          <a:gradFill rotWithShape="1">
            <a:gsLst>
              <a:gs pos="0">
                <a:srgbClr val="000000">
                  <a:alpha val="0"/>
                </a:srgbClr>
              </a:gs>
              <a:gs pos="10000">
                <a:srgbClr val="00BCD4">
                  <a:alpha val="30000"/>
                </a:srgbClr>
              </a:gs>
              <a:gs pos="50000">
                <a:srgbClr val="00BCD4">
                  <a:alpha val="70000"/>
                </a:srgbClr>
              </a:gs>
              <a:gs pos="90000">
                <a:srgbClr val="00BCD4">
                  <a:alpha val="30000"/>
                </a:srgbClr>
              </a:gs>
              <a:gs pos="100000">
                <a:srgbClr val="000000">
                  <a:alpha val="0"/>
                </a:srgbClr>
              </a:gs>
            </a:gsLst>
            <a:lin ang="0" scaled="0"/>
          </a:gradFill>
          <a:ln/>
        </p:spPr>
      </p:sp>
      <p:sp>
        <p:nvSpPr>
          <p:cNvPr id="45" name="Text 43"/>
          <p:cNvSpPr/>
          <p:nvPr/>
        </p:nvSpPr>
        <p:spPr>
          <a:xfrm>
            <a:off x="365760" y="4153733"/>
            <a:ext cx="857707" cy="85725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buNone/>
            </a:pPr>
            <a:r>
              <a:rPr lang="en-US" sz="450" spc="135" kern="0" dirty="0">
                <a:solidFill>
                  <a:srgbClr val="64748B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← LIGHTER · 更轻</a:t>
            </a:r>
            <a:endParaRPr lang="en-US" sz="450" dirty="0"/>
          </a:p>
        </p:txBody>
      </p:sp>
      <p:sp>
        <p:nvSpPr>
          <p:cNvPr id="46" name="Text 44"/>
          <p:cNvSpPr/>
          <p:nvPr/>
        </p:nvSpPr>
        <p:spPr>
          <a:xfrm>
            <a:off x="8012430" y="4153733"/>
            <a:ext cx="857707" cy="85725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buNone/>
            </a:pPr>
            <a:r>
              <a:rPr lang="en-US" sz="450" spc="135" kern="0" dirty="0">
                <a:solidFill>
                  <a:srgbClr val="64748B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HEAVIER · 更重 →</a:t>
            </a:r>
            <a:endParaRPr lang="en-US" sz="450" dirty="0"/>
          </a:p>
        </p:txBody>
      </p:sp>
      <p:sp>
        <p:nvSpPr>
          <p:cNvPr id="47" name="Shape 45"/>
          <p:cNvSpPr/>
          <p:nvPr/>
        </p:nvSpPr>
        <p:spPr>
          <a:xfrm>
            <a:off x="342900" y="4410908"/>
            <a:ext cx="8458200" cy="515422"/>
          </a:xfrm>
          <a:prstGeom prst="roundRect">
            <a:avLst>
              <a:gd name="adj" fmla="val 4435"/>
            </a:avLst>
          </a:prstGeom>
          <a:gradFill rotWithShape="1">
            <a:gsLst>
              <a:gs pos="0">
                <a:srgbClr val="FF7043">
                  <a:alpha val="10000"/>
                </a:srgbClr>
              </a:gs>
              <a:gs pos="100000">
                <a:srgbClr val="000000">
                  <a:alpha val="0"/>
                </a:srgbClr>
              </a:gs>
            </a:gsLst>
            <a:lin ang="0" scaled="0"/>
          </a:gradFill>
          <a:ln/>
        </p:spPr>
      </p:sp>
      <p:sp>
        <p:nvSpPr>
          <p:cNvPr id="48" name="Shape 46"/>
          <p:cNvSpPr/>
          <p:nvPr/>
        </p:nvSpPr>
        <p:spPr>
          <a:xfrm>
            <a:off x="342900" y="4410908"/>
            <a:ext cx="0" cy="515422"/>
          </a:xfrm>
          <a:prstGeom prst="line">
            <a:avLst/>
          </a:prstGeom>
          <a:noFill/>
          <a:ln w="17145">
            <a:solidFill>
              <a:srgbClr val="FF7043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508635" y="4513778"/>
            <a:ext cx="9121140" cy="155377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60000"/>
              </a:lnSpc>
              <a:buNone/>
            </a:pPr>
            <a:r>
              <a:rPr lang="en-US" sz="765" spc="14" kern="0" dirty="0">
                <a:solidFill>
                  <a:srgbClr val="F1F5F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六级能力阶梯从「</a:t>
            </a:r>
            <a:pPr algn="l" indent="0" marL="0">
              <a:lnSpc>
                <a:spcPct val="160000"/>
              </a:lnSpc>
              <a:buNone/>
            </a:pPr>
            <a:r>
              <a:rPr lang="en-US" sz="765" b="1" spc="14" kern="0" dirty="0">
                <a:solidFill>
                  <a:srgbClr val="00BCD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零新面</a:t>
            </a:r>
            <a:pPr algn="l" indent="0" marL="0">
              <a:lnSpc>
                <a:spcPct val="160000"/>
              </a:lnSpc>
              <a:buNone/>
            </a:pPr>
            <a:r>
              <a:rPr lang="en-US" sz="765" spc="14" kern="0" dirty="0">
                <a:solidFill>
                  <a:srgbClr val="F1F5F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」到「</a:t>
            </a:r>
            <a:pPr algn="l" indent="0" marL="0">
              <a:lnSpc>
                <a:spcPct val="160000"/>
              </a:lnSpc>
              <a:buNone/>
            </a:pPr>
            <a:r>
              <a:rPr lang="en-US" sz="765" b="1" spc="14" kern="0" dirty="0">
                <a:solidFill>
                  <a:srgbClr val="00BCD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核心工具</a:t>
            </a:r>
            <a:pPr algn="l" indent="0" marL="0">
              <a:lnSpc>
                <a:spcPct val="160000"/>
              </a:lnSpc>
              <a:buNone/>
            </a:pPr>
            <a:r>
              <a:rPr lang="en-US" sz="765" spc="14" kern="0" dirty="0">
                <a:solidFill>
                  <a:srgbClr val="F1F5F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」——每一级都有明确的落地路径与准入标准。这是「</a:t>
            </a:r>
            <a:pPr algn="l" indent="0" marL="0">
              <a:lnSpc>
                <a:spcPct val="160000"/>
              </a:lnSpc>
              <a:buNone/>
            </a:pPr>
            <a:r>
              <a:rPr lang="en-US" sz="765" b="1" spc="14" kern="0" dirty="0">
                <a:solidFill>
                  <a:srgbClr val="FF704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度量权</a:t>
            </a:r>
            <a:pPr algn="l" indent="0" marL="0">
              <a:lnSpc>
                <a:spcPct val="160000"/>
              </a:lnSpc>
              <a:buNone/>
            </a:pPr>
            <a:r>
              <a:rPr lang="en-US" sz="765" spc="14" kern="0" dirty="0">
                <a:solidFill>
                  <a:srgbClr val="F1F5F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」问题的答案：每个能力都有</a:t>
            </a:r>
            <a:pPr algn="l" indent="0" marL="0">
              <a:lnSpc>
                <a:spcPct val="160000"/>
              </a:lnSpc>
              <a:buNone/>
            </a:pPr>
            <a:r>
              <a:rPr lang="en-US" sz="765" b="1" spc="14" kern="0" dirty="0">
                <a:solidFill>
                  <a:srgbClr val="FF704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可审计的落地位置</a:t>
            </a:r>
            <a:pPr algn="l" indent="0" marL="0">
              <a:lnSpc>
                <a:spcPct val="160000"/>
              </a:lnSpc>
              <a:buNone/>
            </a:pPr>
            <a:r>
              <a:rPr lang="en-US" sz="765" spc="14" kern="0" dirty="0">
                <a:solidFill>
                  <a:srgbClr val="F1F5F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。</a:t>
            </a:r>
            <a:endParaRPr lang="en-US" sz="765" dirty="0"/>
          </a:p>
        </p:txBody>
      </p:sp>
      <p:sp>
        <p:nvSpPr>
          <p:cNvPr id="50" name="Text 48"/>
          <p:cNvSpPr/>
          <p:nvPr/>
        </p:nvSpPr>
        <p:spPr>
          <a:xfrm>
            <a:off x="508635" y="4726305"/>
            <a:ext cx="9121140" cy="85725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buNone/>
            </a:pPr>
            <a:r>
              <a:rPr lang="en-US" sz="450" spc="135" kern="0" dirty="0">
                <a:solidFill>
                  <a:srgbClr val="64748B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— FOOTPRINT LADDER · L1 → L6 · 度量权 = 每个能力都有可审计的落地位置</a:t>
            </a:r>
            <a:endParaRPr lang="en-US" sz="4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14400" y="-1748790"/>
            <a:ext cx="11338560" cy="6377940"/>
          </a:xfrm>
          <a:prstGeom prst="ellipse">
            <a:avLst/>
          </a:prstGeom>
          <a:gradFill rotWithShape="1">
            <a:gsLst>
              <a:gs pos="0">
                <a:srgbClr val="00BCD4">
                  <a:alpha val="14400"/>
                </a:srgbClr>
              </a:gs>
              <a:gs pos="100000">
                <a:srgbClr val="00BCD4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/>
        </p:spPr>
      </p:sp>
      <p:sp>
        <p:nvSpPr>
          <p:cNvPr id="3" name="Shape 1"/>
          <p:cNvSpPr/>
          <p:nvPr/>
        </p:nvSpPr>
        <p:spPr>
          <a:xfrm>
            <a:off x="-685800" y="3543300"/>
            <a:ext cx="2400300" cy="2400300"/>
          </a:xfrm>
          <a:prstGeom prst="ellipse">
            <a:avLst/>
          </a:prstGeom>
          <a:solidFill>
            <a:srgbClr val="00BCD4">
              <a:alpha val="28000"/>
            </a:srgbClr>
          </a:solidFill>
          <a:ln/>
          <a:effectLst>
            <a:outerShdw sx="100000" sy="100000" kx="0" ky="0" algn="bl" rotWithShape="0" blurRad="457200" dist="50800" dir="16200000">
              <a:srgbClr val="00BCD4">
                <a:alpha val="60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5715000" y="-514350"/>
            <a:ext cx="1828800" cy="1828800"/>
          </a:xfrm>
          <a:prstGeom prst="ellipse">
            <a:avLst/>
          </a:prstGeom>
          <a:solidFill>
            <a:srgbClr val="FF7043">
              <a:alpha val="14000"/>
            </a:srgbClr>
          </a:solidFill>
          <a:ln/>
          <a:effectLst>
            <a:outerShdw sx="100000" sy="100000" kx="0" ky="0" algn="bl" rotWithShape="0" blurRad="457200" dist="50800" dir="16200000">
              <a:srgbClr val="FF7043">
                <a:alpha val="60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342900" y="320040"/>
            <a:ext cx="4096512" cy="8001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495" b="1" spc="135" kern="0" dirty="0">
                <a:solidFill>
                  <a:srgbClr val="00BCD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12</a:t>
            </a:r>
            <a:pPr algn="l" indent="0" marL="0">
              <a:buNone/>
            </a:pPr>
            <a:r>
              <a:rPr lang="en-US" sz="495" b="1" spc="135" kern="0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/ UNIQUE FEATURE</a:t>
            </a:r>
            <a:endParaRPr lang="en-US" sz="495" dirty="0"/>
          </a:p>
        </p:txBody>
      </p:sp>
      <p:sp>
        <p:nvSpPr>
          <p:cNvPr id="6" name="Text 4"/>
          <p:cNvSpPr/>
          <p:nvPr/>
        </p:nvSpPr>
        <p:spPr>
          <a:xfrm>
            <a:off x="342900" y="502920"/>
            <a:ext cx="4096512" cy="276017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890" b="1" spc="-22" kern="0" dirty="0">
                <a:solidFill>
                  <a:srgbClr val="F1F5F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Hermes 的独特性 ·</a:t>
            </a:r>
            <a:pPr algn="l" indent="0" marL="0">
              <a:lnSpc>
                <a:spcPct val="115000"/>
              </a:lnSpc>
              <a:buNone/>
            </a:pPr>
            <a:r>
              <a:rPr lang="en-US" sz="1890" b="1" spc="-22" kern="0" dirty="0">
                <a:solidFill>
                  <a:srgbClr val="00BCD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闭环学习</a:t>
            </a:r>
            <a:endParaRPr lang="en-US" sz="1890" dirty="0"/>
          </a:p>
        </p:txBody>
      </p:sp>
      <p:sp>
        <p:nvSpPr>
          <p:cNvPr id="7" name="Text 5"/>
          <p:cNvSpPr/>
          <p:nvPr/>
        </p:nvSpPr>
        <p:spPr>
          <a:xfrm>
            <a:off x="342900" y="824657"/>
            <a:ext cx="4096512" cy="137160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buNone/>
            </a:pPr>
            <a:r>
              <a:rPr lang="en-US" sz="720" spc="23" kern="0" dirty="0">
                <a:solidFill>
                  <a:srgbClr val="00BCD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用户生成 skill，agent 随使用自我进化</a:t>
            </a:r>
            <a:endParaRPr lang="en-US" sz="720" dirty="0"/>
          </a:p>
        </p:txBody>
      </p:sp>
      <p:sp>
        <p:nvSpPr>
          <p:cNvPr id="8" name="Shape 6"/>
          <p:cNvSpPr/>
          <p:nvPr/>
        </p:nvSpPr>
        <p:spPr>
          <a:xfrm>
            <a:off x="342900" y="1064687"/>
            <a:ext cx="3657600" cy="407194"/>
          </a:xfrm>
          <a:prstGeom prst="rect">
            <a:avLst/>
          </a:prstGeom>
          <a:solidFill>
            <a:srgbClr val="00BCD4">
              <a:alpha val="6000"/>
            </a:srgbClr>
          </a:solidFill>
          <a:ln/>
        </p:spPr>
      </p:sp>
      <p:sp>
        <p:nvSpPr>
          <p:cNvPr id="9" name="Shape 7"/>
          <p:cNvSpPr/>
          <p:nvPr/>
        </p:nvSpPr>
        <p:spPr>
          <a:xfrm>
            <a:off x="342900" y="1064687"/>
            <a:ext cx="0" cy="407194"/>
          </a:xfrm>
          <a:prstGeom prst="line">
            <a:avLst/>
          </a:prstGeom>
          <a:noFill/>
          <a:ln w="17145">
            <a:solidFill>
              <a:srgbClr val="00BCD4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42900" y="1064687"/>
            <a:ext cx="4096512" cy="40719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75000"/>
              </a:lnSpc>
              <a:buNone/>
            </a:pPr>
            <a:r>
              <a:rPr lang="en-US" sz="608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Hermes 的独特性</a:t>
            </a:r>
            <a:pPr algn="l" indent="0" marL="0">
              <a:lnSpc>
                <a:spcPct val="175000"/>
              </a:lnSpc>
              <a:buNone/>
            </a:pPr>
            <a:r>
              <a:rPr lang="en-US" sz="608" b="1" dirty="0">
                <a:solidFill>
                  <a:srgbClr val="00BCD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不是"更强的模型"</a:t>
            </a:r>
            <a:pPr algn="l" indent="0" marL="0">
              <a:lnSpc>
                <a:spcPct val="175000"/>
              </a:lnSpc>
              <a:buNone/>
            </a:pPr>
            <a:r>
              <a:rPr lang="en-US" sz="608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，而是</a:t>
            </a:r>
            <a:pPr algn="l" indent="0" marL="0">
              <a:lnSpc>
                <a:spcPct val="175000"/>
              </a:lnSpc>
              <a:buNone/>
            </a:pPr>
            <a:r>
              <a:rPr lang="en-US" sz="608" b="1" dirty="0">
                <a:solidFill>
                  <a:srgbClr val="00BCD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闭环学习机制</a:t>
            </a:r>
            <a:pPr algn="l" indent="0" marL="0">
              <a:lnSpc>
                <a:spcPct val="175000"/>
              </a:lnSpc>
              <a:buNone/>
            </a:pPr>
            <a:r>
              <a:rPr lang="en-US" sz="608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——用户生成 skill，agent 随使用自我进化，这是</a:t>
            </a:r>
            <a:pPr algn="l" indent="0" marL="0">
              <a:lnSpc>
                <a:spcPct val="175000"/>
              </a:lnSpc>
              <a:buNone/>
            </a:pPr>
            <a:r>
              <a:rPr lang="en-US" sz="608" b="1" dirty="0">
                <a:solidFill>
                  <a:srgbClr val="00BCD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四个主流框架中唯一具备闭环能力</a:t>
            </a:r>
            <a:pPr algn="l" indent="0" marL="0">
              <a:lnSpc>
                <a:spcPct val="175000"/>
              </a:lnSpc>
              <a:buNone/>
            </a:pPr>
            <a:r>
              <a:rPr lang="en-US" sz="608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的项目。</a:t>
            </a:r>
            <a:endParaRPr lang="en-US" sz="608" dirty="0"/>
          </a:p>
        </p:txBody>
      </p:sp>
      <p:sp>
        <p:nvSpPr>
          <p:cNvPr id="11" name="Shape 9"/>
          <p:cNvSpPr/>
          <p:nvPr/>
        </p:nvSpPr>
        <p:spPr>
          <a:xfrm>
            <a:off x="342900" y="1574750"/>
            <a:ext cx="1794510" cy="400050"/>
          </a:xfrm>
          <a:prstGeom prst="roundRect">
            <a:avLst>
              <a:gd name="adj" fmla="val 14286"/>
            </a:avLst>
          </a:prstGeom>
          <a:solidFill>
            <a:srgbClr val="1E293B">
              <a:alpha val="55000"/>
            </a:srgbClr>
          </a:solidFill>
          <a:ln w="5715">
            <a:solidFill>
              <a:srgbClr val="94A3B8">
                <a:alpha val="1500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342900" y="1574750"/>
            <a:ext cx="17145" cy="388620"/>
          </a:xfrm>
          <a:prstGeom prst="rect">
            <a:avLst/>
          </a:prstGeom>
          <a:solidFill>
            <a:srgbClr val="00BCD4"/>
          </a:solidFill>
          <a:ln/>
          <a:effectLst>
            <a:outerShdw sx="100000" sy="100000" kx="0" ky="0" algn="bl" rotWithShape="0" blurRad="114300" dist="50800" dir="16200000">
              <a:srgbClr val="00BCD4">
                <a:alpha val="40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474345" y="1649045"/>
            <a:ext cx="678485" cy="68580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buNone/>
            </a:pPr>
            <a:r>
              <a:rPr lang="en-US" sz="450" spc="90" kern="0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TOKENS / TASK</a:t>
            </a:r>
            <a:endParaRPr lang="en-US" sz="450" dirty="0"/>
          </a:p>
        </p:txBody>
      </p:sp>
      <p:sp>
        <p:nvSpPr>
          <p:cNvPr id="14" name="Text 12"/>
          <p:cNvSpPr/>
          <p:nvPr/>
        </p:nvSpPr>
        <p:spPr>
          <a:xfrm>
            <a:off x="474345" y="1740485"/>
            <a:ext cx="554355" cy="148590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170" b="1" dirty="0">
                <a:solidFill>
                  <a:srgbClr val="00BCD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4,100</a:t>
            </a:r>
            <a:endParaRPr lang="en-US" sz="1170" dirty="0"/>
          </a:p>
        </p:txBody>
      </p:sp>
      <p:sp>
        <p:nvSpPr>
          <p:cNvPr id="15" name="Shape 13"/>
          <p:cNvSpPr/>
          <p:nvPr/>
        </p:nvSpPr>
        <p:spPr>
          <a:xfrm>
            <a:off x="925830" y="1791920"/>
            <a:ext cx="240030" cy="108585"/>
          </a:xfrm>
          <a:prstGeom prst="roundRect">
            <a:avLst>
              <a:gd name="adj" fmla="val 21053"/>
            </a:avLst>
          </a:prstGeom>
          <a:solidFill>
            <a:srgbClr val="FF7043">
              <a:alpha val="15000"/>
            </a:srgbClr>
          </a:solidFill>
          <a:ln w="5715">
            <a:solidFill>
              <a:srgbClr val="FF7043">
                <a:alpha val="30000"/>
              </a:srgbClr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925830" y="1791920"/>
            <a:ext cx="302895" cy="108585"/>
          </a:xfrm>
          <a:prstGeom prst="rect">
            <a:avLst/>
          </a:prstGeom>
          <a:noFill/>
          <a:ln/>
        </p:spPr>
        <p:txBody>
          <a:bodyPr wrap="none" lIns="17145" tIns="45720" rIns="45720" bIns="17145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495" b="1" spc="45" kern="0" dirty="0">
                <a:solidFill>
                  <a:srgbClr val="FF704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最低</a:t>
            </a:r>
            <a:endParaRPr lang="en-US" sz="495" dirty="0"/>
          </a:p>
        </p:txBody>
      </p:sp>
      <p:sp>
        <p:nvSpPr>
          <p:cNvPr id="17" name="Shape 15"/>
          <p:cNvSpPr/>
          <p:nvPr/>
        </p:nvSpPr>
        <p:spPr>
          <a:xfrm>
            <a:off x="2205990" y="1574750"/>
            <a:ext cx="1794510" cy="400050"/>
          </a:xfrm>
          <a:prstGeom prst="roundRect">
            <a:avLst>
              <a:gd name="adj" fmla="val 14286"/>
            </a:avLst>
          </a:prstGeom>
          <a:solidFill>
            <a:srgbClr val="1E293B">
              <a:alpha val="55000"/>
            </a:srgbClr>
          </a:solidFill>
          <a:ln w="5715">
            <a:solidFill>
              <a:srgbClr val="94A3B8">
                <a:alpha val="15000"/>
              </a:srgbClr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2205990" y="1574750"/>
            <a:ext cx="17145" cy="388620"/>
          </a:xfrm>
          <a:prstGeom prst="rect">
            <a:avLst/>
          </a:prstGeom>
          <a:solidFill>
            <a:srgbClr val="00BCD4"/>
          </a:solidFill>
          <a:ln/>
          <a:effectLst>
            <a:outerShdw sx="100000" sy="100000" kx="0" ky="0" algn="bl" rotWithShape="0" blurRad="114300" dist="50800" dir="16200000">
              <a:srgbClr val="00BCD4">
                <a:alpha val="40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2337435" y="1649045"/>
            <a:ext cx="222885" cy="68580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buNone/>
            </a:pPr>
            <a:r>
              <a:rPr lang="en-US" sz="450" spc="90" kern="0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RAM</a:t>
            </a:r>
            <a:endParaRPr lang="en-US" sz="450" dirty="0"/>
          </a:p>
        </p:txBody>
      </p:sp>
      <p:sp>
        <p:nvSpPr>
          <p:cNvPr id="20" name="Text 18"/>
          <p:cNvSpPr/>
          <p:nvPr/>
        </p:nvSpPr>
        <p:spPr>
          <a:xfrm>
            <a:off x="2337435" y="1740485"/>
            <a:ext cx="600075" cy="148590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170" b="1" dirty="0">
                <a:solidFill>
                  <a:srgbClr val="00BCD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55 MB</a:t>
            </a:r>
            <a:endParaRPr lang="en-US" sz="1170" dirty="0"/>
          </a:p>
        </p:txBody>
      </p:sp>
      <p:sp>
        <p:nvSpPr>
          <p:cNvPr id="21" name="Shape 19"/>
          <p:cNvSpPr/>
          <p:nvPr/>
        </p:nvSpPr>
        <p:spPr>
          <a:xfrm>
            <a:off x="2834640" y="1791920"/>
            <a:ext cx="240030" cy="108585"/>
          </a:xfrm>
          <a:prstGeom prst="roundRect">
            <a:avLst>
              <a:gd name="adj" fmla="val 21053"/>
            </a:avLst>
          </a:prstGeom>
          <a:solidFill>
            <a:srgbClr val="FF7043">
              <a:alpha val="15000"/>
            </a:srgbClr>
          </a:solidFill>
          <a:ln w="5715">
            <a:solidFill>
              <a:srgbClr val="FF7043">
                <a:alpha val="30000"/>
              </a:srgbClr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2834640" y="1791920"/>
            <a:ext cx="302895" cy="108585"/>
          </a:xfrm>
          <a:prstGeom prst="rect">
            <a:avLst/>
          </a:prstGeom>
          <a:noFill/>
          <a:ln/>
        </p:spPr>
        <p:txBody>
          <a:bodyPr wrap="none" lIns="17145" tIns="45720" rIns="45720" bIns="17145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495" b="1" spc="45" kern="0" dirty="0">
                <a:solidFill>
                  <a:srgbClr val="FF704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最低</a:t>
            </a:r>
            <a:endParaRPr lang="en-US" sz="495" dirty="0"/>
          </a:p>
        </p:txBody>
      </p:sp>
      <p:sp>
        <p:nvSpPr>
          <p:cNvPr id="23" name="Shape 21"/>
          <p:cNvSpPr/>
          <p:nvPr/>
        </p:nvSpPr>
        <p:spPr>
          <a:xfrm>
            <a:off x="342900" y="2100530"/>
            <a:ext cx="2191703" cy="5715"/>
          </a:xfrm>
          <a:prstGeom prst="rect">
            <a:avLst/>
          </a:prstGeom>
          <a:gradFill rotWithShape="1">
            <a:gsLst>
              <a:gs pos="0">
                <a:srgbClr val="94A3B8">
                  <a:alpha val="25000"/>
                </a:srgbClr>
              </a:gs>
              <a:gs pos="100000">
                <a:srgbClr val="000000">
                  <a:alpha val="0"/>
                </a:srgbClr>
              </a:gs>
            </a:gsLst>
            <a:lin ang="0" scaled="0"/>
          </a:gradFill>
          <a:ln/>
        </p:spPr>
      </p:sp>
      <p:sp>
        <p:nvSpPr>
          <p:cNvPr id="24" name="Text 22"/>
          <p:cNvSpPr/>
          <p:nvPr/>
        </p:nvSpPr>
        <p:spPr>
          <a:xfrm>
            <a:off x="342900" y="2100530"/>
            <a:ext cx="1564996" cy="80010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buNone/>
            </a:pPr>
            <a:r>
              <a:rPr lang="en-US" sz="495" b="1" spc="113" kern="0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FOUR-FRAMEWORK COMPARISON</a:t>
            </a:r>
            <a:endParaRPr lang="en-US" sz="495" dirty="0"/>
          </a:p>
        </p:txBody>
      </p:sp>
      <p:sp>
        <p:nvSpPr>
          <p:cNvPr id="25" name="Shape 23"/>
          <p:cNvSpPr/>
          <p:nvPr/>
        </p:nvSpPr>
        <p:spPr>
          <a:xfrm>
            <a:off x="342900" y="2283410"/>
            <a:ext cx="3657600" cy="245745"/>
          </a:xfrm>
          <a:prstGeom prst="roundRect">
            <a:avLst>
              <a:gd name="adj" fmla="val 18605"/>
            </a:avLst>
          </a:prstGeom>
          <a:gradFill rotWithShape="1">
            <a:gsLst>
              <a:gs pos="0">
                <a:srgbClr val="00BCD4">
                  <a:alpha val="16000"/>
                </a:srgbClr>
              </a:gs>
              <a:gs pos="100000">
                <a:srgbClr val="00BCD4">
                  <a:alpha val="2000"/>
                </a:srgbClr>
              </a:gs>
            </a:gsLst>
            <a:lin ang="0" scaled="0"/>
          </a:gradFill>
          <a:ln w="5715">
            <a:solidFill>
              <a:srgbClr val="00BCD4">
                <a:alpha val="55000"/>
              </a:srgbClr>
            </a:solidFill>
            <a:prstDash val="solid"/>
          </a:ln>
          <a:effectLst>
            <a:outerShdw sx="100000" sy="100000" kx="0" ky="0" algn="bl" rotWithShape="0" blurRad="228600" dist="50800" dir="16200000">
              <a:srgbClr val="00BCD4">
                <a:alpha val="12000"/>
              </a:srgbClr>
            </a:outerShdw>
          </a:effectLst>
        </p:spPr>
      </p:sp>
      <p:sp>
        <p:nvSpPr>
          <p:cNvPr id="26" name="Text 24"/>
          <p:cNvSpPr/>
          <p:nvPr/>
        </p:nvSpPr>
        <p:spPr>
          <a:xfrm>
            <a:off x="440055" y="2351990"/>
            <a:ext cx="702945" cy="108585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buNone/>
            </a:pPr>
            <a:r>
              <a:rPr lang="en-US" sz="675" b="1" spc="14" kern="0" dirty="0">
                <a:solidFill>
                  <a:srgbClr val="00BCD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Hermes</a:t>
            </a:r>
            <a:endParaRPr lang="en-US" sz="675" dirty="0"/>
          </a:p>
        </p:txBody>
      </p:sp>
      <p:sp>
        <p:nvSpPr>
          <p:cNvPr id="27" name="Text 25"/>
          <p:cNvSpPr/>
          <p:nvPr/>
        </p:nvSpPr>
        <p:spPr>
          <a:xfrm>
            <a:off x="1137285" y="2352705"/>
            <a:ext cx="3097987" cy="1071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563" b="1" dirty="0">
                <a:solidFill>
                  <a:srgbClr val="00BCD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4,100 tokens/task</a:t>
            </a:r>
            <a:pPr algn="l" indent="0" marL="0">
              <a:lnSpc>
                <a:spcPct val="150000"/>
              </a:lnSpc>
              <a:buNone/>
            </a:pPr>
            <a:r>
              <a:rPr lang="en-US" sz="563" dirty="0">
                <a:solidFill>
                  <a:srgbClr val="F1F5F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（最低）·</a:t>
            </a:r>
            <a:pPr algn="l" indent="0" marL="0">
              <a:lnSpc>
                <a:spcPct val="150000"/>
              </a:lnSpc>
              <a:buNone/>
            </a:pPr>
            <a:r>
              <a:rPr lang="en-US" sz="563" b="1" dirty="0">
                <a:solidFill>
                  <a:srgbClr val="00BCD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55MB RAM</a:t>
            </a:r>
            <a:pPr algn="l" indent="0" marL="0">
              <a:lnSpc>
                <a:spcPct val="150000"/>
              </a:lnSpc>
              <a:buNone/>
            </a:pPr>
            <a:r>
              <a:rPr lang="en-US" sz="563" dirty="0">
                <a:solidFill>
                  <a:srgbClr val="F1F5F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· 200+ models via OpenRouter</a:t>
            </a:r>
            <a:endParaRPr lang="en-US" sz="563" dirty="0"/>
          </a:p>
        </p:txBody>
      </p:sp>
      <p:sp>
        <p:nvSpPr>
          <p:cNvPr id="28" name="Shape 26"/>
          <p:cNvSpPr/>
          <p:nvPr/>
        </p:nvSpPr>
        <p:spPr>
          <a:xfrm>
            <a:off x="342900" y="2563445"/>
            <a:ext cx="3657600" cy="222885"/>
          </a:xfrm>
          <a:prstGeom prst="roundRect">
            <a:avLst>
              <a:gd name="adj" fmla="val 20513"/>
            </a:avLst>
          </a:prstGeom>
          <a:solidFill>
            <a:srgbClr val="1E293B">
              <a:alpha val="40000"/>
            </a:srgbClr>
          </a:solidFill>
          <a:ln w="5715">
            <a:solidFill>
              <a:srgbClr val="94A3B8">
                <a:alpha val="15000"/>
              </a:srgbClr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40055" y="2620595"/>
            <a:ext cx="702945" cy="108585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buNone/>
            </a:pPr>
            <a:r>
              <a:rPr lang="en-US" sz="675" b="1" spc="14" kern="0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LangGraph</a:t>
            </a:r>
            <a:endParaRPr lang="en-US" sz="675" dirty="0"/>
          </a:p>
        </p:txBody>
      </p:sp>
      <p:sp>
        <p:nvSpPr>
          <p:cNvPr id="30" name="Text 28"/>
          <p:cNvSpPr/>
          <p:nvPr/>
        </p:nvSpPr>
        <p:spPr>
          <a:xfrm>
            <a:off x="1137285" y="2621310"/>
            <a:ext cx="3097987" cy="107156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563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低层编排框架，stateful agents</a:t>
            </a:r>
            <a:endParaRPr lang="en-US" sz="563" dirty="0"/>
          </a:p>
        </p:txBody>
      </p:sp>
      <p:sp>
        <p:nvSpPr>
          <p:cNvPr id="31" name="Shape 29"/>
          <p:cNvSpPr/>
          <p:nvPr/>
        </p:nvSpPr>
        <p:spPr>
          <a:xfrm>
            <a:off x="342900" y="2820620"/>
            <a:ext cx="3657600" cy="222885"/>
          </a:xfrm>
          <a:prstGeom prst="roundRect">
            <a:avLst>
              <a:gd name="adj" fmla="val 20513"/>
            </a:avLst>
          </a:prstGeom>
          <a:solidFill>
            <a:srgbClr val="1E293B">
              <a:alpha val="40000"/>
            </a:srgbClr>
          </a:solidFill>
          <a:ln w="5715">
            <a:solidFill>
              <a:srgbClr val="94A3B8">
                <a:alpha val="15000"/>
              </a:srgbClr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40055" y="2877770"/>
            <a:ext cx="702945" cy="108585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buNone/>
            </a:pPr>
            <a:r>
              <a:rPr lang="en-US" sz="675" b="1" spc="14" kern="0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CrewAI</a:t>
            </a:r>
            <a:endParaRPr lang="en-US" sz="675" dirty="0"/>
          </a:p>
        </p:txBody>
      </p:sp>
      <p:sp>
        <p:nvSpPr>
          <p:cNvPr id="33" name="Text 31"/>
          <p:cNvSpPr/>
          <p:nvPr/>
        </p:nvSpPr>
        <p:spPr>
          <a:xfrm>
            <a:off x="1137285" y="2878485"/>
            <a:ext cx="3097987" cy="107156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563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角色扮演驱动，manager-worker-critic</a:t>
            </a:r>
            <a:endParaRPr lang="en-US" sz="563" dirty="0"/>
          </a:p>
        </p:txBody>
      </p:sp>
      <p:sp>
        <p:nvSpPr>
          <p:cNvPr id="34" name="Shape 32"/>
          <p:cNvSpPr/>
          <p:nvPr/>
        </p:nvSpPr>
        <p:spPr>
          <a:xfrm>
            <a:off x="342900" y="3077795"/>
            <a:ext cx="3657600" cy="222885"/>
          </a:xfrm>
          <a:prstGeom prst="roundRect">
            <a:avLst>
              <a:gd name="adj" fmla="val 20513"/>
            </a:avLst>
          </a:prstGeom>
          <a:solidFill>
            <a:srgbClr val="1E293B">
              <a:alpha val="40000"/>
            </a:srgbClr>
          </a:solidFill>
          <a:ln w="5715">
            <a:solidFill>
              <a:srgbClr val="94A3B8">
                <a:alpha val="15000"/>
              </a:srgbClr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440055" y="3134945"/>
            <a:ext cx="702945" cy="108585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buNone/>
            </a:pPr>
            <a:r>
              <a:rPr lang="en-US" sz="675" b="1" spc="14" kern="0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AutoGen</a:t>
            </a:r>
            <a:endParaRPr lang="en-US" sz="675" dirty="0"/>
          </a:p>
        </p:txBody>
      </p:sp>
      <p:sp>
        <p:nvSpPr>
          <p:cNvPr id="36" name="Text 34"/>
          <p:cNvSpPr/>
          <p:nvPr/>
        </p:nvSpPr>
        <p:spPr>
          <a:xfrm>
            <a:off x="1137285" y="3135660"/>
            <a:ext cx="3097987" cy="107156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563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多 agent 对话，已进入 maintenance mode</a:t>
            </a:r>
            <a:endParaRPr lang="en-US" sz="563" dirty="0"/>
          </a:p>
        </p:txBody>
      </p:sp>
      <p:sp>
        <p:nvSpPr>
          <p:cNvPr id="37" name="Shape 35"/>
          <p:cNvSpPr/>
          <p:nvPr/>
        </p:nvSpPr>
        <p:spPr>
          <a:xfrm>
            <a:off x="342900" y="3403550"/>
            <a:ext cx="3657600" cy="241459"/>
          </a:xfrm>
          <a:prstGeom prst="rect">
            <a:avLst/>
          </a:prstGeom>
          <a:gradFill rotWithShape="1">
            <a:gsLst>
              <a:gs pos="0">
                <a:srgbClr val="FF7043">
                  <a:alpha val="14000"/>
                </a:srgbClr>
              </a:gs>
              <a:gs pos="100000">
                <a:srgbClr val="FF7043">
                  <a:alpha val="2000"/>
                </a:srgbClr>
              </a:gs>
            </a:gsLst>
            <a:lin ang="0" scaled="0"/>
          </a:gradFill>
          <a:ln/>
        </p:spPr>
      </p:sp>
      <p:sp>
        <p:nvSpPr>
          <p:cNvPr id="38" name="Shape 36"/>
          <p:cNvSpPr/>
          <p:nvPr/>
        </p:nvSpPr>
        <p:spPr>
          <a:xfrm>
            <a:off x="342900" y="3403550"/>
            <a:ext cx="0" cy="241459"/>
          </a:xfrm>
          <a:prstGeom prst="line">
            <a:avLst/>
          </a:prstGeom>
          <a:noFill/>
          <a:ln w="17145">
            <a:solidFill>
              <a:srgbClr val="FF7043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342900" y="3403550"/>
            <a:ext cx="4096512" cy="24145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608" b="1" spc="9" kern="0" dirty="0">
                <a:solidFill>
                  <a:srgbClr val="F1F5F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独特性：</a:t>
            </a:r>
            <a:pPr algn="l" indent="0" marL="0">
              <a:lnSpc>
                <a:spcPct val="150000"/>
              </a:lnSpc>
              <a:buNone/>
            </a:pPr>
            <a:r>
              <a:rPr lang="en-US" sz="608" b="1" spc="9" kern="0" dirty="0">
                <a:solidFill>
                  <a:srgbClr val="FF704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不是更强的模型，是能力生成的机制 </a:t>
            </a:r>
            <a:endParaRPr lang="en-US" sz="608" dirty="0"/>
          </a:p>
        </p:txBody>
      </p:sp>
      <p:sp>
        <p:nvSpPr>
          <p:cNvPr id="40" name="Shape 38"/>
          <p:cNvSpPr/>
          <p:nvPr/>
        </p:nvSpPr>
        <p:spPr>
          <a:xfrm>
            <a:off x="4343400" y="1169432"/>
            <a:ext cx="4457700" cy="2491740"/>
          </a:xfrm>
          <a:prstGeom prst="roundRect">
            <a:avLst>
              <a:gd name="adj" fmla="val 2752"/>
            </a:avLst>
          </a:prstGeom>
          <a:noFill/>
          <a:ln/>
          <a:effectLst>
            <a:outerShdw sx="100000" sy="100000" kx="0" ky="0" algn="bl" rotWithShape="0" blurRad="571500" dist="228600" dir="16200000">
              <a:srgbClr val="000000">
                <a:alpha val="55000"/>
              </a:srgbClr>
            </a:outerShdw>
          </a:effectLst>
        </p:spPr>
      </p:sp>
      <p:pic>
        <p:nvPicPr>
          <p:cNvPr id="41" name="Image 0" descr="/home/lee/developing/markdown-to-slides/agentcon-2026-hermes-evolution/images/page_012_hero.png">    </p:cNvPr>
          <p:cNvPicPr>
            <a:picLocks noChangeAspect="1"/>
          </p:cNvPicPr>
          <p:nvPr/>
        </p:nvPicPr>
        <p:blipFill>
          <a:blip r:embed="rId1"/>
          <a:srcRect l="75" r="75" t="0" b="0"/>
          <a:stretch/>
        </p:blipFill>
        <p:spPr>
          <a:xfrm>
            <a:off x="4343400" y="1169432"/>
            <a:ext cx="4457700" cy="2491740"/>
          </a:xfrm>
          <a:prstGeom prst="rect">
            <a:avLst/>
          </a:prstGeom>
        </p:spPr>
      </p:pic>
      <p:sp>
        <p:nvSpPr>
          <p:cNvPr id="42" name="Shape 39"/>
          <p:cNvSpPr/>
          <p:nvPr/>
        </p:nvSpPr>
        <p:spPr>
          <a:xfrm>
            <a:off x="4423410" y="1249442"/>
            <a:ext cx="674370" cy="137160"/>
          </a:xfrm>
          <a:prstGeom prst="roundRect">
            <a:avLst>
              <a:gd name="adj" fmla="val 16667"/>
            </a:avLst>
          </a:prstGeom>
          <a:solidFill>
            <a:srgbClr val="0F172A">
              <a:alpha val="75000"/>
            </a:srgbClr>
          </a:solidFill>
          <a:ln w="5715">
            <a:solidFill>
              <a:srgbClr val="00BCD4">
                <a:alpha val="50000"/>
              </a:srgbClr>
            </a:solidFill>
            <a:prstDash val="solid"/>
          </a:ln>
        </p:spPr>
      </p:sp>
      <p:sp>
        <p:nvSpPr>
          <p:cNvPr id="43" name="Text 40"/>
          <p:cNvSpPr/>
          <p:nvPr/>
        </p:nvSpPr>
        <p:spPr>
          <a:xfrm>
            <a:off x="4486275" y="1283732"/>
            <a:ext cx="614477" cy="68580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buNone/>
            </a:pPr>
            <a:r>
              <a:rPr lang="en-US" sz="450" b="1" spc="90" kern="0" dirty="0">
                <a:solidFill>
                  <a:srgbClr val="00BCD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CLOSED-LOOP</a:t>
            </a:r>
            <a:endParaRPr lang="en-US" sz="450" dirty="0"/>
          </a:p>
        </p:txBody>
      </p:sp>
      <p:sp>
        <p:nvSpPr>
          <p:cNvPr id="44" name="Shape 41"/>
          <p:cNvSpPr/>
          <p:nvPr/>
        </p:nvSpPr>
        <p:spPr>
          <a:xfrm>
            <a:off x="4343400" y="3764042"/>
            <a:ext cx="4457700" cy="255746"/>
          </a:xfrm>
          <a:prstGeom prst="roundRect">
            <a:avLst>
              <a:gd name="adj" fmla="val 17877"/>
            </a:avLst>
          </a:prstGeom>
          <a:solidFill>
            <a:srgbClr val="00BCD4">
              <a:alpha val="6000"/>
            </a:srgbClr>
          </a:solidFill>
          <a:ln w="5715">
            <a:solidFill>
              <a:srgbClr val="00BCD4">
                <a:alpha val="22000"/>
              </a:srgbClr>
            </a:solidFill>
            <a:prstDash val="solid"/>
          </a:ln>
        </p:spPr>
      </p:sp>
      <p:sp>
        <p:nvSpPr>
          <p:cNvPr id="45" name="Shape 42"/>
          <p:cNvSpPr/>
          <p:nvPr/>
        </p:nvSpPr>
        <p:spPr>
          <a:xfrm>
            <a:off x="4451985" y="3869055"/>
            <a:ext cx="45720" cy="45720"/>
          </a:xfrm>
          <a:prstGeom prst="ellipse">
            <a:avLst/>
          </a:prstGeom>
          <a:solidFill>
            <a:srgbClr val="00BCD4"/>
          </a:solidFill>
          <a:ln/>
          <a:effectLst>
            <a:outerShdw sx="100000" sy="100000" kx="0" ky="0" algn="bl" rotWithShape="0" blurRad="95250" dist="50800" dir="16200000">
              <a:srgbClr val="00BCD4">
                <a:alpha val="40000"/>
              </a:srgbClr>
            </a:outerShdw>
          </a:effectLst>
        </p:spPr>
      </p:sp>
      <p:sp>
        <p:nvSpPr>
          <p:cNvPr id="46" name="Text 43"/>
          <p:cNvSpPr/>
          <p:nvPr/>
        </p:nvSpPr>
        <p:spPr>
          <a:xfrm>
            <a:off x="4566285" y="3838337"/>
            <a:ext cx="2944068" cy="1071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563" b="1" dirty="0">
                <a:solidFill>
                  <a:srgbClr val="F1F5F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Skills 生成 → Memory 积累 → Session 演化</a:t>
            </a:r>
            <a:pPr algn="l" indent="0" marL="0">
              <a:lnSpc>
                <a:spcPct val="150000"/>
              </a:lnSpc>
              <a:buNone/>
            </a:pPr>
            <a:r>
              <a:rPr lang="en-US" sz="563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，中心 Hermes 形成自我进化的闭环</a:t>
            </a:r>
            <a:endParaRPr lang="en-US" sz="563" dirty="0"/>
          </a:p>
        </p:txBody>
      </p:sp>
      <p:sp>
        <p:nvSpPr>
          <p:cNvPr id="47" name="Text 44"/>
          <p:cNvSpPr/>
          <p:nvPr/>
        </p:nvSpPr>
        <p:spPr>
          <a:xfrm>
            <a:off x="342900" y="4949190"/>
            <a:ext cx="1590599" cy="68580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buNone/>
            </a:pPr>
            <a:r>
              <a:rPr lang="en-US" sz="450" spc="113" kern="0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HERMES · CLOSED-LOOP LEARNING</a:t>
            </a:r>
            <a:endParaRPr lang="en-US" sz="450" dirty="0"/>
          </a:p>
        </p:txBody>
      </p:sp>
      <p:sp>
        <p:nvSpPr>
          <p:cNvPr id="48" name="Text 45"/>
          <p:cNvSpPr/>
          <p:nvPr/>
        </p:nvSpPr>
        <p:spPr>
          <a:xfrm>
            <a:off x="8666798" y="4949190"/>
            <a:ext cx="191453" cy="68580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buNone/>
            </a:pPr>
            <a:r>
              <a:rPr lang="en-US" sz="450" spc="113" kern="0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012</a:t>
            </a:r>
            <a:endParaRPr lang="en-US" sz="4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A0F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gradFill rotWithShape="1">
            <a:gsLst>
              <a:gs pos="0">
                <a:srgbClr val="1E293B"/>
              </a:gs>
              <a:gs pos="100000">
                <a:srgbClr val="0F172A"/>
              </a:gs>
            </a:gsLst>
            <a:lin ang="2700000" scaled="0"/>
          </a:gradFill>
          <a:ln/>
        </p:spPr>
      </p:sp>
      <p:sp>
        <p:nvSpPr>
          <p:cNvPr id="3" name="Text 1"/>
          <p:cNvSpPr/>
          <p:nvPr/>
        </p:nvSpPr>
        <p:spPr>
          <a:xfrm>
            <a:off x="6711375" y="171450"/>
            <a:ext cx="3840480" cy="1600200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2600" b="1" spc="-540" kern="0" dirty="0">
                <a:solidFill>
                  <a:srgbClr val="000000">
                    <a:alpha val="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03</a:t>
            </a:r>
            <a:endParaRPr lang="en-US" sz="1260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8663940" y="137160"/>
            <a:ext cx="342900" cy="342900"/>
          </a:xfrm>
          <a:prstGeom prst="rect">
            <a:avLst/>
          </a:prstGeom>
        </p:spPr>
      </p:pic>
      <p:pic>
        <p:nvPicPr>
          <p:cNvPr id="5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37160" y="4663440"/>
            <a:ext cx="342900" cy="342900"/>
          </a:xfrm>
          <a:prstGeom prst="rect">
            <a:avLst/>
          </a:prstGeom>
        </p:spPr>
      </p:pic>
      <p:sp>
        <p:nvSpPr>
          <p:cNvPr id="6" name="Shape 2"/>
          <p:cNvSpPr/>
          <p:nvPr/>
        </p:nvSpPr>
        <p:spPr>
          <a:xfrm>
            <a:off x="171450" y="1371600"/>
            <a:ext cx="22860" cy="22860"/>
          </a:xfrm>
          <a:prstGeom prst="ellipse">
            <a:avLst/>
          </a:prstGeom>
          <a:solidFill>
            <a:srgbClr val="00BCD4">
              <a:alpha val="35000"/>
            </a:srgbClr>
          </a:solidFill>
          <a:ln/>
        </p:spPr>
      </p:sp>
      <p:sp>
        <p:nvSpPr>
          <p:cNvPr id="7" name="Shape 3"/>
          <p:cNvSpPr/>
          <p:nvPr/>
        </p:nvSpPr>
        <p:spPr>
          <a:xfrm>
            <a:off x="251460" y="1371600"/>
            <a:ext cx="22860" cy="22860"/>
          </a:xfrm>
          <a:prstGeom prst="ellipse">
            <a:avLst/>
          </a:prstGeom>
          <a:solidFill>
            <a:srgbClr val="00BCD4">
              <a:alpha val="35000"/>
            </a:srgbClr>
          </a:solidFill>
          <a:ln/>
        </p:spPr>
      </p:sp>
      <p:sp>
        <p:nvSpPr>
          <p:cNvPr id="8" name="Shape 4"/>
          <p:cNvSpPr/>
          <p:nvPr/>
        </p:nvSpPr>
        <p:spPr>
          <a:xfrm>
            <a:off x="331470" y="1371600"/>
            <a:ext cx="22860" cy="22860"/>
          </a:xfrm>
          <a:prstGeom prst="ellipse">
            <a:avLst/>
          </a:prstGeom>
          <a:solidFill>
            <a:srgbClr val="00BCD4">
              <a:alpha val="35000"/>
            </a:srgbClr>
          </a:solidFill>
          <a:ln/>
        </p:spPr>
      </p:sp>
      <p:sp>
        <p:nvSpPr>
          <p:cNvPr id="9" name="Shape 5"/>
          <p:cNvSpPr/>
          <p:nvPr/>
        </p:nvSpPr>
        <p:spPr>
          <a:xfrm>
            <a:off x="411480" y="1371600"/>
            <a:ext cx="22860" cy="22860"/>
          </a:xfrm>
          <a:prstGeom prst="ellipse">
            <a:avLst/>
          </a:prstGeom>
          <a:solidFill>
            <a:srgbClr val="00BCD4">
              <a:alpha val="35000"/>
            </a:srgbClr>
          </a:solidFill>
          <a:ln/>
        </p:spPr>
      </p:sp>
      <p:sp>
        <p:nvSpPr>
          <p:cNvPr id="10" name="Shape 6"/>
          <p:cNvSpPr/>
          <p:nvPr/>
        </p:nvSpPr>
        <p:spPr>
          <a:xfrm>
            <a:off x="8709660" y="4206240"/>
            <a:ext cx="22860" cy="22860"/>
          </a:xfrm>
          <a:prstGeom prst="ellipse">
            <a:avLst/>
          </a:prstGeom>
          <a:solidFill>
            <a:srgbClr val="00BCD4">
              <a:alpha val="35000"/>
            </a:srgbClr>
          </a:solidFill>
          <a:ln/>
        </p:spPr>
      </p:sp>
      <p:sp>
        <p:nvSpPr>
          <p:cNvPr id="11" name="Shape 7"/>
          <p:cNvSpPr/>
          <p:nvPr/>
        </p:nvSpPr>
        <p:spPr>
          <a:xfrm>
            <a:off x="8789670" y="4206240"/>
            <a:ext cx="22860" cy="22860"/>
          </a:xfrm>
          <a:prstGeom prst="ellipse">
            <a:avLst/>
          </a:prstGeom>
          <a:solidFill>
            <a:srgbClr val="00BCD4">
              <a:alpha val="35000"/>
            </a:srgbClr>
          </a:solidFill>
          <a:ln/>
        </p:spPr>
      </p:sp>
      <p:sp>
        <p:nvSpPr>
          <p:cNvPr id="12" name="Shape 8"/>
          <p:cNvSpPr/>
          <p:nvPr/>
        </p:nvSpPr>
        <p:spPr>
          <a:xfrm>
            <a:off x="8869680" y="4206240"/>
            <a:ext cx="22860" cy="22860"/>
          </a:xfrm>
          <a:prstGeom prst="ellipse">
            <a:avLst/>
          </a:prstGeom>
          <a:solidFill>
            <a:srgbClr val="00BCD4">
              <a:alpha val="35000"/>
            </a:srgbClr>
          </a:solidFill>
          <a:ln/>
        </p:spPr>
      </p:sp>
      <p:sp>
        <p:nvSpPr>
          <p:cNvPr id="13" name="Shape 9"/>
          <p:cNvSpPr/>
          <p:nvPr/>
        </p:nvSpPr>
        <p:spPr>
          <a:xfrm>
            <a:off x="8949690" y="4206240"/>
            <a:ext cx="22860" cy="22860"/>
          </a:xfrm>
          <a:prstGeom prst="ellipse">
            <a:avLst/>
          </a:prstGeom>
          <a:solidFill>
            <a:srgbClr val="00BCD4">
              <a:alpha val="35000"/>
            </a:srgbClr>
          </a:solidFill>
          <a:ln/>
        </p:spPr>
      </p:sp>
      <p:sp>
        <p:nvSpPr>
          <p:cNvPr id="14" name="Text 10"/>
          <p:cNvSpPr/>
          <p:nvPr/>
        </p:nvSpPr>
        <p:spPr>
          <a:xfrm>
            <a:off x="342900" y="582930"/>
            <a:ext cx="1755648" cy="851535"/>
          </a:xfrm>
          <a:prstGeom prst="rect">
            <a:avLst/>
          </a:prstGeom>
          <a:noFill/>
          <a:ln/>
          <a:effectLst>
            <a:outerShdw sx="100000" sy="100000" kx="0" ky="0" algn="bl" rotWithShape="0" blurRad="228600" dist="50800" dir="5400000">
              <a:srgbClr val="00BCD4">
                <a:alpha val="35000"/>
              </a:srgbClr>
            </a:outerShdw>
          </a:effectLst>
        </p:spPr>
        <p:txBody>
          <a:bodyPr wrap="none" rtlCol="0" anchor="ctr"/>
          <a:lstStyle/>
          <a:p>
            <a:pPr algn="l" indent="0" marL="0">
              <a:lnSpc>
                <a:spcPct val="82000"/>
              </a:lnSpc>
              <a:buNone/>
            </a:pPr>
            <a:r>
              <a:rPr lang="en-US" sz="5760" b="1" spc="-180" kern="0" dirty="0">
                <a:solidFill>
                  <a:srgbClr val="00BCD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03</a:t>
            </a:r>
            <a:endParaRPr lang="en-US" sz="5760" dirty="0"/>
          </a:p>
        </p:txBody>
      </p:sp>
      <p:sp>
        <p:nvSpPr>
          <p:cNvPr id="15" name="Shape 11"/>
          <p:cNvSpPr/>
          <p:nvPr/>
        </p:nvSpPr>
        <p:spPr>
          <a:xfrm>
            <a:off x="1498044" y="782955"/>
            <a:ext cx="205740" cy="5715"/>
          </a:xfrm>
          <a:prstGeom prst="rect">
            <a:avLst/>
          </a:prstGeom>
          <a:solidFill>
            <a:srgbClr val="00BCD4"/>
          </a:solidFill>
          <a:ln/>
        </p:spPr>
      </p:sp>
      <p:sp>
        <p:nvSpPr>
          <p:cNvPr id="16" name="Text 12"/>
          <p:cNvSpPr/>
          <p:nvPr/>
        </p:nvSpPr>
        <p:spPr>
          <a:xfrm>
            <a:off x="1783794" y="782955"/>
            <a:ext cx="2019352" cy="85725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buNone/>
            </a:pPr>
            <a:r>
              <a:rPr lang="en-US" sz="585" spc="270" kern="0" dirty="0">
                <a:solidFill>
                  <a:srgbClr val="00BCD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ACT 3 · SECTION HEADER</a:t>
            </a:r>
            <a:endParaRPr lang="en-US" sz="585" dirty="0"/>
          </a:p>
        </p:txBody>
      </p:sp>
      <p:sp>
        <p:nvSpPr>
          <p:cNvPr id="17" name="Text 13"/>
          <p:cNvSpPr/>
          <p:nvPr/>
        </p:nvSpPr>
        <p:spPr>
          <a:xfrm>
            <a:off x="1498044" y="971550"/>
            <a:ext cx="4692687" cy="468630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3150" b="1" spc="-67" kern="0" dirty="0">
                <a:solidFill>
                  <a:srgbClr val="F8FAF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需求/供给/消费三维分析</a:t>
            </a:r>
            <a:endParaRPr lang="en-US" sz="3150" dirty="0"/>
          </a:p>
        </p:txBody>
      </p:sp>
      <p:sp>
        <p:nvSpPr>
          <p:cNvPr id="18" name="Shape 14"/>
          <p:cNvSpPr/>
          <p:nvPr/>
        </p:nvSpPr>
        <p:spPr>
          <a:xfrm>
            <a:off x="1498044" y="1552158"/>
            <a:ext cx="571500" cy="17145"/>
          </a:xfrm>
          <a:prstGeom prst="rect">
            <a:avLst/>
          </a:prstGeom>
          <a:solidFill>
            <a:srgbClr val="FF7043"/>
          </a:solidFill>
          <a:ln/>
          <a:effectLst>
            <a:outerShdw sx="100000" sy="100000" kx="0" ky="0" algn="bl" rotWithShape="0" blurRad="114300" dist="50800" dir="16200000">
              <a:srgbClr val="FF7043">
                <a:alpha val="55000"/>
              </a:srgbClr>
            </a:outerShdw>
          </a:effectLst>
        </p:spPr>
      </p:sp>
      <p:sp>
        <p:nvSpPr>
          <p:cNvPr id="19" name="Text 15"/>
          <p:cNvSpPr/>
          <p:nvPr/>
        </p:nvSpPr>
        <p:spPr>
          <a:xfrm>
            <a:off x="1498044" y="1717893"/>
            <a:ext cx="2308389" cy="137160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buNone/>
            </a:pPr>
            <a:r>
              <a:rPr lang="en-US" sz="900" spc="23" kern="0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用公开数据观察 Hermes 一年多的演化</a:t>
            </a:r>
            <a:endParaRPr lang="en-US" sz="900" dirty="0"/>
          </a:p>
        </p:txBody>
      </p:sp>
      <p:sp>
        <p:nvSpPr>
          <p:cNvPr id="20" name="Shape 16"/>
          <p:cNvSpPr/>
          <p:nvPr/>
        </p:nvSpPr>
        <p:spPr>
          <a:xfrm>
            <a:off x="1482150" y="2177415"/>
            <a:ext cx="102870" cy="5715"/>
          </a:xfrm>
          <a:prstGeom prst="rect">
            <a:avLst/>
          </a:prstGeom>
          <a:solidFill>
            <a:srgbClr val="00BCD4">
              <a:alpha val="40000"/>
            </a:srgbClr>
          </a:solidFill>
          <a:ln/>
        </p:spPr>
      </p:sp>
      <p:sp>
        <p:nvSpPr>
          <p:cNvPr id="21" name="Shape 17"/>
          <p:cNvSpPr/>
          <p:nvPr/>
        </p:nvSpPr>
        <p:spPr>
          <a:xfrm>
            <a:off x="1482150" y="2177415"/>
            <a:ext cx="102870" cy="5715"/>
          </a:xfrm>
          <a:prstGeom prst="rect">
            <a:avLst/>
          </a:prstGeom>
          <a:solidFill>
            <a:srgbClr val="00BCD4">
              <a:alpha val="40000"/>
            </a:srgbClr>
          </a:solidFill>
          <a:ln/>
        </p:spPr>
      </p:sp>
      <p:sp>
        <p:nvSpPr>
          <p:cNvPr id="22" name="Text 18"/>
          <p:cNvSpPr/>
          <p:nvPr/>
        </p:nvSpPr>
        <p:spPr>
          <a:xfrm>
            <a:off x="1642170" y="2177415"/>
            <a:ext cx="207526" cy="74295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ctr" indent="0" marL="0">
              <a:buNone/>
            </a:pPr>
            <a:r>
              <a:rPr lang="en-US" sz="495" spc="225" kern="0" dirty="0">
                <a:solidFill>
                  <a:srgbClr val="00BCD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01</a:t>
            </a:r>
            <a:endParaRPr lang="en-US" sz="495" dirty="0"/>
          </a:p>
        </p:txBody>
      </p:sp>
      <p:pic>
        <p:nvPicPr>
          <p:cNvPr id="23" name="Image 2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428750" y="2400300"/>
            <a:ext cx="571500" cy="571500"/>
          </a:xfrm>
          <a:prstGeom prst="rect">
            <a:avLst/>
          </a:prstGeom>
        </p:spPr>
      </p:pic>
      <p:sp>
        <p:nvSpPr>
          <p:cNvPr id="24" name="Text 19"/>
          <p:cNvSpPr/>
          <p:nvPr/>
        </p:nvSpPr>
        <p:spPr>
          <a:xfrm>
            <a:off x="1414463" y="3217545"/>
            <a:ext cx="782955" cy="217170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ctr" indent="0" marL="0">
              <a:buNone/>
            </a:pPr>
            <a:r>
              <a:rPr lang="en-US" sz="1440" b="1" spc="135" kern="0" dirty="0">
                <a:solidFill>
                  <a:srgbClr val="F8FAF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需求侧</a:t>
            </a:r>
            <a:endParaRPr lang="en-US" sz="1440" dirty="0"/>
          </a:p>
        </p:txBody>
      </p:sp>
      <p:sp>
        <p:nvSpPr>
          <p:cNvPr id="25" name="Text 20"/>
          <p:cNvSpPr/>
          <p:nvPr/>
        </p:nvSpPr>
        <p:spPr>
          <a:xfrm>
            <a:off x="1485900" y="3537585"/>
            <a:ext cx="542925" cy="102870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ctr" indent="0" marL="0">
              <a:lnSpc>
                <a:spcPct val="160000"/>
              </a:lnSpc>
              <a:buNone/>
            </a:pPr>
            <a:r>
              <a:rPr lang="en-US" sz="675" spc="45" kern="0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用户要什么</a:t>
            </a:r>
            <a:endParaRPr lang="en-US" sz="675" dirty="0"/>
          </a:p>
        </p:txBody>
      </p:sp>
      <p:sp>
        <p:nvSpPr>
          <p:cNvPr id="26" name="Shape 21"/>
          <p:cNvSpPr/>
          <p:nvPr/>
        </p:nvSpPr>
        <p:spPr>
          <a:xfrm>
            <a:off x="1371600" y="3760470"/>
            <a:ext cx="685800" cy="171450"/>
          </a:xfrm>
          <a:prstGeom prst="rect">
            <a:avLst/>
          </a:prstGeom>
          <a:noFill/>
          <a:ln/>
        </p:spPr>
      </p:sp>
      <p:sp>
        <p:nvSpPr>
          <p:cNvPr id="27" name="Shape 22"/>
          <p:cNvSpPr/>
          <p:nvPr/>
        </p:nvSpPr>
        <p:spPr>
          <a:xfrm>
            <a:off x="1371600" y="3760470"/>
            <a:ext cx="685800" cy="0"/>
          </a:xfrm>
          <a:prstGeom prst="line">
            <a:avLst/>
          </a:prstGeom>
          <a:noFill/>
          <a:ln w="5715">
            <a:solidFill>
              <a:srgbClr val="FF7043">
                <a:alpha val="35000"/>
              </a:srgbClr>
            </a:solidFill>
            <a:prstDash val="solid"/>
          </a:ln>
        </p:spPr>
      </p:sp>
      <p:sp>
        <p:nvSpPr>
          <p:cNvPr id="28" name="Text 23"/>
          <p:cNvSpPr/>
          <p:nvPr/>
        </p:nvSpPr>
        <p:spPr>
          <a:xfrm>
            <a:off x="1515100" y="3846195"/>
            <a:ext cx="473095" cy="85725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ctr" indent="0" marL="0">
              <a:buNone/>
            </a:pPr>
            <a:r>
              <a:rPr lang="en-US" sz="585" b="1" spc="135" kern="0" dirty="0">
                <a:solidFill>
                  <a:srgbClr val="FF704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ISSUES</a:t>
            </a:r>
            <a:endParaRPr lang="en-US" sz="585" dirty="0"/>
          </a:p>
        </p:txBody>
      </p:sp>
      <p:sp>
        <p:nvSpPr>
          <p:cNvPr id="29" name="Shape 24"/>
          <p:cNvSpPr/>
          <p:nvPr/>
        </p:nvSpPr>
        <p:spPr>
          <a:xfrm>
            <a:off x="3314700" y="2005965"/>
            <a:ext cx="2514600" cy="2097405"/>
          </a:xfrm>
          <a:prstGeom prst="rect">
            <a:avLst/>
          </a:prstGeom>
          <a:noFill/>
          <a:ln/>
        </p:spPr>
      </p:sp>
      <p:sp>
        <p:nvSpPr>
          <p:cNvPr id="30" name="Shape 25"/>
          <p:cNvSpPr/>
          <p:nvPr/>
        </p:nvSpPr>
        <p:spPr>
          <a:xfrm>
            <a:off x="3314700" y="2005965"/>
            <a:ext cx="0" cy="2097405"/>
          </a:xfrm>
          <a:prstGeom prst="line">
            <a:avLst/>
          </a:prstGeom>
          <a:noFill/>
          <a:ln w="5715">
            <a:solidFill>
              <a:srgbClr val="94A3B8">
                <a:alpha val="18000"/>
              </a:srgbClr>
            </a:solidFill>
            <a:prstDash val="solid"/>
          </a:ln>
        </p:spPr>
      </p:sp>
      <p:sp>
        <p:nvSpPr>
          <p:cNvPr id="31" name="Shape 26"/>
          <p:cNvSpPr/>
          <p:nvPr/>
        </p:nvSpPr>
        <p:spPr>
          <a:xfrm>
            <a:off x="4342507" y="2177415"/>
            <a:ext cx="102870" cy="5715"/>
          </a:xfrm>
          <a:prstGeom prst="rect">
            <a:avLst/>
          </a:prstGeom>
          <a:solidFill>
            <a:srgbClr val="00BCD4">
              <a:alpha val="40000"/>
            </a:srgbClr>
          </a:solidFill>
          <a:ln/>
        </p:spPr>
      </p:sp>
      <p:sp>
        <p:nvSpPr>
          <p:cNvPr id="32" name="Shape 27"/>
          <p:cNvSpPr/>
          <p:nvPr/>
        </p:nvSpPr>
        <p:spPr>
          <a:xfrm>
            <a:off x="4342507" y="2177415"/>
            <a:ext cx="102870" cy="5715"/>
          </a:xfrm>
          <a:prstGeom prst="rect">
            <a:avLst/>
          </a:prstGeom>
          <a:solidFill>
            <a:srgbClr val="00BCD4">
              <a:alpha val="40000"/>
            </a:srgbClr>
          </a:solidFill>
          <a:ln/>
        </p:spPr>
      </p:sp>
      <p:sp>
        <p:nvSpPr>
          <p:cNvPr id="33" name="Text 28"/>
          <p:cNvSpPr/>
          <p:nvPr/>
        </p:nvSpPr>
        <p:spPr>
          <a:xfrm>
            <a:off x="4502527" y="2177415"/>
            <a:ext cx="207526" cy="74295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ctr" indent="0" marL="0">
              <a:buNone/>
            </a:pPr>
            <a:r>
              <a:rPr lang="en-US" sz="495" spc="225" kern="0" dirty="0">
                <a:solidFill>
                  <a:srgbClr val="00BCD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02</a:t>
            </a:r>
            <a:endParaRPr lang="en-US" sz="495" dirty="0"/>
          </a:p>
        </p:txBody>
      </p:sp>
      <p:pic>
        <p:nvPicPr>
          <p:cNvPr id="34" name="Image 3" descr="preencoded.png">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4289108" y="2400300"/>
            <a:ext cx="571500" cy="571500"/>
          </a:xfrm>
          <a:prstGeom prst="rect">
            <a:avLst/>
          </a:prstGeom>
        </p:spPr>
      </p:pic>
      <p:sp>
        <p:nvSpPr>
          <p:cNvPr id="35" name="Text 29"/>
          <p:cNvSpPr/>
          <p:nvPr/>
        </p:nvSpPr>
        <p:spPr>
          <a:xfrm>
            <a:off x="4274820" y="3217545"/>
            <a:ext cx="782955" cy="217170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ctr" indent="0" marL="0">
              <a:buNone/>
            </a:pPr>
            <a:r>
              <a:rPr lang="en-US" sz="1440" b="1" spc="135" kern="0" dirty="0">
                <a:solidFill>
                  <a:srgbClr val="F8FAF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供给侧</a:t>
            </a:r>
            <a:endParaRPr lang="en-US" sz="1440" dirty="0"/>
          </a:p>
        </p:txBody>
      </p:sp>
      <p:sp>
        <p:nvSpPr>
          <p:cNvPr id="36" name="Text 30"/>
          <p:cNvSpPr/>
          <p:nvPr/>
        </p:nvSpPr>
        <p:spPr>
          <a:xfrm>
            <a:off x="4300538" y="3537585"/>
            <a:ext cx="634365" cy="102870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ctr" indent="0" marL="0">
              <a:lnSpc>
                <a:spcPct val="160000"/>
              </a:lnSpc>
              <a:buNone/>
            </a:pPr>
            <a:r>
              <a:rPr lang="en-US" sz="675" spc="45" kern="0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项目做了什么</a:t>
            </a:r>
            <a:endParaRPr lang="en-US" sz="675" dirty="0"/>
          </a:p>
        </p:txBody>
      </p:sp>
      <p:sp>
        <p:nvSpPr>
          <p:cNvPr id="37" name="Shape 31"/>
          <p:cNvSpPr/>
          <p:nvPr/>
        </p:nvSpPr>
        <p:spPr>
          <a:xfrm>
            <a:off x="4126766" y="3760470"/>
            <a:ext cx="896183" cy="171450"/>
          </a:xfrm>
          <a:prstGeom prst="rect">
            <a:avLst/>
          </a:prstGeom>
          <a:noFill/>
          <a:ln/>
        </p:spPr>
      </p:sp>
      <p:sp>
        <p:nvSpPr>
          <p:cNvPr id="38" name="Shape 32"/>
          <p:cNvSpPr/>
          <p:nvPr/>
        </p:nvSpPr>
        <p:spPr>
          <a:xfrm>
            <a:off x="4126766" y="3760470"/>
            <a:ext cx="896183" cy="0"/>
          </a:xfrm>
          <a:prstGeom prst="line">
            <a:avLst/>
          </a:prstGeom>
          <a:noFill/>
          <a:ln w="5715">
            <a:solidFill>
              <a:srgbClr val="FF7043">
                <a:alpha val="35000"/>
              </a:srgbClr>
            </a:solidFill>
            <a:prstDash val="solid"/>
          </a:ln>
        </p:spPr>
      </p:sp>
      <p:sp>
        <p:nvSpPr>
          <p:cNvPr id="39" name="Text 33"/>
          <p:cNvSpPr/>
          <p:nvPr/>
        </p:nvSpPr>
        <p:spPr>
          <a:xfrm>
            <a:off x="4126766" y="3846195"/>
            <a:ext cx="1003725" cy="85725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ctr" indent="0" marL="0">
              <a:buNone/>
            </a:pPr>
            <a:r>
              <a:rPr lang="en-US" sz="585" b="1" spc="135" kern="0" dirty="0">
                <a:solidFill>
                  <a:srgbClr val="FF704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PRs / RELEASES</a:t>
            </a:r>
            <a:endParaRPr lang="en-US" sz="585" dirty="0"/>
          </a:p>
        </p:txBody>
      </p:sp>
      <p:sp>
        <p:nvSpPr>
          <p:cNvPr id="40" name="Shape 34"/>
          <p:cNvSpPr/>
          <p:nvPr/>
        </p:nvSpPr>
        <p:spPr>
          <a:xfrm>
            <a:off x="6172200" y="2005965"/>
            <a:ext cx="2514600" cy="2097405"/>
          </a:xfrm>
          <a:prstGeom prst="rect">
            <a:avLst/>
          </a:prstGeom>
          <a:noFill/>
          <a:ln/>
        </p:spPr>
      </p:sp>
      <p:sp>
        <p:nvSpPr>
          <p:cNvPr id="41" name="Shape 35"/>
          <p:cNvSpPr/>
          <p:nvPr/>
        </p:nvSpPr>
        <p:spPr>
          <a:xfrm>
            <a:off x="6172200" y="2005965"/>
            <a:ext cx="0" cy="2097405"/>
          </a:xfrm>
          <a:prstGeom prst="line">
            <a:avLst/>
          </a:prstGeom>
          <a:noFill/>
          <a:ln w="5715">
            <a:solidFill>
              <a:srgbClr val="94A3B8">
                <a:alpha val="18000"/>
              </a:srgbClr>
            </a:solidFill>
            <a:prstDash val="solid"/>
          </a:ln>
        </p:spPr>
      </p:sp>
      <p:sp>
        <p:nvSpPr>
          <p:cNvPr id="42" name="Shape 36"/>
          <p:cNvSpPr/>
          <p:nvPr/>
        </p:nvSpPr>
        <p:spPr>
          <a:xfrm>
            <a:off x="7200007" y="2177415"/>
            <a:ext cx="102870" cy="5715"/>
          </a:xfrm>
          <a:prstGeom prst="rect">
            <a:avLst/>
          </a:prstGeom>
          <a:solidFill>
            <a:srgbClr val="00BCD4">
              <a:alpha val="40000"/>
            </a:srgbClr>
          </a:solidFill>
          <a:ln/>
        </p:spPr>
      </p:sp>
      <p:sp>
        <p:nvSpPr>
          <p:cNvPr id="43" name="Shape 37"/>
          <p:cNvSpPr/>
          <p:nvPr/>
        </p:nvSpPr>
        <p:spPr>
          <a:xfrm>
            <a:off x="7200007" y="2177415"/>
            <a:ext cx="102870" cy="5715"/>
          </a:xfrm>
          <a:prstGeom prst="rect">
            <a:avLst/>
          </a:prstGeom>
          <a:solidFill>
            <a:srgbClr val="00BCD4">
              <a:alpha val="40000"/>
            </a:srgbClr>
          </a:solidFill>
          <a:ln/>
        </p:spPr>
      </p:sp>
      <p:sp>
        <p:nvSpPr>
          <p:cNvPr id="44" name="Text 38"/>
          <p:cNvSpPr/>
          <p:nvPr/>
        </p:nvSpPr>
        <p:spPr>
          <a:xfrm>
            <a:off x="7360027" y="2177415"/>
            <a:ext cx="207526" cy="74295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ctr" indent="0" marL="0">
              <a:buNone/>
            </a:pPr>
            <a:r>
              <a:rPr lang="en-US" sz="495" spc="225" kern="0" dirty="0">
                <a:solidFill>
                  <a:srgbClr val="00BCD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03</a:t>
            </a:r>
            <a:endParaRPr lang="en-US" sz="495" dirty="0"/>
          </a:p>
        </p:txBody>
      </p:sp>
      <p:pic>
        <p:nvPicPr>
          <p:cNvPr id="45" name="Image 4" descr="preencoded.png">    </p:cNvPr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7146608" y="2400300"/>
            <a:ext cx="571500" cy="571500"/>
          </a:xfrm>
          <a:prstGeom prst="rect">
            <a:avLst/>
          </a:prstGeom>
        </p:spPr>
      </p:pic>
      <p:sp>
        <p:nvSpPr>
          <p:cNvPr id="46" name="Text 39"/>
          <p:cNvSpPr/>
          <p:nvPr/>
        </p:nvSpPr>
        <p:spPr>
          <a:xfrm>
            <a:off x="7132320" y="3217545"/>
            <a:ext cx="782955" cy="217170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ctr" indent="0" marL="0">
              <a:buNone/>
            </a:pPr>
            <a:r>
              <a:rPr lang="en-US" sz="1440" b="1" spc="135" kern="0" dirty="0">
                <a:solidFill>
                  <a:srgbClr val="F8FAF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消费侧</a:t>
            </a:r>
            <a:endParaRPr lang="en-US" sz="1440" dirty="0"/>
          </a:p>
        </p:txBody>
      </p:sp>
      <p:sp>
        <p:nvSpPr>
          <p:cNvPr id="47" name="Text 40"/>
          <p:cNvSpPr/>
          <p:nvPr/>
        </p:nvSpPr>
        <p:spPr>
          <a:xfrm>
            <a:off x="7249478" y="3537585"/>
            <a:ext cx="451485" cy="102870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ctr" indent="0" marL="0">
              <a:lnSpc>
                <a:spcPct val="160000"/>
              </a:lnSpc>
              <a:buNone/>
            </a:pPr>
            <a:r>
              <a:rPr lang="en-US" sz="675" spc="45" kern="0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采纳信号</a:t>
            </a:r>
            <a:endParaRPr lang="en-US" sz="675" dirty="0"/>
          </a:p>
        </p:txBody>
      </p:sp>
      <p:sp>
        <p:nvSpPr>
          <p:cNvPr id="48" name="Shape 41"/>
          <p:cNvSpPr/>
          <p:nvPr/>
        </p:nvSpPr>
        <p:spPr>
          <a:xfrm>
            <a:off x="7007036" y="3760470"/>
            <a:ext cx="850642" cy="171450"/>
          </a:xfrm>
          <a:prstGeom prst="rect">
            <a:avLst/>
          </a:prstGeom>
          <a:noFill/>
          <a:ln/>
        </p:spPr>
      </p:sp>
      <p:sp>
        <p:nvSpPr>
          <p:cNvPr id="49" name="Shape 42"/>
          <p:cNvSpPr/>
          <p:nvPr/>
        </p:nvSpPr>
        <p:spPr>
          <a:xfrm>
            <a:off x="7007036" y="3760470"/>
            <a:ext cx="850642" cy="0"/>
          </a:xfrm>
          <a:prstGeom prst="line">
            <a:avLst/>
          </a:prstGeom>
          <a:noFill/>
          <a:ln w="5715">
            <a:solidFill>
              <a:srgbClr val="FF7043">
                <a:alpha val="35000"/>
              </a:srgbClr>
            </a:solidFill>
            <a:prstDash val="solid"/>
          </a:ln>
        </p:spPr>
      </p:sp>
      <p:sp>
        <p:nvSpPr>
          <p:cNvPr id="50" name="Text 43"/>
          <p:cNvSpPr/>
          <p:nvPr/>
        </p:nvSpPr>
        <p:spPr>
          <a:xfrm>
            <a:off x="7007036" y="3846195"/>
            <a:ext cx="952719" cy="85725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ctr" indent="0" marL="0">
              <a:buNone/>
            </a:pPr>
            <a:r>
              <a:rPr lang="en-US" sz="585" b="1" spc="135" kern="0" dirty="0">
                <a:solidFill>
                  <a:srgbClr val="FF704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STARS / FORKS</a:t>
            </a:r>
            <a:endParaRPr lang="en-US" sz="585" dirty="0"/>
          </a:p>
        </p:txBody>
      </p:sp>
      <p:sp>
        <p:nvSpPr>
          <p:cNvPr id="51" name="Shape 44"/>
          <p:cNvSpPr/>
          <p:nvPr/>
        </p:nvSpPr>
        <p:spPr>
          <a:xfrm>
            <a:off x="514350" y="4391442"/>
            <a:ext cx="8115300" cy="5715"/>
          </a:xfrm>
          <a:prstGeom prst="rect">
            <a:avLst/>
          </a:prstGeom>
          <a:gradFill rotWithShape="1">
            <a:gsLst>
              <a:gs pos="0">
                <a:srgbClr val="000000">
                  <a:alpha val="0"/>
                </a:srgbClr>
              </a:gs>
              <a:gs pos="50000">
                <a:srgbClr val="00BCD4">
                  <a:alpha val="45000"/>
                </a:srgbClr>
              </a:gs>
              <a:gs pos="100000">
                <a:srgbClr val="000000">
                  <a:alpha val="0"/>
                </a:srgbClr>
              </a:gs>
            </a:gsLst>
            <a:lin ang="0" scaled="0"/>
          </a:gradFill>
          <a:ln/>
        </p:spPr>
      </p:sp>
      <p:sp>
        <p:nvSpPr>
          <p:cNvPr id="52" name="Text 45"/>
          <p:cNvSpPr/>
          <p:nvPr/>
        </p:nvSpPr>
        <p:spPr>
          <a:xfrm>
            <a:off x="2015966" y="4545747"/>
            <a:ext cx="1714414" cy="102870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ctr" indent="0" marL="0">
              <a:lnSpc>
                <a:spcPct val="160000"/>
              </a:lnSpc>
              <a:buNone/>
            </a:pPr>
            <a:r>
              <a:rPr lang="en-US" sz="675" spc="23" kern="0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用需求、供给、消费三维观察 Hermes</a:t>
            </a:r>
            <a:endParaRPr lang="en-US" sz="675" dirty="0"/>
          </a:p>
        </p:txBody>
      </p:sp>
      <p:sp>
        <p:nvSpPr>
          <p:cNvPr id="53" name="Text 46"/>
          <p:cNvSpPr/>
          <p:nvPr/>
        </p:nvSpPr>
        <p:spPr>
          <a:xfrm>
            <a:off x="3576876" y="4545747"/>
            <a:ext cx="262890" cy="102870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ctr" indent="0" marL="0">
              <a:lnSpc>
                <a:spcPct val="160000"/>
              </a:lnSpc>
              <a:buNone/>
            </a:pPr>
            <a:r>
              <a:rPr lang="en-US" sz="675" spc="23" kern="0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——</a:t>
            </a:r>
            <a:endParaRPr lang="en-US" sz="675" dirty="0"/>
          </a:p>
        </p:txBody>
      </p:sp>
      <p:sp>
        <p:nvSpPr>
          <p:cNvPr id="54" name="Text 47"/>
          <p:cNvSpPr/>
          <p:nvPr/>
        </p:nvSpPr>
        <p:spPr>
          <a:xfrm>
            <a:off x="3784223" y="4545747"/>
            <a:ext cx="470237" cy="102870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ctr" indent="0" marL="0">
              <a:lnSpc>
                <a:spcPct val="160000"/>
              </a:lnSpc>
              <a:buNone/>
            </a:pPr>
            <a:r>
              <a:rPr lang="en-US" sz="675" spc="23" kern="0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数据来自 </a:t>
            </a:r>
            <a:endParaRPr lang="en-US" sz="675" dirty="0"/>
          </a:p>
        </p:txBody>
      </p:sp>
      <p:sp>
        <p:nvSpPr>
          <p:cNvPr id="55" name="Text 48"/>
          <p:cNvSpPr/>
          <p:nvPr/>
        </p:nvSpPr>
        <p:spPr>
          <a:xfrm>
            <a:off x="4168735" y="4540032"/>
            <a:ext cx="313789" cy="108585"/>
          </a:xfrm>
          <a:prstGeom prst="rect">
            <a:avLst/>
          </a:prstGeom>
          <a:noFill/>
          <a:ln/>
        </p:spPr>
        <p:txBody>
          <a:bodyPr wrap="none" lIns="0" tIns="11430" rIns="11430" bIns="0" rtlCol="0" anchor="ctr"/>
          <a:lstStyle/>
          <a:p>
            <a:pPr algn="ctr" indent="0" marL="0">
              <a:lnSpc>
                <a:spcPct val="160000"/>
              </a:lnSpc>
              <a:buNone/>
            </a:pPr>
            <a:r>
              <a:rPr lang="en-US" sz="720" b="1" spc="23" kern="0" dirty="0">
                <a:solidFill>
                  <a:srgbClr val="00BCD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100</a:t>
            </a:r>
            <a:endParaRPr lang="en-US" sz="720" dirty="0"/>
          </a:p>
        </p:txBody>
      </p:sp>
      <p:sp>
        <p:nvSpPr>
          <p:cNvPr id="56" name="Text 49"/>
          <p:cNvSpPr/>
          <p:nvPr/>
        </p:nvSpPr>
        <p:spPr>
          <a:xfrm>
            <a:off x="4421267" y="4545747"/>
            <a:ext cx="438983" cy="102870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ctr" indent="0" marL="0">
              <a:lnSpc>
                <a:spcPct val="160000"/>
              </a:lnSpc>
              <a:buNone/>
            </a:pPr>
            <a:r>
              <a:rPr lang="en-US" sz="675" spc="23" kern="0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条 issue</a:t>
            </a:r>
            <a:endParaRPr lang="en-US" sz="675" dirty="0"/>
          </a:p>
        </p:txBody>
      </p:sp>
      <p:sp>
        <p:nvSpPr>
          <p:cNvPr id="57" name="Text 50"/>
          <p:cNvSpPr/>
          <p:nvPr/>
        </p:nvSpPr>
        <p:spPr>
          <a:xfrm>
            <a:off x="4804708" y="4545747"/>
            <a:ext cx="207347" cy="102870"/>
          </a:xfrm>
          <a:prstGeom prst="rect">
            <a:avLst/>
          </a:prstGeom>
          <a:noFill/>
          <a:ln/>
        </p:spPr>
        <p:txBody>
          <a:bodyPr wrap="none" lIns="0" tIns="45720" rIns="45720" bIns="0" rtlCol="0" anchor="ctr"/>
          <a:lstStyle/>
          <a:p>
            <a:pPr algn="ctr" indent="0" marL="0">
              <a:lnSpc>
                <a:spcPct val="160000"/>
              </a:lnSpc>
              <a:buNone/>
            </a:pPr>
            <a:r>
              <a:rPr lang="en-US" sz="675" spc="23" kern="0" dirty="0">
                <a:solidFill>
                  <a:srgbClr val="94A3B8">
                    <a:alpha val="35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·</a:t>
            </a:r>
            <a:endParaRPr lang="en-US" sz="675" dirty="0"/>
          </a:p>
        </p:txBody>
      </p:sp>
      <p:sp>
        <p:nvSpPr>
          <p:cNvPr id="58" name="Text 51"/>
          <p:cNvSpPr/>
          <p:nvPr/>
        </p:nvSpPr>
        <p:spPr>
          <a:xfrm>
            <a:off x="4956512" y="4540032"/>
            <a:ext cx="313789" cy="108585"/>
          </a:xfrm>
          <a:prstGeom prst="rect">
            <a:avLst/>
          </a:prstGeom>
          <a:noFill/>
          <a:ln/>
        </p:spPr>
        <p:txBody>
          <a:bodyPr wrap="none" lIns="0" tIns="11430" rIns="11430" bIns="0" rtlCol="0" anchor="ctr"/>
          <a:lstStyle/>
          <a:p>
            <a:pPr algn="ctr" indent="0" marL="0">
              <a:lnSpc>
                <a:spcPct val="160000"/>
              </a:lnSpc>
              <a:buNone/>
            </a:pPr>
            <a:r>
              <a:rPr lang="en-US" sz="720" b="1" spc="23" kern="0" dirty="0">
                <a:solidFill>
                  <a:srgbClr val="00BCD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100</a:t>
            </a:r>
            <a:endParaRPr lang="en-US" sz="720" dirty="0"/>
          </a:p>
        </p:txBody>
      </p:sp>
      <p:sp>
        <p:nvSpPr>
          <p:cNvPr id="59" name="Text 52"/>
          <p:cNvSpPr/>
          <p:nvPr/>
        </p:nvSpPr>
        <p:spPr>
          <a:xfrm>
            <a:off x="5209044" y="4545747"/>
            <a:ext cx="528727" cy="102870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ctr" indent="0" marL="0">
              <a:lnSpc>
                <a:spcPct val="160000"/>
              </a:lnSpc>
              <a:buNone/>
            </a:pPr>
            <a:r>
              <a:rPr lang="en-US" sz="675" spc="23" kern="0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条 PR 样本</a:t>
            </a:r>
            <a:endParaRPr lang="en-US" sz="675" dirty="0"/>
          </a:p>
        </p:txBody>
      </p:sp>
      <p:sp>
        <p:nvSpPr>
          <p:cNvPr id="60" name="Text 53"/>
          <p:cNvSpPr/>
          <p:nvPr/>
        </p:nvSpPr>
        <p:spPr>
          <a:xfrm>
            <a:off x="5682228" y="4545747"/>
            <a:ext cx="207347" cy="102870"/>
          </a:xfrm>
          <a:prstGeom prst="rect">
            <a:avLst/>
          </a:prstGeom>
          <a:noFill/>
          <a:ln/>
        </p:spPr>
        <p:txBody>
          <a:bodyPr wrap="none" lIns="0" tIns="45720" rIns="45720" bIns="0" rtlCol="0" anchor="ctr"/>
          <a:lstStyle/>
          <a:p>
            <a:pPr algn="ctr" indent="0" marL="0">
              <a:lnSpc>
                <a:spcPct val="160000"/>
              </a:lnSpc>
              <a:buNone/>
            </a:pPr>
            <a:r>
              <a:rPr lang="en-US" sz="675" spc="23" kern="0" dirty="0">
                <a:solidFill>
                  <a:srgbClr val="94A3B8">
                    <a:alpha val="35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·</a:t>
            </a:r>
            <a:endParaRPr lang="en-US" sz="675" dirty="0"/>
          </a:p>
        </p:txBody>
      </p:sp>
      <p:sp>
        <p:nvSpPr>
          <p:cNvPr id="61" name="Text 54"/>
          <p:cNvSpPr/>
          <p:nvPr/>
        </p:nvSpPr>
        <p:spPr>
          <a:xfrm>
            <a:off x="5834033" y="4545747"/>
            <a:ext cx="293072" cy="102870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ctr" indent="0" marL="0">
              <a:lnSpc>
                <a:spcPct val="160000"/>
              </a:lnSpc>
              <a:buNone/>
            </a:pPr>
            <a:r>
              <a:rPr lang="en-US" sz="675" spc="23" kern="0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以及 </a:t>
            </a:r>
            <a:endParaRPr lang="en-US" sz="675" dirty="0"/>
          </a:p>
        </p:txBody>
      </p:sp>
      <p:sp>
        <p:nvSpPr>
          <p:cNvPr id="62" name="Text 55"/>
          <p:cNvSpPr/>
          <p:nvPr/>
        </p:nvSpPr>
        <p:spPr>
          <a:xfrm>
            <a:off x="6041380" y="4540032"/>
            <a:ext cx="313789" cy="108585"/>
          </a:xfrm>
          <a:prstGeom prst="rect">
            <a:avLst/>
          </a:prstGeom>
          <a:noFill/>
          <a:ln/>
        </p:spPr>
        <p:txBody>
          <a:bodyPr wrap="none" lIns="0" tIns="11430" rIns="11430" bIns="0" rtlCol="0" anchor="ctr"/>
          <a:lstStyle/>
          <a:p>
            <a:pPr algn="ctr" indent="0" marL="0">
              <a:lnSpc>
                <a:spcPct val="160000"/>
              </a:lnSpc>
              <a:buNone/>
            </a:pPr>
            <a:r>
              <a:rPr lang="en-US" sz="720" b="1" spc="23" kern="0" dirty="0">
                <a:solidFill>
                  <a:srgbClr val="00BCD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397</a:t>
            </a:r>
            <a:endParaRPr lang="en-US" sz="720" dirty="0"/>
          </a:p>
        </p:txBody>
      </p:sp>
      <p:sp>
        <p:nvSpPr>
          <p:cNvPr id="63" name="Text 56"/>
          <p:cNvSpPr/>
          <p:nvPr/>
        </p:nvSpPr>
        <p:spPr>
          <a:xfrm>
            <a:off x="6293912" y="4545747"/>
            <a:ext cx="934117" cy="102870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ctr" indent="0" marL="0">
              <a:lnSpc>
                <a:spcPct val="160000"/>
              </a:lnSpc>
              <a:buNone/>
            </a:pPr>
            <a:r>
              <a:rPr lang="en-US" sz="675" spc="23" kern="0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位 contributor 分布</a:t>
            </a:r>
            <a:endParaRPr lang="en-US" sz="675" dirty="0"/>
          </a:p>
        </p:txBody>
      </p:sp>
      <p:sp>
        <p:nvSpPr>
          <p:cNvPr id="64" name="Shape 57"/>
          <p:cNvSpPr/>
          <p:nvPr/>
        </p:nvSpPr>
        <p:spPr>
          <a:xfrm>
            <a:off x="4000500" y="4794885"/>
            <a:ext cx="1143000" cy="5715"/>
          </a:xfrm>
          <a:prstGeom prst="rect">
            <a:avLst/>
          </a:prstGeom>
          <a:solidFill>
            <a:srgbClr val="FF7043">
              <a:alpha val="55000"/>
            </a:srgbClr>
          </a:solidFill>
          <a:ln/>
        </p:spPr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gradFill rotWithShape="1">
            <a:gsLst>
              <a:gs pos="0">
                <a:srgbClr val="0F172A"/>
              </a:gs>
              <a:gs pos="100000">
                <a:srgbClr val="1E293B"/>
              </a:gs>
            </a:gsLst>
            <a:lin ang="5400000" scaled="0"/>
          </a:gradFill>
          <a:ln/>
        </p:spPr>
      </p:sp>
      <p:sp>
        <p:nvSpPr>
          <p:cNvPr id="3" name="Shape 1"/>
          <p:cNvSpPr/>
          <p:nvPr/>
        </p:nvSpPr>
        <p:spPr>
          <a:xfrm>
            <a:off x="-2743200" y="-1285875"/>
            <a:ext cx="10058400" cy="5657850"/>
          </a:xfrm>
          <a:prstGeom prst="ellipse">
            <a:avLst/>
          </a:prstGeom>
          <a:gradFill rotWithShape="1">
            <a:gsLst>
              <a:gs pos="0">
                <a:srgbClr val="00BCD4">
                  <a:alpha val="11200"/>
                </a:srgbClr>
              </a:gs>
              <a:gs pos="100000">
                <a:srgbClr val="00BCD4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/>
        </p:spPr>
      </p:sp>
      <p:sp>
        <p:nvSpPr>
          <p:cNvPr id="4" name="Shape 2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gradFill rotWithShape="1">
            <a:gsLst>
              <a:gs pos="0">
                <a:srgbClr val="000000">
                  <a:alpha val="6000"/>
                </a:srgbClr>
              </a:gs>
              <a:gs pos="25000">
                <a:srgbClr val="000000">
                  <a:alpha val="0"/>
                </a:srgbClr>
              </a:gs>
              <a:gs pos="50000">
                <a:srgbClr val="000000"/>
              </a:gs>
              <a:gs pos="75000">
                <a:srgbClr val="000000">
                  <a:alpha val="6000"/>
                </a:srgbClr>
              </a:gs>
              <a:gs pos="100000">
                <a:srgbClr val="000000">
                  <a:alpha val="0"/>
                </a:srgbClr>
              </a:gs>
            </a:gsLst>
            <a:lin ang="5400000" scaled="0"/>
          </a:gradFill>
          <a:ln/>
        </p:spPr>
      </p:sp>
      <p:sp>
        <p:nvSpPr>
          <p:cNvPr id="5" name="Shape 3"/>
          <p:cNvSpPr/>
          <p:nvPr/>
        </p:nvSpPr>
        <p:spPr>
          <a:xfrm>
            <a:off x="342900" y="251460"/>
            <a:ext cx="8458200" cy="377190"/>
          </a:xfrm>
          <a:prstGeom prst="rect">
            <a:avLst/>
          </a:prstGeom>
          <a:noFill/>
          <a:ln/>
        </p:spPr>
      </p:sp>
      <p:sp>
        <p:nvSpPr>
          <p:cNvPr id="6" name="Shape 4"/>
          <p:cNvSpPr/>
          <p:nvPr/>
        </p:nvSpPr>
        <p:spPr>
          <a:xfrm>
            <a:off x="342900" y="628650"/>
            <a:ext cx="8458200" cy="0"/>
          </a:xfrm>
          <a:prstGeom prst="line">
            <a:avLst/>
          </a:prstGeom>
          <a:noFill/>
          <a:ln w="5715">
            <a:solidFill>
              <a:srgbClr val="94A3B8">
                <a:alpha val="14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342900" y="617220"/>
            <a:ext cx="1371600" cy="11430"/>
          </a:xfrm>
          <a:prstGeom prst="rect">
            <a:avLst/>
          </a:prstGeom>
          <a:gradFill rotWithShape="1">
            <a:gsLst>
              <a:gs pos="0">
                <a:srgbClr val="00BCD4"/>
              </a:gs>
              <a:gs pos="60000">
                <a:srgbClr val="00BCD4">
                  <a:alpha val="35000"/>
                </a:srgbClr>
              </a:gs>
              <a:gs pos="100000">
                <a:srgbClr val="000000">
                  <a:alpha val="0"/>
                </a:srgbClr>
              </a:gs>
            </a:gsLst>
            <a:lin ang="0" scaled="0"/>
          </a:gradFill>
          <a:ln/>
        </p:spPr>
      </p:sp>
      <p:sp>
        <p:nvSpPr>
          <p:cNvPr id="8" name="Shape 6"/>
          <p:cNvSpPr/>
          <p:nvPr/>
        </p:nvSpPr>
        <p:spPr>
          <a:xfrm>
            <a:off x="342900" y="317183"/>
            <a:ext cx="708660" cy="148590"/>
          </a:xfrm>
          <a:prstGeom prst="roundRect">
            <a:avLst>
              <a:gd name="adj" fmla="val 3842308"/>
            </a:avLst>
          </a:prstGeom>
          <a:solidFill>
            <a:srgbClr val="00BCD4">
              <a:alpha val="6000"/>
            </a:srgbClr>
          </a:solidFill>
          <a:ln w="5715">
            <a:solidFill>
              <a:srgbClr val="94A3B8">
                <a:alpha val="28000"/>
              </a:srgbClr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42900" y="317183"/>
            <a:ext cx="793699" cy="148590"/>
          </a:xfrm>
          <a:prstGeom prst="rect">
            <a:avLst/>
          </a:prstGeom>
          <a:noFill/>
          <a:ln/>
        </p:spPr>
        <p:txBody>
          <a:bodyPr wrap="square" lIns="28575" tIns="68580" rIns="68580" bIns="28575" rtlCol="0" anchor="ctr"/>
          <a:lstStyle/>
          <a:p>
            <a:pPr algn="l" indent="0" marL="0">
              <a:buNone/>
            </a:pPr>
            <a:r>
              <a:rPr lang="en-US" sz="495" dirty="0">
                <a:solidFill>
                  <a:srgbClr val="00BCD4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P.14 · INSIGHT</a:t>
            </a:r>
            <a:endParaRPr lang="en-US" sz="495" dirty="0"/>
          </a:p>
        </p:txBody>
      </p:sp>
      <p:sp>
        <p:nvSpPr>
          <p:cNvPr id="10" name="Text 8"/>
          <p:cNvSpPr/>
          <p:nvPr/>
        </p:nvSpPr>
        <p:spPr>
          <a:xfrm>
            <a:off x="1154430" y="285750"/>
            <a:ext cx="768668" cy="234315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buNone/>
            </a:pPr>
            <a:r>
              <a:rPr lang="en-US" sz="1530" b="1" spc="-22" kern="0" dirty="0">
                <a:solidFill>
                  <a:srgbClr val="F1F5F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需求侧</a:t>
            </a:r>
            <a:endParaRPr lang="en-US" sz="1530" dirty="0"/>
          </a:p>
        </p:txBody>
      </p:sp>
      <p:sp>
        <p:nvSpPr>
          <p:cNvPr id="11" name="Text 9"/>
          <p:cNvSpPr/>
          <p:nvPr/>
        </p:nvSpPr>
        <p:spPr>
          <a:xfrm>
            <a:off x="1763078" y="285750"/>
            <a:ext cx="330327" cy="234315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buNone/>
            </a:pPr>
            <a:r>
              <a:rPr lang="en-US" sz="1530" spc="-22" kern="0" dirty="0">
                <a:solidFill>
                  <a:srgbClr val="00BCD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·</a:t>
            </a:r>
            <a:endParaRPr lang="en-US" sz="1530" dirty="0"/>
          </a:p>
        </p:txBody>
      </p:sp>
      <p:sp>
        <p:nvSpPr>
          <p:cNvPr id="12" name="Text 10"/>
          <p:cNvSpPr/>
          <p:nvPr/>
        </p:nvSpPr>
        <p:spPr>
          <a:xfrm>
            <a:off x="1851660" y="285750"/>
            <a:ext cx="1151573" cy="234315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buNone/>
            </a:pPr>
            <a:r>
              <a:rPr lang="en-US" sz="1530" b="1" spc="-22" kern="0" dirty="0">
                <a:solidFill>
                  <a:srgbClr val="F1F5F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用户要什么</a:t>
            </a:r>
            <a:endParaRPr lang="en-US" sz="1530" dirty="0"/>
          </a:p>
        </p:txBody>
      </p:sp>
      <p:sp>
        <p:nvSpPr>
          <p:cNvPr id="13" name="Text 11"/>
          <p:cNvSpPr/>
          <p:nvPr/>
        </p:nvSpPr>
        <p:spPr>
          <a:xfrm>
            <a:off x="6783884" y="445770"/>
            <a:ext cx="641080" cy="85725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buNone/>
            </a:pPr>
            <a:r>
              <a:rPr lang="en-US" sz="540" spc="23" kern="0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41,792 issues</a:t>
            </a:r>
            <a:endParaRPr lang="en-US" sz="540" dirty="0"/>
          </a:p>
        </p:txBody>
      </p:sp>
      <p:sp>
        <p:nvSpPr>
          <p:cNvPr id="14" name="Text 12"/>
          <p:cNvSpPr/>
          <p:nvPr/>
        </p:nvSpPr>
        <p:spPr>
          <a:xfrm>
            <a:off x="7482007" y="445770"/>
            <a:ext cx="692287" cy="85725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buNone/>
            </a:pPr>
            <a:r>
              <a:rPr lang="en-US" sz="540" spc="23" kern="0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18 components</a:t>
            </a:r>
            <a:endParaRPr lang="en-US" sz="540" dirty="0"/>
          </a:p>
        </p:txBody>
      </p:sp>
      <p:sp>
        <p:nvSpPr>
          <p:cNvPr id="15" name="Text 13"/>
          <p:cNvSpPr/>
          <p:nvPr/>
        </p:nvSpPr>
        <p:spPr>
          <a:xfrm>
            <a:off x="8225850" y="445770"/>
            <a:ext cx="644281" cy="85725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buNone/>
            </a:pPr>
            <a:r>
              <a:rPr lang="en-US" sz="540" spc="23" kern="0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 priority tiers</a:t>
            </a:r>
            <a:endParaRPr lang="en-US" sz="540" dirty="0"/>
          </a:p>
        </p:txBody>
      </p:sp>
      <p:sp>
        <p:nvSpPr>
          <p:cNvPr id="16" name="Text 14"/>
          <p:cNvSpPr/>
          <p:nvPr/>
        </p:nvSpPr>
        <p:spPr>
          <a:xfrm>
            <a:off x="342900" y="742950"/>
            <a:ext cx="5107838" cy="10287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540" b="1" spc="135" kern="0" dirty="0">
                <a:solidFill>
                  <a:srgbClr val="00BCD4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◐</a:t>
            </a:r>
            <a:pPr algn="l" indent="0" marL="0">
              <a:buNone/>
            </a:pPr>
            <a:r>
              <a:rPr lang="en-US" sz="540" b="1" spc="135" kern="0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数据锚点 · TOTAL VOLUME</a:t>
            </a:r>
            <a:endParaRPr lang="en-US" sz="540" dirty="0"/>
          </a:p>
        </p:txBody>
      </p:sp>
      <p:sp>
        <p:nvSpPr>
          <p:cNvPr id="17" name="Text 15"/>
          <p:cNvSpPr/>
          <p:nvPr/>
        </p:nvSpPr>
        <p:spPr>
          <a:xfrm>
            <a:off x="342900" y="925830"/>
            <a:ext cx="5292090" cy="694908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5760" b="1" spc="-180" kern="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41,792</a:t>
            </a:r>
            <a:endParaRPr lang="en-US" sz="5760" dirty="0"/>
          </a:p>
        </p:txBody>
      </p:sp>
      <p:sp>
        <p:nvSpPr>
          <p:cNvPr id="18" name="Text 16"/>
          <p:cNvSpPr/>
          <p:nvPr/>
        </p:nvSpPr>
        <p:spPr>
          <a:xfrm>
            <a:off x="342900" y="1712178"/>
            <a:ext cx="725805" cy="182880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buNone/>
            </a:pPr>
            <a:r>
              <a:rPr lang="en-US" sz="990" b="1" spc="45" kern="0" dirty="0">
                <a:solidFill>
                  <a:srgbClr val="F1F5F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总 Issues</a:t>
            </a:r>
            <a:endParaRPr lang="en-US" sz="990" dirty="0"/>
          </a:p>
        </p:txBody>
      </p:sp>
      <p:sp>
        <p:nvSpPr>
          <p:cNvPr id="19" name="Text 17"/>
          <p:cNvSpPr/>
          <p:nvPr/>
        </p:nvSpPr>
        <p:spPr>
          <a:xfrm>
            <a:off x="1022985" y="1775043"/>
            <a:ext cx="915314" cy="108585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buNone/>
            </a:pPr>
            <a:r>
              <a:rPr lang="en-US" sz="585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用户反馈的完整诉求图谱</a:t>
            </a:r>
            <a:endParaRPr lang="en-US" sz="585" dirty="0"/>
          </a:p>
        </p:txBody>
      </p:sp>
      <p:sp>
        <p:nvSpPr>
          <p:cNvPr id="20" name="Shape 18"/>
          <p:cNvSpPr/>
          <p:nvPr/>
        </p:nvSpPr>
        <p:spPr>
          <a:xfrm>
            <a:off x="342900" y="2009358"/>
            <a:ext cx="1482060" cy="571500"/>
          </a:xfrm>
          <a:prstGeom prst="roundRect">
            <a:avLst>
              <a:gd name="adj" fmla="val 4000"/>
            </a:avLst>
          </a:prstGeom>
          <a:solidFill>
            <a:srgbClr val="1E293B">
              <a:alpha val="60000"/>
            </a:srgbClr>
          </a:solidFill>
          <a:ln/>
        </p:spPr>
      </p:sp>
      <p:sp>
        <p:nvSpPr>
          <p:cNvPr id="21" name="Shape 19"/>
          <p:cNvSpPr/>
          <p:nvPr/>
        </p:nvSpPr>
        <p:spPr>
          <a:xfrm>
            <a:off x="342900" y="2009358"/>
            <a:ext cx="0" cy="571500"/>
          </a:xfrm>
          <a:prstGeom prst="line">
            <a:avLst/>
          </a:prstGeom>
          <a:noFill/>
          <a:ln w="11430">
            <a:solidFill>
              <a:srgbClr val="00BCD4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22910" y="2089368"/>
            <a:ext cx="1504920" cy="2057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50" b="1" spc="-22" kern="0" dirty="0">
                <a:solidFill>
                  <a:srgbClr val="00BCD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50</a:t>
            </a:r>
            <a:pPr algn="l" indent="0" marL="0">
              <a:buNone/>
            </a:pPr>
            <a:r>
              <a:rPr lang="en-US" sz="675" b="1" spc="-22" kern="0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%</a:t>
            </a:r>
            <a:endParaRPr lang="en-US" sz="1350" dirty="0"/>
          </a:p>
        </p:txBody>
      </p:sp>
      <p:sp>
        <p:nvSpPr>
          <p:cNvPr id="23" name="Text 21"/>
          <p:cNvSpPr/>
          <p:nvPr/>
        </p:nvSpPr>
        <p:spPr>
          <a:xfrm>
            <a:off x="422910" y="2317968"/>
            <a:ext cx="1493487" cy="97155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buNone/>
            </a:pPr>
            <a:r>
              <a:rPr lang="en-US" sz="540" spc="18" kern="0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Feature · 功能诉求</a:t>
            </a:r>
            <a:endParaRPr lang="en-US" sz="540" dirty="0"/>
          </a:p>
        </p:txBody>
      </p:sp>
      <p:sp>
        <p:nvSpPr>
          <p:cNvPr id="24" name="Text 22"/>
          <p:cNvSpPr/>
          <p:nvPr/>
        </p:nvSpPr>
        <p:spPr>
          <a:xfrm>
            <a:off x="422910" y="2437983"/>
            <a:ext cx="1493487" cy="74295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buNone/>
            </a:pPr>
            <a:r>
              <a:rPr lang="en-US" sz="450" spc="23" kern="0" dirty="0">
                <a:solidFill>
                  <a:srgbClr val="64748B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≈ 20,896 issues</a:t>
            </a:r>
            <a:endParaRPr lang="en-US" sz="450" dirty="0"/>
          </a:p>
        </p:txBody>
      </p:sp>
      <p:sp>
        <p:nvSpPr>
          <p:cNvPr id="25" name="Shape 23"/>
          <p:cNvSpPr/>
          <p:nvPr/>
        </p:nvSpPr>
        <p:spPr>
          <a:xfrm>
            <a:off x="1882110" y="2009358"/>
            <a:ext cx="1482060" cy="571500"/>
          </a:xfrm>
          <a:prstGeom prst="roundRect">
            <a:avLst>
              <a:gd name="adj" fmla="val 4000"/>
            </a:avLst>
          </a:prstGeom>
          <a:solidFill>
            <a:srgbClr val="1E293B">
              <a:alpha val="60000"/>
            </a:srgbClr>
          </a:solidFill>
          <a:ln/>
        </p:spPr>
      </p:sp>
      <p:sp>
        <p:nvSpPr>
          <p:cNvPr id="26" name="Shape 24"/>
          <p:cNvSpPr/>
          <p:nvPr/>
        </p:nvSpPr>
        <p:spPr>
          <a:xfrm>
            <a:off x="1882110" y="2009358"/>
            <a:ext cx="0" cy="571500"/>
          </a:xfrm>
          <a:prstGeom prst="line">
            <a:avLst/>
          </a:prstGeom>
          <a:noFill/>
          <a:ln w="11430">
            <a:solidFill>
              <a:srgbClr val="FF7043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1962120" y="2089368"/>
            <a:ext cx="1504920" cy="2057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50" b="1" spc="-22" kern="0" dirty="0">
                <a:solidFill>
                  <a:srgbClr val="FF704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50</a:t>
            </a:r>
            <a:pPr algn="l" indent="0" marL="0">
              <a:buNone/>
            </a:pPr>
            <a:r>
              <a:rPr lang="en-US" sz="675" b="1" spc="-22" kern="0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%</a:t>
            </a:r>
            <a:endParaRPr lang="en-US" sz="1350" dirty="0"/>
          </a:p>
        </p:txBody>
      </p:sp>
      <p:sp>
        <p:nvSpPr>
          <p:cNvPr id="28" name="Text 26"/>
          <p:cNvSpPr/>
          <p:nvPr/>
        </p:nvSpPr>
        <p:spPr>
          <a:xfrm>
            <a:off x="1962120" y="2317968"/>
            <a:ext cx="1493487" cy="97155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buNone/>
            </a:pPr>
            <a:r>
              <a:rPr lang="en-US" sz="540" spc="18" kern="0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Bug · 质量诉求</a:t>
            </a:r>
            <a:endParaRPr lang="en-US" sz="540" dirty="0"/>
          </a:p>
        </p:txBody>
      </p:sp>
      <p:sp>
        <p:nvSpPr>
          <p:cNvPr id="29" name="Text 27"/>
          <p:cNvSpPr/>
          <p:nvPr/>
        </p:nvSpPr>
        <p:spPr>
          <a:xfrm>
            <a:off x="1962120" y="2437983"/>
            <a:ext cx="1493487" cy="74295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buNone/>
            </a:pPr>
            <a:r>
              <a:rPr lang="en-US" sz="450" spc="23" kern="0" dirty="0">
                <a:solidFill>
                  <a:srgbClr val="64748B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≈ 20,896 issues</a:t>
            </a:r>
            <a:endParaRPr lang="en-US" sz="450" dirty="0"/>
          </a:p>
        </p:txBody>
      </p:sp>
      <p:sp>
        <p:nvSpPr>
          <p:cNvPr id="30" name="Shape 28"/>
          <p:cNvSpPr/>
          <p:nvPr/>
        </p:nvSpPr>
        <p:spPr>
          <a:xfrm>
            <a:off x="3421320" y="2009358"/>
            <a:ext cx="1482150" cy="571500"/>
          </a:xfrm>
          <a:prstGeom prst="roundRect">
            <a:avLst>
              <a:gd name="adj" fmla="val 4000"/>
            </a:avLst>
          </a:prstGeom>
          <a:solidFill>
            <a:srgbClr val="1E293B">
              <a:alpha val="60000"/>
            </a:srgbClr>
          </a:solidFill>
          <a:ln/>
        </p:spPr>
      </p:sp>
      <p:sp>
        <p:nvSpPr>
          <p:cNvPr id="31" name="Shape 29"/>
          <p:cNvSpPr/>
          <p:nvPr/>
        </p:nvSpPr>
        <p:spPr>
          <a:xfrm>
            <a:off x="3421320" y="2009358"/>
            <a:ext cx="0" cy="571500"/>
          </a:xfrm>
          <a:prstGeom prst="line">
            <a:avLst/>
          </a:prstGeom>
          <a:noFill/>
          <a:ln w="11430">
            <a:solidFill>
              <a:srgbClr val="64748B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3501330" y="2089368"/>
            <a:ext cx="1505010" cy="2057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50" b="1" spc="-22" kern="0" dirty="0">
                <a:solidFill>
                  <a:srgbClr val="F1F5F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57</a:t>
            </a:r>
            <a:pPr algn="l" indent="0" marL="0">
              <a:buNone/>
            </a:pPr>
            <a:r>
              <a:rPr lang="en-US" sz="675" b="1" spc="-22" kern="0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%</a:t>
            </a:r>
            <a:endParaRPr lang="en-US" sz="1350" dirty="0"/>
          </a:p>
        </p:txBody>
      </p:sp>
      <p:sp>
        <p:nvSpPr>
          <p:cNvPr id="33" name="Text 31"/>
          <p:cNvSpPr/>
          <p:nvPr/>
        </p:nvSpPr>
        <p:spPr>
          <a:xfrm>
            <a:off x="3501330" y="2317968"/>
            <a:ext cx="1493587" cy="97155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buNone/>
            </a:pPr>
            <a:r>
              <a:rPr lang="en-US" sz="540" spc="18" kern="0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Top-3 组件占比</a:t>
            </a:r>
            <a:endParaRPr lang="en-US" sz="540" dirty="0"/>
          </a:p>
        </p:txBody>
      </p:sp>
      <p:sp>
        <p:nvSpPr>
          <p:cNvPr id="34" name="Text 32"/>
          <p:cNvSpPr/>
          <p:nvPr/>
        </p:nvSpPr>
        <p:spPr>
          <a:xfrm>
            <a:off x="3501330" y="2437983"/>
            <a:ext cx="1493587" cy="74295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buNone/>
            </a:pPr>
            <a:r>
              <a:rPr lang="en-US" sz="450" spc="23" kern="0" dirty="0">
                <a:solidFill>
                  <a:srgbClr val="64748B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cli / agent / gateway</a:t>
            </a:r>
            <a:endParaRPr lang="en-US" sz="450" dirty="0"/>
          </a:p>
        </p:txBody>
      </p:sp>
      <p:sp>
        <p:nvSpPr>
          <p:cNvPr id="35" name="Shape 33"/>
          <p:cNvSpPr/>
          <p:nvPr/>
        </p:nvSpPr>
        <p:spPr>
          <a:xfrm>
            <a:off x="5029200" y="742950"/>
            <a:ext cx="3771900" cy="1514475"/>
          </a:xfrm>
          <a:prstGeom prst="roundRect">
            <a:avLst>
              <a:gd name="adj" fmla="val 3774"/>
            </a:avLst>
          </a:prstGeom>
          <a:gradFill rotWithShape="1">
            <a:gsLst>
              <a:gs pos="0">
                <a:srgbClr val="243447">
                  <a:alpha val="72000"/>
                </a:srgbClr>
              </a:gs>
              <a:gs pos="100000">
                <a:srgbClr val="1E293B">
                  <a:alpha val="85000"/>
                </a:srgbClr>
              </a:gs>
            </a:gsLst>
            <a:lin ang="3000000" scaled="0"/>
          </a:gradFill>
          <a:ln w="5715">
            <a:solidFill>
              <a:srgbClr val="94A3B8">
                <a:alpha val="14000"/>
              </a:srgbClr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5029200" y="742950"/>
            <a:ext cx="3760470" cy="5715"/>
          </a:xfrm>
          <a:prstGeom prst="rect">
            <a:avLst/>
          </a:prstGeom>
          <a:gradFill rotWithShape="1">
            <a:gsLst>
              <a:gs pos="0">
                <a:srgbClr val="000000">
                  <a:alpha val="0"/>
                </a:srgbClr>
              </a:gs>
              <a:gs pos="50000">
                <a:srgbClr val="00BCD4"/>
              </a:gs>
              <a:gs pos="100000">
                <a:srgbClr val="000000">
                  <a:alpha val="0"/>
                </a:srgbClr>
              </a:gs>
            </a:gsLst>
            <a:lin ang="0" scaled="0"/>
          </a:gradFill>
          <a:ln/>
        </p:spPr>
      </p:sp>
      <p:sp>
        <p:nvSpPr>
          <p:cNvPr id="37" name="Shape 35"/>
          <p:cNvSpPr/>
          <p:nvPr/>
        </p:nvSpPr>
        <p:spPr>
          <a:xfrm>
            <a:off x="5149215" y="828675"/>
            <a:ext cx="17145" cy="68580"/>
          </a:xfrm>
          <a:prstGeom prst="roundRect">
            <a:avLst>
              <a:gd name="adj" fmla="val 66667"/>
            </a:avLst>
          </a:prstGeom>
          <a:solidFill>
            <a:srgbClr val="00BCD4"/>
          </a:solidFill>
          <a:ln/>
        </p:spPr>
      </p:sp>
      <p:sp>
        <p:nvSpPr>
          <p:cNvPr id="38" name="Text 36"/>
          <p:cNvSpPr/>
          <p:nvPr/>
        </p:nvSpPr>
        <p:spPr>
          <a:xfrm>
            <a:off x="5212080" y="828675"/>
            <a:ext cx="1481785" cy="108585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buNone/>
            </a:pPr>
            <a:r>
              <a:rPr lang="en-US" sz="585" spc="68" kern="0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问题类型构成 · FEATURE vs BUG</a:t>
            </a:r>
            <a:endParaRPr lang="en-US" sz="585" dirty="0"/>
          </a:p>
        </p:txBody>
      </p:sp>
      <p:sp>
        <p:nvSpPr>
          <p:cNvPr id="39" name="Text 37"/>
          <p:cNvSpPr/>
          <p:nvPr/>
        </p:nvSpPr>
        <p:spPr>
          <a:xfrm>
            <a:off x="7792403" y="837248"/>
            <a:ext cx="995324" cy="91440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buNone/>
            </a:pPr>
            <a:r>
              <a:rPr lang="en-US" sz="495" spc="23" kern="0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各 50% · 需求与质量诉求并存</a:t>
            </a:r>
            <a:endParaRPr lang="en-US" sz="495" dirty="0"/>
          </a:p>
        </p:txBody>
      </p:sp>
      <p:sp>
        <p:nvSpPr>
          <p:cNvPr id="40" name="Shape 38"/>
          <p:cNvSpPr/>
          <p:nvPr/>
        </p:nvSpPr>
        <p:spPr>
          <a:xfrm>
            <a:off x="5029200" y="2326005"/>
            <a:ext cx="3771900" cy="1022985"/>
          </a:xfrm>
          <a:prstGeom prst="roundRect">
            <a:avLst>
              <a:gd name="adj" fmla="val 5587"/>
            </a:avLst>
          </a:prstGeom>
          <a:solidFill>
            <a:srgbClr val="1E293B">
              <a:alpha val="50000"/>
            </a:srgbClr>
          </a:solidFill>
          <a:ln w="5715">
            <a:solidFill>
              <a:srgbClr val="94A3B8">
                <a:alpha val="14000"/>
              </a:srgbClr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5149215" y="2400300"/>
            <a:ext cx="17145" cy="68580"/>
          </a:xfrm>
          <a:prstGeom prst="roundRect">
            <a:avLst>
              <a:gd name="adj" fmla="val 66667"/>
            </a:avLst>
          </a:prstGeom>
          <a:solidFill>
            <a:srgbClr val="00BCD4"/>
          </a:solidFill>
          <a:ln/>
        </p:spPr>
      </p:sp>
      <p:sp>
        <p:nvSpPr>
          <p:cNvPr id="42" name="Text 40"/>
          <p:cNvSpPr/>
          <p:nvPr/>
        </p:nvSpPr>
        <p:spPr>
          <a:xfrm>
            <a:off x="5212080" y="2400300"/>
            <a:ext cx="1683410" cy="97155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buNone/>
            </a:pPr>
            <a:r>
              <a:rPr lang="en-US" sz="540" spc="68" kern="0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组件热度分布 · COMPONENT HEATMAP</a:t>
            </a:r>
            <a:endParaRPr lang="en-US" sz="540" dirty="0"/>
          </a:p>
        </p:txBody>
      </p:sp>
      <p:sp>
        <p:nvSpPr>
          <p:cNvPr id="43" name="Text 41"/>
          <p:cNvSpPr/>
          <p:nvPr/>
        </p:nvSpPr>
        <p:spPr>
          <a:xfrm>
            <a:off x="8006715" y="2406015"/>
            <a:ext cx="360045" cy="8572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450" spc="23" kern="0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第一梯队</a:t>
            </a:r>
            <a:endParaRPr lang="en-US" sz="450" dirty="0"/>
          </a:p>
        </p:txBody>
      </p:sp>
      <p:sp>
        <p:nvSpPr>
          <p:cNvPr id="44" name="Shape 42"/>
          <p:cNvSpPr/>
          <p:nvPr/>
        </p:nvSpPr>
        <p:spPr>
          <a:xfrm>
            <a:off x="8006715" y="2434590"/>
            <a:ext cx="34290" cy="34290"/>
          </a:xfrm>
          <a:prstGeom prst="ellipse">
            <a:avLst/>
          </a:prstGeom>
          <a:solidFill>
            <a:srgbClr val="00BCD4"/>
          </a:solidFill>
          <a:ln/>
        </p:spPr>
      </p:sp>
      <p:sp>
        <p:nvSpPr>
          <p:cNvPr id="45" name="Text 43"/>
          <p:cNvSpPr/>
          <p:nvPr/>
        </p:nvSpPr>
        <p:spPr>
          <a:xfrm>
            <a:off x="8378190" y="2406015"/>
            <a:ext cx="360045" cy="8572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450" spc="23" kern="0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第二梯队</a:t>
            </a:r>
            <a:endParaRPr lang="en-US" sz="450" dirty="0"/>
          </a:p>
        </p:txBody>
      </p:sp>
      <p:sp>
        <p:nvSpPr>
          <p:cNvPr id="46" name="Shape 44"/>
          <p:cNvSpPr/>
          <p:nvPr/>
        </p:nvSpPr>
        <p:spPr>
          <a:xfrm>
            <a:off x="8378190" y="2434590"/>
            <a:ext cx="34290" cy="34290"/>
          </a:xfrm>
          <a:prstGeom prst="ellipse">
            <a:avLst/>
          </a:prstGeom>
          <a:solidFill>
            <a:srgbClr val="FF7043"/>
          </a:solidFill>
          <a:ln/>
        </p:spPr>
      </p:sp>
      <p:sp>
        <p:nvSpPr>
          <p:cNvPr id="47" name="Text 45"/>
          <p:cNvSpPr/>
          <p:nvPr/>
        </p:nvSpPr>
        <p:spPr>
          <a:xfrm>
            <a:off x="5149215" y="2566035"/>
            <a:ext cx="137160" cy="68580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buNone/>
            </a:pPr>
            <a:r>
              <a:rPr lang="en-US" sz="450" b="1" dirty="0">
                <a:solidFill>
                  <a:srgbClr val="00BCD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T1</a:t>
            </a:r>
            <a:endParaRPr lang="en-US" sz="450" dirty="0"/>
          </a:p>
        </p:txBody>
      </p:sp>
      <p:sp>
        <p:nvSpPr>
          <p:cNvPr id="48" name="Text 46"/>
          <p:cNvSpPr/>
          <p:nvPr/>
        </p:nvSpPr>
        <p:spPr>
          <a:xfrm>
            <a:off x="5263515" y="2554605"/>
            <a:ext cx="212598" cy="91440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buNone/>
            </a:pPr>
            <a:r>
              <a:rPr lang="en-US" sz="540" dirty="0">
                <a:solidFill>
                  <a:srgbClr val="F1F5F9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cli</a:t>
            </a:r>
            <a:endParaRPr lang="en-US" sz="540" dirty="0"/>
          </a:p>
        </p:txBody>
      </p:sp>
      <p:sp>
        <p:nvSpPr>
          <p:cNvPr id="49" name="Shape 47"/>
          <p:cNvSpPr/>
          <p:nvPr/>
        </p:nvSpPr>
        <p:spPr>
          <a:xfrm>
            <a:off x="5463540" y="2583180"/>
            <a:ext cx="2886075" cy="34290"/>
          </a:xfrm>
          <a:prstGeom prst="roundRect">
            <a:avLst>
              <a:gd name="adj" fmla="val 50000"/>
            </a:avLst>
          </a:prstGeom>
          <a:solidFill>
            <a:srgbClr val="94A3B8">
              <a:alpha val="8000"/>
            </a:srgbClr>
          </a:solidFill>
          <a:ln/>
        </p:spPr>
      </p:sp>
      <p:sp>
        <p:nvSpPr>
          <p:cNvPr id="50" name="Shape 48"/>
          <p:cNvSpPr/>
          <p:nvPr/>
        </p:nvSpPr>
        <p:spPr>
          <a:xfrm>
            <a:off x="5463540" y="2583180"/>
            <a:ext cx="2886075" cy="34290"/>
          </a:xfrm>
          <a:prstGeom prst="roundRect">
            <a:avLst>
              <a:gd name="adj" fmla="val 50000"/>
            </a:avLst>
          </a:prstGeom>
          <a:gradFill rotWithShape="1">
            <a:gsLst>
              <a:gs pos="0">
                <a:srgbClr val="00838F"/>
              </a:gs>
              <a:gs pos="100000">
                <a:srgbClr val="00BCD4"/>
              </a:gs>
            </a:gsLst>
            <a:lin ang="0" scaled="0"/>
          </a:gradFill>
          <a:ln/>
          <a:effectLst>
            <a:outerShdw sx="100000" sy="100000" kx="0" ky="0" algn="bl" rotWithShape="0" blurRad="57150" dist="50800" dir="16200000">
              <a:srgbClr val="00BCD4">
                <a:alpha val="30000"/>
              </a:srgbClr>
            </a:outerShdw>
          </a:effectLst>
        </p:spPr>
      </p:sp>
      <p:sp>
        <p:nvSpPr>
          <p:cNvPr id="51" name="Text 49"/>
          <p:cNvSpPr/>
          <p:nvPr/>
        </p:nvSpPr>
        <p:spPr>
          <a:xfrm>
            <a:off x="8429625" y="2554605"/>
            <a:ext cx="320040" cy="91440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r" indent="0" marL="0">
              <a:buNone/>
            </a:pPr>
            <a:r>
              <a:rPr lang="en-US" sz="540" b="1" dirty="0">
                <a:solidFill>
                  <a:srgbClr val="F1F5F9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19%</a:t>
            </a:r>
            <a:endParaRPr lang="en-US" sz="540" dirty="0"/>
          </a:p>
        </p:txBody>
      </p:sp>
      <p:sp>
        <p:nvSpPr>
          <p:cNvPr id="52" name="Text 50"/>
          <p:cNvSpPr/>
          <p:nvPr/>
        </p:nvSpPr>
        <p:spPr>
          <a:xfrm>
            <a:off x="5149215" y="2691765"/>
            <a:ext cx="137160" cy="68580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buNone/>
            </a:pPr>
            <a:r>
              <a:rPr lang="en-US" sz="450" b="1" dirty="0">
                <a:solidFill>
                  <a:srgbClr val="00BCD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T1</a:t>
            </a:r>
            <a:endParaRPr lang="en-US" sz="450" dirty="0"/>
          </a:p>
        </p:txBody>
      </p:sp>
      <p:sp>
        <p:nvSpPr>
          <p:cNvPr id="53" name="Text 51"/>
          <p:cNvSpPr/>
          <p:nvPr/>
        </p:nvSpPr>
        <p:spPr>
          <a:xfrm>
            <a:off x="5263515" y="2680335"/>
            <a:ext cx="268605" cy="91440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buNone/>
            </a:pPr>
            <a:r>
              <a:rPr lang="en-US" sz="540" dirty="0">
                <a:solidFill>
                  <a:srgbClr val="F1F5F9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agent</a:t>
            </a:r>
            <a:endParaRPr lang="en-US" sz="540" dirty="0"/>
          </a:p>
        </p:txBody>
      </p:sp>
      <p:sp>
        <p:nvSpPr>
          <p:cNvPr id="54" name="Shape 52"/>
          <p:cNvSpPr/>
          <p:nvPr/>
        </p:nvSpPr>
        <p:spPr>
          <a:xfrm>
            <a:off x="5543550" y="2708910"/>
            <a:ext cx="2806065" cy="34290"/>
          </a:xfrm>
          <a:prstGeom prst="roundRect">
            <a:avLst>
              <a:gd name="adj" fmla="val 50000"/>
            </a:avLst>
          </a:prstGeom>
          <a:solidFill>
            <a:srgbClr val="94A3B8">
              <a:alpha val="8000"/>
            </a:srgbClr>
          </a:solidFill>
          <a:ln/>
        </p:spPr>
      </p:sp>
      <p:sp>
        <p:nvSpPr>
          <p:cNvPr id="55" name="Shape 53"/>
          <p:cNvSpPr/>
          <p:nvPr/>
        </p:nvSpPr>
        <p:spPr>
          <a:xfrm>
            <a:off x="5543550" y="2708910"/>
            <a:ext cx="2806065" cy="34290"/>
          </a:xfrm>
          <a:prstGeom prst="roundRect">
            <a:avLst>
              <a:gd name="adj" fmla="val 50000"/>
            </a:avLst>
          </a:prstGeom>
          <a:gradFill rotWithShape="1">
            <a:gsLst>
              <a:gs pos="0">
                <a:srgbClr val="00838F"/>
              </a:gs>
              <a:gs pos="100000">
                <a:srgbClr val="00BCD4"/>
              </a:gs>
            </a:gsLst>
            <a:lin ang="0" scaled="0"/>
          </a:gradFill>
          <a:ln/>
          <a:effectLst>
            <a:outerShdw sx="100000" sy="100000" kx="0" ky="0" algn="bl" rotWithShape="0" blurRad="57150" dist="50800" dir="16200000">
              <a:srgbClr val="00BCD4">
                <a:alpha val="30000"/>
              </a:srgbClr>
            </a:outerShdw>
          </a:effectLst>
        </p:spPr>
      </p:sp>
      <p:sp>
        <p:nvSpPr>
          <p:cNvPr id="56" name="Text 54"/>
          <p:cNvSpPr/>
          <p:nvPr/>
        </p:nvSpPr>
        <p:spPr>
          <a:xfrm>
            <a:off x="8429625" y="2680335"/>
            <a:ext cx="320040" cy="91440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r" indent="0" marL="0">
              <a:buNone/>
            </a:pPr>
            <a:r>
              <a:rPr lang="en-US" sz="540" b="1" dirty="0">
                <a:solidFill>
                  <a:srgbClr val="F1F5F9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19%</a:t>
            </a:r>
            <a:endParaRPr lang="en-US" sz="540" dirty="0"/>
          </a:p>
        </p:txBody>
      </p:sp>
      <p:sp>
        <p:nvSpPr>
          <p:cNvPr id="57" name="Text 55"/>
          <p:cNvSpPr/>
          <p:nvPr/>
        </p:nvSpPr>
        <p:spPr>
          <a:xfrm>
            <a:off x="5149215" y="2817495"/>
            <a:ext cx="137160" cy="68580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buNone/>
            </a:pPr>
            <a:r>
              <a:rPr lang="en-US" sz="450" b="1" dirty="0">
                <a:solidFill>
                  <a:srgbClr val="00BCD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T1</a:t>
            </a:r>
            <a:endParaRPr lang="en-US" sz="450" dirty="0"/>
          </a:p>
        </p:txBody>
      </p:sp>
      <p:sp>
        <p:nvSpPr>
          <p:cNvPr id="58" name="Text 56"/>
          <p:cNvSpPr/>
          <p:nvPr/>
        </p:nvSpPr>
        <p:spPr>
          <a:xfrm>
            <a:off x="5263515" y="2806065"/>
            <a:ext cx="348615" cy="91440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buNone/>
            </a:pPr>
            <a:r>
              <a:rPr lang="en-US" sz="540" dirty="0">
                <a:solidFill>
                  <a:srgbClr val="F1F5F9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gateway</a:t>
            </a:r>
            <a:endParaRPr lang="en-US" sz="540" dirty="0"/>
          </a:p>
        </p:txBody>
      </p:sp>
      <p:sp>
        <p:nvSpPr>
          <p:cNvPr id="59" name="Shape 57"/>
          <p:cNvSpPr/>
          <p:nvPr/>
        </p:nvSpPr>
        <p:spPr>
          <a:xfrm>
            <a:off x="5623560" y="2834640"/>
            <a:ext cx="2726055" cy="34290"/>
          </a:xfrm>
          <a:prstGeom prst="roundRect">
            <a:avLst>
              <a:gd name="adj" fmla="val 50000"/>
            </a:avLst>
          </a:prstGeom>
          <a:solidFill>
            <a:srgbClr val="94A3B8">
              <a:alpha val="8000"/>
            </a:srgbClr>
          </a:solidFill>
          <a:ln/>
        </p:spPr>
      </p:sp>
      <p:sp>
        <p:nvSpPr>
          <p:cNvPr id="60" name="Shape 58"/>
          <p:cNvSpPr/>
          <p:nvPr/>
        </p:nvSpPr>
        <p:spPr>
          <a:xfrm>
            <a:off x="5623560" y="2834640"/>
            <a:ext cx="2726055" cy="34290"/>
          </a:xfrm>
          <a:prstGeom prst="roundRect">
            <a:avLst>
              <a:gd name="adj" fmla="val 50000"/>
            </a:avLst>
          </a:prstGeom>
          <a:gradFill rotWithShape="1">
            <a:gsLst>
              <a:gs pos="0">
                <a:srgbClr val="00838F"/>
              </a:gs>
              <a:gs pos="100000">
                <a:srgbClr val="00BCD4"/>
              </a:gs>
            </a:gsLst>
            <a:lin ang="0" scaled="0"/>
          </a:gradFill>
          <a:ln/>
          <a:effectLst>
            <a:outerShdw sx="100000" sy="100000" kx="0" ky="0" algn="bl" rotWithShape="0" blurRad="57150" dist="50800" dir="16200000">
              <a:srgbClr val="00BCD4">
                <a:alpha val="30000"/>
              </a:srgbClr>
            </a:outerShdw>
          </a:effectLst>
        </p:spPr>
      </p:sp>
      <p:sp>
        <p:nvSpPr>
          <p:cNvPr id="61" name="Text 59"/>
          <p:cNvSpPr/>
          <p:nvPr/>
        </p:nvSpPr>
        <p:spPr>
          <a:xfrm>
            <a:off x="8429625" y="2806065"/>
            <a:ext cx="320040" cy="91440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r" indent="0" marL="0">
              <a:buNone/>
            </a:pPr>
            <a:r>
              <a:rPr lang="en-US" sz="540" b="1" dirty="0">
                <a:solidFill>
                  <a:srgbClr val="F1F5F9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19%</a:t>
            </a:r>
            <a:endParaRPr lang="en-US" sz="540" dirty="0"/>
          </a:p>
        </p:txBody>
      </p:sp>
      <p:sp>
        <p:nvSpPr>
          <p:cNvPr id="62" name="Text 60"/>
          <p:cNvSpPr/>
          <p:nvPr/>
        </p:nvSpPr>
        <p:spPr>
          <a:xfrm>
            <a:off x="5149215" y="2943225"/>
            <a:ext cx="137160" cy="68580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buNone/>
            </a:pPr>
            <a:r>
              <a:rPr lang="en-US" sz="450" b="1" dirty="0">
                <a:solidFill>
                  <a:srgbClr val="FF704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T2</a:t>
            </a:r>
            <a:endParaRPr lang="en-US" sz="450" dirty="0"/>
          </a:p>
        </p:txBody>
      </p:sp>
      <p:sp>
        <p:nvSpPr>
          <p:cNvPr id="63" name="Text 61"/>
          <p:cNvSpPr/>
          <p:nvPr/>
        </p:nvSpPr>
        <p:spPr>
          <a:xfrm>
            <a:off x="5263515" y="2931795"/>
            <a:ext cx="260604" cy="91440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buNone/>
            </a:pPr>
            <a:r>
              <a:rPr lang="en-US" sz="540" dirty="0">
                <a:solidFill>
                  <a:srgbClr val="F1F5F9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cron</a:t>
            </a:r>
            <a:endParaRPr lang="en-US" sz="540" dirty="0"/>
          </a:p>
        </p:txBody>
      </p:sp>
      <p:sp>
        <p:nvSpPr>
          <p:cNvPr id="64" name="Shape 62"/>
          <p:cNvSpPr/>
          <p:nvPr/>
        </p:nvSpPr>
        <p:spPr>
          <a:xfrm>
            <a:off x="5503545" y="2960370"/>
            <a:ext cx="2846070" cy="34290"/>
          </a:xfrm>
          <a:prstGeom prst="roundRect">
            <a:avLst>
              <a:gd name="adj" fmla="val 50000"/>
            </a:avLst>
          </a:prstGeom>
          <a:solidFill>
            <a:srgbClr val="94A3B8">
              <a:alpha val="8000"/>
            </a:srgbClr>
          </a:solidFill>
          <a:ln/>
        </p:spPr>
      </p:sp>
      <p:sp>
        <p:nvSpPr>
          <p:cNvPr id="65" name="Shape 63"/>
          <p:cNvSpPr/>
          <p:nvPr/>
        </p:nvSpPr>
        <p:spPr>
          <a:xfrm>
            <a:off x="5503545" y="2960370"/>
            <a:ext cx="1349008" cy="34290"/>
          </a:xfrm>
          <a:prstGeom prst="roundRect">
            <a:avLst>
              <a:gd name="adj" fmla="val 50000"/>
            </a:avLst>
          </a:prstGeom>
          <a:gradFill rotWithShape="1">
            <a:gsLst>
              <a:gs pos="0">
                <a:srgbClr val="E64A19"/>
              </a:gs>
              <a:gs pos="100000">
                <a:srgbClr val="FF7043"/>
              </a:gs>
            </a:gsLst>
            <a:lin ang="0" scaled="0"/>
          </a:gradFill>
          <a:ln/>
          <a:effectLst>
            <a:outerShdw sx="100000" sy="100000" kx="0" ky="0" algn="bl" rotWithShape="0" blurRad="57150" dist="50800" dir="16200000">
              <a:srgbClr val="FF7043">
                <a:alpha val="25000"/>
              </a:srgbClr>
            </a:outerShdw>
          </a:effectLst>
        </p:spPr>
      </p:sp>
      <p:sp>
        <p:nvSpPr>
          <p:cNvPr id="66" name="Text 64"/>
          <p:cNvSpPr/>
          <p:nvPr/>
        </p:nvSpPr>
        <p:spPr>
          <a:xfrm>
            <a:off x="8429625" y="2931795"/>
            <a:ext cx="320040" cy="91440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r" indent="0" marL="0">
              <a:buNone/>
            </a:pPr>
            <a:r>
              <a:rPr lang="en-US" sz="540" b="1" dirty="0">
                <a:solidFill>
                  <a:srgbClr val="F1F5F9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9%</a:t>
            </a:r>
            <a:endParaRPr lang="en-US" sz="540" dirty="0"/>
          </a:p>
        </p:txBody>
      </p:sp>
      <p:sp>
        <p:nvSpPr>
          <p:cNvPr id="67" name="Text 65"/>
          <p:cNvSpPr/>
          <p:nvPr/>
        </p:nvSpPr>
        <p:spPr>
          <a:xfrm>
            <a:off x="5149215" y="3068955"/>
            <a:ext cx="137160" cy="68580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buNone/>
            </a:pPr>
            <a:r>
              <a:rPr lang="en-US" sz="450" b="1" dirty="0">
                <a:solidFill>
                  <a:srgbClr val="FF704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T2</a:t>
            </a:r>
            <a:endParaRPr lang="en-US" sz="450" dirty="0"/>
          </a:p>
        </p:txBody>
      </p:sp>
      <p:sp>
        <p:nvSpPr>
          <p:cNvPr id="68" name="Text 66"/>
          <p:cNvSpPr/>
          <p:nvPr/>
        </p:nvSpPr>
        <p:spPr>
          <a:xfrm>
            <a:off x="5263515" y="3057525"/>
            <a:ext cx="348615" cy="91440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buNone/>
            </a:pPr>
            <a:r>
              <a:rPr lang="en-US" sz="540" dirty="0">
                <a:solidFill>
                  <a:srgbClr val="F1F5F9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desktop</a:t>
            </a:r>
            <a:endParaRPr lang="en-US" sz="540" dirty="0"/>
          </a:p>
        </p:txBody>
      </p:sp>
      <p:sp>
        <p:nvSpPr>
          <p:cNvPr id="69" name="Shape 67"/>
          <p:cNvSpPr/>
          <p:nvPr/>
        </p:nvSpPr>
        <p:spPr>
          <a:xfrm>
            <a:off x="5623560" y="3086100"/>
            <a:ext cx="2726055" cy="34290"/>
          </a:xfrm>
          <a:prstGeom prst="roundRect">
            <a:avLst>
              <a:gd name="adj" fmla="val 50000"/>
            </a:avLst>
          </a:prstGeom>
          <a:solidFill>
            <a:srgbClr val="94A3B8">
              <a:alpha val="8000"/>
            </a:srgbClr>
          </a:solidFill>
          <a:ln/>
        </p:spPr>
      </p:sp>
      <p:sp>
        <p:nvSpPr>
          <p:cNvPr id="70" name="Shape 68"/>
          <p:cNvSpPr/>
          <p:nvPr/>
        </p:nvSpPr>
        <p:spPr>
          <a:xfrm>
            <a:off x="5623560" y="3086100"/>
            <a:ext cx="1292126" cy="34290"/>
          </a:xfrm>
          <a:prstGeom prst="roundRect">
            <a:avLst>
              <a:gd name="adj" fmla="val 50000"/>
            </a:avLst>
          </a:prstGeom>
          <a:gradFill rotWithShape="1">
            <a:gsLst>
              <a:gs pos="0">
                <a:srgbClr val="E64A19"/>
              </a:gs>
              <a:gs pos="100000">
                <a:srgbClr val="FF7043"/>
              </a:gs>
            </a:gsLst>
            <a:lin ang="0" scaled="0"/>
          </a:gradFill>
          <a:ln/>
          <a:effectLst>
            <a:outerShdw sx="100000" sy="100000" kx="0" ky="0" algn="bl" rotWithShape="0" blurRad="57150" dist="50800" dir="16200000">
              <a:srgbClr val="FF7043">
                <a:alpha val="25000"/>
              </a:srgbClr>
            </a:outerShdw>
          </a:effectLst>
        </p:spPr>
      </p:sp>
      <p:sp>
        <p:nvSpPr>
          <p:cNvPr id="71" name="Text 69"/>
          <p:cNvSpPr/>
          <p:nvPr/>
        </p:nvSpPr>
        <p:spPr>
          <a:xfrm>
            <a:off x="8429625" y="3057525"/>
            <a:ext cx="320040" cy="91440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r" indent="0" marL="0">
              <a:buNone/>
            </a:pPr>
            <a:r>
              <a:rPr lang="en-US" sz="540" b="1" dirty="0">
                <a:solidFill>
                  <a:srgbClr val="F1F5F9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9%</a:t>
            </a:r>
            <a:endParaRPr lang="en-US" sz="540" dirty="0"/>
          </a:p>
        </p:txBody>
      </p:sp>
      <p:sp>
        <p:nvSpPr>
          <p:cNvPr id="72" name="Text 70"/>
          <p:cNvSpPr/>
          <p:nvPr/>
        </p:nvSpPr>
        <p:spPr>
          <a:xfrm>
            <a:off x="5149215" y="3194685"/>
            <a:ext cx="137160" cy="68580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buNone/>
            </a:pPr>
            <a:r>
              <a:rPr lang="en-US" sz="450" b="1" dirty="0">
                <a:solidFill>
                  <a:srgbClr val="FF704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T2</a:t>
            </a:r>
            <a:endParaRPr lang="en-US" sz="450" dirty="0"/>
          </a:p>
        </p:txBody>
      </p:sp>
      <p:sp>
        <p:nvSpPr>
          <p:cNvPr id="73" name="Text 71"/>
          <p:cNvSpPr/>
          <p:nvPr/>
        </p:nvSpPr>
        <p:spPr>
          <a:xfrm>
            <a:off x="5263515" y="3183255"/>
            <a:ext cx="348615" cy="91440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buNone/>
            </a:pPr>
            <a:r>
              <a:rPr lang="en-US" sz="540" dirty="0">
                <a:solidFill>
                  <a:srgbClr val="F1F5F9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plugins</a:t>
            </a:r>
            <a:endParaRPr lang="en-US" sz="540" dirty="0"/>
          </a:p>
        </p:txBody>
      </p:sp>
      <p:sp>
        <p:nvSpPr>
          <p:cNvPr id="74" name="Shape 72"/>
          <p:cNvSpPr/>
          <p:nvPr/>
        </p:nvSpPr>
        <p:spPr>
          <a:xfrm>
            <a:off x="5623560" y="3211830"/>
            <a:ext cx="2726055" cy="34290"/>
          </a:xfrm>
          <a:prstGeom prst="roundRect">
            <a:avLst>
              <a:gd name="adj" fmla="val 50000"/>
            </a:avLst>
          </a:prstGeom>
          <a:solidFill>
            <a:srgbClr val="94A3B8">
              <a:alpha val="8000"/>
            </a:srgbClr>
          </a:solidFill>
          <a:ln/>
        </p:spPr>
      </p:sp>
      <p:sp>
        <p:nvSpPr>
          <p:cNvPr id="75" name="Shape 73"/>
          <p:cNvSpPr/>
          <p:nvPr/>
        </p:nvSpPr>
        <p:spPr>
          <a:xfrm>
            <a:off x="5623560" y="3211830"/>
            <a:ext cx="1292126" cy="34290"/>
          </a:xfrm>
          <a:prstGeom prst="roundRect">
            <a:avLst>
              <a:gd name="adj" fmla="val 50000"/>
            </a:avLst>
          </a:prstGeom>
          <a:gradFill rotWithShape="1">
            <a:gsLst>
              <a:gs pos="0">
                <a:srgbClr val="E64A19"/>
              </a:gs>
              <a:gs pos="100000">
                <a:srgbClr val="FF7043"/>
              </a:gs>
            </a:gsLst>
            <a:lin ang="0" scaled="0"/>
          </a:gradFill>
          <a:ln/>
          <a:effectLst>
            <a:outerShdw sx="100000" sy="100000" kx="0" ky="0" algn="bl" rotWithShape="0" blurRad="57150" dist="50800" dir="16200000">
              <a:srgbClr val="FF7043">
                <a:alpha val="25000"/>
              </a:srgbClr>
            </a:outerShdw>
          </a:effectLst>
        </p:spPr>
      </p:sp>
      <p:sp>
        <p:nvSpPr>
          <p:cNvPr id="76" name="Text 74"/>
          <p:cNvSpPr/>
          <p:nvPr/>
        </p:nvSpPr>
        <p:spPr>
          <a:xfrm>
            <a:off x="8429625" y="3183255"/>
            <a:ext cx="320040" cy="91440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r" indent="0" marL="0">
              <a:buNone/>
            </a:pPr>
            <a:r>
              <a:rPr lang="en-US" sz="540" b="1" dirty="0">
                <a:solidFill>
                  <a:srgbClr val="F1F5F9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9%</a:t>
            </a:r>
            <a:endParaRPr lang="en-US" sz="540" dirty="0"/>
          </a:p>
        </p:txBody>
      </p:sp>
      <p:sp>
        <p:nvSpPr>
          <p:cNvPr id="77" name="Shape 75"/>
          <p:cNvSpPr/>
          <p:nvPr/>
        </p:nvSpPr>
        <p:spPr>
          <a:xfrm>
            <a:off x="342900" y="3463290"/>
            <a:ext cx="8458200" cy="657225"/>
          </a:xfrm>
          <a:prstGeom prst="roundRect">
            <a:avLst>
              <a:gd name="adj" fmla="val 8696"/>
            </a:avLst>
          </a:prstGeom>
          <a:gradFill rotWithShape="1">
            <a:gsLst>
              <a:gs pos="0">
                <a:srgbClr val="243447">
                  <a:alpha val="45000"/>
                </a:srgbClr>
              </a:gs>
              <a:gs pos="100000">
                <a:srgbClr val="1E293B">
                  <a:alpha val="70000"/>
                </a:srgbClr>
              </a:gs>
            </a:gsLst>
            <a:lin ang="3000000" scaled="0"/>
          </a:gradFill>
          <a:ln w="5715">
            <a:solidFill>
              <a:srgbClr val="94A3B8">
                <a:alpha val="14000"/>
              </a:srgbClr>
            </a:solidFill>
            <a:prstDash val="solid"/>
          </a:ln>
        </p:spPr>
      </p:sp>
      <p:sp>
        <p:nvSpPr>
          <p:cNvPr id="78" name="Shape 76"/>
          <p:cNvSpPr/>
          <p:nvPr/>
        </p:nvSpPr>
        <p:spPr>
          <a:xfrm>
            <a:off x="342900" y="3463290"/>
            <a:ext cx="22860" cy="485775"/>
          </a:xfrm>
          <a:prstGeom prst="roundRect">
            <a:avLst>
              <a:gd name="adj" fmla="val 50000"/>
            </a:avLst>
          </a:prstGeom>
          <a:gradFill rotWithShape="1">
            <a:gsLst>
              <a:gs pos="0">
                <a:srgbClr val="00BCD4"/>
              </a:gs>
              <a:gs pos="100000">
                <a:srgbClr val="FF7043"/>
              </a:gs>
            </a:gsLst>
            <a:lin ang="5400000" scaled="0"/>
          </a:gradFill>
          <a:ln/>
        </p:spPr>
      </p:sp>
      <p:sp>
        <p:nvSpPr>
          <p:cNvPr id="79" name="Shape 77"/>
          <p:cNvSpPr/>
          <p:nvPr/>
        </p:nvSpPr>
        <p:spPr>
          <a:xfrm>
            <a:off x="577215" y="3549015"/>
            <a:ext cx="1143000" cy="485775"/>
          </a:xfrm>
          <a:prstGeom prst="rect">
            <a:avLst/>
          </a:prstGeom>
          <a:noFill/>
          <a:ln/>
        </p:spPr>
      </p:sp>
      <p:sp>
        <p:nvSpPr>
          <p:cNvPr id="80" name="Shape 78"/>
          <p:cNvSpPr/>
          <p:nvPr/>
        </p:nvSpPr>
        <p:spPr>
          <a:xfrm>
            <a:off x="1720215" y="3549015"/>
            <a:ext cx="0" cy="485775"/>
          </a:xfrm>
          <a:prstGeom prst="line">
            <a:avLst/>
          </a:prstGeom>
          <a:noFill/>
          <a:ln w="5715">
            <a:solidFill>
              <a:srgbClr val="94A3B8">
                <a:alpha val="14000"/>
              </a:srgbClr>
            </a:solidFill>
            <a:prstDash val="solid"/>
          </a:ln>
        </p:spPr>
      </p:sp>
      <p:sp>
        <p:nvSpPr>
          <p:cNvPr id="81" name="Text 79"/>
          <p:cNvSpPr/>
          <p:nvPr/>
        </p:nvSpPr>
        <p:spPr>
          <a:xfrm>
            <a:off x="577215" y="3549015"/>
            <a:ext cx="1145743" cy="91440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buNone/>
            </a:pPr>
            <a:r>
              <a:rPr lang="en-US" sz="495" spc="90" kern="0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优先级分布</a:t>
            </a:r>
            <a:endParaRPr lang="en-US" sz="495" dirty="0"/>
          </a:p>
        </p:txBody>
      </p:sp>
      <p:sp>
        <p:nvSpPr>
          <p:cNvPr id="82" name="Text 80"/>
          <p:cNvSpPr/>
          <p:nvPr/>
        </p:nvSpPr>
        <p:spPr>
          <a:xfrm>
            <a:off x="577215" y="3663315"/>
            <a:ext cx="1148715" cy="37147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90" b="1" spc="-13" kern="0" dirty="0">
                <a:solidFill>
                  <a:srgbClr val="F1F5F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长尾</a:t>
            </a:r>
            <a:pPr algn="l" indent="0" marL="0">
              <a:buNone/>
            </a:pPr>
            <a:r>
              <a:rPr lang="en-US" sz="990" b="1" spc="-13" kern="0" dirty="0">
                <a:solidFill>
                  <a:srgbClr val="00BCD4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P3</a:t>
            </a:r>
            <a:pPr algn="l" indent="0" marL="0">
              <a:buNone/>
            </a:pPr>
            <a:r>
              <a:rPr lang="en-US" sz="990" b="1" spc="-13" kern="0" dirty="0">
                <a:solidFill>
                  <a:srgbClr val="F1F5F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主导 · 极少火警</a:t>
            </a:r>
            <a:endParaRPr lang="en-US" sz="990" dirty="0"/>
          </a:p>
        </p:txBody>
      </p:sp>
      <p:sp>
        <p:nvSpPr>
          <p:cNvPr id="83" name="Shape 81"/>
          <p:cNvSpPr/>
          <p:nvPr/>
        </p:nvSpPr>
        <p:spPr>
          <a:xfrm>
            <a:off x="1868805" y="3549015"/>
            <a:ext cx="2213580" cy="485775"/>
          </a:xfrm>
          <a:prstGeom prst="roundRect">
            <a:avLst>
              <a:gd name="adj" fmla="val 9412"/>
            </a:avLst>
          </a:prstGeom>
          <a:solidFill>
            <a:srgbClr val="0F172A">
              <a:alpha val="50000"/>
            </a:srgbClr>
          </a:solidFill>
          <a:ln/>
        </p:spPr>
      </p:sp>
      <p:sp>
        <p:nvSpPr>
          <p:cNvPr id="84" name="Shape 82"/>
          <p:cNvSpPr/>
          <p:nvPr/>
        </p:nvSpPr>
        <p:spPr>
          <a:xfrm>
            <a:off x="1868805" y="3549015"/>
            <a:ext cx="0" cy="485775"/>
          </a:xfrm>
          <a:prstGeom prst="line">
            <a:avLst/>
          </a:prstGeom>
          <a:noFill/>
          <a:ln w="17145">
            <a:solidFill>
              <a:srgbClr val="00BCD4"/>
            </a:solidFill>
            <a:prstDash val="solid"/>
          </a:ln>
        </p:spPr>
      </p:sp>
      <p:sp>
        <p:nvSpPr>
          <p:cNvPr id="85" name="Shape 83"/>
          <p:cNvSpPr/>
          <p:nvPr/>
        </p:nvSpPr>
        <p:spPr>
          <a:xfrm>
            <a:off x="1977390" y="3697605"/>
            <a:ext cx="388620" cy="188595"/>
          </a:xfrm>
          <a:prstGeom prst="roundRect">
            <a:avLst>
              <a:gd name="adj" fmla="val 15152"/>
            </a:avLst>
          </a:prstGeom>
          <a:gradFill rotWithShape="1">
            <a:gsLst>
              <a:gs pos="0">
                <a:srgbClr val="26C6DA"/>
              </a:gs>
              <a:gs pos="100000">
                <a:srgbClr val="00BCD4"/>
              </a:gs>
            </a:gsLst>
            <a:lin ang="2700000" scaled="0"/>
          </a:gradFill>
          <a:ln/>
        </p:spPr>
      </p:sp>
      <p:sp>
        <p:nvSpPr>
          <p:cNvPr id="86" name="Text 84"/>
          <p:cNvSpPr/>
          <p:nvPr/>
        </p:nvSpPr>
        <p:spPr>
          <a:xfrm>
            <a:off x="1977390" y="3697605"/>
            <a:ext cx="462915" cy="188595"/>
          </a:xfrm>
          <a:prstGeom prst="rect">
            <a:avLst/>
          </a:prstGeom>
          <a:noFill/>
          <a:ln/>
        </p:spPr>
        <p:txBody>
          <a:bodyPr wrap="none" lIns="45720" tIns="80010" rIns="80010" bIns="45720" rtlCol="0" anchor="ctr"/>
          <a:lstStyle/>
          <a:p>
            <a:pPr algn="ctr" indent="0" marL="0">
              <a:buNone/>
            </a:pPr>
            <a:r>
              <a:rPr lang="en-US" sz="585" b="1" spc="23" kern="0" dirty="0">
                <a:solidFill>
                  <a:srgbClr val="0F172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P3</a:t>
            </a:r>
            <a:endParaRPr lang="en-US" sz="585" dirty="0"/>
          </a:p>
        </p:txBody>
      </p:sp>
      <p:sp>
        <p:nvSpPr>
          <p:cNvPr id="87" name="Text 85"/>
          <p:cNvSpPr/>
          <p:nvPr/>
        </p:nvSpPr>
        <p:spPr>
          <a:xfrm>
            <a:off x="2446020" y="3654743"/>
            <a:ext cx="1413480" cy="171450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350" b="1" spc="-45" kern="0" dirty="0">
                <a:solidFill>
                  <a:srgbClr val="00BCD4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68%</a:t>
            </a:r>
            <a:endParaRPr lang="en-US" sz="1350" dirty="0"/>
          </a:p>
        </p:txBody>
      </p:sp>
      <p:sp>
        <p:nvSpPr>
          <p:cNvPr id="88" name="Text 86"/>
          <p:cNvSpPr/>
          <p:nvPr/>
        </p:nvSpPr>
        <p:spPr>
          <a:xfrm>
            <a:off x="2446020" y="3837623"/>
            <a:ext cx="1391074" cy="91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495" spc="23" kern="0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普通诉求 ·</a:t>
            </a:r>
            <a:pPr algn="l" indent="0" marL="0">
              <a:buNone/>
            </a:pPr>
            <a:r>
              <a:rPr lang="en-US" sz="495" b="1" spc="23" kern="0" dirty="0">
                <a:solidFill>
                  <a:srgbClr val="F1F5F9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≈ 28,419</a:t>
            </a:r>
            <a:pPr algn="l" indent="0" marL="0">
              <a:buNone/>
            </a:pPr>
            <a:r>
              <a:rPr lang="en-US" sz="495" spc="23" kern="0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条</a:t>
            </a:r>
            <a:endParaRPr lang="en-US" sz="495" dirty="0"/>
          </a:p>
        </p:txBody>
      </p:sp>
      <p:sp>
        <p:nvSpPr>
          <p:cNvPr id="89" name="Shape 87"/>
          <p:cNvSpPr/>
          <p:nvPr/>
        </p:nvSpPr>
        <p:spPr>
          <a:xfrm>
            <a:off x="3768060" y="3726180"/>
            <a:ext cx="222885" cy="131445"/>
          </a:xfrm>
          <a:prstGeom prst="roundRect">
            <a:avLst>
              <a:gd name="adj" fmla="val 13043"/>
            </a:avLst>
          </a:prstGeom>
          <a:solidFill>
            <a:srgbClr val="00BCD4">
              <a:alpha val="14000"/>
            </a:srgbClr>
          </a:solidFill>
          <a:ln w="5715">
            <a:solidFill>
              <a:srgbClr val="00BCD4">
                <a:alpha val="35000"/>
              </a:srgbClr>
            </a:solidFill>
            <a:prstDash val="solid"/>
          </a:ln>
        </p:spPr>
      </p:sp>
      <p:sp>
        <p:nvSpPr>
          <p:cNvPr id="90" name="Text 88"/>
          <p:cNvSpPr/>
          <p:nvPr/>
        </p:nvSpPr>
        <p:spPr>
          <a:xfrm>
            <a:off x="3768060" y="3726180"/>
            <a:ext cx="280035" cy="131445"/>
          </a:xfrm>
          <a:prstGeom prst="rect">
            <a:avLst/>
          </a:prstGeom>
          <a:noFill/>
          <a:ln/>
        </p:spPr>
        <p:txBody>
          <a:bodyPr wrap="none" lIns="17145" tIns="45720" rIns="45720" bIns="17145" rtlCol="0" anchor="ctr"/>
          <a:lstStyle/>
          <a:p>
            <a:pPr algn="l" indent="0" marL="0">
              <a:buNone/>
            </a:pPr>
            <a:r>
              <a:rPr lang="en-US" sz="450" spc="23" kern="0" dirty="0">
                <a:solidFill>
                  <a:srgbClr val="00BCD4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主体</a:t>
            </a:r>
            <a:endParaRPr lang="en-US" sz="450" dirty="0"/>
          </a:p>
        </p:txBody>
      </p:sp>
      <p:sp>
        <p:nvSpPr>
          <p:cNvPr id="91" name="Shape 89"/>
          <p:cNvSpPr/>
          <p:nvPr/>
        </p:nvSpPr>
        <p:spPr>
          <a:xfrm>
            <a:off x="4162395" y="3549015"/>
            <a:ext cx="2213670" cy="485775"/>
          </a:xfrm>
          <a:prstGeom prst="roundRect">
            <a:avLst>
              <a:gd name="adj" fmla="val 9412"/>
            </a:avLst>
          </a:prstGeom>
          <a:solidFill>
            <a:srgbClr val="0F172A">
              <a:alpha val="50000"/>
            </a:srgbClr>
          </a:solidFill>
          <a:ln/>
        </p:spPr>
      </p:sp>
      <p:sp>
        <p:nvSpPr>
          <p:cNvPr id="92" name="Shape 90"/>
          <p:cNvSpPr/>
          <p:nvPr/>
        </p:nvSpPr>
        <p:spPr>
          <a:xfrm>
            <a:off x="4162395" y="3549015"/>
            <a:ext cx="0" cy="485775"/>
          </a:xfrm>
          <a:prstGeom prst="line">
            <a:avLst/>
          </a:prstGeom>
          <a:noFill/>
          <a:ln w="17145">
            <a:solidFill>
              <a:srgbClr val="FF7043"/>
            </a:solidFill>
            <a:prstDash val="solid"/>
          </a:ln>
        </p:spPr>
      </p:sp>
      <p:sp>
        <p:nvSpPr>
          <p:cNvPr id="93" name="Shape 91"/>
          <p:cNvSpPr/>
          <p:nvPr/>
        </p:nvSpPr>
        <p:spPr>
          <a:xfrm>
            <a:off x="4270980" y="3697605"/>
            <a:ext cx="388620" cy="188595"/>
          </a:xfrm>
          <a:prstGeom prst="roundRect">
            <a:avLst>
              <a:gd name="adj" fmla="val 15152"/>
            </a:avLst>
          </a:prstGeom>
          <a:gradFill rotWithShape="1">
            <a:gsLst>
              <a:gs pos="0">
                <a:srgbClr val="FF8A65"/>
              </a:gs>
              <a:gs pos="100000">
                <a:srgbClr val="FF7043"/>
              </a:gs>
            </a:gsLst>
            <a:lin ang="2700000" scaled="0"/>
          </a:gradFill>
          <a:ln/>
        </p:spPr>
      </p:sp>
      <p:sp>
        <p:nvSpPr>
          <p:cNvPr id="94" name="Text 92"/>
          <p:cNvSpPr/>
          <p:nvPr/>
        </p:nvSpPr>
        <p:spPr>
          <a:xfrm>
            <a:off x="4270980" y="3697605"/>
            <a:ext cx="462915" cy="188595"/>
          </a:xfrm>
          <a:prstGeom prst="rect">
            <a:avLst/>
          </a:prstGeom>
          <a:noFill/>
          <a:ln/>
        </p:spPr>
        <p:txBody>
          <a:bodyPr wrap="none" lIns="45720" tIns="80010" rIns="80010" bIns="45720" rtlCol="0" anchor="ctr"/>
          <a:lstStyle/>
          <a:p>
            <a:pPr algn="ctr" indent="0" marL="0">
              <a:buNone/>
            </a:pPr>
            <a:r>
              <a:rPr lang="en-US" sz="585" b="1" spc="23" kern="0" dirty="0">
                <a:solidFill>
                  <a:srgbClr val="0F172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P2</a:t>
            </a:r>
            <a:endParaRPr lang="en-US" sz="585" dirty="0"/>
          </a:p>
        </p:txBody>
      </p:sp>
      <p:sp>
        <p:nvSpPr>
          <p:cNvPr id="95" name="Text 93"/>
          <p:cNvSpPr/>
          <p:nvPr/>
        </p:nvSpPr>
        <p:spPr>
          <a:xfrm>
            <a:off x="4739610" y="3654743"/>
            <a:ext cx="1413570" cy="171450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350" b="1" spc="-45" kern="0" dirty="0">
                <a:solidFill>
                  <a:srgbClr val="FF7043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28%</a:t>
            </a:r>
            <a:endParaRPr lang="en-US" sz="1350" dirty="0"/>
          </a:p>
        </p:txBody>
      </p:sp>
      <p:sp>
        <p:nvSpPr>
          <p:cNvPr id="96" name="Text 94"/>
          <p:cNvSpPr/>
          <p:nvPr/>
        </p:nvSpPr>
        <p:spPr>
          <a:xfrm>
            <a:off x="4739610" y="3837623"/>
            <a:ext cx="1391174" cy="91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495" spc="23" kern="0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重要诉求 ·</a:t>
            </a:r>
            <a:pPr algn="l" indent="0" marL="0">
              <a:buNone/>
            </a:pPr>
            <a:r>
              <a:rPr lang="en-US" sz="495" b="1" spc="23" kern="0" dirty="0">
                <a:solidFill>
                  <a:srgbClr val="F1F5F9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≈ 11,702</a:t>
            </a:r>
            <a:pPr algn="l" indent="0" marL="0">
              <a:buNone/>
            </a:pPr>
            <a:r>
              <a:rPr lang="en-US" sz="495" spc="23" kern="0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条</a:t>
            </a:r>
            <a:endParaRPr lang="en-US" sz="495" dirty="0"/>
          </a:p>
        </p:txBody>
      </p:sp>
      <p:sp>
        <p:nvSpPr>
          <p:cNvPr id="97" name="Shape 95"/>
          <p:cNvSpPr/>
          <p:nvPr/>
        </p:nvSpPr>
        <p:spPr>
          <a:xfrm>
            <a:off x="6061740" y="3726180"/>
            <a:ext cx="222885" cy="131445"/>
          </a:xfrm>
          <a:prstGeom prst="roundRect">
            <a:avLst>
              <a:gd name="adj" fmla="val 13043"/>
            </a:avLst>
          </a:prstGeom>
          <a:solidFill>
            <a:srgbClr val="FF7043">
              <a:alpha val="14000"/>
            </a:srgbClr>
          </a:solidFill>
          <a:ln w="5715">
            <a:solidFill>
              <a:srgbClr val="FF7043">
                <a:alpha val="35000"/>
              </a:srgbClr>
            </a:solidFill>
            <a:prstDash val="solid"/>
          </a:ln>
        </p:spPr>
      </p:sp>
      <p:sp>
        <p:nvSpPr>
          <p:cNvPr id="98" name="Text 96"/>
          <p:cNvSpPr/>
          <p:nvPr/>
        </p:nvSpPr>
        <p:spPr>
          <a:xfrm>
            <a:off x="6061740" y="3726180"/>
            <a:ext cx="280035" cy="131445"/>
          </a:xfrm>
          <a:prstGeom prst="rect">
            <a:avLst/>
          </a:prstGeom>
          <a:noFill/>
          <a:ln/>
        </p:spPr>
        <p:txBody>
          <a:bodyPr wrap="none" lIns="17145" tIns="45720" rIns="45720" bIns="17145" rtlCol="0" anchor="ctr"/>
          <a:lstStyle/>
          <a:p>
            <a:pPr algn="l" indent="0" marL="0">
              <a:buNone/>
            </a:pPr>
            <a:r>
              <a:rPr lang="en-US" sz="450" spc="23" kern="0" dirty="0">
                <a:solidFill>
                  <a:srgbClr val="FF7043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重要</a:t>
            </a:r>
            <a:endParaRPr lang="en-US" sz="450" dirty="0"/>
          </a:p>
        </p:txBody>
      </p:sp>
      <p:sp>
        <p:nvSpPr>
          <p:cNvPr id="99" name="Shape 97"/>
          <p:cNvSpPr/>
          <p:nvPr/>
        </p:nvSpPr>
        <p:spPr>
          <a:xfrm>
            <a:off x="6456075" y="3549015"/>
            <a:ext cx="2213580" cy="485775"/>
          </a:xfrm>
          <a:prstGeom prst="roundRect">
            <a:avLst>
              <a:gd name="adj" fmla="val 9412"/>
            </a:avLst>
          </a:prstGeom>
          <a:solidFill>
            <a:srgbClr val="0F172A">
              <a:alpha val="50000"/>
            </a:srgbClr>
          </a:solidFill>
          <a:ln/>
        </p:spPr>
      </p:sp>
      <p:sp>
        <p:nvSpPr>
          <p:cNvPr id="100" name="Shape 98"/>
          <p:cNvSpPr/>
          <p:nvPr/>
        </p:nvSpPr>
        <p:spPr>
          <a:xfrm>
            <a:off x="6456075" y="3549015"/>
            <a:ext cx="0" cy="485775"/>
          </a:xfrm>
          <a:prstGeom prst="line">
            <a:avLst/>
          </a:prstGeom>
          <a:noFill/>
          <a:ln w="17145">
            <a:solidFill>
              <a:srgbClr val="EF4444"/>
            </a:solidFill>
            <a:prstDash val="solid"/>
          </a:ln>
        </p:spPr>
      </p:sp>
      <p:sp>
        <p:nvSpPr>
          <p:cNvPr id="101" name="Shape 99"/>
          <p:cNvSpPr/>
          <p:nvPr/>
        </p:nvSpPr>
        <p:spPr>
          <a:xfrm>
            <a:off x="6564660" y="3697605"/>
            <a:ext cx="388620" cy="188595"/>
          </a:xfrm>
          <a:prstGeom prst="roundRect">
            <a:avLst>
              <a:gd name="adj" fmla="val 15152"/>
            </a:avLst>
          </a:prstGeom>
          <a:gradFill rotWithShape="1">
            <a:gsLst>
              <a:gs pos="0">
                <a:srgbClr val="F87171"/>
              </a:gs>
              <a:gs pos="100000">
                <a:srgbClr val="EF4444"/>
              </a:gs>
            </a:gsLst>
            <a:lin ang="2700000" scaled="0"/>
          </a:gradFill>
          <a:ln/>
        </p:spPr>
      </p:sp>
      <p:sp>
        <p:nvSpPr>
          <p:cNvPr id="102" name="Text 100"/>
          <p:cNvSpPr/>
          <p:nvPr/>
        </p:nvSpPr>
        <p:spPr>
          <a:xfrm>
            <a:off x="6564660" y="3697605"/>
            <a:ext cx="462915" cy="188595"/>
          </a:xfrm>
          <a:prstGeom prst="rect">
            <a:avLst/>
          </a:prstGeom>
          <a:noFill/>
          <a:ln/>
        </p:spPr>
        <p:txBody>
          <a:bodyPr wrap="none" lIns="45720" tIns="80010" rIns="80010" bIns="45720" rtlCol="0" anchor="ctr"/>
          <a:lstStyle/>
          <a:p>
            <a:pPr algn="ctr" indent="0" marL="0">
              <a:buNone/>
            </a:pPr>
            <a:r>
              <a:rPr lang="en-US" sz="585" b="1" spc="23" kern="0" dirty="0">
                <a:solidFill>
                  <a:srgbClr val="0F172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P1</a:t>
            </a:r>
            <a:endParaRPr lang="en-US" sz="585" dirty="0"/>
          </a:p>
        </p:txBody>
      </p:sp>
      <p:sp>
        <p:nvSpPr>
          <p:cNvPr id="103" name="Text 101"/>
          <p:cNvSpPr/>
          <p:nvPr/>
        </p:nvSpPr>
        <p:spPr>
          <a:xfrm>
            <a:off x="7033290" y="3654743"/>
            <a:ext cx="1413480" cy="171450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350" b="1" spc="-45" kern="0" dirty="0">
                <a:solidFill>
                  <a:srgbClr val="EF4444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3 条</a:t>
            </a:r>
            <a:endParaRPr lang="en-US" sz="1350" dirty="0"/>
          </a:p>
        </p:txBody>
      </p:sp>
      <p:sp>
        <p:nvSpPr>
          <p:cNvPr id="104" name="Text 102"/>
          <p:cNvSpPr/>
          <p:nvPr/>
        </p:nvSpPr>
        <p:spPr>
          <a:xfrm>
            <a:off x="7033290" y="3837623"/>
            <a:ext cx="1391074" cy="91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495" spc="23" kern="0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紧急火警 · 占比</a:t>
            </a:r>
            <a:pPr algn="l" indent="0" marL="0">
              <a:buNone/>
            </a:pPr>
            <a:r>
              <a:rPr lang="en-US" sz="495" b="1" spc="23" kern="0" dirty="0">
                <a:solidFill>
                  <a:srgbClr val="F1F5F9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≈ 0.007%</a:t>
            </a:r>
            <a:endParaRPr lang="en-US" sz="495" dirty="0"/>
          </a:p>
        </p:txBody>
      </p:sp>
      <p:sp>
        <p:nvSpPr>
          <p:cNvPr id="105" name="Shape 103"/>
          <p:cNvSpPr/>
          <p:nvPr/>
        </p:nvSpPr>
        <p:spPr>
          <a:xfrm>
            <a:off x="8355330" y="3726180"/>
            <a:ext cx="222885" cy="131445"/>
          </a:xfrm>
          <a:prstGeom prst="roundRect">
            <a:avLst>
              <a:gd name="adj" fmla="val 13043"/>
            </a:avLst>
          </a:prstGeom>
          <a:solidFill>
            <a:srgbClr val="EF4444">
              <a:alpha val="14000"/>
            </a:srgbClr>
          </a:solidFill>
          <a:ln w="5715">
            <a:solidFill>
              <a:srgbClr val="EF4444">
                <a:alpha val="35000"/>
              </a:srgbClr>
            </a:solidFill>
            <a:prstDash val="solid"/>
          </a:ln>
        </p:spPr>
      </p:sp>
      <p:sp>
        <p:nvSpPr>
          <p:cNvPr id="106" name="Text 104"/>
          <p:cNvSpPr/>
          <p:nvPr/>
        </p:nvSpPr>
        <p:spPr>
          <a:xfrm>
            <a:off x="8355330" y="3726180"/>
            <a:ext cx="280035" cy="131445"/>
          </a:xfrm>
          <a:prstGeom prst="rect">
            <a:avLst/>
          </a:prstGeom>
          <a:noFill/>
          <a:ln/>
        </p:spPr>
        <p:txBody>
          <a:bodyPr wrap="none" lIns="17145" tIns="45720" rIns="45720" bIns="17145" rtlCol="0" anchor="ctr"/>
          <a:lstStyle/>
          <a:p>
            <a:pPr algn="l" indent="0" marL="0">
              <a:buNone/>
            </a:pPr>
            <a:r>
              <a:rPr lang="en-US" sz="450" spc="23" kern="0" dirty="0">
                <a:solidFill>
                  <a:srgbClr val="EF4444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紧急</a:t>
            </a:r>
            <a:endParaRPr lang="en-US" sz="450" dirty="0"/>
          </a:p>
        </p:txBody>
      </p:sp>
      <p:sp>
        <p:nvSpPr>
          <p:cNvPr id="107" name="Shape 105"/>
          <p:cNvSpPr/>
          <p:nvPr/>
        </p:nvSpPr>
        <p:spPr>
          <a:xfrm>
            <a:off x="342900" y="4234815"/>
            <a:ext cx="8458200" cy="297180"/>
          </a:xfrm>
          <a:prstGeom prst="roundRect">
            <a:avLst>
              <a:gd name="adj" fmla="val 11538"/>
            </a:avLst>
          </a:prstGeom>
          <a:gradFill rotWithShape="1">
            <a:gsLst>
              <a:gs pos="0">
                <a:srgbClr val="00BCD4">
                  <a:alpha val="16000"/>
                </a:srgbClr>
              </a:gs>
              <a:gs pos="100000">
                <a:srgbClr val="FF7043">
                  <a:alpha val="9000"/>
                </a:srgbClr>
              </a:gs>
            </a:gsLst>
            <a:lin ang="0" scaled="0"/>
          </a:gradFill>
          <a:ln w="22860">
            <a:solidFill>
              <a:srgbClr val="00BCD4">
                <a:alpha val="40000"/>
              </a:srgbClr>
            </a:solidFill>
            <a:prstDash val="solid"/>
          </a:ln>
        </p:spPr>
      </p:sp>
      <p:sp>
        <p:nvSpPr>
          <p:cNvPr id="108" name="Text 106"/>
          <p:cNvSpPr/>
          <p:nvPr/>
        </p:nvSpPr>
        <p:spPr>
          <a:xfrm>
            <a:off x="491490" y="4309110"/>
            <a:ext cx="213741" cy="148590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buNone/>
            </a:pPr>
            <a:r>
              <a:rPr lang="en-US" sz="990" b="1" dirty="0">
                <a:solidFill>
                  <a:srgbClr val="00BCD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▸</a:t>
            </a:r>
            <a:endParaRPr lang="en-US" sz="990" dirty="0"/>
          </a:p>
        </p:txBody>
      </p:sp>
      <p:sp>
        <p:nvSpPr>
          <p:cNvPr id="109" name="Text 107"/>
          <p:cNvSpPr/>
          <p:nvPr/>
        </p:nvSpPr>
        <p:spPr>
          <a:xfrm>
            <a:off x="657493" y="4311968"/>
            <a:ext cx="2879260" cy="14287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765" spc="14" kern="0" dirty="0">
                <a:solidFill>
                  <a:srgbClr val="F1F5F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关键判断：</a:t>
            </a:r>
            <a:pPr algn="l" indent="0" marL="0">
              <a:buNone/>
            </a:pPr>
            <a:r>
              <a:rPr lang="en-US" sz="765" spc="14" kern="0" dirty="0">
                <a:solidFill>
                  <a:srgbClr val="F1F5F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用户是</a:t>
            </a:r>
            <a:pPr algn="l" indent="0" marL="0">
              <a:buNone/>
            </a:pPr>
            <a:r>
              <a:rPr lang="en-US" sz="765" b="1" spc="14" kern="0" dirty="0">
                <a:solidFill>
                  <a:srgbClr val="00BCD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成熟的使用者</a:t>
            </a:r>
            <a:pPr algn="l" indent="0" marL="0">
              <a:buNone/>
            </a:pPr>
            <a:r>
              <a:rPr lang="en-US" sz="765" spc="14" kern="0" dirty="0">
                <a:solidFill>
                  <a:srgbClr val="F1F5F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，不是</a:t>
            </a:r>
            <a:pPr algn="l" indent="0" marL="0">
              <a:buNone/>
            </a:pPr>
            <a:r>
              <a:rPr lang="en-US" sz="765" b="1" spc="14" kern="0" dirty="0">
                <a:solidFill>
                  <a:srgbClr val="FF704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什么都想要</a:t>
            </a:r>
            <a:pPr algn="l" indent="0" marL="0">
              <a:buNone/>
            </a:pPr>
            <a:r>
              <a:rPr lang="en-US" sz="765" spc="14" kern="0" dirty="0">
                <a:solidFill>
                  <a:srgbClr val="F1F5F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的初用者</a:t>
            </a:r>
            <a:endParaRPr lang="en-US" sz="765" dirty="0"/>
          </a:p>
        </p:txBody>
      </p:sp>
      <p:sp>
        <p:nvSpPr>
          <p:cNvPr id="110" name="Shape 108"/>
          <p:cNvSpPr/>
          <p:nvPr/>
        </p:nvSpPr>
        <p:spPr>
          <a:xfrm>
            <a:off x="8223885" y="4317683"/>
            <a:ext cx="445770" cy="131445"/>
          </a:xfrm>
          <a:prstGeom prst="roundRect">
            <a:avLst>
              <a:gd name="adj" fmla="val 4343478"/>
            </a:avLst>
          </a:prstGeom>
          <a:noFill/>
          <a:ln w="5715">
            <a:solidFill>
              <a:srgbClr val="94A3B8">
                <a:alpha val="28000"/>
              </a:srgbClr>
            </a:solidFill>
            <a:prstDash val="solid"/>
          </a:ln>
        </p:spPr>
      </p:sp>
      <p:sp>
        <p:nvSpPr>
          <p:cNvPr id="111" name="Text 109"/>
          <p:cNvSpPr/>
          <p:nvPr/>
        </p:nvSpPr>
        <p:spPr>
          <a:xfrm>
            <a:off x="8223885" y="4317683"/>
            <a:ext cx="502920" cy="131445"/>
          </a:xfrm>
          <a:prstGeom prst="rect">
            <a:avLst/>
          </a:prstGeom>
          <a:noFill/>
          <a:ln/>
        </p:spPr>
        <p:txBody>
          <a:bodyPr wrap="square" lIns="22860" tIns="57150" rIns="57150" bIns="22860" rtlCol="0" anchor="ctr"/>
          <a:lstStyle/>
          <a:p>
            <a:pPr algn="l" indent="0" marL="0">
              <a:buNone/>
            </a:pPr>
            <a:r>
              <a:rPr lang="en-US" sz="450" spc="45" kern="0" dirty="0">
                <a:solidFill>
                  <a:srgbClr val="94A3B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TAKEAWAY</a:t>
            </a:r>
            <a:endParaRPr lang="en-US" sz="4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0B12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gradFill rotWithShape="1">
            <a:gsLst>
              <a:gs pos="0">
                <a:srgbClr val="0B1220"/>
              </a:gs>
              <a:gs pos="55000">
                <a:srgbClr val="1E293B"/>
              </a:gs>
              <a:gs pos="100000">
                <a:srgbClr val="0F172A"/>
              </a:gs>
            </a:gsLst>
            <a:lin ang="3000000" scaled="0"/>
          </a:gradFill>
          <a:ln/>
        </p:spPr>
      </p:sp>
      <p:sp>
        <p:nvSpPr>
          <p:cNvPr id="3" name="Shape 1"/>
          <p:cNvSpPr/>
          <p:nvPr/>
        </p:nvSpPr>
        <p:spPr>
          <a:xfrm>
            <a:off x="205740" y="205740"/>
            <a:ext cx="137160" cy="137160"/>
          </a:xfrm>
          <a:prstGeom prst="rect">
            <a:avLst/>
          </a:prstGeom>
          <a:noFill/>
          <a:ln/>
        </p:spPr>
      </p:sp>
      <p:sp>
        <p:nvSpPr>
          <p:cNvPr id="4" name="Shape 2"/>
          <p:cNvSpPr/>
          <p:nvPr/>
        </p:nvSpPr>
        <p:spPr>
          <a:xfrm>
            <a:off x="205740" y="205740"/>
            <a:ext cx="137160" cy="0"/>
          </a:xfrm>
          <a:prstGeom prst="line">
            <a:avLst/>
          </a:prstGeom>
          <a:noFill/>
          <a:ln w="11430">
            <a:solidFill>
              <a:srgbClr val="00BCD4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205740" y="205740"/>
            <a:ext cx="0" cy="137160"/>
          </a:xfrm>
          <a:prstGeom prst="line">
            <a:avLst/>
          </a:prstGeom>
          <a:noFill/>
          <a:ln w="11430">
            <a:solidFill>
              <a:srgbClr val="00BCD4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8801100" y="205740"/>
            <a:ext cx="137160" cy="137160"/>
          </a:xfrm>
          <a:prstGeom prst="rect">
            <a:avLst/>
          </a:prstGeom>
          <a:noFill/>
          <a:ln/>
        </p:spPr>
      </p:sp>
      <p:sp>
        <p:nvSpPr>
          <p:cNvPr id="7" name="Shape 5"/>
          <p:cNvSpPr/>
          <p:nvPr/>
        </p:nvSpPr>
        <p:spPr>
          <a:xfrm>
            <a:off x="8801100" y="205740"/>
            <a:ext cx="137160" cy="0"/>
          </a:xfrm>
          <a:prstGeom prst="line">
            <a:avLst/>
          </a:prstGeom>
          <a:noFill/>
          <a:ln w="11430">
            <a:solidFill>
              <a:srgbClr val="00BCD4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8938260" y="205740"/>
            <a:ext cx="0" cy="137160"/>
          </a:xfrm>
          <a:prstGeom prst="line">
            <a:avLst/>
          </a:prstGeom>
          <a:noFill/>
          <a:ln w="11430">
            <a:solidFill>
              <a:srgbClr val="00BCD4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205740" y="4800600"/>
            <a:ext cx="137160" cy="137160"/>
          </a:xfrm>
          <a:prstGeom prst="rect">
            <a:avLst/>
          </a:prstGeom>
          <a:noFill/>
          <a:ln/>
        </p:spPr>
      </p:sp>
      <p:sp>
        <p:nvSpPr>
          <p:cNvPr id="10" name="Shape 8"/>
          <p:cNvSpPr/>
          <p:nvPr/>
        </p:nvSpPr>
        <p:spPr>
          <a:xfrm>
            <a:off x="205740" y="4937760"/>
            <a:ext cx="137160" cy="0"/>
          </a:xfrm>
          <a:prstGeom prst="line">
            <a:avLst/>
          </a:prstGeom>
          <a:noFill/>
          <a:ln w="11430">
            <a:solidFill>
              <a:srgbClr val="00BCD4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205740" y="4800600"/>
            <a:ext cx="0" cy="137160"/>
          </a:xfrm>
          <a:prstGeom prst="line">
            <a:avLst/>
          </a:prstGeom>
          <a:noFill/>
          <a:ln w="11430">
            <a:solidFill>
              <a:srgbClr val="00BCD4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8801100" y="4800600"/>
            <a:ext cx="137160" cy="137160"/>
          </a:xfrm>
          <a:prstGeom prst="rect">
            <a:avLst/>
          </a:prstGeom>
          <a:noFill/>
          <a:ln/>
        </p:spPr>
      </p:sp>
      <p:sp>
        <p:nvSpPr>
          <p:cNvPr id="13" name="Shape 11"/>
          <p:cNvSpPr/>
          <p:nvPr/>
        </p:nvSpPr>
        <p:spPr>
          <a:xfrm>
            <a:off x="8938260" y="4800600"/>
            <a:ext cx="0" cy="137160"/>
          </a:xfrm>
          <a:prstGeom prst="line">
            <a:avLst/>
          </a:prstGeom>
          <a:noFill/>
          <a:ln w="11430">
            <a:solidFill>
              <a:srgbClr val="00BCD4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8801100" y="4937760"/>
            <a:ext cx="137160" cy="0"/>
          </a:xfrm>
          <a:prstGeom prst="line">
            <a:avLst/>
          </a:prstGeom>
          <a:noFill/>
          <a:ln w="11430">
            <a:solidFill>
              <a:srgbClr val="00BCD4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411480" y="368618"/>
            <a:ext cx="148590" cy="5715"/>
          </a:xfrm>
          <a:prstGeom prst="rect">
            <a:avLst/>
          </a:prstGeom>
          <a:solidFill>
            <a:srgbClr val="00BCD4"/>
          </a:solidFill>
          <a:ln/>
        </p:spPr>
      </p:sp>
      <p:sp>
        <p:nvSpPr>
          <p:cNvPr id="16" name="Text 14"/>
          <p:cNvSpPr/>
          <p:nvPr/>
        </p:nvSpPr>
        <p:spPr>
          <a:xfrm>
            <a:off x="617220" y="368618"/>
            <a:ext cx="1494587" cy="80010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buNone/>
            </a:pPr>
            <a:r>
              <a:rPr lang="en-US" sz="495" spc="149" kern="0" dirty="0">
                <a:solidFill>
                  <a:srgbClr val="00BCD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SUPPLY SIDE · PR ANALYSIS</a:t>
            </a:r>
            <a:endParaRPr lang="en-US" sz="495" dirty="0"/>
          </a:p>
        </p:txBody>
      </p:sp>
      <p:sp>
        <p:nvSpPr>
          <p:cNvPr id="17" name="Text 15"/>
          <p:cNvSpPr/>
          <p:nvPr/>
        </p:nvSpPr>
        <p:spPr>
          <a:xfrm>
            <a:off x="411480" y="528638"/>
            <a:ext cx="4707288" cy="30227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2070" b="1" spc="-21" kern="0" dirty="0">
                <a:solidFill>
                  <a:srgbClr val="F1F5F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供给侧 ·</a:t>
            </a:r>
            <a:pPr algn="l" indent="0" marL="0">
              <a:lnSpc>
                <a:spcPct val="115000"/>
              </a:lnSpc>
              <a:buNone/>
            </a:pPr>
            <a:r>
              <a:rPr lang="en-US" sz="2070" b="1" spc="-21" kern="0" dirty="0">
                <a:solidFill>
                  <a:srgbClr val="000000">
                    <a:alpha val="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项目做了什么</a:t>
            </a:r>
            <a:endParaRPr lang="en-US" sz="2070" dirty="0"/>
          </a:p>
        </p:txBody>
      </p:sp>
      <p:sp>
        <p:nvSpPr>
          <p:cNvPr id="18" name="Text 16"/>
          <p:cNvSpPr/>
          <p:nvPr/>
        </p:nvSpPr>
        <p:spPr>
          <a:xfrm>
            <a:off x="411480" y="899487"/>
            <a:ext cx="4707288" cy="13287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55000"/>
              </a:lnSpc>
              <a:buNone/>
            </a:pPr>
            <a:r>
              <a:rPr lang="en-US" sz="675" spc="7" kern="0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27,783 条 PR 呈现出</a:t>
            </a:r>
            <a:pPr algn="l" indent="0" marL="0">
              <a:lnSpc>
                <a:spcPct val="155000"/>
              </a:lnSpc>
              <a:buNone/>
            </a:pPr>
            <a:r>
              <a:rPr lang="en-US" sz="675" b="1" spc="7" kern="0" dirty="0">
                <a:solidFill>
                  <a:srgbClr val="4DD0E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收敛型</a:t>
            </a:r>
            <a:pPr algn="l" indent="0" marL="0">
              <a:lnSpc>
                <a:spcPct val="155000"/>
              </a:lnSpc>
              <a:buNone/>
            </a:pPr>
            <a:r>
              <a:rPr lang="en-US" sz="675" spc="7" kern="0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策略——P2 全给 bug、P3 养 feature、P1 缺席，项目正从扩张期进入稳定化期。</a:t>
            </a:r>
            <a:endParaRPr lang="en-US" sz="675" dirty="0"/>
          </a:p>
        </p:txBody>
      </p:sp>
      <p:sp>
        <p:nvSpPr>
          <p:cNvPr id="19" name="Shape 17"/>
          <p:cNvSpPr/>
          <p:nvPr/>
        </p:nvSpPr>
        <p:spPr>
          <a:xfrm>
            <a:off x="7880717" y="320040"/>
            <a:ext cx="851803" cy="194310"/>
          </a:xfrm>
          <a:prstGeom prst="roundRect">
            <a:avLst>
              <a:gd name="adj" fmla="val 5882"/>
            </a:avLst>
          </a:prstGeom>
          <a:solidFill>
            <a:srgbClr val="00BCD4">
              <a:alpha val="8000"/>
            </a:srgbClr>
          </a:solidFill>
          <a:ln w="5715">
            <a:solidFill>
              <a:srgbClr val="00BCD4">
                <a:alpha val="55000"/>
              </a:srgbClr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7880717" y="320040"/>
            <a:ext cx="954019" cy="19431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495" b="1" spc="109" kern="0" dirty="0">
                <a:solidFill>
                  <a:srgbClr val="4DD0E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DATA · CH.15</a:t>
            </a:r>
            <a:endParaRPr lang="en-US" sz="495" dirty="0"/>
          </a:p>
        </p:txBody>
      </p:sp>
      <p:sp>
        <p:nvSpPr>
          <p:cNvPr id="21" name="Shape 19"/>
          <p:cNvSpPr/>
          <p:nvPr/>
        </p:nvSpPr>
        <p:spPr>
          <a:xfrm>
            <a:off x="7977872" y="400050"/>
            <a:ext cx="34290" cy="34290"/>
          </a:xfrm>
          <a:prstGeom prst="ellipse">
            <a:avLst/>
          </a:prstGeom>
          <a:solidFill>
            <a:srgbClr val="00BCD4">
              <a:alpha val="59000"/>
            </a:srgbClr>
          </a:solidFill>
          <a:ln/>
          <a:effectLst>
            <a:outerShdw sx="100000" sy="100000" kx="0" ky="0" algn="bl" rotWithShape="0" blurRad="76200" dist="50800" dir="16200000">
              <a:srgbClr val="00BCD4">
                <a:alpha val="100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7758380" y="571500"/>
            <a:ext cx="1091036" cy="80010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buNone/>
            </a:pPr>
            <a:r>
              <a:rPr lang="en-US" sz="495" spc="119" kern="0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15 / 22 · SUPPLY SIDE</a:t>
            </a:r>
            <a:endParaRPr lang="en-US" sz="495" dirty="0"/>
          </a:p>
        </p:txBody>
      </p:sp>
      <p:sp>
        <p:nvSpPr>
          <p:cNvPr id="23" name="Shape 21"/>
          <p:cNvSpPr/>
          <p:nvPr/>
        </p:nvSpPr>
        <p:spPr>
          <a:xfrm>
            <a:off x="411480" y="1226671"/>
            <a:ext cx="2468880" cy="2740878"/>
          </a:xfrm>
          <a:prstGeom prst="roundRect">
            <a:avLst>
              <a:gd name="adj" fmla="val 926"/>
            </a:avLst>
          </a:prstGeom>
          <a:gradFill rotWithShape="1">
            <a:gsLst>
              <a:gs pos="0">
                <a:srgbClr val="00BCD4">
                  <a:alpha val="6000"/>
                </a:srgbClr>
              </a:gs>
              <a:gs pos="100000">
                <a:srgbClr val="FFFFFF">
                  <a:alpha val="2000"/>
                </a:srgbClr>
              </a:gs>
            </a:gsLst>
            <a:lin ang="5400000" scaled="0"/>
          </a:gradFill>
          <a:ln w="5715">
            <a:solidFill>
              <a:srgbClr val="FFFFFF">
                <a:alpha val="8000"/>
              </a:srgbClr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411480" y="1226671"/>
            <a:ext cx="342900" cy="11430"/>
          </a:xfrm>
          <a:prstGeom prst="rect">
            <a:avLst/>
          </a:prstGeom>
          <a:solidFill>
            <a:srgbClr val="00BCD4"/>
          </a:solidFill>
          <a:ln/>
        </p:spPr>
      </p:sp>
      <p:sp>
        <p:nvSpPr>
          <p:cNvPr id="25" name="Text 23"/>
          <p:cNvSpPr/>
          <p:nvPr/>
        </p:nvSpPr>
        <p:spPr>
          <a:xfrm>
            <a:off x="600075" y="1438126"/>
            <a:ext cx="1187548" cy="80010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buNone/>
            </a:pPr>
            <a:r>
              <a:rPr lang="en-US" sz="495" spc="139" kern="0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TOTAL PULL REQUESTS</a:t>
            </a:r>
            <a:endParaRPr lang="en-US" sz="495" dirty="0"/>
          </a:p>
        </p:txBody>
      </p:sp>
      <p:sp>
        <p:nvSpPr>
          <p:cNvPr id="26" name="Shape 24"/>
          <p:cNvSpPr/>
          <p:nvPr/>
        </p:nvSpPr>
        <p:spPr>
          <a:xfrm>
            <a:off x="1717536" y="1475274"/>
            <a:ext cx="974229" cy="5715"/>
          </a:xfrm>
          <a:prstGeom prst="rect">
            <a:avLst/>
          </a:prstGeom>
          <a:solidFill>
            <a:srgbClr val="FFFFFF">
              <a:alpha val="14000"/>
            </a:srgbClr>
          </a:solidFill>
          <a:ln/>
        </p:spPr>
      </p:sp>
      <p:sp>
        <p:nvSpPr>
          <p:cNvPr id="27" name="Text 25"/>
          <p:cNvSpPr/>
          <p:nvPr/>
        </p:nvSpPr>
        <p:spPr>
          <a:xfrm>
            <a:off x="600075" y="1621006"/>
            <a:ext cx="2937510" cy="803493"/>
          </a:xfrm>
          <a:prstGeom prst="rect">
            <a:avLst/>
          </a:prstGeom>
          <a:noFill/>
          <a:ln/>
          <a:effectLst>
            <a:outerShdw sx="100000" sy="100000" kx="0" ky="0" algn="bl" rotWithShape="0" blurRad="228600" dist="50800" dir="5400000">
              <a:srgbClr val="00BCD4">
                <a:alpha val="35000"/>
              </a:srgbClr>
            </a:outerShdw>
          </a:effectLst>
        </p:spPr>
        <p:txBody>
          <a:bodyPr wrap="none" rtlCol="0" anchor="ctr"/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6660" b="1" spc="-200" kern="0" dirty="0">
                <a:solidFill>
                  <a:srgbClr val="00BCD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27,783</a:t>
            </a:r>
            <a:endParaRPr lang="en-US" sz="6660" dirty="0"/>
          </a:p>
        </p:txBody>
      </p:sp>
      <p:sp>
        <p:nvSpPr>
          <p:cNvPr id="28" name="Shape 26"/>
          <p:cNvSpPr/>
          <p:nvPr/>
        </p:nvSpPr>
        <p:spPr>
          <a:xfrm>
            <a:off x="600075" y="2493079"/>
            <a:ext cx="2091690" cy="342900"/>
          </a:xfrm>
          <a:prstGeom prst="rect">
            <a:avLst/>
          </a:prstGeom>
          <a:noFill/>
          <a:ln/>
        </p:spPr>
      </p:sp>
      <p:sp>
        <p:nvSpPr>
          <p:cNvPr id="29" name="Shape 27"/>
          <p:cNvSpPr/>
          <p:nvPr/>
        </p:nvSpPr>
        <p:spPr>
          <a:xfrm>
            <a:off x="600075" y="2835979"/>
            <a:ext cx="2091690" cy="0"/>
          </a:xfrm>
          <a:prstGeom prst="line">
            <a:avLst/>
          </a:prstGeom>
          <a:noFill/>
          <a:ln w="5715">
            <a:solidFill>
              <a:srgbClr val="FFFFFF">
                <a:alpha val="8000"/>
              </a:srgbClr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600075" y="2493079"/>
            <a:ext cx="1364671" cy="120015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buNone/>
            </a:pPr>
            <a:r>
              <a:rPr lang="en-US" sz="675" spc="14" kern="0" dirty="0">
                <a:solidFill>
                  <a:srgbClr val="F1F5F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总 PRs</a:t>
            </a:r>
            <a:endParaRPr lang="en-US" sz="675" dirty="0"/>
          </a:p>
        </p:txBody>
      </p:sp>
      <p:sp>
        <p:nvSpPr>
          <p:cNvPr id="31" name="Text 29"/>
          <p:cNvSpPr/>
          <p:nvPr/>
        </p:nvSpPr>
        <p:spPr>
          <a:xfrm>
            <a:off x="600075" y="2635954"/>
            <a:ext cx="1364671" cy="68580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buNone/>
            </a:pPr>
            <a:r>
              <a:rPr lang="en-US" sz="450" spc="126" kern="0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CUMULATIVE PULL REQUESTS</a:t>
            </a:r>
            <a:endParaRPr lang="en-US" sz="450" dirty="0"/>
          </a:p>
        </p:txBody>
      </p:sp>
      <p:sp>
        <p:nvSpPr>
          <p:cNvPr id="32" name="Text 30"/>
          <p:cNvSpPr/>
          <p:nvPr/>
        </p:nvSpPr>
        <p:spPr>
          <a:xfrm>
            <a:off x="2118390" y="2515939"/>
            <a:ext cx="642180" cy="91440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buNone/>
            </a:pPr>
            <a:r>
              <a:rPr lang="en-US" sz="495" spc="69" kern="0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全部维度分析基础</a:t>
            </a:r>
            <a:endParaRPr lang="en-US" sz="495" dirty="0"/>
          </a:p>
        </p:txBody>
      </p:sp>
      <p:sp>
        <p:nvSpPr>
          <p:cNvPr id="33" name="Text 31"/>
          <p:cNvSpPr/>
          <p:nvPr/>
        </p:nvSpPr>
        <p:spPr>
          <a:xfrm>
            <a:off x="600075" y="2961709"/>
            <a:ext cx="414248" cy="91440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buNone/>
            </a:pPr>
            <a:r>
              <a:rPr lang="en-US" sz="495" spc="139" kern="0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关键 KPI</a:t>
            </a:r>
            <a:endParaRPr lang="en-US" sz="495" dirty="0"/>
          </a:p>
        </p:txBody>
      </p:sp>
      <p:sp>
        <p:nvSpPr>
          <p:cNvPr id="34" name="Shape 32"/>
          <p:cNvSpPr/>
          <p:nvPr/>
        </p:nvSpPr>
        <p:spPr>
          <a:xfrm>
            <a:off x="1008608" y="3004572"/>
            <a:ext cx="1683157" cy="5715"/>
          </a:xfrm>
          <a:prstGeom prst="rect">
            <a:avLst/>
          </a:prstGeom>
          <a:solidFill>
            <a:srgbClr val="FFFFFF">
              <a:alpha val="8000"/>
            </a:srgbClr>
          </a:solidFill>
          <a:ln/>
        </p:spPr>
      </p:sp>
      <p:sp>
        <p:nvSpPr>
          <p:cNvPr id="35" name="Shape 33"/>
          <p:cNvSpPr/>
          <p:nvPr/>
        </p:nvSpPr>
        <p:spPr>
          <a:xfrm>
            <a:off x="600075" y="3133159"/>
            <a:ext cx="659100" cy="622935"/>
          </a:xfrm>
          <a:prstGeom prst="roundRect">
            <a:avLst>
              <a:gd name="adj" fmla="val 1835"/>
            </a:avLst>
          </a:prstGeom>
          <a:solidFill>
            <a:srgbClr val="0F172A">
              <a:alpha val="55000"/>
            </a:srgbClr>
          </a:solidFill>
          <a:ln w="11430">
            <a:solidFill>
              <a:srgbClr val="FF7043">
                <a:alpha val="8000"/>
              </a:srgbClr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680085" y="3218884"/>
            <a:ext cx="565371" cy="137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450" spc="108" kern="0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P1 · CRITICAL</a:t>
            </a:r>
            <a:endParaRPr lang="en-US" sz="450" dirty="0"/>
          </a:p>
        </p:txBody>
      </p:sp>
      <p:sp>
        <p:nvSpPr>
          <p:cNvPr id="37" name="Text 35"/>
          <p:cNvSpPr/>
          <p:nvPr/>
        </p:nvSpPr>
        <p:spPr>
          <a:xfrm>
            <a:off x="680085" y="3373189"/>
            <a:ext cx="664815" cy="194310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buNone/>
            </a:pPr>
            <a:r>
              <a:rPr lang="en-US" sz="1260" b="1" spc="-25" kern="0" dirty="0">
                <a:solidFill>
                  <a:srgbClr val="FF704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</a:t>
            </a:r>
            <a:endParaRPr lang="en-US" sz="1260" dirty="0"/>
          </a:p>
        </p:txBody>
      </p:sp>
      <p:sp>
        <p:nvSpPr>
          <p:cNvPr id="38" name="Text 36"/>
          <p:cNvSpPr/>
          <p:nvPr/>
        </p:nvSpPr>
        <p:spPr>
          <a:xfrm>
            <a:off x="680085" y="3584644"/>
            <a:ext cx="565371" cy="85725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buNone/>
            </a:pPr>
            <a:r>
              <a:rPr lang="en-US" sz="450" spc="27" kern="0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条 · 缺席</a:t>
            </a:r>
            <a:endParaRPr lang="en-US" sz="450" dirty="0"/>
          </a:p>
        </p:txBody>
      </p:sp>
      <p:sp>
        <p:nvSpPr>
          <p:cNvPr id="39" name="Shape 37"/>
          <p:cNvSpPr/>
          <p:nvPr/>
        </p:nvSpPr>
        <p:spPr>
          <a:xfrm>
            <a:off x="1316325" y="3133159"/>
            <a:ext cx="659100" cy="622935"/>
          </a:xfrm>
          <a:prstGeom prst="roundRect">
            <a:avLst>
              <a:gd name="adj" fmla="val 1835"/>
            </a:avLst>
          </a:prstGeom>
          <a:solidFill>
            <a:srgbClr val="0F172A">
              <a:alpha val="55000"/>
            </a:srgbClr>
          </a:solidFill>
          <a:ln w="11430">
            <a:solidFill>
              <a:srgbClr val="00BCD4">
                <a:alpha val="8000"/>
              </a:srgbClr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1396335" y="3218884"/>
            <a:ext cx="565371" cy="68580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buNone/>
            </a:pPr>
            <a:r>
              <a:rPr lang="en-US" sz="450" spc="108" kern="0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P2 · HIGH</a:t>
            </a:r>
            <a:endParaRPr lang="en-US" sz="450" dirty="0"/>
          </a:p>
        </p:txBody>
      </p:sp>
      <p:sp>
        <p:nvSpPr>
          <p:cNvPr id="41" name="Text 39"/>
          <p:cNvSpPr/>
          <p:nvPr/>
        </p:nvSpPr>
        <p:spPr>
          <a:xfrm>
            <a:off x="1396335" y="3304609"/>
            <a:ext cx="664815" cy="194310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buNone/>
            </a:pPr>
            <a:r>
              <a:rPr lang="en-US" sz="1260" b="1" spc="-25" kern="0" dirty="0">
                <a:solidFill>
                  <a:srgbClr val="00BCD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89%</a:t>
            </a:r>
            <a:endParaRPr lang="en-US" sz="1260" dirty="0"/>
          </a:p>
        </p:txBody>
      </p:sp>
      <p:sp>
        <p:nvSpPr>
          <p:cNvPr id="42" name="Text 40"/>
          <p:cNvSpPr/>
          <p:nvPr/>
        </p:nvSpPr>
        <p:spPr>
          <a:xfrm>
            <a:off x="1396335" y="3516064"/>
            <a:ext cx="565371" cy="85725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buNone/>
            </a:pPr>
            <a:r>
              <a:rPr lang="en-US" sz="450" spc="27" kern="0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→ Bug 占比</a:t>
            </a:r>
            <a:endParaRPr lang="en-US" sz="450" dirty="0"/>
          </a:p>
        </p:txBody>
      </p:sp>
      <p:sp>
        <p:nvSpPr>
          <p:cNvPr id="43" name="Shape 41"/>
          <p:cNvSpPr/>
          <p:nvPr/>
        </p:nvSpPr>
        <p:spPr>
          <a:xfrm>
            <a:off x="2032575" y="3133159"/>
            <a:ext cx="659190" cy="622935"/>
          </a:xfrm>
          <a:prstGeom prst="roundRect">
            <a:avLst>
              <a:gd name="adj" fmla="val 1835"/>
            </a:avLst>
          </a:prstGeom>
          <a:solidFill>
            <a:srgbClr val="0F172A">
              <a:alpha val="55000"/>
            </a:srgbClr>
          </a:solidFill>
          <a:ln w="11430">
            <a:solidFill>
              <a:srgbClr val="00BCD4">
                <a:alpha val="8000"/>
              </a:srgbClr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2112585" y="3218884"/>
            <a:ext cx="565471" cy="137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450" spc="108" kern="0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P3 · MEDIUM</a:t>
            </a:r>
            <a:endParaRPr lang="en-US" sz="450" dirty="0"/>
          </a:p>
        </p:txBody>
      </p:sp>
      <p:sp>
        <p:nvSpPr>
          <p:cNvPr id="45" name="Text 43"/>
          <p:cNvSpPr/>
          <p:nvPr/>
        </p:nvSpPr>
        <p:spPr>
          <a:xfrm>
            <a:off x="2112585" y="3373189"/>
            <a:ext cx="664905" cy="194310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buNone/>
            </a:pPr>
            <a:r>
              <a:rPr lang="en-US" sz="1260" b="1" spc="-25" kern="0" dirty="0">
                <a:solidFill>
                  <a:srgbClr val="00BCD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72%</a:t>
            </a:r>
            <a:endParaRPr lang="en-US" sz="1260" dirty="0"/>
          </a:p>
        </p:txBody>
      </p:sp>
      <p:sp>
        <p:nvSpPr>
          <p:cNvPr id="46" name="Text 44"/>
          <p:cNvSpPr/>
          <p:nvPr/>
        </p:nvSpPr>
        <p:spPr>
          <a:xfrm>
            <a:off x="2112585" y="3584644"/>
            <a:ext cx="565471" cy="85725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buNone/>
            </a:pPr>
            <a:r>
              <a:rPr lang="en-US" sz="450" spc="27" kern="0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→ Feature 占比</a:t>
            </a:r>
            <a:endParaRPr lang="en-US" sz="450" dirty="0"/>
          </a:p>
        </p:txBody>
      </p:sp>
      <p:sp>
        <p:nvSpPr>
          <p:cNvPr id="47" name="Shape 45"/>
          <p:cNvSpPr/>
          <p:nvPr/>
        </p:nvSpPr>
        <p:spPr>
          <a:xfrm>
            <a:off x="3131820" y="1226671"/>
            <a:ext cx="1340168" cy="1085850"/>
          </a:xfrm>
          <a:prstGeom prst="roundRect">
            <a:avLst>
              <a:gd name="adj" fmla="val 2105"/>
            </a:avLst>
          </a:prstGeom>
          <a:gradFill rotWithShape="1">
            <a:gsLst>
              <a:gs pos="0">
                <a:srgbClr val="FFFFFF">
                  <a:alpha val="3000"/>
                </a:srgbClr>
              </a:gs>
              <a:gs pos="100000">
                <a:srgbClr val="0F172A">
                  <a:alpha val="50000"/>
                </a:srgbClr>
              </a:gs>
            </a:gsLst>
            <a:lin ang="4200000" scaled="0"/>
          </a:gradFill>
          <a:ln w="5715">
            <a:solidFill>
              <a:srgbClr val="FFFFFF">
                <a:alpha val="8000"/>
              </a:srgbClr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3131820" y="1226671"/>
            <a:ext cx="137160" cy="11430"/>
          </a:xfrm>
          <a:prstGeom prst="rect">
            <a:avLst/>
          </a:prstGeom>
          <a:solidFill>
            <a:srgbClr val="00BCD4"/>
          </a:solidFill>
          <a:ln/>
        </p:spPr>
      </p:sp>
      <p:sp>
        <p:nvSpPr>
          <p:cNvPr id="49" name="Text 47"/>
          <p:cNvSpPr/>
          <p:nvPr/>
        </p:nvSpPr>
        <p:spPr>
          <a:xfrm>
            <a:off x="3228975" y="1358116"/>
            <a:ext cx="380673" cy="68580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buNone/>
            </a:pPr>
            <a:r>
              <a:rPr lang="en-US" sz="450" spc="99" kern="0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DIM · 01</a:t>
            </a:r>
            <a:endParaRPr lang="en-US" sz="450" dirty="0"/>
          </a:p>
        </p:txBody>
      </p:sp>
      <p:sp>
        <p:nvSpPr>
          <p:cNvPr id="50" name="Text 48"/>
          <p:cNvSpPr/>
          <p:nvPr/>
        </p:nvSpPr>
        <p:spPr>
          <a:xfrm>
            <a:off x="3228975" y="1455271"/>
            <a:ext cx="435501" cy="120015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buNone/>
            </a:pPr>
            <a:r>
              <a:rPr lang="en-US" sz="675" b="1" spc="14" kern="0" dirty="0">
                <a:solidFill>
                  <a:srgbClr val="F1F5F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类型分布</a:t>
            </a:r>
            <a:endParaRPr lang="en-US" sz="675" dirty="0"/>
          </a:p>
        </p:txBody>
      </p:sp>
      <p:sp>
        <p:nvSpPr>
          <p:cNvPr id="51" name="Shape 49"/>
          <p:cNvSpPr/>
          <p:nvPr/>
        </p:nvSpPr>
        <p:spPr>
          <a:xfrm>
            <a:off x="4121051" y="1323826"/>
            <a:ext cx="253782" cy="108585"/>
          </a:xfrm>
          <a:prstGeom prst="roundRect">
            <a:avLst>
              <a:gd name="adj" fmla="val 5263"/>
            </a:avLst>
          </a:prstGeom>
          <a:solidFill>
            <a:srgbClr val="00BCD4">
              <a:alpha val="6000"/>
            </a:srgbClr>
          </a:solidFill>
          <a:ln w="5715">
            <a:solidFill>
              <a:srgbClr val="00BCD4">
                <a:alpha val="40000"/>
              </a:srgbClr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4121051" y="1323826"/>
            <a:ext cx="305217" cy="108585"/>
          </a:xfrm>
          <a:prstGeom prst="rect">
            <a:avLst/>
          </a:prstGeom>
          <a:noFill/>
          <a:ln/>
        </p:spPr>
        <p:txBody>
          <a:bodyPr wrap="none" lIns="17145" tIns="40005" rIns="40005" bIns="17145" rtlCol="0" anchor="ctr"/>
          <a:lstStyle/>
          <a:p>
            <a:pPr algn="l" indent="0" marL="0">
              <a:buNone/>
            </a:pPr>
            <a:r>
              <a:rPr lang="en-US" sz="405" spc="61" kern="0" dirty="0">
                <a:solidFill>
                  <a:srgbClr val="4DD0E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TYPE</a:t>
            </a:r>
            <a:endParaRPr lang="en-US" sz="405" dirty="0"/>
          </a:p>
        </p:txBody>
      </p:sp>
      <p:sp>
        <p:nvSpPr>
          <p:cNvPr id="53" name="Text 51"/>
          <p:cNvSpPr/>
          <p:nvPr/>
        </p:nvSpPr>
        <p:spPr>
          <a:xfrm>
            <a:off x="3228975" y="1649581"/>
            <a:ext cx="318254" cy="85725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buNone/>
            </a:pPr>
            <a:r>
              <a:rPr lang="en-US" sz="540" spc="11" kern="0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Bug Fix</a:t>
            </a:r>
            <a:endParaRPr lang="en-US" sz="540" dirty="0"/>
          </a:p>
        </p:txBody>
      </p:sp>
      <p:sp>
        <p:nvSpPr>
          <p:cNvPr id="54" name="Text 52"/>
          <p:cNvSpPr/>
          <p:nvPr/>
        </p:nvSpPr>
        <p:spPr>
          <a:xfrm>
            <a:off x="4172039" y="1632436"/>
            <a:ext cx="288518" cy="108585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buNone/>
            </a:pPr>
            <a:r>
              <a:rPr lang="en-US" sz="675" b="1" spc="7" kern="0" dirty="0">
                <a:solidFill>
                  <a:srgbClr val="00BCD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50%</a:t>
            </a:r>
            <a:endParaRPr lang="en-US" sz="675" dirty="0"/>
          </a:p>
        </p:txBody>
      </p:sp>
      <p:sp>
        <p:nvSpPr>
          <p:cNvPr id="55" name="Shape 53"/>
          <p:cNvSpPr/>
          <p:nvPr/>
        </p:nvSpPr>
        <p:spPr>
          <a:xfrm>
            <a:off x="3228975" y="1769596"/>
            <a:ext cx="1145858" cy="28575"/>
          </a:xfrm>
          <a:prstGeom prst="roundRect">
            <a:avLst>
              <a:gd name="adj" fmla="val 20000"/>
            </a:avLst>
          </a:prstGeom>
          <a:solidFill>
            <a:srgbClr val="FFFFFF">
              <a:alpha val="6000"/>
            </a:srgbClr>
          </a:solidFill>
          <a:ln/>
        </p:spPr>
      </p:sp>
      <p:sp>
        <p:nvSpPr>
          <p:cNvPr id="56" name="Shape 54"/>
          <p:cNvSpPr/>
          <p:nvPr/>
        </p:nvSpPr>
        <p:spPr>
          <a:xfrm>
            <a:off x="3228975" y="1769596"/>
            <a:ext cx="572929" cy="28575"/>
          </a:xfrm>
          <a:prstGeom prst="rect">
            <a:avLst/>
          </a:prstGeom>
          <a:gradFill rotWithShape="1">
            <a:gsLst>
              <a:gs pos="0">
                <a:srgbClr val="00BCD4"/>
              </a:gs>
              <a:gs pos="100000">
                <a:srgbClr val="4DD0E1"/>
              </a:gs>
            </a:gsLst>
            <a:lin ang="0" scaled="0"/>
          </a:gradFill>
          <a:ln/>
          <a:effectLst>
            <a:outerShdw sx="100000" sy="100000" kx="0" ky="0" algn="bl" rotWithShape="0" blurRad="95250" dist="50800" dir="16200000">
              <a:srgbClr val="00BCD4">
                <a:alpha val="40000"/>
              </a:srgbClr>
            </a:outerShdw>
          </a:effectLst>
        </p:spPr>
      </p:sp>
      <p:sp>
        <p:nvSpPr>
          <p:cNvPr id="57" name="Text 55"/>
          <p:cNvSpPr/>
          <p:nvPr/>
        </p:nvSpPr>
        <p:spPr>
          <a:xfrm>
            <a:off x="3228975" y="1861036"/>
            <a:ext cx="329684" cy="85725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buNone/>
            </a:pPr>
            <a:r>
              <a:rPr lang="en-US" sz="540" spc="11" kern="0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Feature</a:t>
            </a:r>
            <a:endParaRPr lang="en-US" sz="540" dirty="0"/>
          </a:p>
        </p:txBody>
      </p:sp>
      <p:sp>
        <p:nvSpPr>
          <p:cNvPr id="58" name="Text 56"/>
          <p:cNvSpPr/>
          <p:nvPr/>
        </p:nvSpPr>
        <p:spPr>
          <a:xfrm>
            <a:off x="4172039" y="1843891"/>
            <a:ext cx="288518" cy="108585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buNone/>
            </a:pPr>
            <a:r>
              <a:rPr lang="en-US" sz="675" b="1" spc="7" kern="0" dirty="0">
                <a:solidFill>
                  <a:srgbClr val="00BCD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50%</a:t>
            </a:r>
            <a:endParaRPr lang="en-US" sz="675" dirty="0"/>
          </a:p>
        </p:txBody>
      </p:sp>
      <p:sp>
        <p:nvSpPr>
          <p:cNvPr id="59" name="Shape 57"/>
          <p:cNvSpPr/>
          <p:nvPr/>
        </p:nvSpPr>
        <p:spPr>
          <a:xfrm>
            <a:off x="3228975" y="1981051"/>
            <a:ext cx="1145858" cy="28575"/>
          </a:xfrm>
          <a:prstGeom prst="roundRect">
            <a:avLst>
              <a:gd name="adj" fmla="val 20000"/>
            </a:avLst>
          </a:prstGeom>
          <a:solidFill>
            <a:srgbClr val="FFFFFF">
              <a:alpha val="6000"/>
            </a:srgbClr>
          </a:solidFill>
          <a:ln/>
        </p:spPr>
      </p:sp>
      <p:sp>
        <p:nvSpPr>
          <p:cNvPr id="60" name="Shape 58"/>
          <p:cNvSpPr/>
          <p:nvPr/>
        </p:nvSpPr>
        <p:spPr>
          <a:xfrm>
            <a:off x="3228975" y="1981051"/>
            <a:ext cx="572929" cy="28575"/>
          </a:xfrm>
          <a:prstGeom prst="rect">
            <a:avLst/>
          </a:prstGeom>
          <a:gradFill rotWithShape="1">
            <a:gsLst>
              <a:gs pos="0">
                <a:srgbClr val="00BCD4"/>
              </a:gs>
              <a:gs pos="100000">
                <a:srgbClr val="4DD0E1"/>
              </a:gs>
            </a:gsLst>
            <a:lin ang="0" scaled="0"/>
          </a:gradFill>
          <a:ln/>
          <a:effectLst>
            <a:outerShdw sx="100000" sy="100000" kx="0" ky="0" algn="bl" rotWithShape="0" blurRad="95250" dist="50800" dir="16200000">
              <a:srgbClr val="00BCD4">
                <a:alpha val="40000"/>
              </a:srgbClr>
            </a:outerShdw>
          </a:effectLst>
        </p:spPr>
      </p:sp>
      <p:sp>
        <p:nvSpPr>
          <p:cNvPr id="61" name="Shape 59"/>
          <p:cNvSpPr/>
          <p:nvPr/>
        </p:nvSpPr>
        <p:spPr>
          <a:xfrm>
            <a:off x="4551998" y="1226671"/>
            <a:ext cx="1340168" cy="1085850"/>
          </a:xfrm>
          <a:prstGeom prst="roundRect">
            <a:avLst>
              <a:gd name="adj" fmla="val 2105"/>
            </a:avLst>
          </a:prstGeom>
          <a:gradFill rotWithShape="1">
            <a:gsLst>
              <a:gs pos="0">
                <a:srgbClr val="FFFFFF">
                  <a:alpha val="3000"/>
                </a:srgbClr>
              </a:gs>
              <a:gs pos="100000">
                <a:srgbClr val="0F172A">
                  <a:alpha val="50000"/>
                </a:srgbClr>
              </a:gs>
            </a:gsLst>
            <a:lin ang="4200000" scaled="0"/>
          </a:gradFill>
          <a:ln w="5715">
            <a:solidFill>
              <a:srgbClr val="FFFFFF">
                <a:alpha val="8000"/>
              </a:srgbClr>
            </a:solidFill>
            <a:prstDash val="solid"/>
          </a:ln>
        </p:spPr>
      </p:sp>
      <p:sp>
        <p:nvSpPr>
          <p:cNvPr id="62" name="Shape 60"/>
          <p:cNvSpPr/>
          <p:nvPr/>
        </p:nvSpPr>
        <p:spPr>
          <a:xfrm>
            <a:off x="4551998" y="1226671"/>
            <a:ext cx="137160" cy="11430"/>
          </a:xfrm>
          <a:prstGeom prst="rect">
            <a:avLst/>
          </a:prstGeom>
          <a:solidFill>
            <a:srgbClr val="00BCD4"/>
          </a:solidFill>
          <a:ln/>
        </p:spPr>
      </p:sp>
      <p:sp>
        <p:nvSpPr>
          <p:cNvPr id="63" name="Text 61"/>
          <p:cNvSpPr/>
          <p:nvPr/>
        </p:nvSpPr>
        <p:spPr>
          <a:xfrm>
            <a:off x="4649153" y="1358116"/>
            <a:ext cx="392103" cy="68580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buNone/>
            </a:pPr>
            <a:r>
              <a:rPr lang="en-US" sz="450" spc="99" kern="0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DIM · 02</a:t>
            </a:r>
            <a:endParaRPr lang="en-US" sz="450" dirty="0"/>
          </a:p>
        </p:txBody>
      </p:sp>
      <p:sp>
        <p:nvSpPr>
          <p:cNvPr id="64" name="Text 62"/>
          <p:cNvSpPr/>
          <p:nvPr/>
        </p:nvSpPr>
        <p:spPr>
          <a:xfrm>
            <a:off x="4649153" y="1455271"/>
            <a:ext cx="522923" cy="120015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buNone/>
            </a:pPr>
            <a:r>
              <a:rPr lang="en-US" sz="675" b="1" spc="14" kern="0" dirty="0">
                <a:solidFill>
                  <a:srgbClr val="F1F5F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组件活跃度</a:t>
            </a:r>
            <a:endParaRPr lang="en-US" sz="675" dirty="0"/>
          </a:p>
        </p:txBody>
      </p:sp>
      <p:sp>
        <p:nvSpPr>
          <p:cNvPr id="65" name="Shape 63"/>
          <p:cNvSpPr/>
          <p:nvPr/>
        </p:nvSpPr>
        <p:spPr>
          <a:xfrm>
            <a:off x="5367457" y="1323826"/>
            <a:ext cx="427553" cy="108585"/>
          </a:xfrm>
          <a:prstGeom prst="roundRect">
            <a:avLst>
              <a:gd name="adj" fmla="val 5263"/>
            </a:avLst>
          </a:prstGeom>
          <a:solidFill>
            <a:srgbClr val="00BCD4">
              <a:alpha val="6000"/>
            </a:srgbClr>
          </a:solidFill>
          <a:ln w="5715">
            <a:solidFill>
              <a:srgbClr val="00BCD4">
                <a:alpha val="40000"/>
              </a:srgbClr>
            </a:solidFill>
            <a:prstDash val="solid"/>
          </a:ln>
        </p:spPr>
      </p:sp>
      <p:sp>
        <p:nvSpPr>
          <p:cNvPr id="66" name="Text 64"/>
          <p:cNvSpPr/>
          <p:nvPr/>
        </p:nvSpPr>
        <p:spPr>
          <a:xfrm>
            <a:off x="5367457" y="1323826"/>
            <a:ext cx="478988" cy="108585"/>
          </a:xfrm>
          <a:prstGeom prst="rect">
            <a:avLst/>
          </a:prstGeom>
          <a:noFill/>
          <a:ln/>
        </p:spPr>
        <p:txBody>
          <a:bodyPr wrap="none" lIns="17145" tIns="40005" rIns="40005" bIns="17145" rtlCol="0" anchor="ctr"/>
          <a:lstStyle/>
          <a:p>
            <a:pPr algn="l" indent="0" marL="0">
              <a:buNone/>
            </a:pPr>
            <a:r>
              <a:rPr lang="en-US" sz="405" spc="61" kern="0" dirty="0">
                <a:solidFill>
                  <a:srgbClr val="4DD0E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CORE 48%</a:t>
            </a:r>
            <a:endParaRPr lang="en-US" sz="405" dirty="0"/>
          </a:p>
        </p:txBody>
      </p:sp>
      <p:sp>
        <p:nvSpPr>
          <p:cNvPr id="67" name="Text 65"/>
          <p:cNvSpPr/>
          <p:nvPr/>
        </p:nvSpPr>
        <p:spPr>
          <a:xfrm>
            <a:off x="4649153" y="1649581"/>
            <a:ext cx="269766" cy="85725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buNone/>
            </a:pPr>
            <a:r>
              <a:rPr lang="en-US" sz="540" spc="11" kern="0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Agent</a:t>
            </a:r>
            <a:endParaRPr lang="en-US" sz="540" dirty="0"/>
          </a:p>
        </p:txBody>
      </p:sp>
      <p:sp>
        <p:nvSpPr>
          <p:cNvPr id="68" name="Text 66"/>
          <p:cNvSpPr/>
          <p:nvPr/>
        </p:nvSpPr>
        <p:spPr>
          <a:xfrm>
            <a:off x="5592217" y="1632436"/>
            <a:ext cx="288518" cy="108585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buNone/>
            </a:pPr>
            <a:r>
              <a:rPr lang="en-US" sz="675" b="1" spc="7" kern="0" dirty="0">
                <a:solidFill>
                  <a:srgbClr val="00BCD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26%</a:t>
            </a:r>
            <a:endParaRPr lang="en-US" sz="675" dirty="0"/>
          </a:p>
        </p:txBody>
      </p:sp>
      <p:sp>
        <p:nvSpPr>
          <p:cNvPr id="69" name="Shape 67"/>
          <p:cNvSpPr/>
          <p:nvPr/>
        </p:nvSpPr>
        <p:spPr>
          <a:xfrm>
            <a:off x="4649153" y="1769596"/>
            <a:ext cx="1145858" cy="28575"/>
          </a:xfrm>
          <a:prstGeom prst="roundRect">
            <a:avLst>
              <a:gd name="adj" fmla="val 20000"/>
            </a:avLst>
          </a:prstGeom>
          <a:solidFill>
            <a:srgbClr val="FFFFFF">
              <a:alpha val="6000"/>
            </a:srgbClr>
          </a:solidFill>
          <a:ln/>
        </p:spPr>
      </p:sp>
      <p:sp>
        <p:nvSpPr>
          <p:cNvPr id="70" name="Shape 68"/>
          <p:cNvSpPr/>
          <p:nvPr/>
        </p:nvSpPr>
        <p:spPr>
          <a:xfrm>
            <a:off x="4649153" y="1769596"/>
            <a:ext cx="595789" cy="28575"/>
          </a:xfrm>
          <a:prstGeom prst="rect">
            <a:avLst/>
          </a:prstGeom>
          <a:gradFill rotWithShape="1">
            <a:gsLst>
              <a:gs pos="0">
                <a:srgbClr val="00BCD4"/>
              </a:gs>
              <a:gs pos="100000">
                <a:srgbClr val="4DD0E1"/>
              </a:gs>
            </a:gsLst>
            <a:lin ang="0" scaled="0"/>
          </a:gradFill>
          <a:ln/>
          <a:effectLst>
            <a:outerShdw sx="100000" sy="100000" kx="0" ky="0" algn="bl" rotWithShape="0" blurRad="95250" dist="50800" dir="16200000">
              <a:srgbClr val="00BCD4">
                <a:alpha val="40000"/>
              </a:srgbClr>
            </a:outerShdw>
          </a:effectLst>
        </p:spPr>
      </p:sp>
      <p:sp>
        <p:nvSpPr>
          <p:cNvPr id="71" name="Text 69"/>
          <p:cNvSpPr/>
          <p:nvPr/>
        </p:nvSpPr>
        <p:spPr>
          <a:xfrm>
            <a:off x="4649153" y="1861036"/>
            <a:ext cx="369689" cy="85725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buNone/>
            </a:pPr>
            <a:r>
              <a:rPr lang="en-US" sz="540" spc="11" kern="0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Gateway</a:t>
            </a:r>
            <a:endParaRPr lang="en-US" sz="540" dirty="0"/>
          </a:p>
        </p:txBody>
      </p:sp>
      <p:sp>
        <p:nvSpPr>
          <p:cNvPr id="72" name="Text 70"/>
          <p:cNvSpPr/>
          <p:nvPr/>
        </p:nvSpPr>
        <p:spPr>
          <a:xfrm>
            <a:off x="5592217" y="1843891"/>
            <a:ext cx="288518" cy="108585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buNone/>
            </a:pPr>
            <a:r>
              <a:rPr lang="en-US" sz="675" b="1" spc="7" kern="0" dirty="0">
                <a:solidFill>
                  <a:srgbClr val="00BCD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22%</a:t>
            </a:r>
            <a:endParaRPr lang="en-US" sz="675" dirty="0"/>
          </a:p>
        </p:txBody>
      </p:sp>
      <p:sp>
        <p:nvSpPr>
          <p:cNvPr id="73" name="Shape 71"/>
          <p:cNvSpPr/>
          <p:nvPr/>
        </p:nvSpPr>
        <p:spPr>
          <a:xfrm>
            <a:off x="4649153" y="1981051"/>
            <a:ext cx="1145858" cy="28575"/>
          </a:xfrm>
          <a:prstGeom prst="roundRect">
            <a:avLst>
              <a:gd name="adj" fmla="val 20000"/>
            </a:avLst>
          </a:prstGeom>
          <a:solidFill>
            <a:srgbClr val="FFFFFF">
              <a:alpha val="6000"/>
            </a:srgbClr>
          </a:solidFill>
          <a:ln/>
        </p:spPr>
      </p:sp>
      <p:sp>
        <p:nvSpPr>
          <p:cNvPr id="74" name="Shape 72"/>
          <p:cNvSpPr/>
          <p:nvPr/>
        </p:nvSpPr>
        <p:spPr>
          <a:xfrm>
            <a:off x="4649153" y="1981051"/>
            <a:ext cx="504170" cy="28575"/>
          </a:xfrm>
          <a:prstGeom prst="rect">
            <a:avLst/>
          </a:prstGeom>
          <a:gradFill rotWithShape="1">
            <a:gsLst>
              <a:gs pos="0">
                <a:srgbClr val="00BCD4"/>
              </a:gs>
              <a:gs pos="100000">
                <a:srgbClr val="4DD0E1"/>
              </a:gs>
            </a:gsLst>
            <a:lin ang="0" scaled="0"/>
          </a:gradFill>
          <a:ln/>
          <a:effectLst>
            <a:outerShdw sx="100000" sy="100000" kx="0" ky="0" algn="bl" rotWithShape="0" blurRad="95250" dist="50800" dir="16200000">
              <a:srgbClr val="00BCD4">
                <a:alpha val="40000"/>
              </a:srgbClr>
            </a:outerShdw>
          </a:effectLst>
        </p:spPr>
      </p:sp>
      <p:sp>
        <p:nvSpPr>
          <p:cNvPr id="75" name="Text 73"/>
          <p:cNvSpPr/>
          <p:nvPr/>
        </p:nvSpPr>
        <p:spPr>
          <a:xfrm>
            <a:off x="4649153" y="2072491"/>
            <a:ext cx="212598" cy="85725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buNone/>
            </a:pPr>
            <a:r>
              <a:rPr lang="en-US" sz="540" spc="11" kern="0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CLI</a:t>
            </a:r>
            <a:endParaRPr lang="en-US" sz="540" dirty="0"/>
          </a:p>
        </p:txBody>
      </p:sp>
      <p:sp>
        <p:nvSpPr>
          <p:cNvPr id="76" name="Text 74"/>
          <p:cNvSpPr/>
          <p:nvPr/>
        </p:nvSpPr>
        <p:spPr>
          <a:xfrm>
            <a:off x="5592217" y="2055346"/>
            <a:ext cx="288518" cy="108585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buNone/>
            </a:pPr>
            <a:r>
              <a:rPr lang="en-US" sz="675" b="1" spc="7" kern="0" dirty="0">
                <a:solidFill>
                  <a:srgbClr val="00BCD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17%</a:t>
            </a:r>
            <a:endParaRPr lang="en-US" sz="675" dirty="0"/>
          </a:p>
        </p:txBody>
      </p:sp>
      <p:sp>
        <p:nvSpPr>
          <p:cNvPr id="77" name="Shape 75"/>
          <p:cNvSpPr/>
          <p:nvPr/>
        </p:nvSpPr>
        <p:spPr>
          <a:xfrm>
            <a:off x="4649153" y="2192506"/>
            <a:ext cx="1145858" cy="28575"/>
          </a:xfrm>
          <a:prstGeom prst="roundRect">
            <a:avLst>
              <a:gd name="adj" fmla="val 20000"/>
            </a:avLst>
          </a:prstGeom>
          <a:solidFill>
            <a:srgbClr val="FFFFFF">
              <a:alpha val="6000"/>
            </a:srgbClr>
          </a:solidFill>
          <a:ln/>
        </p:spPr>
      </p:sp>
      <p:sp>
        <p:nvSpPr>
          <p:cNvPr id="78" name="Shape 76"/>
          <p:cNvSpPr/>
          <p:nvPr/>
        </p:nvSpPr>
        <p:spPr>
          <a:xfrm>
            <a:off x="4649153" y="2192506"/>
            <a:ext cx="389513" cy="28575"/>
          </a:xfrm>
          <a:prstGeom prst="rect">
            <a:avLst/>
          </a:prstGeom>
          <a:gradFill rotWithShape="1">
            <a:gsLst>
              <a:gs pos="0">
                <a:srgbClr val="00BCD4"/>
              </a:gs>
              <a:gs pos="100000">
                <a:srgbClr val="4DD0E1"/>
              </a:gs>
            </a:gsLst>
            <a:lin ang="0" scaled="0"/>
          </a:gradFill>
          <a:ln/>
          <a:effectLst>
            <a:outerShdw sx="100000" sy="100000" kx="0" ky="0" algn="bl" rotWithShape="0" blurRad="95250" dist="50800" dir="16200000">
              <a:srgbClr val="00BCD4">
                <a:alpha val="40000"/>
              </a:srgbClr>
            </a:outerShdw>
          </a:effectLst>
        </p:spPr>
      </p:sp>
      <p:sp>
        <p:nvSpPr>
          <p:cNvPr id="79" name="Shape 77"/>
          <p:cNvSpPr/>
          <p:nvPr/>
        </p:nvSpPr>
        <p:spPr>
          <a:xfrm>
            <a:off x="5972175" y="1226671"/>
            <a:ext cx="1340168" cy="1085850"/>
          </a:xfrm>
          <a:prstGeom prst="roundRect">
            <a:avLst>
              <a:gd name="adj" fmla="val 2105"/>
            </a:avLst>
          </a:prstGeom>
          <a:gradFill rotWithShape="1">
            <a:gsLst>
              <a:gs pos="0">
                <a:srgbClr val="FFFFFF">
                  <a:alpha val="3000"/>
                </a:srgbClr>
              </a:gs>
              <a:gs pos="100000">
                <a:srgbClr val="0F172A">
                  <a:alpha val="50000"/>
                </a:srgbClr>
              </a:gs>
            </a:gsLst>
            <a:lin ang="4200000" scaled="0"/>
          </a:gradFill>
          <a:ln w="5715">
            <a:solidFill>
              <a:srgbClr val="FFFFFF">
                <a:alpha val="8000"/>
              </a:srgbClr>
            </a:solidFill>
            <a:prstDash val="solid"/>
          </a:ln>
        </p:spPr>
      </p:sp>
      <p:sp>
        <p:nvSpPr>
          <p:cNvPr id="80" name="Shape 78"/>
          <p:cNvSpPr/>
          <p:nvPr/>
        </p:nvSpPr>
        <p:spPr>
          <a:xfrm>
            <a:off x="5972175" y="1226671"/>
            <a:ext cx="137160" cy="11430"/>
          </a:xfrm>
          <a:prstGeom prst="rect">
            <a:avLst/>
          </a:prstGeom>
          <a:solidFill>
            <a:srgbClr val="FF7043"/>
          </a:solidFill>
          <a:ln/>
        </p:spPr>
      </p:sp>
      <p:sp>
        <p:nvSpPr>
          <p:cNvPr id="81" name="Text 79"/>
          <p:cNvSpPr/>
          <p:nvPr/>
        </p:nvSpPr>
        <p:spPr>
          <a:xfrm>
            <a:off x="6069330" y="1358116"/>
            <a:ext cx="392103" cy="68580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buNone/>
            </a:pPr>
            <a:r>
              <a:rPr lang="en-US" sz="450" spc="99" kern="0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DIM · 03</a:t>
            </a:r>
            <a:endParaRPr lang="en-US" sz="450" dirty="0"/>
          </a:p>
        </p:txBody>
      </p:sp>
      <p:sp>
        <p:nvSpPr>
          <p:cNvPr id="82" name="Text 80"/>
          <p:cNvSpPr/>
          <p:nvPr/>
        </p:nvSpPr>
        <p:spPr>
          <a:xfrm>
            <a:off x="6069330" y="1455271"/>
            <a:ext cx="522923" cy="120015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buNone/>
            </a:pPr>
            <a:r>
              <a:rPr lang="en-US" sz="675" b="1" spc="14" kern="0" dirty="0">
                <a:solidFill>
                  <a:srgbClr val="F1F5F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优先级策略</a:t>
            </a:r>
            <a:endParaRPr lang="en-US" sz="675" dirty="0"/>
          </a:p>
        </p:txBody>
      </p:sp>
      <p:sp>
        <p:nvSpPr>
          <p:cNvPr id="83" name="Shape 81"/>
          <p:cNvSpPr/>
          <p:nvPr/>
        </p:nvSpPr>
        <p:spPr>
          <a:xfrm>
            <a:off x="6913721" y="1323826"/>
            <a:ext cx="301466" cy="120015"/>
          </a:xfrm>
          <a:prstGeom prst="roundRect">
            <a:avLst>
              <a:gd name="adj" fmla="val 4762"/>
            </a:avLst>
          </a:prstGeom>
          <a:solidFill>
            <a:srgbClr val="FF7043">
              <a:alpha val="8000"/>
            </a:srgbClr>
          </a:solidFill>
          <a:ln w="5715">
            <a:solidFill>
              <a:srgbClr val="FF7043">
                <a:alpha val="50000"/>
              </a:srgbClr>
            </a:solidFill>
            <a:prstDash val="solid"/>
          </a:ln>
        </p:spPr>
      </p:sp>
      <p:sp>
        <p:nvSpPr>
          <p:cNvPr id="84" name="Text 82"/>
          <p:cNvSpPr/>
          <p:nvPr/>
        </p:nvSpPr>
        <p:spPr>
          <a:xfrm>
            <a:off x="6913721" y="1323826"/>
            <a:ext cx="352901" cy="120015"/>
          </a:xfrm>
          <a:prstGeom prst="rect">
            <a:avLst/>
          </a:prstGeom>
          <a:noFill/>
          <a:ln/>
        </p:spPr>
        <p:txBody>
          <a:bodyPr wrap="none" lIns="17145" tIns="40005" rIns="40005" bIns="17145" rtlCol="0" anchor="ctr"/>
          <a:lstStyle/>
          <a:p>
            <a:pPr algn="l" indent="0" marL="0">
              <a:buNone/>
            </a:pPr>
            <a:r>
              <a:rPr lang="en-US" sz="405" spc="61" kern="0" dirty="0">
                <a:solidFill>
                  <a:srgbClr val="FF704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P1 缺席</a:t>
            </a:r>
            <a:endParaRPr lang="en-US" sz="405" dirty="0"/>
          </a:p>
        </p:txBody>
      </p:sp>
      <p:sp>
        <p:nvSpPr>
          <p:cNvPr id="85" name="Text 83"/>
          <p:cNvSpPr/>
          <p:nvPr/>
        </p:nvSpPr>
        <p:spPr>
          <a:xfrm>
            <a:off x="6069330" y="1649581"/>
            <a:ext cx="348169" cy="85725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buNone/>
            </a:pPr>
            <a:r>
              <a:rPr lang="en-US" sz="540" spc="11" kern="0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P2 · Bug</a:t>
            </a:r>
            <a:endParaRPr lang="en-US" sz="540" dirty="0"/>
          </a:p>
        </p:txBody>
      </p:sp>
      <p:sp>
        <p:nvSpPr>
          <p:cNvPr id="86" name="Text 84"/>
          <p:cNvSpPr/>
          <p:nvPr/>
        </p:nvSpPr>
        <p:spPr>
          <a:xfrm>
            <a:off x="7012394" y="1632436"/>
            <a:ext cx="288518" cy="108585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buNone/>
            </a:pPr>
            <a:r>
              <a:rPr lang="en-US" sz="675" b="1" spc="7" kern="0" dirty="0">
                <a:solidFill>
                  <a:srgbClr val="00BCD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89%</a:t>
            </a:r>
            <a:endParaRPr lang="en-US" sz="675" dirty="0"/>
          </a:p>
        </p:txBody>
      </p:sp>
      <p:sp>
        <p:nvSpPr>
          <p:cNvPr id="87" name="Shape 85"/>
          <p:cNvSpPr/>
          <p:nvPr/>
        </p:nvSpPr>
        <p:spPr>
          <a:xfrm>
            <a:off x="6069330" y="1769596"/>
            <a:ext cx="1145858" cy="28575"/>
          </a:xfrm>
          <a:prstGeom prst="roundRect">
            <a:avLst>
              <a:gd name="adj" fmla="val 20000"/>
            </a:avLst>
          </a:prstGeom>
          <a:solidFill>
            <a:srgbClr val="FFFFFF">
              <a:alpha val="6000"/>
            </a:srgbClr>
          </a:solidFill>
          <a:ln/>
        </p:spPr>
      </p:sp>
      <p:sp>
        <p:nvSpPr>
          <p:cNvPr id="88" name="Shape 86"/>
          <p:cNvSpPr/>
          <p:nvPr/>
        </p:nvSpPr>
        <p:spPr>
          <a:xfrm>
            <a:off x="6069330" y="1769596"/>
            <a:ext cx="1019770" cy="28575"/>
          </a:xfrm>
          <a:prstGeom prst="rect">
            <a:avLst/>
          </a:prstGeom>
          <a:gradFill rotWithShape="1">
            <a:gsLst>
              <a:gs pos="0">
                <a:srgbClr val="00BCD4"/>
              </a:gs>
              <a:gs pos="100000">
                <a:srgbClr val="4DD0E1"/>
              </a:gs>
            </a:gsLst>
            <a:lin ang="0" scaled="0"/>
          </a:gradFill>
          <a:ln/>
          <a:effectLst>
            <a:outerShdw sx="100000" sy="100000" kx="0" ky="0" algn="bl" rotWithShape="0" blurRad="95250" dist="50800" dir="16200000">
              <a:srgbClr val="00BCD4">
                <a:alpha val="40000"/>
              </a:srgbClr>
            </a:outerShdw>
          </a:effectLst>
        </p:spPr>
      </p:sp>
      <p:sp>
        <p:nvSpPr>
          <p:cNvPr id="89" name="Text 87"/>
          <p:cNvSpPr/>
          <p:nvPr/>
        </p:nvSpPr>
        <p:spPr>
          <a:xfrm>
            <a:off x="6069330" y="1861036"/>
            <a:ext cx="485150" cy="85725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buNone/>
            </a:pPr>
            <a:r>
              <a:rPr lang="en-US" sz="540" spc="11" kern="0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P3 · Feature</a:t>
            </a:r>
            <a:endParaRPr lang="en-US" sz="540" dirty="0"/>
          </a:p>
        </p:txBody>
      </p:sp>
      <p:sp>
        <p:nvSpPr>
          <p:cNvPr id="90" name="Text 88"/>
          <p:cNvSpPr/>
          <p:nvPr/>
        </p:nvSpPr>
        <p:spPr>
          <a:xfrm>
            <a:off x="7012394" y="1843891"/>
            <a:ext cx="288518" cy="108585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buNone/>
            </a:pPr>
            <a:r>
              <a:rPr lang="en-US" sz="675" b="1" spc="7" kern="0" dirty="0">
                <a:solidFill>
                  <a:srgbClr val="00BCD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72%</a:t>
            </a:r>
            <a:endParaRPr lang="en-US" sz="675" dirty="0"/>
          </a:p>
        </p:txBody>
      </p:sp>
      <p:sp>
        <p:nvSpPr>
          <p:cNvPr id="91" name="Shape 89"/>
          <p:cNvSpPr/>
          <p:nvPr/>
        </p:nvSpPr>
        <p:spPr>
          <a:xfrm>
            <a:off x="6069330" y="1981051"/>
            <a:ext cx="1145858" cy="28575"/>
          </a:xfrm>
          <a:prstGeom prst="roundRect">
            <a:avLst>
              <a:gd name="adj" fmla="val 20000"/>
            </a:avLst>
          </a:prstGeom>
          <a:solidFill>
            <a:srgbClr val="FFFFFF">
              <a:alpha val="6000"/>
            </a:srgbClr>
          </a:solidFill>
          <a:ln/>
        </p:spPr>
      </p:sp>
      <p:sp>
        <p:nvSpPr>
          <p:cNvPr id="92" name="Shape 90"/>
          <p:cNvSpPr/>
          <p:nvPr/>
        </p:nvSpPr>
        <p:spPr>
          <a:xfrm>
            <a:off x="6069330" y="1981051"/>
            <a:ext cx="825014" cy="28575"/>
          </a:xfrm>
          <a:prstGeom prst="rect">
            <a:avLst/>
          </a:prstGeom>
          <a:gradFill rotWithShape="1">
            <a:gsLst>
              <a:gs pos="0">
                <a:srgbClr val="00BCD4"/>
              </a:gs>
              <a:gs pos="100000">
                <a:srgbClr val="4DD0E1"/>
              </a:gs>
            </a:gsLst>
            <a:lin ang="0" scaled="0"/>
          </a:gradFill>
          <a:ln/>
          <a:effectLst>
            <a:outerShdw sx="100000" sy="100000" kx="0" ky="0" algn="bl" rotWithShape="0" blurRad="95250" dist="50800" dir="16200000">
              <a:srgbClr val="00BCD4">
                <a:alpha val="40000"/>
              </a:srgbClr>
            </a:outerShdw>
          </a:effectLst>
        </p:spPr>
      </p:sp>
      <p:sp>
        <p:nvSpPr>
          <p:cNvPr id="93" name="Text 91"/>
          <p:cNvSpPr/>
          <p:nvPr/>
        </p:nvSpPr>
        <p:spPr>
          <a:xfrm>
            <a:off x="6069330" y="2072491"/>
            <a:ext cx="452199" cy="85725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buNone/>
            </a:pPr>
            <a:r>
              <a:rPr lang="en-US" sz="540" spc="11" kern="0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P1 · Critical</a:t>
            </a:r>
            <a:endParaRPr lang="en-US" sz="540" dirty="0"/>
          </a:p>
        </p:txBody>
      </p:sp>
      <p:sp>
        <p:nvSpPr>
          <p:cNvPr id="94" name="Text 92"/>
          <p:cNvSpPr/>
          <p:nvPr/>
        </p:nvSpPr>
        <p:spPr>
          <a:xfrm>
            <a:off x="7070437" y="2055346"/>
            <a:ext cx="230475" cy="108585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buNone/>
            </a:pPr>
            <a:r>
              <a:rPr lang="en-US" sz="675" b="1" i="1" spc="7" kern="0" dirty="0">
                <a:solidFill>
                  <a:srgbClr val="FF704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0%</a:t>
            </a:r>
            <a:endParaRPr lang="en-US" sz="675" dirty="0"/>
          </a:p>
        </p:txBody>
      </p:sp>
      <p:sp>
        <p:nvSpPr>
          <p:cNvPr id="95" name="Shape 93"/>
          <p:cNvSpPr/>
          <p:nvPr/>
        </p:nvSpPr>
        <p:spPr>
          <a:xfrm>
            <a:off x="6069330" y="2192506"/>
            <a:ext cx="1145858" cy="28575"/>
          </a:xfrm>
          <a:prstGeom prst="roundRect">
            <a:avLst>
              <a:gd name="adj" fmla="val 20000"/>
            </a:avLst>
          </a:prstGeom>
          <a:solidFill>
            <a:srgbClr val="FFFFFF">
              <a:alpha val="6000"/>
            </a:srgbClr>
          </a:solidFill>
          <a:ln/>
        </p:spPr>
      </p:sp>
      <p:sp>
        <p:nvSpPr>
          <p:cNvPr id="96" name="Shape 94"/>
          <p:cNvSpPr/>
          <p:nvPr/>
        </p:nvSpPr>
        <p:spPr>
          <a:xfrm>
            <a:off x="6069330" y="2192506"/>
            <a:ext cx="1145858" cy="28575"/>
          </a:xfrm>
          <a:prstGeom prst="rect">
            <a:avLst/>
          </a:prstGeom>
          <a:solidFill>
            <a:srgbClr val="FF7043">
              <a:alpha val="50000"/>
            </a:srgbClr>
          </a:solidFill>
          <a:ln/>
          <a:effectLst>
            <a:outerShdw sx="100000" sy="100000" kx="0" ky="0" algn="bl" rotWithShape="0" blurRad="95250" dist="50800" dir="16200000">
              <a:srgbClr val="00BCD4">
                <a:alpha val="40000"/>
              </a:srgbClr>
            </a:outerShdw>
          </a:effectLst>
        </p:spPr>
      </p:sp>
      <p:sp>
        <p:nvSpPr>
          <p:cNvPr id="97" name="Shape 95"/>
          <p:cNvSpPr/>
          <p:nvPr/>
        </p:nvSpPr>
        <p:spPr>
          <a:xfrm>
            <a:off x="7392353" y="1226671"/>
            <a:ext cx="1340168" cy="1085850"/>
          </a:xfrm>
          <a:prstGeom prst="roundRect">
            <a:avLst>
              <a:gd name="adj" fmla="val 2105"/>
            </a:avLst>
          </a:prstGeom>
          <a:gradFill rotWithShape="1">
            <a:gsLst>
              <a:gs pos="0">
                <a:srgbClr val="FFFFFF">
                  <a:alpha val="3000"/>
                </a:srgbClr>
              </a:gs>
              <a:gs pos="100000">
                <a:srgbClr val="0F172A">
                  <a:alpha val="50000"/>
                </a:srgbClr>
              </a:gs>
            </a:gsLst>
            <a:lin ang="4200000" scaled="0"/>
          </a:gradFill>
          <a:ln w="5715">
            <a:solidFill>
              <a:srgbClr val="FFFFFF">
                <a:alpha val="8000"/>
              </a:srgbClr>
            </a:solidFill>
            <a:prstDash val="solid"/>
          </a:ln>
        </p:spPr>
      </p:sp>
      <p:sp>
        <p:nvSpPr>
          <p:cNvPr id="98" name="Shape 96"/>
          <p:cNvSpPr/>
          <p:nvPr/>
        </p:nvSpPr>
        <p:spPr>
          <a:xfrm>
            <a:off x="7392353" y="1226671"/>
            <a:ext cx="137160" cy="11430"/>
          </a:xfrm>
          <a:prstGeom prst="rect">
            <a:avLst/>
          </a:prstGeom>
          <a:solidFill>
            <a:srgbClr val="00BCD4"/>
          </a:solidFill>
          <a:ln/>
        </p:spPr>
      </p:sp>
      <p:sp>
        <p:nvSpPr>
          <p:cNvPr id="99" name="Text 97"/>
          <p:cNvSpPr/>
          <p:nvPr/>
        </p:nvSpPr>
        <p:spPr>
          <a:xfrm>
            <a:off x="7489508" y="1358116"/>
            <a:ext cx="397818" cy="68580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buNone/>
            </a:pPr>
            <a:r>
              <a:rPr lang="en-US" sz="450" spc="99" kern="0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DIM · 04</a:t>
            </a:r>
            <a:endParaRPr lang="en-US" sz="450" dirty="0"/>
          </a:p>
        </p:txBody>
      </p:sp>
      <p:sp>
        <p:nvSpPr>
          <p:cNvPr id="100" name="Text 98"/>
          <p:cNvSpPr/>
          <p:nvPr/>
        </p:nvSpPr>
        <p:spPr>
          <a:xfrm>
            <a:off x="7489508" y="1455271"/>
            <a:ext cx="435501" cy="120015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buNone/>
            </a:pPr>
            <a:r>
              <a:rPr lang="en-US" sz="675" b="1" spc="14" kern="0" dirty="0">
                <a:solidFill>
                  <a:srgbClr val="F1F5F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风险分布</a:t>
            </a:r>
            <a:endParaRPr lang="en-US" sz="675" dirty="0"/>
          </a:p>
        </p:txBody>
      </p:sp>
      <p:sp>
        <p:nvSpPr>
          <p:cNvPr id="101" name="Shape 99"/>
          <p:cNvSpPr/>
          <p:nvPr/>
        </p:nvSpPr>
        <p:spPr>
          <a:xfrm>
            <a:off x="8398728" y="1323826"/>
            <a:ext cx="236637" cy="108585"/>
          </a:xfrm>
          <a:prstGeom prst="roundRect">
            <a:avLst>
              <a:gd name="adj" fmla="val 5263"/>
            </a:avLst>
          </a:prstGeom>
          <a:solidFill>
            <a:srgbClr val="00BCD4">
              <a:alpha val="6000"/>
            </a:srgbClr>
          </a:solidFill>
          <a:ln w="5715">
            <a:solidFill>
              <a:srgbClr val="00BCD4">
                <a:alpha val="40000"/>
              </a:srgbClr>
            </a:solidFill>
            <a:prstDash val="solid"/>
          </a:ln>
        </p:spPr>
      </p:sp>
      <p:sp>
        <p:nvSpPr>
          <p:cNvPr id="102" name="Text 100"/>
          <p:cNvSpPr/>
          <p:nvPr/>
        </p:nvSpPr>
        <p:spPr>
          <a:xfrm>
            <a:off x="8398728" y="1323826"/>
            <a:ext cx="288072" cy="108585"/>
          </a:xfrm>
          <a:prstGeom prst="rect">
            <a:avLst/>
          </a:prstGeom>
          <a:noFill/>
          <a:ln/>
        </p:spPr>
        <p:txBody>
          <a:bodyPr wrap="none" lIns="17145" tIns="40005" rIns="40005" bIns="17145" rtlCol="0" anchor="ctr"/>
          <a:lstStyle/>
          <a:p>
            <a:pPr algn="l" indent="0" marL="0">
              <a:buNone/>
            </a:pPr>
            <a:r>
              <a:rPr lang="en-US" sz="405" spc="61" kern="0" dirty="0">
                <a:solidFill>
                  <a:srgbClr val="4DD0E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RISK</a:t>
            </a:r>
            <a:endParaRPr lang="en-US" sz="405" dirty="0"/>
          </a:p>
        </p:txBody>
      </p:sp>
      <p:sp>
        <p:nvSpPr>
          <p:cNvPr id="103" name="Text 101"/>
          <p:cNvSpPr/>
          <p:nvPr/>
        </p:nvSpPr>
        <p:spPr>
          <a:xfrm>
            <a:off x="7489508" y="1638151"/>
            <a:ext cx="278517" cy="97155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buNone/>
            </a:pPr>
            <a:r>
              <a:rPr lang="en-US" sz="540" spc="11" kern="0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兼容性</a:t>
            </a:r>
            <a:endParaRPr lang="en-US" sz="540" dirty="0"/>
          </a:p>
        </p:txBody>
      </p:sp>
      <p:sp>
        <p:nvSpPr>
          <p:cNvPr id="104" name="Text 102"/>
          <p:cNvSpPr/>
          <p:nvPr/>
        </p:nvSpPr>
        <p:spPr>
          <a:xfrm>
            <a:off x="8432572" y="1632436"/>
            <a:ext cx="288518" cy="108585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buNone/>
            </a:pPr>
            <a:r>
              <a:rPr lang="en-US" sz="675" b="1" spc="7" kern="0" dirty="0">
                <a:solidFill>
                  <a:srgbClr val="00BCD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56%</a:t>
            </a:r>
            <a:endParaRPr lang="en-US" sz="675" dirty="0"/>
          </a:p>
        </p:txBody>
      </p:sp>
      <p:sp>
        <p:nvSpPr>
          <p:cNvPr id="105" name="Shape 103"/>
          <p:cNvSpPr/>
          <p:nvPr/>
        </p:nvSpPr>
        <p:spPr>
          <a:xfrm>
            <a:off x="7489508" y="1769596"/>
            <a:ext cx="1145858" cy="28575"/>
          </a:xfrm>
          <a:prstGeom prst="roundRect">
            <a:avLst>
              <a:gd name="adj" fmla="val 20000"/>
            </a:avLst>
          </a:prstGeom>
          <a:solidFill>
            <a:srgbClr val="FFFFFF">
              <a:alpha val="6000"/>
            </a:srgbClr>
          </a:solidFill>
          <a:ln/>
        </p:spPr>
      </p:sp>
      <p:sp>
        <p:nvSpPr>
          <p:cNvPr id="106" name="Shape 104"/>
          <p:cNvSpPr/>
          <p:nvPr/>
        </p:nvSpPr>
        <p:spPr>
          <a:xfrm>
            <a:off x="7489508" y="1769596"/>
            <a:ext cx="641598" cy="28575"/>
          </a:xfrm>
          <a:prstGeom prst="rect">
            <a:avLst/>
          </a:prstGeom>
          <a:gradFill rotWithShape="1">
            <a:gsLst>
              <a:gs pos="0">
                <a:srgbClr val="00BCD4"/>
              </a:gs>
              <a:gs pos="100000">
                <a:srgbClr val="4DD0E1"/>
              </a:gs>
            </a:gsLst>
            <a:lin ang="0" scaled="0"/>
          </a:gradFill>
          <a:ln/>
          <a:effectLst>
            <a:outerShdw sx="100000" sy="100000" kx="0" ky="0" algn="bl" rotWithShape="0" blurRad="95250" dist="50800" dir="16200000">
              <a:srgbClr val="00BCD4">
                <a:alpha val="40000"/>
              </a:srgbClr>
            </a:outerShdw>
          </a:effectLst>
        </p:spPr>
      </p:sp>
      <p:sp>
        <p:nvSpPr>
          <p:cNvPr id="107" name="Text 105"/>
          <p:cNvSpPr/>
          <p:nvPr/>
        </p:nvSpPr>
        <p:spPr>
          <a:xfrm>
            <a:off x="7489508" y="1849606"/>
            <a:ext cx="208508" cy="97155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buNone/>
            </a:pPr>
            <a:r>
              <a:rPr lang="en-US" sz="540" spc="11" kern="0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安全</a:t>
            </a:r>
            <a:endParaRPr lang="en-US" sz="540" dirty="0"/>
          </a:p>
        </p:txBody>
      </p:sp>
      <p:sp>
        <p:nvSpPr>
          <p:cNvPr id="108" name="Text 106"/>
          <p:cNvSpPr/>
          <p:nvPr/>
        </p:nvSpPr>
        <p:spPr>
          <a:xfrm>
            <a:off x="8432572" y="1843891"/>
            <a:ext cx="288518" cy="108585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buNone/>
            </a:pPr>
            <a:r>
              <a:rPr lang="en-US" sz="675" b="1" spc="7" kern="0" dirty="0">
                <a:solidFill>
                  <a:srgbClr val="00BCD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26%</a:t>
            </a:r>
            <a:endParaRPr lang="en-US" sz="675" dirty="0"/>
          </a:p>
        </p:txBody>
      </p:sp>
      <p:sp>
        <p:nvSpPr>
          <p:cNvPr id="109" name="Shape 107"/>
          <p:cNvSpPr/>
          <p:nvPr/>
        </p:nvSpPr>
        <p:spPr>
          <a:xfrm>
            <a:off x="7489508" y="1981051"/>
            <a:ext cx="1145858" cy="28575"/>
          </a:xfrm>
          <a:prstGeom prst="roundRect">
            <a:avLst>
              <a:gd name="adj" fmla="val 20000"/>
            </a:avLst>
          </a:prstGeom>
          <a:solidFill>
            <a:srgbClr val="FFFFFF">
              <a:alpha val="6000"/>
            </a:srgbClr>
          </a:solidFill>
          <a:ln/>
        </p:spPr>
      </p:sp>
      <p:sp>
        <p:nvSpPr>
          <p:cNvPr id="110" name="Shape 108"/>
          <p:cNvSpPr/>
          <p:nvPr/>
        </p:nvSpPr>
        <p:spPr>
          <a:xfrm>
            <a:off x="7489508" y="1981051"/>
            <a:ext cx="297894" cy="28575"/>
          </a:xfrm>
          <a:prstGeom prst="rect">
            <a:avLst/>
          </a:prstGeom>
          <a:gradFill rotWithShape="1">
            <a:gsLst>
              <a:gs pos="0">
                <a:srgbClr val="00BCD4"/>
              </a:gs>
              <a:gs pos="100000">
                <a:srgbClr val="4DD0E1"/>
              </a:gs>
            </a:gsLst>
            <a:lin ang="0" scaled="0"/>
          </a:gradFill>
          <a:ln/>
          <a:effectLst>
            <a:outerShdw sx="100000" sy="100000" kx="0" ky="0" algn="bl" rotWithShape="0" blurRad="95250" dist="50800" dir="16200000">
              <a:srgbClr val="00BCD4">
                <a:alpha val="40000"/>
              </a:srgbClr>
            </a:outerShdw>
          </a:effectLst>
        </p:spPr>
      </p:sp>
      <p:sp>
        <p:nvSpPr>
          <p:cNvPr id="111" name="Text 109"/>
          <p:cNvSpPr/>
          <p:nvPr/>
        </p:nvSpPr>
        <p:spPr>
          <a:xfrm>
            <a:off x="7489508" y="2061061"/>
            <a:ext cx="409694" cy="97155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buNone/>
            </a:pPr>
            <a:r>
              <a:rPr lang="en-US" sz="540" spc="11" kern="0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消息 / 会话</a:t>
            </a:r>
            <a:endParaRPr lang="en-US" sz="540" dirty="0"/>
          </a:p>
        </p:txBody>
      </p:sp>
      <p:sp>
        <p:nvSpPr>
          <p:cNvPr id="112" name="Text 110"/>
          <p:cNvSpPr/>
          <p:nvPr/>
        </p:nvSpPr>
        <p:spPr>
          <a:xfrm>
            <a:off x="8233708" y="2055346"/>
            <a:ext cx="487382" cy="108585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buNone/>
            </a:pPr>
            <a:r>
              <a:rPr lang="en-US" sz="675" b="1" spc="7" kern="0" dirty="0">
                <a:solidFill>
                  <a:srgbClr val="00BCD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22 / 21%</a:t>
            </a:r>
            <a:endParaRPr lang="en-US" sz="675" dirty="0"/>
          </a:p>
        </p:txBody>
      </p:sp>
      <p:sp>
        <p:nvSpPr>
          <p:cNvPr id="113" name="Shape 111"/>
          <p:cNvSpPr/>
          <p:nvPr/>
        </p:nvSpPr>
        <p:spPr>
          <a:xfrm>
            <a:off x="7489508" y="2192506"/>
            <a:ext cx="1145858" cy="28575"/>
          </a:xfrm>
          <a:prstGeom prst="roundRect">
            <a:avLst>
              <a:gd name="adj" fmla="val 20000"/>
            </a:avLst>
          </a:prstGeom>
          <a:solidFill>
            <a:srgbClr val="FFFFFF">
              <a:alpha val="6000"/>
            </a:srgbClr>
          </a:solidFill>
          <a:ln/>
        </p:spPr>
      </p:sp>
      <p:sp>
        <p:nvSpPr>
          <p:cNvPr id="114" name="Shape 112"/>
          <p:cNvSpPr/>
          <p:nvPr/>
        </p:nvSpPr>
        <p:spPr>
          <a:xfrm>
            <a:off x="7489508" y="2192506"/>
            <a:ext cx="252085" cy="28575"/>
          </a:xfrm>
          <a:prstGeom prst="rect">
            <a:avLst/>
          </a:prstGeom>
          <a:gradFill rotWithShape="1">
            <a:gsLst>
              <a:gs pos="0">
                <a:srgbClr val="00BCD4"/>
              </a:gs>
              <a:gs pos="100000">
                <a:srgbClr val="4DD0E1"/>
              </a:gs>
            </a:gsLst>
            <a:lin ang="0" scaled="0"/>
          </a:gradFill>
          <a:ln/>
          <a:effectLst>
            <a:outerShdw sx="100000" sy="100000" kx="0" ky="0" algn="bl" rotWithShape="0" blurRad="95250" dist="50800" dir="16200000">
              <a:srgbClr val="00BCD4">
                <a:alpha val="40000"/>
              </a:srgbClr>
            </a:outerShdw>
          </a:effectLst>
        </p:spPr>
      </p:sp>
      <p:sp>
        <p:nvSpPr>
          <p:cNvPr id="115" name="Shape 113"/>
          <p:cNvSpPr/>
          <p:nvPr/>
        </p:nvSpPr>
        <p:spPr>
          <a:xfrm>
            <a:off x="3131820" y="2392531"/>
            <a:ext cx="5600700" cy="657225"/>
          </a:xfrm>
          <a:prstGeom prst="roundRect">
            <a:avLst>
              <a:gd name="adj" fmla="val 3478"/>
            </a:avLst>
          </a:prstGeom>
          <a:gradFill rotWithShape="1">
            <a:gsLst>
              <a:gs pos="0">
                <a:srgbClr val="FF7043">
                  <a:alpha val="8000"/>
                </a:srgbClr>
              </a:gs>
              <a:gs pos="100000">
                <a:srgbClr val="00BCD4">
                  <a:alpha val="6000"/>
                </a:srgbClr>
              </a:gs>
            </a:gsLst>
            <a:lin ang="0" scaled="0"/>
          </a:gradFill>
          <a:ln w="5715">
            <a:solidFill>
              <a:srgbClr val="FF7043">
                <a:alpha val="28000"/>
              </a:srgbClr>
            </a:solidFill>
            <a:prstDash val="solid"/>
          </a:ln>
        </p:spPr>
      </p:sp>
      <p:sp>
        <p:nvSpPr>
          <p:cNvPr id="116" name="Shape 114"/>
          <p:cNvSpPr/>
          <p:nvPr/>
        </p:nvSpPr>
        <p:spPr>
          <a:xfrm>
            <a:off x="3131820" y="2392531"/>
            <a:ext cx="17145" cy="645795"/>
          </a:xfrm>
          <a:prstGeom prst="rect">
            <a:avLst/>
          </a:prstGeom>
          <a:gradFill rotWithShape="1">
            <a:gsLst>
              <a:gs pos="0">
                <a:srgbClr val="00BCD4"/>
              </a:gs>
              <a:gs pos="100000">
                <a:srgbClr val="FF7043"/>
              </a:gs>
            </a:gsLst>
            <a:lin ang="5400000" scaled="0"/>
          </a:gradFill>
          <a:ln/>
        </p:spPr>
      </p:sp>
      <p:sp>
        <p:nvSpPr>
          <p:cNvPr id="117" name="Text 115"/>
          <p:cNvSpPr/>
          <p:nvPr/>
        </p:nvSpPr>
        <p:spPr>
          <a:xfrm>
            <a:off x="3251835" y="2523976"/>
            <a:ext cx="392103" cy="68580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buNone/>
            </a:pPr>
            <a:r>
              <a:rPr lang="en-US" sz="450" spc="99" kern="0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DIM · 05</a:t>
            </a:r>
            <a:endParaRPr lang="en-US" sz="450" dirty="0"/>
          </a:p>
        </p:txBody>
      </p:sp>
      <p:sp>
        <p:nvSpPr>
          <p:cNvPr id="118" name="Text 116"/>
          <p:cNvSpPr/>
          <p:nvPr/>
        </p:nvSpPr>
        <p:spPr>
          <a:xfrm>
            <a:off x="3251835" y="2621131"/>
            <a:ext cx="1152144" cy="120015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buNone/>
            </a:pPr>
            <a:r>
              <a:rPr lang="en-US" sz="675" b="1" spc="14" kern="0" dirty="0">
                <a:solidFill>
                  <a:srgbClr val="F1F5F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制度含义</a:t>
            </a:r>
            <a:endParaRPr lang="en-US" sz="675" dirty="0"/>
          </a:p>
        </p:txBody>
      </p:sp>
      <p:sp>
        <p:nvSpPr>
          <p:cNvPr id="119" name="Shape 117"/>
          <p:cNvSpPr/>
          <p:nvPr/>
        </p:nvSpPr>
        <p:spPr>
          <a:xfrm>
            <a:off x="3251835" y="2775436"/>
            <a:ext cx="341828" cy="177165"/>
          </a:xfrm>
          <a:prstGeom prst="roundRect">
            <a:avLst>
              <a:gd name="adj" fmla="val 6452"/>
            </a:avLst>
          </a:prstGeom>
          <a:solidFill>
            <a:srgbClr val="FF7043">
              <a:alpha val="14000"/>
            </a:srgbClr>
          </a:solidFill>
          <a:ln w="5715">
            <a:solidFill>
              <a:srgbClr val="FF7043">
                <a:alpha val="50000"/>
              </a:srgbClr>
            </a:solidFill>
            <a:prstDash val="solid"/>
          </a:ln>
        </p:spPr>
      </p:sp>
      <p:sp>
        <p:nvSpPr>
          <p:cNvPr id="120" name="Text 118"/>
          <p:cNvSpPr/>
          <p:nvPr/>
        </p:nvSpPr>
        <p:spPr>
          <a:xfrm>
            <a:off x="3251835" y="2775436"/>
            <a:ext cx="410408" cy="177165"/>
          </a:xfrm>
          <a:prstGeom prst="rect">
            <a:avLst/>
          </a:prstGeom>
          <a:noFill/>
          <a:ln/>
        </p:spPr>
        <p:txBody>
          <a:bodyPr wrap="none" lIns="34290" tIns="57150" rIns="57150" bIns="34290" rtlCol="0" anchor="ctr"/>
          <a:lstStyle/>
          <a:p>
            <a:pPr algn="l" indent="0" marL="0">
              <a:buNone/>
            </a:pPr>
            <a:r>
              <a:rPr lang="en-US" sz="540" b="1" spc="27" kern="0" dirty="0">
                <a:solidFill>
                  <a:srgbClr val="FF704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扩张期</a:t>
            </a:r>
            <a:endParaRPr lang="en-US" sz="540" dirty="0"/>
          </a:p>
        </p:txBody>
      </p:sp>
      <p:sp>
        <p:nvSpPr>
          <p:cNvPr id="121" name="Text 119"/>
          <p:cNvSpPr/>
          <p:nvPr/>
        </p:nvSpPr>
        <p:spPr>
          <a:xfrm>
            <a:off x="3650813" y="2795439"/>
            <a:ext cx="178326" cy="137160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buNone/>
            </a:pPr>
            <a:r>
              <a:rPr lang="en-US" sz="720" spc="-36" kern="0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→</a:t>
            </a:r>
            <a:endParaRPr lang="en-US" sz="720" dirty="0"/>
          </a:p>
        </p:txBody>
      </p:sp>
      <p:sp>
        <p:nvSpPr>
          <p:cNvPr id="122" name="Shape 120"/>
          <p:cNvSpPr/>
          <p:nvPr/>
        </p:nvSpPr>
        <p:spPr>
          <a:xfrm>
            <a:off x="3794849" y="2775436"/>
            <a:ext cx="413802" cy="177165"/>
          </a:xfrm>
          <a:prstGeom prst="roundRect">
            <a:avLst>
              <a:gd name="adj" fmla="val 6452"/>
            </a:avLst>
          </a:prstGeom>
          <a:solidFill>
            <a:srgbClr val="00BCD4">
              <a:alpha val="14000"/>
            </a:srgbClr>
          </a:solidFill>
          <a:ln w="5715">
            <a:solidFill>
              <a:srgbClr val="00BCD4">
                <a:alpha val="60000"/>
              </a:srgbClr>
            </a:solidFill>
            <a:prstDash val="solid"/>
          </a:ln>
        </p:spPr>
      </p:sp>
      <p:sp>
        <p:nvSpPr>
          <p:cNvPr id="123" name="Text 121"/>
          <p:cNvSpPr/>
          <p:nvPr/>
        </p:nvSpPr>
        <p:spPr>
          <a:xfrm>
            <a:off x="3794849" y="2775436"/>
            <a:ext cx="482382" cy="177165"/>
          </a:xfrm>
          <a:prstGeom prst="rect">
            <a:avLst/>
          </a:prstGeom>
          <a:noFill/>
          <a:ln/>
        </p:spPr>
        <p:txBody>
          <a:bodyPr wrap="none" lIns="34290" tIns="57150" rIns="57150" bIns="34290" rtlCol="0" anchor="ctr"/>
          <a:lstStyle/>
          <a:p>
            <a:pPr algn="l" indent="0" marL="0">
              <a:buNone/>
            </a:pPr>
            <a:r>
              <a:rPr lang="en-US" sz="540" b="1" spc="27" kern="0" dirty="0">
                <a:solidFill>
                  <a:srgbClr val="4DD0E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稳定化期</a:t>
            </a:r>
            <a:endParaRPr lang="en-US" sz="540" dirty="0"/>
          </a:p>
        </p:txBody>
      </p:sp>
      <p:sp>
        <p:nvSpPr>
          <p:cNvPr id="124" name="Text 122"/>
          <p:cNvSpPr/>
          <p:nvPr/>
        </p:nvSpPr>
        <p:spPr>
          <a:xfrm>
            <a:off x="4406265" y="2593181"/>
            <a:ext cx="4710989" cy="25592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60000"/>
              </a:lnSpc>
              <a:buNone/>
            </a:pPr>
            <a:r>
              <a:rPr lang="en-US" sz="630" spc="7" kern="0" dirty="0">
                <a:solidFill>
                  <a:srgbClr val="F1F5F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从</a:t>
            </a:r>
            <a:pPr algn="l" indent="0" marL="0">
              <a:lnSpc>
                <a:spcPct val="160000"/>
              </a:lnSpc>
              <a:buNone/>
            </a:pPr>
            <a:r>
              <a:rPr lang="en-US" sz="630" b="1" spc="7" kern="0" dirty="0">
                <a:solidFill>
                  <a:srgbClr val="FF704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扩张期</a:t>
            </a:r>
            <a:pPr algn="l" indent="0" marL="0">
              <a:lnSpc>
                <a:spcPct val="160000"/>
              </a:lnSpc>
              <a:buNone/>
            </a:pPr>
            <a:r>
              <a:rPr lang="en-US" sz="630" spc="7" kern="0" dirty="0">
                <a:solidFill>
                  <a:srgbClr val="F1F5F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进入</a:t>
            </a:r>
            <a:pPr algn="l" indent="0" marL="0">
              <a:lnSpc>
                <a:spcPct val="160000"/>
              </a:lnSpc>
              <a:buNone/>
            </a:pPr>
            <a:r>
              <a:rPr lang="en-US" sz="630" b="1" spc="7" kern="0" dirty="0">
                <a:solidFill>
                  <a:srgbClr val="4DD0E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稳定化期</a:t>
            </a:r>
            <a:pPr algn="l" indent="0" marL="0">
              <a:lnSpc>
                <a:spcPct val="160000"/>
              </a:lnSpc>
              <a:buNone/>
            </a:pPr>
            <a:r>
              <a:rPr lang="en-US" sz="630" spc="7" kern="0" dirty="0">
                <a:solidFill>
                  <a:srgbClr val="F1F5F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——</a:t>
            </a:r>
            <a:pPr algn="l" indent="0" marL="0">
              <a:lnSpc>
                <a:spcPct val="160000"/>
              </a:lnSpc>
              <a:buNone/>
            </a:pPr>
            <a:r>
              <a:rPr lang="en-US" sz="630" b="1" spc="7" kern="0" dirty="0">
                <a:solidFill>
                  <a:srgbClr val="4DD0E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存量可靠性</a:t>
            </a:r>
            <a:pPr algn="l" indent="0" marL="0">
              <a:lnSpc>
                <a:spcPct val="160000"/>
              </a:lnSpc>
              <a:buNone/>
            </a:pPr>
            <a:r>
              <a:rPr lang="en-US" sz="630" spc="7" kern="0" dirty="0">
                <a:solidFill>
                  <a:srgbClr val="F1F5F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优先于</a:t>
            </a:r>
            <a:pPr algn="l" indent="0" marL="0">
              <a:lnSpc>
                <a:spcPct val="160000"/>
              </a:lnSpc>
              <a:buNone/>
            </a:pPr>
            <a:r>
              <a:rPr lang="en-US" sz="630" b="1" spc="7" kern="0" dirty="0">
                <a:solidFill>
                  <a:srgbClr val="FF704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增量扩张</a:t>
            </a:r>
            <a:pPr algn="l" indent="0" marL="0">
              <a:lnSpc>
                <a:spcPct val="160000"/>
              </a:lnSpc>
              <a:buNone/>
            </a:pPr>
            <a:r>
              <a:rPr lang="en-US" sz="630" spc="7" kern="0" dirty="0">
                <a:solidFill>
                  <a:srgbClr val="F1F5F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；P2 全给 Bug、P3 养 Feature、P1 缺席，共同指向</a:t>
            </a:r>
            <a:pPr algn="l" indent="0" marL="0">
              <a:lnSpc>
                <a:spcPct val="160000"/>
              </a:lnSpc>
              <a:buNone/>
            </a:pPr>
            <a:r>
              <a:rPr lang="en-US" sz="630" b="1" spc="7" kern="0" dirty="0">
                <a:solidFill>
                  <a:srgbClr val="4DD0E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收敛型</a:t>
            </a:r>
            <a:pPr algn="l" indent="0" marL="0">
              <a:lnSpc>
                <a:spcPct val="160000"/>
              </a:lnSpc>
              <a:buNone/>
            </a:pPr>
            <a:r>
              <a:rPr lang="en-US" sz="630" spc="7" kern="0" dirty="0">
                <a:solidFill>
                  <a:srgbClr val="F1F5F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策略。</a:t>
            </a:r>
            <a:endParaRPr lang="en-US" sz="630" dirty="0"/>
          </a:p>
        </p:txBody>
      </p:sp>
      <p:sp>
        <p:nvSpPr>
          <p:cNvPr id="125" name="Shape 123"/>
          <p:cNvSpPr/>
          <p:nvPr/>
        </p:nvSpPr>
        <p:spPr>
          <a:xfrm>
            <a:off x="411480" y="4127569"/>
            <a:ext cx="8321040" cy="622935"/>
          </a:xfrm>
          <a:prstGeom prst="roundRect">
            <a:avLst>
              <a:gd name="adj" fmla="val 1835"/>
            </a:avLst>
          </a:prstGeom>
          <a:gradFill rotWithShape="1">
            <a:gsLst>
              <a:gs pos="0">
                <a:srgbClr val="00BCD4">
                  <a:alpha val="8000"/>
                </a:srgbClr>
              </a:gs>
              <a:gs pos="100000">
                <a:srgbClr val="FF7043">
                  <a:alpha val="6000"/>
                </a:srgbClr>
              </a:gs>
            </a:gsLst>
            <a:lin ang="0" scaled="0"/>
          </a:gradFill>
          <a:ln w="17145">
            <a:solidFill>
              <a:srgbClr val="00BCD4">
                <a:alpha val="14000"/>
              </a:srgbClr>
            </a:solidFill>
            <a:prstDash val="solid"/>
          </a:ln>
        </p:spPr>
      </p:sp>
      <p:sp>
        <p:nvSpPr>
          <p:cNvPr id="126" name="Shape 124"/>
          <p:cNvSpPr/>
          <p:nvPr/>
        </p:nvSpPr>
        <p:spPr>
          <a:xfrm>
            <a:off x="8372475" y="4121854"/>
            <a:ext cx="342900" cy="342900"/>
          </a:xfrm>
          <a:prstGeom prst="rect">
            <a:avLst/>
          </a:prstGeom>
          <a:gradFill rotWithShape="1">
            <a:gsLst>
              <a:gs pos="50000">
                <a:srgbClr val="000000">
                  <a:alpha val="0"/>
                </a:srgbClr>
              </a:gs>
              <a:gs pos="50000">
                <a:srgbClr val="FF7043">
                  <a:alpha val="14000"/>
                </a:srgbClr>
              </a:gs>
            </a:gsLst>
            <a:lin ang="2700000" scaled="0"/>
          </a:gradFill>
          <a:ln/>
        </p:spPr>
      </p:sp>
      <p:sp>
        <p:nvSpPr>
          <p:cNvPr id="127" name="Shape 125"/>
          <p:cNvSpPr/>
          <p:nvPr/>
        </p:nvSpPr>
        <p:spPr>
          <a:xfrm>
            <a:off x="565785" y="4344739"/>
            <a:ext cx="556141" cy="188595"/>
          </a:xfrm>
          <a:prstGeom prst="rect">
            <a:avLst/>
          </a:prstGeom>
          <a:noFill/>
          <a:ln/>
        </p:spPr>
      </p:sp>
      <p:sp>
        <p:nvSpPr>
          <p:cNvPr id="128" name="Shape 126"/>
          <p:cNvSpPr/>
          <p:nvPr/>
        </p:nvSpPr>
        <p:spPr>
          <a:xfrm>
            <a:off x="1121926" y="4344739"/>
            <a:ext cx="0" cy="188595"/>
          </a:xfrm>
          <a:prstGeom prst="line">
            <a:avLst/>
          </a:prstGeom>
          <a:noFill/>
          <a:ln w="5715">
            <a:solidFill>
              <a:srgbClr val="FFFFFF">
                <a:alpha val="14000"/>
              </a:srgbClr>
            </a:solidFill>
            <a:prstDash val="solid"/>
          </a:ln>
        </p:spPr>
      </p:sp>
      <p:sp>
        <p:nvSpPr>
          <p:cNvPr id="129" name="Text 127"/>
          <p:cNvSpPr/>
          <p:nvPr/>
        </p:nvSpPr>
        <p:spPr>
          <a:xfrm>
            <a:off x="565785" y="4344739"/>
            <a:ext cx="488461" cy="62865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buNone/>
            </a:pPr>
            <a:r>
              <a:rPr lang="en-US" sz="405" spc="122" kern="0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NARRATIVE</a:t>
            </a:r>
            <a:endParaRPr lang="en-US" sz="405" dirty="0"/>
          </a:p>
        </p:txBody>
      </p:sp>
      <p:sp>
        <p:nvSpPr>
          <p:cNvPr id="130" name="Text 128"/>
          <p:cNvSpPr/>
          <p:nvPr/>
        </p:nvSpPr>
        <p:spPr>
          <a:xfrm>
            <a:off x="565785" y="4419034"/>
            <a:ext cx="516136" cy="114300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buNone/>
            </a:pPr>
            <a:r>
              <a:rPr lang="en-US" sz="630" b="1" spc="31" kern="0" dirty="0">
                <a:solidFill>
                  <a:srgbClr val="4DD0E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叙事化小结</a:t>
            </a:r>
            <a:endParaRPr lang="en-US" sz="630" dirty="0"/>
          </a:p>
        </p:txBody>
      </p:sp>
      <p:sp>
        <p:nvSpPr>
          <p:cNvPr id="131" name="Text 129"/>
          <p:cNvSpPr/>
          <p:nvPr/>
        </p:nvSpPr>
        <p:spPr>
          <a:xfrm>
            <a:off x="1247656" y="4375011"/>
            <a:ext cx="7165296" cy="12796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60000"/>
              </a:lnSpc>
              <a:buNone/>
            </a:pPr>
            <a:r>
              <a:rPr lang="en-US" sz="630" b="1" spc="6" kern="0" dirty="0">
                <a:solidFill>
                  <a:srgbClr val="00BCD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27,783</a:t>
            </a:r>
            <a:pPr algn="l" indent="0" marL="0">
              <a:lnSpc>
                <a:spcPct val="160000"/>
              </a:lnSpc>
              <a:buNone/>
            </a:pPr>
            <a:r>
              <a:rPr lang="en-US" sz="630" spc="6" kern="0" dirty="0">
                <a:solidFill>
                  <a:srgbClr val="F1F5F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条 PR 呈现</a:t>
            </a:r>
            <a:pPr algn="l" indent="0" marL="0">
              <a:lnSpc>
                <a:spcPct val="160000"/>
              </a:lnSpc>
              <a:buNone/>
            </a:pPr>
            <a:r>
              <a:rPr lang="en-US" sz="630" b="1" spc="6" kern="0" dirty="0">
                <a:solidFill>
                  <a:srgbClr val="F1F5F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收敛型</a:t>
            </a:r>
            <a:pPr algn="l" indent="0" marL="0">
              <a:lnSpc>
                <a:spcPct val="160000"/>
              </a:lnSpc>
              <a:buNone/>
            </a:pPr>
            <a:r>
              <a:rPr lang="en-US" sz="630" spc="6" kern="0" dirty="0">
                <a:solidFill>
                  <a:srgbClr val="F1F5F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策略——</a:t>
            </a:r>
            <a:pPr algn="l" indent="0" marL="0">
              <a:lnSpc>
                <a:spcPct val="160000"/>
              </a:lnSpc>
              <a:buNone/>
            </a:pPr>
            <a:r>
              <a:rPr lang="en-US" sz="630" b="1" spc="6" kern="0" dirty="0">
                <a:solidFill>
                  <a:srgbClr val="FF704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P2 全给 bug</a:t>
            </a:r>
            <a:pPr algn="l" indent="0" marL="0">
              <a:lnSpc>
                <a:spcPct val="160000"/>
              </a:lnSpc>
              <a:buNone/>
            </a:pPr>
            <a:r>
              <a:rPr lang="en-US" sz="630" spc="6" kern="0" dirty="0">
                <a:solidFill>
                  <a:srgbClr val="F1F5F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、</a:t>
            </a:r>
            <a:pPr algn="l" indent="0" marL="0">
              <a:lnSpc>
                <a:spcPct val="160000"/>
              </a:lnSpc>
              <a:buNone/>
            </a:pPr>
            <a:r>
              <a:rPr lang="en-US" sz="630" b="1" spc="6" kern="0" dirty="0">
                <a:solidFill>
                  <a:srgbClr val="00BCD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P3 养 feature</a:t>
            </a:r>
            <a:pPr algn="l" indent="0" marL="0">
              <a:lnSpc>
                <a:spcPct val="160000"/>
              </a:lnSpc>
              <a:buNone/>
            </a:pPr>
            <a:r>
              <a:rPr lang="en-US" sz="630" spc="6" kern="0" dirty="0">
                <a:solidFill>
                  <a:srgbClr val="F1F5F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、</a:t>
            </a:r>
            <a:pPr algn="l" indent="0" marL="0">
              <a:lnSpc>
                <a:spcPct val="160000"/>
              </a:lnSpc>
              <a:buNone/>
            </a:pPr>
            <a:r>
              <a:rPr lang="en-US" sz="630" b="1" spc="6" kern="0" dirty="0">
                <a:solidFill>
                  <a:srgbClr val="FF704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P1 缺席</a:t>
            </a:r>
            <a:pPr algn="l" indent="0" marL="0">
              <a:lnSpc>
                <a:spcPct val="160000"/>
              </a:lnSpc>
              <a:buNone/>
            </a:pPr>
            <a:r>
              <a:rPr lang="en-US" sz="630" spc="6" kern="0" dirty="0">
                <a:solidFill>
                  <a:srgbClr val="F1F5F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——项目正从</a:t>
            </a:r>
            <a:pPr algn="l" indent="0" marL="0">
              <a:lnSpc>
                <a:spcPct val="160000"/>
              </a:lnSpc>
              <a:buNone/>
            </a:pPr>
            <a:r>
              <a:rPr lang="en-US" sz="630" b="1" spc="6" kern="0" dirty="0">
                <a:solidFill>
                  <a:srgbClr val="FF704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扩张期</a:t>
            </a:r>
            <a:pPr algn="l" indent="0" marL="0">
              <a:lnSpc>
                <a:spcPct val="160000"/>
              </a:lnSpc>
              <a:buNone/>
            </a:pPr>
            <a:r>
              <a:rPr lang="en-US" sz="630" spc="6" kern="0" dirty="0">
                <a:solidFill>
                  <a:srgbClr val="F1F5F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进入</a:t>
            </a:r>
            <a:pPr algn="l" indent="0" marL="0">
              <a:lnSpc>
                <a:spcPct val="160000"/>
              </a:lnSpc>
              <a:buNone/>
            </a:pPr>
            <a:r>
              <a:rPr lang="en-US" sz="630" b="1" spc="6" kern="0" dirty="0">
                <a:solidFill>
                  <a:srgbClr val="00BCD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稳定化期</a:t>
            </a:r>
            <a:pPr algn="l" indent="0" marL="0">
              <a:lnSpc>
                <a:spcPct val="160000"/>
              </a:lnSpc>
              <a:buNone/>
            </a:pPr>
            <a:r>
              <a:rPr lang="en-US" sz="630" spc="6" kern="0" dirty="0">
                <a:solidFill>
                  <a:srgbClr val="F1F5F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。</a:t>
            </a:r>
            <a:endParaRPr lang="en-US" sz="630" dirty="0"/>
          </a:p>
        </p:txBody>
      </p:sp>
      <p:sp>
        <p:nvSpPr>
          <p:cNvPr id="132" name="Shape 130"/>
          <p:cNvSpPr/>
          <p:nvPr/>
        </p:nvSpPr>
        <p:spPr>
          <a:xfrm>
            <a:off x="7770971" y="4236154"/>
            <a:ext cx="818674" cy="405765"/>
          </a:xfrm>
          <a:prstGeom prst="roundRect">
            <a:avLst>
              <a:gd name="adj" fmla="val 2817"/>
            </a:avLst>
          </a:prstGeom>
          <a:solidFill>
            <a:srgbClr val="FF7043">
              <a:alpha val="6000"/>
            </a:srgbClr>
          </a:solidFill>
          <a:ln w="5715">
            <a:solidFill>
              <a:srgbClr val="FF7043"/>
            </a:solidFill>
            <a:prstDash val="solid"/>
          </a:ln>
        </p:spPr>
      </p:sp>
      <p:sp>
        <p:nvSpPr>
          <p:cNvPr id="133" name="Text 131"/>
          <p:cNvSpPr/>
          <p:nvPr/>
        </p:nvSpPr>
        <p:spPr>
          <a:xfrm>
            <a:off x="7941350" y="4299019"/>
            <a:ext cx="535167" cy="62865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buNone/>
            </a:pPr>
            <a:r>
              <a:rPr lang="en-US" sz="405" spc="97" kern="0" dirty="0">
                <a:solidFill>
                  <a:srgbClr val="FF7043">
                    <a:alpha val="75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CONVERGING</a:t>
            </a:r>
            <a:endParaRPr lang="en-US" sz="405" dirty="0"/>
          </a:p>
        </p:txBody>
      </p:sp>
      <p:sp>
        <p:nvSpPr>
          <p:cNvPr id="134" name="Text 132"/>
          <p:cNvSpPr/>
          <p:nvPr/>
        </p:nvSpPr>
        <p:spPr>
          <a:xfrm>
            <a:off x="7980372" y="4373314"/>
            <a:ext cx="525601" cy="125730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990" b="1" spc="59" kern="0" dirty="0">
                <a:solidFill>
                  <a:srgbClr val="FF704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收敛型</a:t>
            </a:r>
            <a:endParaRPr lang="en-US" sz="990" dirty="0"/>
          </a:p>
        </p:txBody>
      </p:sp>
      <p:sp>
        <p:nvSpPr>
          <p:cNvPr id="135" name="Text 133"/>
          <p:cNvSpPr/>
          <p:nvPr/>
        </p:nvSpPr>
        <p:spPr>
          <a:xfrm>
            <a:off x="7879556" y="4516189"/>
            <a:ext cx="673684" cy="62865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buNone/>
            </a:pPr>
            <a:r>
              <a:rPr lang="en-US" sz="405" spc="61" kern="0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SUPPLY STRATEGY</a:t>
            </a:r>
            <a:endParaRPr lang="en-US" sz="405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0B12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gradFill rotWithShape="1">
            <a:gsLst>
              <a:gs pos="0">
                <a:srgbClr val="000000">
                  <a:alpha val="5000"/>
                </a:srgbClr>
              </a:gs>
              <a:gs pos="25000">
                <a:srgbClr val="000000">
                  <a:alpha val="0"/>
                </a:srgbClr>
              </a:gs>
              <a:gs pos="50000">
                <a:srgbClr val="000000"/>
              </a:gs>
              <a:gs pos="75000">
                <a:srgbClr val="000000">
                  <a:alpha val="5000"/>
                </a:srgbClr>
              </a:gs>
              <a:gs pos="100000">
                <a:srgbClr val="000000">
                  <a:alpha val="0"/>
                </a:srgbClr>
              </a:gs>
            </a:gsLst>
            <a:lin ang="5400000" scaled="0"/>
          </a:gra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gradFill rotWithShape="1">
            <a:gsLst>
              <a:gs pos="0">
                <a:srgbClr val="000000">
                  <a:alpha val="0"/>
                </a:srgbClr>
              </a:gs>
              <a:gs pos="100000">
                <a:srgbClr val="0B1220">
                  <a:alpha val="55000"/>
                </a:srgbClr>
              </a:gs>
            </a:gsLst>
            <a:lin ang="5400000" scaled="0"/>
          </a:gradFill>
          <a:ln/>
        </p:spPr>
      </p:sp>
      <p:sp>
        <p:nvSpPr>
          <p:cNvPr id="4" name="Shape 2"/>
          <p:cNvSpPr/>
          <p:nvPr/>
        </p:nvSpPr>
        <p:spPr>
          <a:xfrm>
            <a:off x="320040" y="251460"/>
            <a:ext cx="8503920" cy="662940"/>
          </a:xfrm>
          <a:prstGeom prst="rect">
            <a:avLst/>
          </a:prstGeom>
          <a:noFill/>
          <a:ln/>
        </p:spPr>
      </p:sp>
      <p:sp>
        <p:nvSpPr>
          <p:cNvPr id="5" name="Shape 3"/>
          <p:cNvSpPr/>
          <p:nvPr/>
        </p:nvSpPr>
        <p:spPr>
          <a:xfrm>
            <a:off x="320040" y="914400"/>
            <a:ext cx="8503920" cy="0"/>
          </a:xfrm>
          <a:prstGeom prst="line">
            <a:avLst/>
          </a:prstGeom>
          <a:noFill/>
          <a:ln w="5715">
            <a:solidFill>
              <a:srgbClr val="2B3A55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20040" y="902970"/>
            <a:ext cx="1600200" cy="11430"/>
          </a:xfrm>
          <a:prstGeom prst="rect">
            <a:avLst/>
          </a:prstGeom>
          <a:gradFill rotWithShape="1">
            <a:gsLst>
              <a:gs pos="0">
                <a:srgbClr val="00BCD4"/>
              </a:gs>
              <a:gs pos="100000">
                <a:srgbClr val="000000">
                  <a:alpha val="0"/>
                </a:srgbClr>
              </a:gs>
            </a:gsLst>
            <a:lin ang="0" scaled="0"/>
          </a:gradFill>
          <a:ln/>
        </p:spPr>
      </p:sp>
      <p:sp>
        <p:nvSpPr>
          <p:cNvPr id="7" name="Shape 5"/>
          <p:cNvSpPr/>
          <p:nvPr/>
        </p:nvSpPr>
        <p:spPr>
          <a:xfrm>
            <a:off x="320040" y="271463"/>
            <a:ext cx="45720" cy="45720"/>
          </a:xfrm>
          <a:prstGeom prst="ellipse">
            <a:avLst/>
          </a:prstGeom>
          <a:solidFill>
            <a:srgbClr val="00BCD4"/>
          </a:solidFill>
          <a:ln/>
          <a:effectLst>
            <a:outerShdw sx="100000" sy="100000" kx="0" ky="0" algn="bl" rotWithShape="0" blurRad="114300" dist="50800" dir="16200000">
              <a:srgbClr val="00BCD4">
                <a:alpha val="100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434340" y="251460"/>
            <a:ext cx="900513" cy="85725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buNone/>
            </a:pPr>
            <a:r>
              <a:rPr lang="en-US" sz="540" spc="151" kern="0" dirty="0">
                <a:solidFill>
                  <a:srgbClr val="00BCD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DATA ANALYSIS</a:t>
            </a:r>
            <a:endParaRPr lang="en-US" sz="540" dirty="0"/>
          </a:p>
        </p:txBody>
      </p:sp>
      <p:sp>
        <p:nvSpPr>
          <p:cNvPr id="9" name="Text 7"/>
          <p:cNvSpPr/>
          <p:nvPr/>
        </p:nvSpPr>
        <p:spPr>
          <a:xfrm>
            <a:off x="1306949" y="251460"/>
            <a:ext cx="1106638" cy="85725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buNone/>
            </a:pPr>
            <a:r>
              <a:rPr lang="en-US" sz="540" spc="97" kern="0" dirty="0">
                <a:solidFill>
                  <a:srgbClr val="5B6C8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/ 04 SUPPLY-DEMAND</a:t>
            </a:r>
            <a:endParaRPr lang="en-US" sz="540" dirty="0"/>
          </a:p>
        </p:txBody>
      </p:sp>
      <p:sp>
        <p:nvSpPr>
          <p:cNvPr id="10" name="Text 8"/>
          <p:cNvSpPr/>
          <p:nvPr/>
        </p:nvSpPr>
        <p:spPr>
          <a:xfrm>
            <a:off x="2363599" y="251460"/>
            <a:ext cx="494080" cy="85725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buNone/>
            </a:pPr>
            <a:r>
              <a:rPr lang="en-US" sz="540" spc="97" kern="0" dirty="0">
                <a:solidFill>
                  <a:srgbClr val="5B6C8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· PAGE 16</a:t>
            </a:r>
            <a:endParaRPr lang="en-US" sz="540" dirty="0"/>
          </a:p>
        </p:txBody>
      </p:sp>
      <p:sp>
        <p:nvSpPr>
          <p:cNvPr id="11" name="Text 9"/>
          <p:cNvSpPr/>
          <p:nvPr/>
        </p:nvSpPr>
        <p:spPr>
          <a:xfrm>
            <a:off x="320040" y="382905"/>
            <a:ext cx="3558945" cy="2514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800" b="1" spc="-18" kern="0" dirty="0">
                <a:solidFill>
                  <a:srgbClr val="E6EEF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供需匹配 ·</a:t>
            </a:r>
            <a:pPr algn="l" indent="0" marL="0">
              <a:lnSpc>
                <a:spcPct val="110000"/>
              </a:lnSpc>
              <a:buNone/>
            </a:pPr>
            <a:r>
              <a:rPr lang="en-US" sz="1800" b="1" spc="-18" kern="0" dirty="0">
                <a:solidFill>
                  <a:srgbClr val="FF704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desktop 是唯一缺口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320040" y="691515"/>
            <a:ext cx="3558945" cy="114300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buNone/>
            </a:pPr>
            <a:r>
              <a:rPr lang="en-US" sz="630" spc="7" kern="0" dirty="0">
                <a:solidFill>
                  <a:srgbClr val="8FA3B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四类形态整体匹配良好，仅桌面端呈现结构性供给欠配</a:t>
            </a:r>
            <a:endParaRPr lang="en-US" sz="630" dirty="0"/>
          </a:p>
        </p:txBody>
      </p:sp>
      <p:sp>
        <p:nvSpPr>
          <p:cNvPr id="13" name="Shape 11"/>
          <p:cNvSpPr/>
          <p:nvPr/>
        </p:nvSpPr>
        <p:spPr>
          <a:xfrm>
            <a:off x="7427714" y="611505"/>
            <a:ext cx="624185" cy="188595"/>
          </a:xfrm>
          <a:prstGeom prst="roundRect">
            <a:avLst>
              <a:gd name="adj" fmla="val 18182"/>
            </a:avLst>
          </a:prstGeom>
          <a:solidFill>
            <a:srgbClr val="1E293B">
              <a:alpha val="60000"/>
            </a:srgbClr>
          </a:solidFill>
          <a:ln w="5715">
            <a:solidFill>
              <a:srgbClr val="2B3A55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513439" y="665798"/>
            <a:ext cx="316647" cy="80010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buNone/>
            </a:pPr>
            <a:r>
              <a:rPr lang="en-US" sz="495" b="1" spc="40" kern="0" dirty="0">
                <a:solidFill>
                  <a:srgbClr val="00BCD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MATCH</a:t>
            </a:r>
            <a:endParaRPr lang="en-US" sz="495" dirty="0"/>
          </a:p>
        </p:txBody>
      </p:sp>
      <p:sp>
        <p:nvSpPr>
          <p:cNvPr id="15" name="Text 13"/>
          <p:cNvSpPr/>
          <p:nvPr/>
        </p:nvSpPr>
        <p:spPr>
          <a:xfrm>
            <a:off x="7812941" y="662940"/>
            <a:ext cx="221813" cy="85725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buNone/>
            </a:pPr>
            <a:r>
              <a:rPr lang="en-US" sz="540" spc="7" kern="0" dirty="0">
                <a:solidFill>
                  <a:srgbClr val="8FA3B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 / 4</a:t>
            </a:r>
            <a:endParaRPr lang="en-US" sz="540" dirty="0"/>
          </a:p>
        </p:txBody>
      </p:sp>
      <p:sp>
        <p:nvSpPr>
          <p:cNvPr id="16" name="Shape 14"/>
          <p:cNvSpPr/>
          <p:nvPr/>
        </p:nvSpPr>
        <p:spPr>
          <a:xfrm>
            <a:off x="8109049" y="605790"/>
            <a:ext cx="714911" cy="200025"/>
          </a:xfrm>
          <a:prstGeom prst="roundRect">
            <a:avLst>
              <a:gd name="adj" fmla="val 17143"/>
            </a:avLst>
          </a:prstGeom>
          <a:solidFill>
            <a:srgbClr val="FF7043">
              <a:alpha val="18000"/>
            </a:srgbClr>
          </a:solidFill>
          <a:ln w="5715">
            <a:solidFill>
              <a:srgbClr val="FF7043">
                <a:alpha val="50000"/>
              </a:srgbClr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194774" y="665798"/>
            <a:ext cx="209401" cy="80010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buNone/>
            </a:pPr>
            <a:r>
              <a:rPr lang="en-US" sz="495" b="1" spc="40" kern="0" dirty="0">
                <a:solidFill>
                  <a:srgbClr val="FF704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GAP</a:t>
            </a:r>
            <a:endParaRPr lang="en-US" sz="495" dirty="0"/>
          </a:p>
        </p:txBody>
      </p:sp>
      <p:sp>
        <p:nvSpPr>
          <p:cNvPr id="18" name="Text 16"/>
          <p:cNvSpPr/>
          <p:nvPr/>
        </p:nvSpPr>
        <p:spPr>
          <a:xfrm>
            <a:off x="8387030" y="657225"/>
            <a:ext cx="419785" cy="97155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buNone/>
            </a:pPr>
            <a:r>
              <a:rPr lang="en-US" sz="540" spc="7" kern="0" dirty="0">
                <a:solidFill>
                  <a:srgbClr val="FF704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desktop ⚠</a:t>
            </a:r>
            <a:endParaRPr lang="en-US" sz="540" dirty="0"/>
          </a:p>
        </p:txBody>
      </p:sp>
      <p:sp>
        <p:nvSpPr>
          <p:cNvPr id="19" name="Shape 17"/>
          <p:cNvSpPr/>
          <p:nvPr/>
        </p:nvSpPr>
        <p:spPr>
          <a:xfrm>
            <a:off x="320040" y="1040130"/>
            <a:ext cx="6423660" cy="3358813"/>
          </a:xfrm>
          <a:prstGeom prst="roundRect">
            <a:avLst>
              <a:gd name="adj" fmla="val 2042"/>
            </a:avLst>
          </a:prstGeom>
          <a:gradFill rotWithShape="1">
            <a:gsLst>
              <a:gs pos="0">
                <a:srgbClr val="1E293B">
                  <a:alpha val="85000"/>
                </a:srgbClr>
              </a:gs>
              <a:gs pos="100000">
                <a:srgbClr val="172033">
                  <a:alpha val="85000"/>
                </a:srgbClr>
              </a:gs>
            </a:gsLst>
            <a:lin ang="5400000" scaled="0"/>
          </a:gradFill>
          <a:ln w="5715">
            <a:solidFill>
              <a:srgbClr val="2B3A55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320040" y="1040130"/>
            <a:ext cx="6412230" cy="11430"/>
          </a:xfrm>
          <a:prstGeom prst="rect">
            <a:avLst/>
          </a:prstGeom>
          <a:gradFill rotWithShape="1">
            <a:gsLst>
              <a:gs pos="0">
                <a:srgbClr val="00BCD4"/>
              </a:gs>
              <a:gs pos="60000">
                <a:srgbClr val="000000">
                  <a:alpha val="0"/>
                </a:srgbClr>
              </a:gs>
            </a:gsLst>
            <a:lin ang="0" scaled="0"/>
          </a:gradFill>
          <a:ln/>
        </p:spPr>
      </p:sp>
      <p:sp>
        <p:nvSpPr>
          <p:cNvPr id="21" name="Shape 19"/>
          <p:cNvSpPr/>
          <p:nvPr/>
        </p:nvSpPr>
        <p:spPr>
          <a:xfrm>
            <a:off x="462915" y="1191578"/>
            <a:ext cx="17145" cy="80010"/>
          </a:xfrm>
          <a:prstGeom prst="roundRect">
            <a:avLst>
              <a:gd name="adj" fmla="val 66667"/>
            </a:avLst>
          </a:prstGeom>
          <a:solidFill>
            <a:srgbClr val="00BCD4"/>
          </a:solidFill>
          <a:ln/>
          <a:effectLst>
            <a:outerShdw sx="100000" sy="100000" kx="0" ky="0" algn="bl" rotWithShape="0" blurRad="76200" dist="50800" dir="16200000">
              <a:srgbClr val="00BCD4">
                <a:alpha val="100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537210" y="1171575"/>
            <a:ext cx="1221353" cy="120015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buNone/>
            </a:pPr>
            <a:r>
              <a:rPr lang="en-US" sz="675" b="1" spc="14" kern="0" dirty="0">
                <a:solidFill>
                  <a:srgbClr val="E6EEF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类型 × 需求占比 × 供给占比</a:t>
            </a:r>
            <a:endParaRPr lang="en-US" sz="675" dirty="0"/>
          </a:p>
        </p:txBody>
      </p:sp>
      <p:sp>
        <p:nvSpPr>
          <p:cNvPr id="23" name="Text 21"/>
          <p:cNvSpPr/>
          <p:nvPr/>
        </p:nvSpPr>
        <p:spPr>
          <a:xfrm>
            <a:off x="5575697" y="1191578"/>
            <a:ext cx="1148144" cy="80010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buNone/>
            </a:pPr>
            <a:r>
              <a:rPr lang="en-US" sz="495" spc="59" kern="0" dirty="0">
                <a:solidFill>
                  <a:srgbClr val="5B6C8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DEMAND VS SUPPLY · 2024</a:t>
            </a:r>
            <a:endParaRPr lang="en-US" sz="495" dirty="0"/>
          </a:p>
        </p:txBody>
      </p:sp>
      <p:graphicFrame>
        <p:nvGraphicFramePr>
          <p:cNvPr id="1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62915" y="1371600"/>
          <a:ext cx="5486400" cy="914400"/>
        </p:xfrm>
        <a:graphic>
          <a:graphicData uri="http://schemas.openxmlformats.org/drawingml/2006/table">
            <a:tbl>
              <a:tblPr/>
              <a:tblGrid>
                <a:gridCol w="1828800"/>
                <a:gridCol w="1828800"/>
                <a:gridCol w="1828800"/>
              </a:tblGrid>
              <a:tr h="179451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495" b="1" dirty="0">
                          <a:solidFill>
                            <a:srgbClr val="5B6C86"/>
                          </a:solidFill>
                        </a:rPr>
                        <a:t>类型</a:t>
                      </a:r>
                      <a:endParaRPr lang="en-US" sz="495" dirty="0"/>
                    </a:p>
                  </a:txBody>
                  <a:tcPr marL="91440" marR="91440" marT="45720" marB="45720" anchor="ctr">
                    <a:lnL w="5715" cap="flat" cmpd="sng" algn="ctr">
                      <a:solidFill>
                        <a:srgbClr val="2B3A55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5715" cap="flat" cmpd="sng" algn="ctr">
                      <a:solidFill>
                        <a:srgbClr val="2B3A55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5715" cap="flat" cmpd="sng" algn="ctr">
                      <a:solidFill>
                        <a:srgbClr val="2B3A55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5715" cap="flat" cmpd="sng" algn="ctr">
                      <a:solidFill>
                        <a:srgbClr val="2B3A55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495" b="1" dirty="0">
                          <a:solidFill>
                            <a:srgbClr val="5B6C86"/>
                          </a:solidFill>
                        </a:rPr>
                        <a:t>需求占比</a:t>
                      </a:r>
                      <a:endParaRPr lang="en-US" sz="495" dirty="0"/>
                    </a:p>
                  </a:txBody>
                  <a:tcPr marL="91440" marR="91440" marT="45720" marB="45720" anchor="ctr">
                    <a:lnL w="5715" cap="flat" cmpd="sng" algn="ctr">
                      <a:solidFill>
                        <a:srgbClr val="2B3A55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5715" cap="flat" cmpd="sng" algn="ctr">
                      <a:solidFill>
                        <a:srgbClr val="2B3A55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5715" cap="flat" cmpd="sng" algn="ctr">
                      <a:solidFill>
                        <a:srgbClr val="2B3A55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5715" cap="flat" cmpd="sng" algn="ctr">
                      <a:solidFill>
                        <a:srgbClr val="2B3A55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495" b="1" dirty="0">
                          <a:solidFill>
                            <a:srgbClr val="5B6C86"/>
                          </a:solidFill>
                        </a:rPr>
                        <a:t>供给占比 · Δ</a:t>
                      </a:r>
                      <a:endParaRPr lang="en-US" sz="495" dirty="0"/>
                    </a:p>
                  </a:txBody>
                  <a:tcPr marL="91440" marR="91440" marT="45720" marB="45720" anchor="ctr">
                    <a:lnL w="5715" cap="flat" cmpd="sng" algn="ctr">
                      <a:solidFill>
                        <a:srgbClr val="2B3A55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5715" cap="flat" cmpd="sng" algn="ctr">
                      <a:solidFill>
                        <a:srgbClr val="2B3A55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5715" cap="flat" cmpd="sng" algn="ctr">
                      <a:solidFill>
                        <a:srgbClr val="2B3A55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5715" cap="flat" cmpd="sng" algn="ctr">
                      <a:solidFill>
                        <a:srgbClr val="2B3A55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79451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20" dirty="0">
                          <a:solidFill>
                            <a:srgbClr val="E6EEF7"/>
                          </a:solidFill>
                        </a:rPr>
                        <a:t>agent</a:t>
                      </a:r>
                      <a:endParaRPr lang="en-US" sz="720" dirty="0"/>
                    </a:p>
                  </a:txBody>
                  <a:tcPr marL="91440" marR="91440" marT="45720" marB="45720" anchor="ctr">
                    <a:lnL w="5715" cap="flat" cmpd="sng" algn="ctr">
                      <a:solidFill>
                        <a:srgbClr val="2B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 cap="flat" cmpd="sng" algn="ctr">
                      <a:solidFill>
                        <a:srgbClr val="2B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" cap="flat" cmpd="sng" algn="ctr">
                      <a:solidFill>
                        <a:srgbClr val="2B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 cap="flat" cmpd="sng" algn="ctr">
                      <a:solidFill>
                        <a:srgbClr val="2B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20" dirty="0">
                          <a:solidFill>
                            <a:srgbClr val="E6EEF7"/>
                          </a:solidFill>
                        </a:rPr>
                        <a:t>22%</a:t>
                      </a:r>
                      <a:endParaRPr lang="en-US" sz="720" dirty="0"/>
                    </a:p>
                  </a:txBody>
                  <a:tcPr marL="91440" marR="91440" marT="45720" marB="45720" anchor="ctr">
                    <a:lnL w="5715" cap="flat" cmpd="sng" algn="ctr">
                      <a:solidFill>
                        <a:srgbClr val="2B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 cap="flat" cmpd="sng" algn="ctr">
                      <a:solidFill>
                        <a:srgbClr val="2B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" cap="flat" cmpd="sng" algn="ctr">
                      <a:solidFill>
                        <a:srgbClr val="2B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 cap="flat" cmpd="sng" algn="ctr">
                      <a:solidFill>
                        <a:srgbClr val="2B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720" dirty="0">
                          <a:solidFill>
                            <a:srgbClr val="E6EEF7"/>
                          </a:solidFill>
                        </a:rPr>
                        <a:t>26%</a:t>
                      </a:r>
                      <a:endParaRPr lang="en-US" sz="720" dirty="0"/>
                    </a:p>
                    <a:p>
                      <a:pPr algn="r" indent="0" marL="0">
                        <a:buNone/>
                      </a:pPr>
                      <a:r>
                        <a:rPr lang="en-US" sz="720" dirty="0">
                          <a:solidFill>
                            <a:srgbClr val="E6EEF7"/>
                          </a:solidFill>
                        </a:rPr>
                        <a:t>✅ +4%</a:t>
                      </a:r>
                      <a:endParaRPr lang="en-US" sz="720" dirty="0"/>
                    </a:p>
                  </a:txBody>
                  <a:tcPr marL="91440" marR="91440" marT="45720" marB="45720" anchor="ctr">
                    <a:lnL w="5715" cap="flat" cmpd="sng" algn="ctr">
                      <a:solidFill>
                        <a:srgbClr val="2B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 cap="flat" cmpd="sng" algn="ctr">
                      <a:solidFill>
                        <a:srgbClr val="2B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" cap="flat" cmpd="sng" algn="ctr">
                      <a:solidFill>
                        <a:srgbClr val="2B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 cap="flat" cmpd="sng" algn="ctr">
                      <a:solidFill>
                        <a:srgbClr val="2B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79451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20" dirty="0">
                          <a:solidFill>
                            <a:srgbClr val="E6EEF7"/>
                          </a:solidFill>
                        </a:rPr>
                        <a:t>gateway</a:t>
                      </a:r>
                      <a:endParaRPr lang="en-US" sz="720" dirty="0"/>
                    </a:p>
                  </a:txBody>
                  <a:tcPr marL="91440" marR="91440" marT="45720" marB="45720" anchor="ctr">
                    <a:lnL w="5715" cap="flat" cmpd="sng" algn="ctr">
                      <a:solidFill>
                        <a:srgbClr val="2B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 cap="flat" cmpd="sng" algn="ctr">
                      <a:solidFill>
                        <a:srgbClr val="2B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" cap="flat" cmpd="sng" algn="ctr">
                      <a:solidFill>
                        <a:srgbClr val="2B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 cap="flat" cmpd="sng" algn="ctr">
                      <a:solidFill>
                        <a:srgbClr val="2B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20" dirty="0">
                          <a:solidFill>
                            <a:srgbClr val="E6EEF7"/>
                          </a:solidFill>
                        </a:rPr>
                        <a:t>18%</a:t>
                      </a:r>
                      <a:endParaRPr lang="en-US" sz="720" dirty="0"/>
                    </a:p>
                  </a:txBody>
                  <a:tcPr marL="91440" marR="91440" marT="45720" marB="45720" anchor="ctr">
                    <a:lnL w="5715" cap="flat" cmpd="sng" algn="ctr">
                      <a:solidFill>
                        <a:srgbClr val="2B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 cap="flat" cmpd="sng" algn="ctr">
                      <a:solidFill>
                        <a:srgbClr val="2B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" cap="flat" cmpd="sng" algn="ctr">
                      <a:solidFill>
                        <a:srgbClr val="2B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 cap="flat" cmpd="sng" algn="ctr">
                      <a:solidFill>
                        <a:srgbClr val="2B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720" dirty="0">
                          <a:solidFill>
                            <a:srgbClr val="E6EEF7"/>
                          </a:solidFill>
                        </a:rPr>
                        <a:t>22%</a:t>
                      </a:r>
                      <a:endParaRPr lang="en-US" sz="720" dirty="0"/>
                    </a:p>
                    <a:p>
                      <a:pPr algn="r" indent="0" marL="0">
                        <a:buNone/>
                      </a:pPr>
                      <a:r>
                        <a:rPr lang="en-US" sz="720" dirty="0">
                          <a:solidFill>
                            <a:srgbClr val="E6EEF7"/>
                          </a:solidFill>
                        </a:rPr>
                        <a:t>✅ +4%</a:t>
                      </a:r>
                      <a:endParaRPr lang="en-US" sz="720" dirty="0"/>
                    </a:p>
                  </a:txBody>
                  <a:tcPr marL="91440" marR="91440" marT="45720" marB="45720" anchor="ctr">
                    <a:lnL w="5715" cap="flat" cmpd="sng" algn="ctr">
                      <a:solidFill>
                        <a:srgbClr val="2B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 cap="flat" cmpd="sng" algn="ctr">
                      <a:solidFill>
                        <a:srgbClr val="2B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" cap="flat" cmpd="sng" algn="ctr">
                      <a:solidFill>
                        <a:srgbClr val="2B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 cap="flat" cmpd="sng" algn="ctr">
                      <a:solidFill>
                        <a:srgbClr val="2B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79451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20" dirty="0">
                          <a:solidFill>
                            <a:srgbClr val="E6EEF7"/>
                          </a:solidFill>
                        </a:rPr>
                        <a:t>cli</a:t>
                      </a:r>
                      <a:endParaRPr lang="en-US" sz="720" dirty="0"/>
                    </a:p>
                  </a:txBody>
                  <a:tcPr marL="91440" marR="91440" marT="45720" marB="45720" anchor="ctr">
                    <a:lnL w="5715" cap="flat" cmpd="sng" algn="ctr">
                      <a:solidFill>
                        <a:srgbClr val="2B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 cap="flat" cmpd="sng" algn="ctr">
                      <a:solidFill>
                        <a:srgbClr val="2B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" cap="flat" cmpd="sng" algn="ctr">
                      <a:solidFill>
                        <a:srgbClr val="2B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 cap="flat" cmpd="sng" algn="ctr">
                      <a:solidFill>
                        <a:srgbClr val="2B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20" dirty="0">
                          <a:solidFill>
                            <a:srgbClr val="E6EEF7"/>
                          </a:solidFill>
                        </a:rPr>
                        <a:t>18%</a:t>
                      </a:r>
                      <a:endParaRPr lang="en-US" sz="720" dirty="0"/>
                    </a:p>
                  </a:txBody>
                  <a:tcPr marL="91440" marR="91440" marT="45720" marB="45720" anchor="ctr">
                    <a:lnL w="5715" cap="flat" cmpd="sng" algn="ctr">
                      <a:solidFill>
                        <a:srgbClr val="2B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 cap="flat" cmpd="sng" algn="ctr">
                      <a:solidFill>
                        <a:srgbClr val="2B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" cap="flat" cmpd="sng" algn="ctr">
                      <a:solidFill>
                        <a:srgbClr val="2B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 cap="flat" cmpd="sng" algn="ctr">
                      <a:solidFill>
                        <a:srgbClr val="2B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720" dirty="0">
                          <a:solidFill>
                            <a:srgbClr val="E6EEF7"/>
                          </a:solidFill>
                        </a:rPr>
                        <a:t>17%</a:t>
                      </a:r>
                      <a:endParaRPr lang="en-US" sz="720" dirty="0"/>
                    </a:p>
                    <a:p>
                      <a:pPr algn="r" indent="0" marL="0">
                        <a:buNone/>
                      </a:pPr>
                      <a:r>
                        <a:rPr lang="en-US" sz="720" dirty="0">
                          <a:solidFill>
                            <a:srgbClr val="E6EEF7"/>
                          </a:solidFill>
                        </a:rPr>
                        <a:t>✅ −1%</a:t>
                      </a:r>
                      <a:endParaRPr lang="en-US" sz="720" dirty="0"/>
                    </a:p>
                  </a:txBody>
                  <a:tcPr marL="91440" marR="91440" marT="45720" marB="45720" anchor="ctr">
                    <a:lnL w="5715" cap="flat" cmpd="sng" algn="ctr">
                      <a:solidFill>
                        <a:srgbClr val="2B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 cap="flat" cmpd="sng" algn="ctr">
                      <a:solidFill>
                        <a:srgbClr val="2B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" cap="flat" cmpd="sng" algn="ctr">
                      <a:solidFill>
                        <a:srgbClr val="2B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 cap="flat" cmpd="sng" algn="ctr">
                      <a:solidFill>
                        <a:srgbClr val="2B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79451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20" dirty="0">
                          <a:solidFill>
                            <a:srgbClr val="E6EEF7"/>
                          </a:solidFill>
                        </a:rPr>
                        <a:t>desktop</a:t>
                      </a:r>
                      <a:endParaRPr lang="en-US" sz="720" dirty="0"/>
                    </a:p>
                  </a:txBody>
                  <a:tcPr marL="91440" marR="91440" marT="45720" marB="45720" anchor="ctr">
                    <a:lnL w="5715" cap="flat" cmpd="sng" algn="ctr">
                      <a:solidFill>
                        <a:srgbClr val="FF704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 cap="flat" cmpd="sng" algn="ctr">
                      <a:solidFill>
                        <a:srgbClr val="FF704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" cap="flat" cmpd="sng" algn="ctr">
                      <a:solidFill>
                        <a:srgbClr val="FF704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 cap="flat" cmpd="sng" algn="ctr">
                      <a:solidFill>
                        <a:srgbClr val="FF704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20" dirty="0">
                          <a:solidFill>
                            <a:srgbClr val="E6EEF7"/>
                          </a:solidFill>
                        </a:rPr>
                        <a:t>11%</a:t>
                      </a:r>
                      <a:endParaRPr lang="en-US" sz="720" dirty="0"/>
                    </a:p>
                  </a:txBody>
                  <a:tcPr marL="91440" marR="91440" marT="45720" marB="45720" anchor="ctr">
                    <a:lnL w="5715" cap="flat" cmpd="sng" algn="ctr">
                      <a:solidFill>
                        <a:srgbClr val="FF704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 cap="flat" cmpd="sng" algn="ctr">
                      <a:solidFill>
                        <a:srgbClr val="FF704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" cap="flat" cmpd="sng" algn="ctr">
                      <a:solidFill>
                        <a:srgbClr val="FF704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 cap="flat" cmpd="sng" algn="ctr">
                      <a:solidFill>
                        <a:srgbClr val="FF704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720" dirty="0">
                          <a:solidFill>
                            <a:srgbClr val="E6EEF7"/>
                          </a:solidFill>
                        </a:rPr>
                        <a:t>8%</a:t>
                      </a:r>
                      <a:endParaRPr lang="en-US" sz="720" dirty="0"/>
                    </a:p>
                    <a:p>
                      <a:pPr algn="r" indent="0" marL="0">
                        <a:buNone/>
                      </a:pPr>
                      <a:r>
                        <a:rPr lang="en-US" sz="720" dirty="0">
                          <a:solidFill>
                            <a:srgbClr val="E6EEF7"/>
                          </a:solidFill>
                        </a:rPr>
                        <a:t>⚠️ 供给欠配</a:t>
                      </a:r>
                      <a:endParaRPr lang="en-US" sz="720" dirty="0"/>
                    </a:p>
                    <a:p>
                      <a:pPr algn="r" indent="0" marL="0">
                        <a:buNone/>
                      </a:pPr>
                      <a:r>
                        <a:rPr lang="en-US" sz="720" dirty="0">
                          <a:solidFill>
                            <a:srgbClr val="E6EEF7"/>
                          </a:solidFill>
                        </a:rPr>
                        <a:t>−3%</a:t>
                      </a:r>
                      <a:endParaRPr lang="en-US" sz="720" dirty="0"/>
                    </a:p>
                  </a:txBody>
                  <a:tcPr marL="91440" marR="91440" marT="45720" marB="45720" anchor="ctr">
                    <a:lnL w="5715" cap="flat" cmpd="sng" algn="ctr">
                      <a:solidFill>
                        <a:srgbClr val="FF704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 cap="flat" cmpd="sng" algn="ctr">
                      <a:solidFill>
                        <a:srgbClr val="FF704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" cap="flat" cmpd="sng" algn="ctr">
                      <a:solidFill>
                        <a:srgbClr val="FF704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 cap="flat" cmpd="sng" algn="ctr">
                      <a:solidFill>
                        <a:srgbClr val="FF704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25" name="Shape 22"/>
          <p:cNvSpPr/>
          <p:nvPr/>
        </p:nvSpPr>
        <p:spPr>
          <a:xfrm>
            <a:off x="6880860" y="1040130"/>
            <a:ext cx="1943100" cy="914400"/>
          </a:xfrm>
          <a:prstGeom prst="roundRect">
            <a:avLst>
              <a:gd name="adj" fmla="val 7500"/>
            </a:avLst>
          </a:prstGeom>
          <a:gradFill rotWithShape="1">
            <a:gsLst>
              <a:gs pos="0">
                <a:srgbClr val="1E293B">
                  <a:alpha val="85000"/>
                </a:srgbClr>
              </a:gs>
              <a:gs pos="100000">
                <a:srgbClr val="172033">
                  <a:alpha val="85000"/>
                </a:srgbClr>
              </a:gs>
            </a:gsLst>
            <a:lin ang="5400000" scaled="0"/>
          </a:gradFill>
          <a:ln w="5715">
            <a:solidFill>
              <a:srgbClr val="2B3A55"/>
            </a:solidFill>
            <a:prstDash val="solid"/>
          </a:ln>
        </p:spPr>
      </p:sp>
      <p:sp>
        <p:nvSpPr>
          <p:cNvPr id="26" name="Shape 23"/>
          <p:cNvSpPr/>
          <p:nvPr/>
        </p:nvSpPr>
        <p:spPr>
          <a:xfrm>
            <a:off x="6880860" y="1040130"/>
            <a:ext cx="1931670" cy="5715"/>
          </a:xfrm>
          <a:prstGeom prst="rect">
            <a:avLst/>
          </a:prstGeom>
          <a:gradFill rotWithShape="1">
            <a:gsLst>
              <a:gs pos="0">
                <a:srgbClr val="00BCD4"/>
              </a:gs>
              <a:gs pos="80000">
                <a:srgbClr val="000000">
                  <a:alpha val="0"/>
                </a:srgbClr>
              </a:gs>
            </a:gsLst>
            <a:lin ang="0" scaled="0"/>
          </a:gradFill>
          <a:ln/>
        </p:spPr>
      </p:sp>
      <p:sp>
        <p:nvSpPr>
          <p:cNvPr id="27" name="Text 24"/>
          <p:cNvSpPr/>
          <p:nvPr/>
        </p:nvSpPr>
        <p:spPr>
          <a:xfrm>
            <a:off x="7000875" y="1148715"/>
            <a:ext cx="1907438" cy="91440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buNone/>
            </a:pPr>
            <a:r>
              <a:rPr lang="en-US" sz="495" spc="79" kern="0" dirty="0">
                <a:solidFill>
                  <a:srgbClr val="5B6C8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整体匹配度</a:t>
            </a:r>
            <a:endParaRPr lang="en-US" sz="495" dirty="0"/>
          </a:p>
        </p:txBody>
      </p:sp>
      <p:sp>
        <p:nvSpPr>
          <p:cNvPr id="28" name="Text 25"/>
          <p:cNvSpPr/>
          <p:nvPr/>
        </p:nvSpPr>
        <p:spPr>
          <a:xfrm>
            <a:off x="7000875" y="1297305"/>
            <a:ext cx="962978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440" b="1" spc="7" kern="0" dirty="0">
                <a:solidFill>
                  <a:srgbClr val="E6EEF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53</a:t>
            </a:r>
            <a:pPr algn="l" indent="0" marL="0">
              <a:lnSpc>
                <a:spcPct val="100000"/>
              </a:lnSpc>
              <a:buNone/>
            </a:pPr>
            <a:r>
              <a:rPr lang="en-US" sz="720" b="1" spc="7" kern="0" dirty="0">
                <a:solidFill>
                  <a:srgbClr val="8FA3B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%</a:t>
            </a:r>
            <a:endParaRPr lang="en-US" sz="1440" dirty="0"/>
          </a:p>
        </p:txBody>
      </p:sp>
      <p:sp>
        <p:nvSpPr>
          <p:cNvPr id="29" name="Text 26"/>
          <p:cNvSpPr/>
          <p:nvPr/>
        </p:nvSpPr>
        <p:spPr>
          <a:xfrm>
            <a:off x="7000875" y="1503045"/>
            <a:ext cx="873709" cy="91440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buNone/>
            </a:pPr>
            <a:r>
              <a:rPr lang="en-US" sz="495" spc="40" kern="0" dirty="0">
                <a:solidFill>
                  <a:srgbClr val="8FA3B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需求 · BUG</a:t>
            </a:r>
            <a:endParaRPr lang="en-US" sz="495" dirty="0"/>
          </a:p>
        </p:txBody>
      </p:sp>
      <p:sp>
        <p:nvSpPr>
          <p:cNvPr id="30" name="Shape 27"/>
          <p:cNvSpPr/>
          <p:nvPr/>
        </p:nvSpPr>
        <p:spPr>
          <a:xfrm>
            <a:off x="7849553" y="1343025"/>
            <a:ext cx="5715" cy="205740"/>
          </a:xfrm>
          <a:prstGeom prst="rect">
            <a:avLst/>
          </a:prstGeom>
          <a:solidFill>
            <a:srgbClr val="2B3A55"/>
          </a:solidFill>
          <a:ln/>
        </p:spPr>
      </p:sp>
      <p:sp>
        <p:nvSpPr>
          <p:cNvPr id="31" name="Text 28"/>
          <p:cNvSpPr/>
          <p:nvPr/>
        </p:nvSpPr>
        <p:spPr>
          <a:xfrm>
            <a:off x="7923848" y="1297305"/>
            <a:ext cx="962978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440" b="1" spc="7" kern="0" dirty="0">
                <a:solidFill>
                  <a:srgbClr val="E6EEF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50</a:t>
            </a:r>
            <a:pPr algn="l" indent="0" marL="0">
              <a:lnSpc>
                <a:spcPct val="100000"/>
              </a:lnSpc>
              <a:buNone/>
            </a:pPr>
            <a:r>
              <a:rPr lang="en-US" sz="720" b="1" spc="7" kern="0" dirty="0">
                <a:solidFill>
                  <a:srgbClr val="8FA3B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%</a:t>
            </a:r>
            <a:endParaRPr lang="en-US" sz="1440" dirty="0"/>
          </a:p>
        </p:txBody>
      </p:sp>
      <p:sp>
        <p:nvSpPr>
          <p:cNvPr id="32" name="Text 29"/>
          <p:cNvSpPr/>
          <p:nvPr/>
        </p:nvSpPr>
        <p:spPr>
          <a:xfrm>
            <a:off x="7923848" y="1503045"/>
            <a:ext cx="873709" cy="91440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buNone/>
            </a:pPr>
            <a:r>
              <a:rPr lang="en-US" sz="495" spc="40" kern="0" dirty="0">
                <a:solidFill>
                  <a:srgbClr val="8FA3B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供给 · BUG</a:t>
            </a:r>
            <a:endParaRPr lang="en-US" sz="495" dirty="0"/>
          </a:p>
        </p:txBody>
      </p:sp>
      <p:sp>
        <p:nvSpPr>
          <p:cNvPr id="33" name="Shape 30"/>
          <p:cNvSpPr/>
          <p:nvPr/>
        </p:nvSpPr>
        <p:spPr>
          <a:xfrm>
            <a:off x="7000875" y="1697355"/>
            <a:ext cx="978604" cy="148590"/>
          </a:xfrm>
          <a:prstGeom prst="roundRect">
            <a:avLst>
              <a:gd name="adj" fmla="val 15385"/>
            </a:avLst>
          </a:prstGeom>
          <a:solidFill>
            <a:srgbClr val="00BCD4">
              <a:alpha val="15000"/>
            </a:srgbClr>
          </a:solidFill>
          <a:ln w="5715">
            <a:solidFill>
              <a:srgbClr val="00BCD4">
                <a:alpha val="40000"/>
              </a:srgbClr>
            </a:solidFill>
            <a:prstDash val="solid"/>
          </a:ln>
        </p:spPr>
      </p:sp>
      <p:sp>
        <p:nvSpPr>
          <p:cNvPr id="34" name="Text 31"/>
          <p:cNvSpPr/>
          <p:nvPr/>
        </p:nvSpPr>
        <p:spPr>
          <a:xfrm>
            <a:off x="7000875" y="1697355"/>
            <a:ext cx="1096037" cy="148590"/>
          </a:xfrm>
          <a:prstGeom prst="rect">
            <a:avLst/>
          </a:prstGeom>
          <a:noFill/>
          <a:ln/>
        </p:spPr>
        <p:txBody>
          <a:bodyPr wrap="square" lIns="22860" tIns="57150" rIns="57150" bIns="22860" rtlCol="0" anchor="ctr"/>
          <a:lstStyle/>
          <a:p>
            <a:pPr algn="l" indent="0" marL="0">
              <a:buNone/>
            </a:pPr>
            <a:r>
              <a:rPr lang="en-US" sz="495" b="1" spc="30" kern="0" dirty="0">
                <a:solidFill>
                  <a:srgbClr val="00BCD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✓ Δ 3% · 类型比例整体一致</a:t>
            </a:r>
            <a:endParaRPr lang="en-US" sz="495" dirty="0"/>
          </a:p>
        </p:txBody>
      </p:sp>
      <p:sp>
        <p:nvSpPr>
          <p:cNvPr id="35" name="Shape 32"/>
          <p:cNvSpPr/>
          <p:nvPr/>
        </p:nvSpPr>
        <p:spPr>
          <a:xfrm>
            <a:off x="6880860" y="2034540"/>
            <a:ext cx="1943100" cy="973782"/>
          </a:xfrm>
          <a:prstGeom prst="roundRect">
            <a:avLst>
              <a:gd name="adj" fmla="val 7043"/>
            </a:avLst>
          </a:prstGeom>
          <a:gradFill rotWithShape="1">
            <a:gsLst>
              <a:gs pos="0">
                <a:srgbClr val="00BCD4">
                  <a:alpha val="8000"/>
                </a:srgbClr>
              </a:gs>
              <a:gs pos="100000">
                <a:srgbClr val="00BCD4">
                  <a:alpha val="2000"/>
                </a:srgbClr>
              </a:gs>
            </a:gsLst>
            <a:lin ang="2700000" scaled="0"/>
          </a:gradFill>
          <a:ln w="5715">
            <a:solidFill>
              <a:srgbClr val="00BCD4">
                <a:alpha val="25000"/>
              </a:srgbClr>
            </a:solidFill>
            <a:prstDash val="solid"/>
          </a:ln>
        </p:spPr>
      </p:sp>
      <p:sp>
        <p:nvSpPr>
          <p:cNvPr id="36" name="Text 33"/>
          <p:cNvSpPr/>
          <p:nvPr/>
        </p:nvSpPr>
        <p:spPr>
          <a:xfrm>
            <a:off x="6989445" y="2131695"/>
            <a:ext cx="1933042" cy="80010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buNone/>
            </a:pPr>
            <a:r>
              <a:rPr lang="en-US" sz="495" b="1" spc="79" kern="0" dirty="0">
                <a:solidFill>
                  <a:srgbClr val="00BCD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SUPPLY BREAKDOWN</a:t>
            </a:r>
            <a:endParaRPr lang="en-US" sz="495" dirty="0"/>
          </a:p>
        </p:txBody>
      </p:sp>
      <p:sp>
        <p:nvSpPr>
          <p:cNvPr id="37" name="Shape 34"/>
          <p:cNvSpPr/>
          <p:nvPr/>
        </p:nvSpPr>
        <p:spPr>
          <a:xfrm>
            <a:off x="6989445" y="2131695"/>
            <a:ext cx="80010" cy="5715"/>
          </a:xfrm>
          <a:prstGeom prst="rect">
            <a:avLst/>
          </a:prstGeom>
          <a:solidFill>
            <a:srgbClr val="00BCD4"/>
          </a:solidFill>
          <a:ln/>
        </p:spPr>
      </p:sp>
      <p:sp>
        <p:nvSpPr>
          <p:cNvPr id="38" name="Text 35"/>
          <p:cNvSpPr/>
          <p:nvPr/>
        </p:nvSpPr>
        <p:spPr>
          <a:xfrm>
            <a:off x="6989445" y="2257425"/>
            <a:ext cx="1933042" cy="35656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60000"/>
              </a:lnSpc>
              <a:buNone/>
            </a:pPr>
            <a:r>
              <a:rPr lang="en-US" sz="585" spc="7" kern="0" dirty="0">
                <a:solidFill>
                  <a:srgbClr val="E6EEF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需求</a:t>
            </a:r>
            <a:pPr algn="l" indent="0" marL="0">
              <a:lnSpc>
                <a:spcPct val="160000"/>
              </a:lnSpc>
              <a:buNone/>
            </a:pPr>
            <a:r>
              <a:rPr lang="en-US" sz="585" b="1" spc="7" kern="0" dirty="0">
                <a:solidFill>
                  <a:srgbClr val="00BCD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53%</a:t>
            </a:r>
            <a:pPr algn="l" indent="0" marL="0">
              <a:lnSpc>
                <a:spcPct val="160000"/>
              </a:lnSpc>
              <a:buNone/>
            </a:pPr>
            <a:r>
              <a:rPr lang="en-US" sz="585" spc="7" kern="0" dirty="0">
                <a:solidFill>
                  <a:srgbClr val="E6EEF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集中在</a:t>
            </a:r>
            <a:pPr algn="l" indent="0" marL="0">
              <a:lnSpc>
                <a:spcPct val="160000"/>
              </a:lnSpc>
              <a:buNone/>
            </a:pPr>
            <a:r>
              <a:rPr lang="en-US" sz="585" b="1" spc="7" kern="0" dirty="0">
                <a:solidFill>
                  <a:srgbClr val="00BCD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BUG 修复</a:t>
            </a:r>
            <a:pPr algn="l" indent="0" marL="0">
              <a:lnSpc>
                <a:spcPct val="160000"/>
              </a:lnSpc>
              <a:buNone/>
            </a:pPr>
            <a:r>
              <a:rPr lang="en-US" sz="585" spc="7" kern="0" dirty="0">
                <a:solidFill>
                  <a:srgbClr val="E6EEF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，供给</a:t>
            </a:r>
            <a:pPr algn="l" indent="0" marL="0">
              <a:lnSpc>
                <a:spcPct val="160000"/>
              </a:lnSpc>
              <a:buNone/>
            </a:pPr>
            <a:r>
              <a:rPr lang="en-US" sz="585" b="1" spc="7" kern="0" dirty="0">
                <a:solidFill>
                  <a:srgbClr val="00BCD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50%</a:t>
            </a:r>
            <a:pPr algn="l" indent="0" marL="0">
              <a:lnSpc>
                <a:spcPct val="160000"/>
              </a:lnSpc>
              <a:buNone/>
            </a:pPr>
            <a:r>
              <a:rPr lang="en-US" sz="585" spc="7" kern="0" dirty="0">
                <a:solidFill>
                  <a:srgbClr val="E6EEF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同样以 BUG 为主 —— 总量匹配良好，问题出在</a:t>
            </a:r>
            <a:pPr algn="l" indent="0" marL="0">
              <a:lnSpc>
                <a:spcPct val="160000"/>
              </a:lnSpc>
              <a:buNone/>
            </a:pPr>
            <a:r>
              <a:rPr lang="en-US" sz="585" b="1" spc="7" kern="0" dirty="0">
                <a:solidFill>
                  <a:srgbClr val="00BCD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形态分布</a:t>
            </a:r>
            <a:pPr algn="l" indent="0" marL="0">
              <a:lnSpc>
                <a:spcPct val="160000"/>
              </a:lnSpc>
              <a:buNone/>
            </a:pPr>
            <a:r>
              <a:rPr lang="en-US" sz="585" spc="7" kern="0" dirty="0">
                <a:solidFill>
                  <a:srgbClr val="E6EEF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。</a:t>
            </a:r>
            <a:endParaRPr lang="en-US" sz="585" dirty="0"/>
          </a:p>
        </p:txBody>
      </p:sp>
      <p:sp>
        <p:nvSpPr>
          <p:cNvPr id="39" name="Text 36"/>
          <p:cNvSpPr/>
          <p:nvPr/>
        </p:nvSpPr>
        <p:spPr>
          <a:xfrm>
            <a:off x="6989445" y="2682567"/>
            <a:ext cx="360045" cy="91440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buNone/>
            </a:pPr>
            <a:r>
              <a:rPr lang="en-US" sz="495" spc="20" kern="0" dirty="0">
                <a:solidFill>
                  <a:srgbClr val="8FA3B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需求</a:t>
            </a:r>
            <a:endParaRPr lang="en-US" sz="495" dirty="0"/>
          </a:p>
        </p:txBody>
      </p:sp>
      <p:sp>
        <p:nvSpPr>
          <p:cNvPr id="40" name="Shape 37"/>
          <p:cNvSpPr/>
          <p:nvPr/>
        </p:nvSpPr>
        <p:spPr>
          <a:xfrm>
            <a:off x="7343775" y="2711142"/>
            <a:ext cx="1074420" cy="34290"/>
          </a:xfrm>
          <a:prstGeom prst="roundRect">
            <a:avLst>
              <a:gd name="adj" fmla="val 50000"/>
            </a:avLst>
          </a:prstGeom>
          <a:solidFill>
            <a:srgbClr val="FFFFFF">
              <a:alpha val="5000"/>
            </a:srgbClr>
          </a:solidFill>
          <a:ln/>
        </p:spPr>
      </p:sp>
      <p:sp>
        <p:nvSpPr>
          <p:cNvPr id="41" name="Shape 38"/>
          <p:cNvSpPr/>
          <p:nvPr/>
        </p:nvSpPr>
        <p:spPr>
          <a:xfrm>
            <a:off x="7343775" y="2711142"/>
            <a:ext cx="569357" cy="34290"/>
          </a:xfrm>
          <a:prstGeom prst="roundRect">
            <a:avLst>
              <a:gd name="adj" fmla="val 50000"/>
            </a:avLst>
          </a:prstGeom>
          <a:solidFill>
            <a:srgbClr val="00BCD4"/>
          </a:solidFill>
          <a:ln/>
        </p:spPr>
      </p:sp>
      <p:sp>
        <p:nvSpPr>
          <p:cNvPr id="42" name="Text 39"/>
          <p:cNvSpPr/>
          <p:nvPr/>
        </p:nvSpPr>
        <p:spPr>
          <a:xfrm>
            <a:off x="8475345" y="2688282"/>
            <a:ext cx="302895" cy="80010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r" indent="0" marL="0">
              <a:buNone/>
            </a:pPr>
            <a:r>
              <a:rPr lang="en-US" sz="495" b="1" spc="7" kern="0" dirty="0">
                <a:solidFill>
                  <a:srgbClr val="E6EEF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53%</a:t>
            </a:r>
            <a:endParaRPr lang="en-US" sz="495" dirty="0"/>
          </a:p>
        </p:txBody>
      </p:sp>
      <p:sp>
        <p:nvSpPr>
          <p:cNvPr id="43" name="Text 40"/>
          <p:cNvSpPr/>
          <p:nvPr/>
        </p:nvSpPr>
        <p:spPr>
          <a:xfrm>
            <a:off x="6989445" y="2819727"/>
            <a:ext cx="360045" cy="91440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buNone/>
            </a:pPr>
            <a:r>
              <a:rPr lang="en-US" sz="495" spc="20" kern="0" dirty="0">
                <a:solidFill>
                  <a:srgbClr val="8FA3B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供给</a:t>
            </a:r>
            <a:endParaRPr lang="en-US" sz="495" dirty="0"/>
          </a:p>
        </p:txBody>
      </p:sp>
      <p:sp>
        <p:nvSpPr>
          <p:cNvPr id="44" name="Shape 41"/>
          <p:cNvSpPr/>
          <p:nvPr/>
        </p:nvSpPr>
        <p:spPr>
          <a:xfrm>
            <a:off x="7343775" y="2848302"/>
            <a:ext cx="1074420" cy="34290"/>
          </a:xfrm>
          <a:prstGeom prst="roundRect">
            <a:avLst>
              <a:gd name="adj" fmla="val 50000"/>
            </a:avLst>
          </a:prstGeom>
          <a:solidFill>
            <a:srgbClr val="FFFFFF">
              <a:alpha val="5000"/>
            </a:srgbClr>
          </a:solidFill>
          <a:ln/>
        </p:spPr>
      </p:sp>
      <p:sp>
        <p:nvSpPr>
          <p:cNvPr id="45" name="Shape 42"/>
          <p:cNvSpPr/>
          <p:nvPr/>
        </p:nvSpPr>
        <p:spPr>
          <a:xfrm>
            <a:off x="7343775" y="2848302"/>
            <a:ext cx="537210" cy="34290"/>
          </a:xfrm>
          <a:prstGeom prst="roundRect">
            <a:avLst>
              <a:gd name="adj" fmla="val 50000"/>
            </a:avLst>
          </a:prstGeom>
          <a:solidFill>
            <a:srgbClr val="FF7043"/>
          </a:solidFill>
          <a:ln/>
        </p:spPr>
      </p:sp>
      <p:sp>
        <p:nvSpPr>
          <p:cNvPr id="46" name="Text 43"/>
          <p:cNvSpPr/>
          <p:nvPr/>
        </p:nvSpPr>
        <p:spPr>
          <a:xfrm>
            <a:off x="8475345" y="2825442"/>
            <a:ext cx="302895" cy="80010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r" indent="0" marL="0">
              <a:buNone/>
            </a:pPr>
            <a:r>
              <a:rPr lang="en-US" sz="495" b="1" spc="7" kern="0" dirty="0">
                <a:solidFill>
                  <a:srgbClr val="E6EEF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50%</a:t>
            </a:r>
            <a:endParaRPr lang="en-US" sz="495" dirty="0"/>
          </a:p>
        </p:txBody>
      </p:sp>
      <p:sp>
        <p:nvSpPr>
          <p:cNvPr id="47" name="Shape 44"/>
          <p:cNvSpPr/>
          <p:nvPr/>
        </p:nvSpPr>
        <p:spPr>
          <a:xfrm>
            <a:off x="320040" y="4490383"/>
            <a:ext cx="8503920" cy="424517"/>
          </a:xfrm>
          <a:prstGeom prst="roundRect">
            <a:avLst>
              <a:gd name="adj" fmla="val 13462"/>
            </a:avLst>
          </a:prstGeom>
          <a:gradFill rotWithShape="1">
            <a:gsLst>
              <a:gs pos="0">
                <a:srgbClr val="FF7043">
                  <a:alpha val="10000"/>
                </a:srgbClr>
              </a:gs>
              <a:gs pos="100000">
                <a:srgbClr val="00BCD4">
                  <a:alpha val="6000"/>
                </a:srgbClr>
              </a:gs>
            </a:gsLst>
            <a:lin ang="0" scaled="0"/>
          </a:gradFill>
          <a:ln w="5715">
            <a:solidFill>
              <a:srgbClr val="2B3A55"/>
            </a:solidFill>
            <a:prstDash val="solid"/>
          </a:ln>
        </p:spPr>
      </p:sp>
      <p:sp>
        <p:nvSpPr>
          <p:cNvPr id="48" name="Shape 45"/>
          <p:cNvSpPr/>
          <p:nvPr/>
        </p:nvSpPr>
        <p:spPr>
          <a:xfrm>
            <a:off x="320040" y="4490383"/>
            <a:ext cx="22860" cy="413087"/>
          </a:xfrm>
          <a:prstGeom prst="rect">
            <a:avLst/>
          </a:prstGeom>
          <a:gradFill rotWithShape="1">
            <a:gsLst>
              <a:gs pos="0">
                <a:srgbClr val="FF7043"/>
              </a:gs>
              <a:gs pos="100000">
                <a:srgbClr val="00BCD4"/>
              </a:gs>
            </a:gsLst>
            <a:lin ang="5400000" scaled="0"/>
          </a:gradFill>
          <a:ln/>
        </p:spPr>
      </p:sp>
      <p:sp>
        <p:nvSpPr>
          <p:cNvPr id="49" name="Text 46"/>
          <p:cNvSpPr/>
          <p:nvPr/>
        </p:nvSpPr>
        <p:spPr>
          <a:xfrm>
            <a:off x="451485" y="4611201"/>
            <a:ext cx="252442" cy="182880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buNone/>
            </a:pPr>
            <a:r>
              <a:rPr lang="en-US" sz="990" spc="7" kern="0" dirty="0">
                <a:solidFill>
                  <a:srgbClr val="FF704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◆</a:t>
            </a:r>
            <a:endParaRPr lang="en-US" sz="990" dirty="0"/>
          </a:p>
        </p:txBody>
      </p:sp>
      <p:sp>
        <p:nvSpPr>
          <p:cNvPr id="50" name="Text 47"/>
          <p:cNvSpPr/>
          <p:nvPr/>
        </p:nvSpPr>
        <p:spPr>
          <a:xfrm>
            <a:off x="692497" y="4638615"/>
            <a:ext cx="7434029" cy="12796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60000"/>
              </a:lnSpc>
              <a:buNone/>
            </a:pPr>
            <a:r>
              <a:rPr lang="en-US" sz="630" b="1" spc="7" kern="0" dirty="0">
                <a:solidFill>
                  <a:srgbClr val="FF704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桌面端是供需缺口</a:t>
            </a:r>
            <a:pPr algn="l" indent="0" marL="0">
              <a:lnSpc>
                <a:spcPct val="160000"/>
              </a:lnSpc>
              <a:buNone/>
            </a:pPr>
            <a:r>
              <a:rPr lang="en-US" sz="630" spc="7" kern="0" dirty="0">
                <a:solidFill>
                  <a:srgbClr val="5B6C8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—</a:t>
            </a:r>
            <a:pPr algn="l" indent="0" marL="0">
              <a:lnSpc>
                <a:spcPct val="160000"/>
              </a:lnSpc>
              <a:buNone/>
            </a:pPr>
            <a:r>
              <a:rPr lang="en-US" sz="630" spc="7" kern="0" dirty="0">
                <a:solidFill>
                  <a:srgbClr val="E6EEF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用户偏新功能，供给以 BUG 为主；</a:t>
            </a:r>
            <a:pPr algn="l" indent="0" marL="0">
              <a:lnSpc>
                <a:spcPct val="160000"/>
              </a:lnSpc>
              <a:buNone/>
            </a:pPr>
            <a:r>
              <a:rPr lang="en-US" sz="630" b="1" spc="7" kern="0" dirty="0">
                <a:solidFill>
                  <a:srgbClr val="00BCD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能力扩张由用户需求驱动</a:t>
            </a:r>
            <a:pPr algn="l" indent="0" marL="0">
              <a:lnSpc>
                <a:spcPct val="160000"/>
              </a:lnSpc>
              <a:buNone/>
            </a:pPr>
            <a:r>
              <a:rPr lang="en-US" sz="630" spc="7" kern="0" dirty="0">
                <a:solidFill>
                  <a:srgbClr val="E6EEF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，而非行政推动。</a:t>
            </a:r>
            <a:endParaRPr lang="en-US" sz="630" dirty="0"/>
          </a:p>
        </p:txBody>
      </p:sp>
      <p:sp>
        <p:nvSpPr>
          <p:cNvPr id="51" name="Shape 48"/>
          <p:cNvSpPr/>
          <p:nvPr/>
        </p:nvSpPr>
        <p:spPr>
          <a:xfrm>
            <a:off x="7444323" y="4587538"/>
            <a:ext cx="1248192" cy="230207"/>
          </a:xfrm>
          <a:prstGeom prst="rect">
            <a:avLst/>
          </a:prstGeom>
          <a:noFill/>
          <a:ln/>
        </p:spPr>
      </p:sp>
      <p:sp>
        <p:nvSpPr>
          <p:cNvPr id="52" name="Shape 49"/>
          <p:cNvSpPr/>
          <p:nvPr/>
        </p:nvSpPr>
        <p:spPr>
          <a:xfrm>
            <a:off x="7444323" y="4587538"/>
            <a:ext cx="0" cy="230207"/>
          </a:xfrm>
          <a:prstGeom prst="line">
            <a:avLst/>
          </a:prstGeom>
          <a:noFill/>
          <a:ln w="5715">
            <a:solidFill>
              <a:srgbClr val="2B3A55"/>
            </a:solidFill>
            <a:prstDash val="solid"/>
          </a:ln>
        </p:spPr>
      </p:sp>
      <p:sp>
        <p:nvSpPr>
          <p:cNvPr id="53" name="Text 50"/>
          <p:cNvSpPr/>
          <p:nvPr/>
        </p:nvSpPr>
        <p:spPr>
          <a:xfrm>
            <a:off x="7444323" y="4587538"/>
            <a:ext cx="1397975" cy="230207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55000"/>
              </a:lnSpc>
              <a:buNone/>
            </a:pPr>
            <a:r>
              <a:rPr lang="en-US" sz="585" b="1" i="1" spc="7" kern="0" dirty="0">
                <a:solidFill>
                  <a:srgbClr val="00BCD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「生态是结果，不是手段。」 </a:t>
            </a:r>
            <a:pPr algn="l" indent="0" marL="0">
              <a:lnSpc>
                <a:spcPct val="155000"/>
              </a:lnSpc>
              <a:buNone/>
            </a:pPr>
            <a:endParaRPr lang="en-US" sz="585" dirty="0"/>
          </a:p>
          <a:p>
            <a:pPr algn="l" indent="0" marL="0">
              <a:lnSpc>
                <a:spcPct val="155000"/>
              </a:lnSpc>
              <a:buNone/>
            </a:pPr>
            <a:r>
              <a:rPr lang="en-US" sz="585" i="1" spc="7" kern="0" dirty="0">
                <a:solidFill>
                  <a:srgbClr val="8FA3B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供给结构应向用户真实需求对齐。</a:t>
            </a:r>
            <a:endParaRPr lang="en-US" sz="585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0B12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gradFill rotWithShape="1">
            <a:gsLst>
              <a:gs pos="0">
                <a:srgbClr val="0B1220"/>
              </a:gs>
              <a:gs pos="45000">
                <a:srgbClr val="0F172A"/>
              </a:gs>
              <a:gs pos="100000">
                <a:srgbClr val="111827"/>
              </a:gs>
            </a:gsLst>
            <a:lin ang="2700000" scaled="0"/>
          </a:gra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gradFill rotWithShape="1">
            <a:gsLst>
              <a:gs pos="0">
                <a:srgbClr val="000000">
                  <a:alpha val="5000"/>
                </a:srgbClr>
              </a:gs>
              <a:gs pos="25000">
                <a:srgbClr val="000000">
                  <a:alpha val="0"/>
                </a:srgbClr>
              </a:gs>
              <a:gs pos="50000">
                <a:srgbClr val="000000"/>
              </a:gs>
              <a:gs pos="75000">
                <a:srgbClr val="000000">
                  <a:alpha val="5000"/>
                </a:srgbClr>
              </a:gs>
              <a:gs pos="100000">
                <a:srgbClr val="000000">
                  <a:alpha val="0"/>
                </a:srgbClr>
              </a:gs>
            </a:gsLst>
            <a:lin ang="5400000" scaled="0"/>
          </a:gradFill>
          <a:ln/>
        </p:spPr>
      </p:sp>
      <p:sp>
        <p:nvSpPr>
          <p:cNvPr id="4" name="Shape 2"/>
          <p:cNvSpPr/>
          <p:nvPr/>
        </p:nvSpPr>
        <p:spPr>
          <a:xfrm>
            <a:off x="342900" y="228600"/>
            <a:ext cx="8458200" cy="480060"/>
          </a:xfrm>
          <a:prstGeom prst="rect">
            <a:avLst/>
          </a:prstGeom>
          <a:noFill/>
          <a:ln/>
        </p:spPr>
      </p:sp>
      <p:sp>
        <p:nvSpPr>
          <p:cNvPr id="5" name="Shape 3"/>
          <p:cNvSpPr/>
          <p:nvPr/>
        </p:nvSpPr>
        <p:spPr>
          <a:xfrm>
            <a:off x="342900" y="708660"/>
            <a:ext cx="8458200" cy="0"/>
          </a:xfrm>
          <a:prstGeom prst="line">
            <a:avLst/>
          </a:prstGeom>
          <a:noFill/>
          <a:ln w="5715">
            <a:solidFill>
              <a:srgbClr val="334155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42900" y="311468"/>
            <a:ext cx="45720" cy="228600"/>
          </a:xfrm>
          <a:prstGeom prst="roundRect">
            <a:avLst>
              <a:gd name="adj" fmla="val 25000"/>
            </a:avLst>
          </a:prstGeom>
          <a:solidFill>
            <a:srgbClr val="00BCD4"/>
          </a:solidFill>
          <a:ln/>
          <a:effectLst>
            <a:outerShdw sx="100000" sy="100000" kx="0" ky="0" algn="bl" rotWithShape="0" blurRad="152400" dist="50800" dir="16200000">
              <a:srgbClr val="00BCD4">
                <a:alpha val="55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480060" y="228600"/>
            <a:ext cx="2707538" cy="280035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buNone/>
            </a:pPr>
            <a:r>
              <a:rPr lang="en-US" sz="1530" b="1" spc="23" kern="0" dirty="0">
                <a:solidFill>
                  <a:srgbClr val="F1F5F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消费侧 · 弱代理的采纳信号</a:t>
            </a:r>
            <a:endParaRPr lang="en-US" sz="1530" dirty="0"/>
          </a:p>
        </p:txBody>
      </p:sp>
      <p:sp>
        <p:nvSpPr>
          <p:cNvPr id="8" name="Text 6"/>
          <p:cNvSpPr/>
          <p:nvPr/>
        </p:nvSpPr>
        <p:spPr>
          <a:xfrm>
            <a:off x="480060" y="531495"/>
            <a:ext cx="2707538" cy="91440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buNone/>
            </a:pPr>
            <a:r>
              <a:rPr lang="en-US" sz="585" spc="23" kern="0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Contributor Cohort × Release Cadence · Weak Proxy Indicators</a:t>
            </a:r>
            <a:endParaRPr lang="en-US" sz="585" dirty="0"/>
          </a:p>
        </p:txBody>
      </p:sp>
      <p:sp>
        <p:nvSpPr>
          <p:cNvPr id="9" name="Shape 7"/>
          <p:cNvSpPr/>
          <p:nvPr/>
        </p:nvSpPr>
        <p:spPr>
          <a:xfrm>
            <a:off x="7560945" y="325755"/>
            <a:ext cx="1240155" cy="200025"/>
          </a:xfrm>
          <a:prstGeom prst="roundRect">
            <a:avLst>
              <a:gd name="adj" fmla="val 57143"/>
            </a:avLst>
          </a:prstGeom>
          <a:solidFill>
            <a:srgbClr val="1E293B">
              <a:alpha val="60000"/>
            </a:srgbClr>
          </a:solidFill>
          <a:ln w="5715">
            <a:solidFill>
              <a:srgbClr val="475569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658100" y="377190"/>
            <a:ext cx="192024" cy="97155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buNone/>
            </a:pPr>
            <a:r>
              <a:rPr lang="en-US" sz="630" b="1" spc="68" kern="0" dirty="0">
                <a:solidFill>
                  <a:srgbClr val="00BCD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17</a:t>
            </a:r>
            <a:endParaRPr lang="en-US" sz="630" dirty="0"/>
          </a:p>
        </p:txBody>
      </p:sp>
      <p:sp>
        <p:nvSpPr>
          <p:cNvPr id="11" name="Shape 9"/>
          <p:cNvSpPr/>
          <p:nvPr/>
        </p:nvSpPr>
        <p:spPr>
          <a:xfrm>
            <a:off x="7812405" y="414338"/>
            <a:ext cx="22860" cy="22860"/>
          </a:xfrm>
          <a:prstGeom prst="ellipse">
            <a:avLst/>
          </a:prstGeom>
          <a:solidFill>
            <a:srgbClr val="64748B"/>
          </a:solidFill>
          <a:ln/>
        </p:spPr>
      </p:sp>
      <p:sp>
        <p:nvSpPr>
          <p:cNvPr id="12" name="Text 10"/>
          <p:cNvSpPr/>
          <p:nvPr/>
        </p:nvSpPr>
        <p:spPr>
          <a:xfrm>
            <a:off x="7892415" y="382905"/>
            <a:ext cx="908914" cy="85725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buNone/>
            </a:pPr>
            <a:r>
              <a:rPr lang="en-US" sz="540" spc="68" kern="0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ADOPTION SIGNALS</a:t>
            </a:r>
            <a:endParaRPr lang="en-US" sz="540" dirty="0"/>
          </a:p>
        </p:txBody>
      </p:sp>
      <p:sp>
        <p:nvSpPr>
          <p:cNvPr id="13" name="Shape 11"/>
          <p:cNvSpPr/>
          <p:nvPr/>
        </p:nvSpPr>
        <p:spPr>
          <a:xfrm>
            <a:off x="342900" y="834390"/>
            <a:ext cx="4371975" cy="2514600"/>
          </a:xfrm>
          <a:prstGeom prst="roundRect">
            <a:avLst>
              <a:gd name="adj" fmla="val 2273"/>
            </a:avLst>
          </a:prstGeom>
          <a:gradFill rotWithShape="1">
            <a:gsLst>
              <a:gs pos="0">
                <a:srgbClr val="1E293B">
                  <a:alpha val="55000"/>
                </a:srgbClr>
              </a:gs>
              <a:gs pos="100000">
                <a:srgbClr val="0B1220">
                  <a:alpha val="35000"/>
                </a:srgbClr>
              </a:gs>
            </a:gsLst>
            <a:lin ang="5400000" scaled="0"/>
          </a:gradFill>
          <a:ln w="5715">
            <a:solidFill>
              <a:srgbClr val="334155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342900" y="834390"/>
            <a:ext cx="4360545" cy="11430"/>
          </a:xfrm>
          <a:prstGeom prst="rect">
            <a:avLst/>
          </a:prstGeom>
          <a:gradFill rotWithShape="1">
            <a:gsLst>
              <a:gs pos="0">
                <a:srgbClr val="000000">
                  <a:alpha val="0"/>
                </a:srgbClr>
              </a:gs>
              <a:gs pos="50000">
                <a:srgbClr val="00BCD4"/>
              </a:gs>
              <a:gs pos="100000">
                <a:srgbClr val="000000">
                  <a:alpha val="0"/>
                </a:srgbClr>
              </a:gs>
            </a:gsLst>
            <a:lin ang="0" scaled="0"/>
          </a:gradFill>
          <a:ln/>
        </p:spPr>
      </p:sp>
      <p:sp>
        <p:nvSpPr>
          <p:cNvPr id="15" name="Text 13"/>
          <p:cNvSpPr/>
          <p:nvPr/>
        </p:nvSpPr>
        <p:spPr>
          <a:xfrm>
            <a:off x="474345" y="965835"/>
            <a:ext cx="1260958" cy="91440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buNone/>
            </a:pPr>
            <a:r>
              <a:rPr lang="en-US" sz="585" spc="90" kern="0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CONTRIBUTOR PYRAMID</a:t>
            </a:r>
            <a:endParaRPr lang="en-US" sz="585" dirty="0"/>
          </a:p>
        </p:txBody>
      </p:sp>
      <p:sp>
        <p:nvSpPr>
          <p:cNvPr id="16" name="Text 14"/>
          <p:cNvSpPr/>
          <p:nvPr/>
        </p:nvSpPr>
        <p:spPr>
          <a:xfrm>
            <a:off x="1850231" y="1102995"/>
            <a:ext cx="602361" cy="194310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530" b="1" spc="-22" kern="0" dirty="0">
                <a:solidFill>
                  <a:srgbClr val="00BCD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397</a:t>
            </a:r>
            <a:endParaRPr lang="en-US" sz="1530" dirty="0"/>
          </a:p>
        </p:txBody>
      </p:sp>
      <p:sp>
        <p:nvSpPr>
          <p:cNvPr id="17" name="Text 15"/>
          <p:cNvSpPr/>
          <p:nvPr/>
        </p:nvSpPr>
        <p:spPr>
          <a:xfrm>
            <a:off x="2264569" y="1200150"/>
            <a:ext cx="1056132" cy="85725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buNone/>
            </a:pPr>
            <a:r>
              <a:rPr lang="en-US" sz="540" spc="68" kern="0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TOTAL CONTRIBUTORS</a:t>
            </a:r>
            <a:endParaRPr lang="en-US" sz="540" dirty="0"/>
          </a:p>
        </p:txBody>
      </p:sp>
      <p:pic>
        <p:nvPicPr>
          <p:cNvPr id="18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474345" y="1343025"/>
            <a:ext cx="4109085" cy="1775133"/>
          </a:xfrm>
          <a:prstGeom prst="rect">
            <a:avLst/>
          </a:prstGeom>
        </p:spPr>
      </p:pic>
      <p:sp>
        <p:nvSpPr>
          <p:cNvPr id="19" name="Text 16"/>
          <p:cNvSpPr/>
          <p:nvPr/>
        </p:nvSpPr>
        <p:spPr>
          <a:xfrm>
            <a:off x="1983105" y="3152448"/>
            <a:ext cx="1222553" cy="87957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ctr" indent="0" marL="0">
              <a:lnSpc>
                <a:spcPct val="140000"/>
              </a:lnSpc>
              <a:buNone/>
            </a:pPr>
            <a:r>
              <a:rPr lang="en-US" sz="495" spc="23" kern="0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Commit bands: 100+ · 10–99 · 1–9</a:t>
            </a:r>
            <a:endParaRPr lang="en-US" sz="495" dirty="0"/>
          </a:p>
        </p:txBody>
      </p:sp>
      <p:sp>
        <p:nvSpPr>
          <p:cNvPr id="20" name="Shape 17"/>
          <p:cNvSpPr/>
          <p:nvPr/>
        </p:nvSpPr>
        <p:spPr>
          <a:xfrm>
            <a:off x="4886325" y="834390"/>
            <a:ext cx="927259" cy="2514600"/>
          </a:xfrm>
          <a:prstGeom prst="roundRect">
            <a:avLst>
              <a:gd name="adj" fmla="val 4931"/>
            </a:avLst>
          </a:prstGeom>
          <a:gradFill rotWithShape="1">
            <a:gsLst>
              <a:gs pos="0">
                <a:srgbClr val="1E293B">
                  <a:alpha val="60000"/>
                </a:srgbClr>
              </a:gs>
              <a:gs pos="100000">
                <a:srgbClr val="111827">
                  <a:alpha val="50000"/>
                </a:srgbClr>
              </a:gs>
            </a:gsLst>
            <a:lin ang="5400000" scaled="0"/>
          </a:gradFill>
          <a:ln w="5715">
            <a:solidFill>
              <a:srgbClr val="334155"/>
            </a:solidFill>
            <a:prstDash val="solid"/>
          </a:ln>
        </p:spPr>
      </p:sp>
      <p:sp>
        <p:nvSpPr>
          <p:cNvPr id="21" name="Shape 18"/>
          <p:cNvSpPr/>
          <p:nvPr/>
        </p:nvSpPr>
        <p:spPr>
          <a:xfrm>
            <a:off x="4886325" y="834390"/>
            <a:ext cx="915829" cy="17145"/>
          </a:xfrm>
          <a:prstGeom prst="rect">
            <a:avLst/>
          </a:prstGeom>
          <a:solidFill>
            <a:srgbClr val="00BCD4"/>
          </a:solidFill>
          <a:ln/>
        </p:spPr>
      </p:sp>
      <p:sp>
        <p:nvSpPr>
          <p:cNvPr id="22" name="Text 19"/>
          <p:cNvSpPr/>
          <p:nvPr/>
        </p:nvSpPr>
        <p:spPr>
          <a:xfrm>
            <a:off x="4983480" y="942975"/>
            <a:ext cx="820903" cy="17145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540" spc="23" kern="0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总 Contributors</a:t>
            </a:r>
            <a:endParaRPr lang="en-US" sz="540" dirty="0"/>
          </a:p>
        </p:txBody>
      </p:sp>
      <p:sp>
        <p:nvSpPr>
          <p:cNvPr id="23" name="Text 20"/>
          <p:cNvSpPr/>
          <p:nvPr/>
        </p:nvSpPr>
        <p:spPr>
          <a:xfrm>
            <a:off x="4983480" y="1171575"/>
            <a:ext cx="673227" cy="217170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710" b="1" spc="-45" kern="0" dirty="0">
                <a:solidFill>
                  <a:srgbClr val="00BCD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397</a:t>
            </a:r>
            <a:endParaRPr lang="en-US" sz="1710" dirty="0"/>
          </a:p>
        </p:txBody>
      </p:sp>
      <p:sp>
        <p:nvSpPr>
          <p:cNvPr id="24" name="Text 21"/>
          <p:cNvSpPr/>
          <p:nvPr/>
        </p:nvSpPr>
        <p:spPr>
          <a:xfrm>
            <a:off x="4983480" y="1434465"/>
            <a:ext cx="820903" cy="95994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630" b="1" dirty="0">
                <a:solidFill>
                  <a:srgbClr val="00BCD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Total</a:t>
            </a:r>
            <a:endParaRPr lang="en-US" sz="630" dirty="0"/>
          </a:p>
        </p:txBody>
      </p:sp>
      <p:sp>
        <p:nvSpPr>
          <p:cNvPr id="25" name="Shape 22"/>
          <p:cNvSpPr/>
          <p:nvPr/>
        </p:nvSpPr>
        <p:spPr>
          <a:xfrm>
            <a:off x="4983480" y="2988945"/>
            <a:ext cx="732949" cy="262890"/>
          </a:xfrm>
          <a:prstGeom prst="rect">
            <a:avLst/>
          </a:prstGeom>
          <a:noFill/>
          <a:ln/>
        </p:spPr>
      </p:sp>
      <p:sp>
        <p:nvSpPr>
          <p:cNvPr id="26" name="Shape 23"/>
          <p:cNvSpPr/>
          <p:nvPr/>
        </p:nvSpPr>
        <p:spPr>
          <a:xfrm>
            <a:off x="4983480" y="2988945"/>
            <a:ext cx="732949" cy="0"/>
          </a:xfrm>
          <a:prstGeom prst="line">
            <a:avLst/>
          </a:prstGeom>
          <a:noFill/>
          <a:ln w="5715">
            <a:solidFill>
              <a:srgbClr val="334155">
                <a:alpha val="50000"/>
              </a:srgbClr>
            </a:solidFill>
            <a:prstDash val="solid"/>
          </a:ln>
        </p:spPr>
      </p:sp>
      <p:sp>
        <p:nvSpPr>
          <p:cNvPr id="27" name="Text 24"/>
          <p:cNvSpPr/>
          <p:nvPr/>
        </p:nvSpPr>
        <p:spPr>
          <a:xfrm>
            <a:off x="4983480" y="2988945"/>
            <a:ext cx="820903" cy="26289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495" spc="9" kern="0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stars/forks ≠ 真实使用</a:t>
            </a:r>
            <a:pPr algn="l" indent="0" marL="0">
              <a:lnSpc>
                <a:spcPct val="150000"/>
              </a:lnSpc>
              <a:buNone/>
            </a:pPr>
            <a:endParaRPr lang="en-US" sz="495" dirty="0"/>
          </a:p>
          <a:p>
            <a:pPr algn="l" indent="0" marL="0">
              <a:lnSpc>
                <a:spcPct val="150000"/>
              </a:lnSpc>
              <a:buNone/>
            </a:pPr>
            <a:r>
              <a:rPr lang="en-US" sz="495" spc="9" kern="0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是弱代理</a:t>
            </a:r>
            <a:endParaRPr lang="en-US" sz="495" dirty="0"/>
          </a:p>
        </p:txBody>
      </p:sp>
      <p:sp>
        <p:nvSpPr>
          <p:cNvPr id="28" name="Shape 25"/>
          <p:cNvSpPr/>
          <p:nvPr/>
        </p:nvSpPr>
        <p:spPr>
          <a:xfrm>
            <a:off x="5882164" y="834390"/>
            <a:ext cx="927259" cy="2514600"/>
          </a:xfrm>
          <a:prstGeom prst="roundRect">
            <a:avLst>
              <a:gd name="adj" fmla="val 4931"/>
            </a:avLst>
          </a:prstGeom>
          <a:gradFill rotWithShape="1">
            <a:gsLst>
              <a:gs pos="0">
                <a:srgbClr val="1E293B">
                  <a:alpha val="60000"/>
                </a:srgbClr>
              </a:gs>
              <a:gs pos="100000">
                <a:srgbClr val="111827">
                  <a:alpha val="50000"/>
                </a:srgbClr>
              </a:gs>
            </a:gsLst>
            <a:lin ang="5400000" scaled="0"/>
          </a:gradFill>
          <a:ln w="5715">
            <a:solidFill>
              <a:srgbClr val="334155"/>
            </a:solidFill>
            <a:prstDash val="solid"/>
          </a:ln>
        </p:spPr>
      </p:sp>
      <p:sp>
        <p:nvSpPr>
          <p:cNvPr id="29" name="Shape 26"/>
          <p:cNvSpPr/>
          <p:nvPr/>
        </p:nvSpPr>
        <p:spPr>
          <a:xfrm>
            <a:off x="5882164" y="834390"/>
            <a:ext cx="915829" cy="17145"/>
          </a:xfrm>
          <a:prstGeom prst="rect">
            <a:avLst/>
          </a:prstGeom>
          <a:solidFill>
            <a:srgbClr val="FF7043"/>
          </a:solidFill>
          <a:ln/>
        </p:spPr>
      </p:sp>
      <p:sp>
        <p:nvSpPr>
          <p:cNvPr id="30" name="Text 27"/>
          <p:cNvSpPr/>
          <p:nvPr/>
        </p:nvSpPr>
        <p:spPr>
          <a:xfrm>
            <a:off x="5979319" y="942975"/>
            <a:ext cx="820903" cy="17145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540" spc="23" kern="0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核心 · 100+ commits</a:t>
            </a:r>
            <a:endParaRPr lang="en-US" sz="540" dirty="0"/>
          </a:p>
        </p:txBody>
      </p:sp>
      <p:sp>
        <p:nvSpPr>
          <p:cNvPr id="31" name="Text 28"/>
          <p:cNvSpPr/>
          <p:nvPr/>
        </p:nvSpPr>
        <p:spPr>
          <a:xfrm>
            <a:off x="5979319" y="1171575"/>
            <a:ext cx="521208" cy="217170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710" b="1" spc="-45" kern="0" dirty="0">
                <a:solidFill>
                  <a:srgbClr val="FF704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21</a:t>
            </a:r>
            <a:endParaRPr lang="en-US" sz="1710" dirty="0"/>
          </a:p>
        </p:txBody>
      </p:sp>
      <p:sp>
        <p:nvSpPr>
          <p:cNvPr id="32" name="Text 29"/>
          <p:cNvSpPr/>
          <p:nvPr/>
        </p:nvSpPr>
        <p:spPr>
          <a:xfrm>
            <a:off x="6230779" y="1291590"/>
            <a:ext cx="160020" cy="80010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630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人</a:t>
            </a:r>
            <a:endParaRPr lang="en-US" sz="630" dirty="0"/>
          </a:p>
        </p:txBody>
      </p:sp>
      <p:sp>
        <p:nvSpPr>
          <p:cNvPr id="33" name="Text 30"/>
          <p:cNvSpPr/>
          <p:nvPr/>
        </p:nvSpPr>
        <p:spPr>
          <a:xfrm>
            <a:off x="5979319" y="1434465"/>
            <a:ext cx="820903" cy="95994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630" b="1" dirty="0">
                <a:solidFill>
                  <a:srgbClr val="FF704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5.3%</a:t>
            </a:r>
            <a:endParaRPr lang="en-US" sz="630" dirty="0"/>
          </a:p>
        </p:txBody>
      </p:sp>
      <p:sp>
        <p:nvSpPr>
          <p:cNvPr id="34" name="Shape 31"/>
          <p:cNvSpPr/>
          <p:nvPr/>
        </p:nvSpPr>
        <p:spPr>
          <a:xfrm>
            <a:off x="5979319" y="2988945"/>
            <a:ext cx="732949" cy="262890"/>
          </a:xfrm>
          <a:prstGeom prst="rect">
            <a:avLst/>
          </a:prstGeom>
          <a:noFill/>
          <a:ln/>
        </p:spPr>
      </p:sp>
      <p:sp>
        <p:nvSpPr>
          <p:cNvPr id="35" name="Shape 32"/>
          <p:cNvSpPr/>
          <p:nvPr/>
        </p:nvSpPr>
        <p:spPr>
          <a:xfrm>
            <a:off x="5979319" y="2988945"/>
            <a:ext cx="732949" cy="0"/>
          </a:xfrm>
          <a:prstGeom prst="line">
            <a:avLst/>
          </a:prstGeom>
          <a:noFill/>
          <a:ln w="5715">
            <a:solidFill>
              <a:srgbClr val="334155">
                <a:alpha val="50000"/>
              </a:srgbClr>
            </a:solidFill>
            <a:prstDash val="solid"/>
          </a:ln>
        </p:spPr>
      </p:sp>
      <p:sp>
        <p:nvSpPr>
          <p:cNvPr id="36" name="Text 33"/>
          <p:cNvSpPr/>
          <p:nvPr/>
        </p:nvSpPr>
        <p:spPr>
          <a:xfrm>
            <a:off x="5979319" y="2988945"/>
            <a:ext cx="820903" cy="26289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495" spc="9" kern="0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Top 1 teknium1</a:t>
            </a:r>
            <a:pPr algn="l" indent="0" marL="0">
              <a:lnSpc>
                <a:spcPct val="150000"/>
              </a:lnSpc>
              <a:buNone/>
            </a:pPr>
            <a:endParaRPr lang="en-US" sz="495" dirty="0"/>
          </a:p>
          <a:p>
            <a:pPr algn="l" indent="0" marL="0">
              <a:lnSpc>
                <a:spcPct val="150000"/>
              </a:lnSpc>
              <a:buNone/>
            </a:pPr>
            <a:r>
              <a:rPr lang="en-US" sz="495" spc="9" kern="0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14,638 commits</a:t>
            </a:r>
            <a:endParaRPr lang="en-US" sz="495" dirty="0"/>
          </a:p>
        </p:txBody>
      </p:sp>
      <p:sp>
        <p:nvSpPr>
          <p:cNvPr id="37" name="Shape 34"/>
          <p:cNvSpPr/>
          <p:nvPr/>
        </p:nvSpPr>
        <p:spPr>
          <a:xfrm>
            <a:off x="6878003" y="834390"/>
            <a:ext cx="927259" cy="2514600"/>
          </a:xfrm>
          <a:prstGeom prst="roundRect">
            <a:avLst>
              <a:gd name="adj" fmla="val 4931"/>
            </a:avLst>
          </a:prstGeom>
          <a:gradFill rotWithShape="1">
            <a:gsLst>
              <a:gs pos="0">
                <a:srgbClr val="1E293B">
                  <a:alpha val="60000"/>
                </a:srgbClr>
              </a:gs>
              <a:gs pos="100000">
                <a:srgbClr val="111827">
                  <a:alpha val="50000"/>
                </a:srgbClr>
              </a:gs>
            </a:gsLst>
            <a:lin ang="5400000" scaled="0"/>
          </a:gradFill>
          <a:ln w="5715">
            <a:solidFill>
              <a:srgbClr val="334155"/>
            </a:solidFill>
            <a:prstDash val="solid"/>
          </a:ln>
        </p:spPr>
      </p:sp>
      <p:sp>
        <p:nvSpPr>
          <p:cNvPr id="38" name="Shape 35"/>
          <p:cNvSpPr/>
          <p:nvPr/>
        </p:nvSpPr>
        <p:spPr>
          <a:xfrm>
            <a:off x="6878003" y="834390"/>
            <a:ext cx="915829" cy="17145"/>
          </a:xfrm>
          <a:prstGeom prst="rect">
            <a:avLst/>
          </a:prstGeom>
          <a:solidFill>
            <a:srgbClr val="00BCD4"/>
          </a:solidFill>
          <a:ln/>
        </p:spPr>
      </p:sp>
      <p:sp>
        <p:nvSpPr>
          <p:cNvPr id="39" name="Text 36"/>
          <p:cNvSpPr/>
          <p:nvPr/>
        </p:nvSpPr>
        <p:spPr>
          <a:xfrm>
            <a:off x="6975158" y="942975"/>
            <a:ext cx="820903" cy="178237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540" spc="23" kern="0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活跃 · 10-99 commits</a:t>
            </a:r>
            <a:endParaRPr lang="en-US" sz="540" dirty="0"/>
          </a:p>
        </p:txBody>
      </p:sp>
      <p:sp>
        <p:nvSpPr>
          <p:cNvPr id="40" name="Text 37"/>
          <p:cNvSpPr/>
          <p:nvPr/>
        </p:nvSpPr>
        <p:spPr>
          <a:xfrm>
            <a:off x="6975158" y="1178362"/>
            <a:ext cx="673227" cy="217170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710" b="1" spc="-45" kern="0" dirty="0">
                <a:solidFill>
                  <a:srgbClr val="00BCD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143</a:t>
            </a:r>
            <a:endParaRPr lang="en-US" sz="1710" dirty="0"/>
          </a:p>
        </p:txBody>
      </p:sp>
      <p:sp>
        <p:nvSpPr>
          <p:cNvPr id="41" name="Text 38"/>
          <p:cNvSpPr/>
          <p:nvPr/>
        </p:nvSpPr>
        <p:spPr>
          <a:xfrm>
            <a:off x="7375208" y="1298377"/>
            <a:ext cx="160020" cy="80010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630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人</a:t>
            </a:r>
            <a:endParaRPr lang="en-US" sz="630" dirty="0"/>
          </a:p>
        </p:txBody>
      </p:sp>
      <p:sp>
        <p:nvSpPr>
          <p:cNvPr id="42" name="Text 39"/>
          <p:cNvSpPr/>
          <p:nvPr/>
        </p:nvSpPr>
        <p:spPr>
          <a:xfrm>
            <a:off x="6975158" y="1441252"/>
            <a:ext cx="820903" cy="95994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630" b="1" dirty="0">
                <a:solidFill>
                  <a:srgbClr val="00BCD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36.0%</a:t>
            </a:r>
            <a:endParaRPr lang="en-US" sz="630" dirty="0"/>
          </a:p>
        </p:txBody>
      </p:sp>
      <p:sp>
        <p:nvSpPr>
          <p:cNvPr id="43" name="Shape 40"/>
          <p:cNvSpPr/>
          <p:nvPr/>
        </p:nvSpPr>
        <p:spPr>
          <a:xfrm>
            <a:off x="6975158" y="2988945"/>
            <a:ext cx="732949" cy="262890"/>
          </a:xfrm>
          <a:prstGeom prst="rect">
            <a:avLst/>
          </a:prstGeom>
          <a:noFill/>
          <a:ln/>
        </p:spPr>
      </p:sp>
      <p:sp>
        <p:nvSpPr>
          <p:cNvPr id="44" name="Shape 41"/>
          <p:cNvSpPr/>
          <p:nvPr/>
        </p:nvSpPr>
        <p:spPr>
          <a:xfrm>
            <a:off x="6975158" y="2988945"/>
            <a:ext cx="732949" cy="0"/>
          </a:xfrm>
          <a:prstGeom prst="line">
            <a:avLst/>
          </a:prstGeom>
          <a:noFill/>
          <a:ln w="5715">
            <a:solidFill>
              <a:srgbClr val="334155">
                <a:alpha val="50000"/>
              </a:srgbClr>
            </a:solidFill>
            <a:prstDash val="solid"/>
          </a:ln>
        </p:spPr>
      </p:sp>
      <p:sp>
        <p:nvSpPr>
          <p:cNvPr id="45" name="Text 42"/>
          <p:cNvSpPr/>
          <p:nvPr/>
        </p:nvSpPr>
        <p:spPr>
          <a:xfrm>
            <a:off x="6975158" y="2988945"/>
            <a:ext cx="820903" cy="262890"/>
          </a:xfrm>
          <a:prstGeom prst="rect">
            <a:avLst/>
          </a:prstGeom>
          <a:noFill/>
          <a:ln/>
        </p:spPr>
        <p:txBody>
          <a:bodyPr wrap="square" lIns="68580" tIns="0" rIns="0" bIns="0" rtlCol="0" anchor="ctr"/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495" spc="9" kern="0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10-99 commits 持续贡献</a:t>
            </a:r>
            <a:endParaRPr lang="en-US" sz="495" dirty="0"/>
          </a:p>
        </p:txBody>
      </p:sp>
      <p:sp>
        <p:nvSpPr>
          <p:cNvPr id="46" name="Shape 43"/>
          <p:cNvSpPr/>
          <p:nvPr/>
        </p:nvSpPr>
        <p:spPr>
          <a:xfrm>
            <a:off x="7873841" y="834390"/>
            <a:ext cx="927259" cy="2514600"/>
          </a:xfrm>
          <a:prstGeom prst="roundRect">
            <a:avLst>
              <a:gd name="adj" fmla="val 4931"/>
            </a:avLst>
          </a:prstGeom>
          <a:gradFill rotWithShape="1">
            <a:gsLst>
              <a:gs pos="0">
                <a:srgbClr val="1E293B">
                  <a:alpha val="60000"/>
                </a:srgbClr>
              </a:gs>
              <a:gs pos="100000">
                <a:srgbClr val="111827">
                  <a:alpha val="50000"/>
                </a:srgbClr>
              </a:gs>
            </a:gsLst>
            <a:lin ang="5400000" scaled="0"/>
          </a:gradFill>
          <a:ln w="5715">
            <a:solidFill>
              <a:srgbClr val="334155"/>
            </a:solidFill>
            <a:prstDash val="solid"/>
          </a:ln>
        </p:spPr>
      </p:sp>
      <p:sp>
        <p:nvSpPr>
          <p:cNvPr id="47" name="Shape 44"/>
          <p:cNvSpPr/>
          <p:nvPr/>
        </p:nvSpPr>
        <p:spPr>
          <a:xfrm>
            <a:off x="7873841" y="834390"/>
            <a:ext cx="915829" cy="17145"/>
          </a:xfrm>
          <a:prstGeom prst="rect">
            <a:avLst/>
          </a:prstGeom>
          <a:solidFill>
            <a:srgbClr val="475569"/>
          </a:solidFill>
          <a:ln/>
        </p:spPr>
      </p:sp>
      <p:sp>
        <p:nvSpPr>
          <p:cNvPr id="48" name="Text 45"/>
          <p:cNvSpPr/>
          <p:nvPr/>
        </p:nvSpPr>
        <p:spPr>
          <a:xfrm>
            <a:off x="7970996" y="942975"/>
            <a:ext cx="820903" cy="17145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540" spc="23" kern="0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外围 · 1-9 commits</a:t>
            </a:r>
            <a:endParaRPr lang="en-US" sz="540" dirty="0"/>
          </a:p>
        </p:txBody>
      </p:sp>
      <p:sp>
        <p:nvSpPr>
          <p:cNvPr id="49" name="Text 46"/>
          <p:cNvSpPr/>
          <p:nvPr/>
        </p:nvSpPr>
        <p:spPr>
          <a:xfrm>
            <a:off x="7970996" y="1171575"/>
            <a:ext cx="673227" cy="217170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710" b="1" spc="-45" kern="0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233</a:t>
            </a:r>
            <a:endParaRPr lang="en-US" sz="1710" dirty="0"/>
          </a:p>
        </p:txBody>
      </p:sp>
      <p:sp>
        <p:nvSpPr>
          <p:cNvPr id="50" name="Text 47"/>
          <p:cNvSpPr/>
          <p:nvPr/>
        </p:nvSpPr>
        <p:spPr>
          <a:xfrm>
            <a:off x="8405336" y="1291590"/>
            <a:ext cx="160020" cy="80010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630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人</a:t>
            </a:r>
            <a:endParaRPr lang="en-US" sz="630" dirty="0"/>
          </a:p>
        </p:txBody>
      </p:sp>
      <p:sp>
        <p:nvSpPr>
          <p:cNvPr id="51" name="Text 48"/>
          <p:cNvSpPr/>
          <p:nvPr/>
        </p:nvSpPr>
        <p:spPr>
          <a:xfrm>
            <a:off x="7970996" y="1434465"/>
            <a:ext cx="820903" cy="95994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630" b="1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58.7%</a:t>
            </a:r>
            <a:endParaRPr lang="en-US" sz="630" dirty="0"/>
          </a:p>
        </p:txBody>
      </p:sp>
      <p:sp>
        <p:nvSpPr>
          <p:cNvPr id="52" name="Shape 49"/>
          <p:cNvSpPr/>
          <p:nvPr/>
        </p:nvSpPr>
        <p:spPr>
          <a:xfrm>
            <a:off x="7970996" y="3083243"/>
            <a:ext cx="732949" cy="168593"/>
          </a:xfrm>
          <a:prstGeom prst="rect">
            <a:avLst/>
          </a:prstGeom>
          <a:noFill/>
          <a:ln/>
        </p:spPr>
      </p:sp>
      <p:sp>
        <p:nvSpPr>
          <p:cNvPr id="53" name="Shape 50"/>
          <p:cNvSpPr/>
          <p:nvPr/>
        </p:nvSpPr>
        <p:spPr>
          <a:xfrm>
            <a:off x="7970996" y="3083243"/>
            <a:ext cx="732949" cy="0"/>
          </a:xfrm>
          <a:prstGeom prst="line">
            <a:avLst/>
          </a:prstGeom>
          <a:noFill/>
          <a:ln w="5715">
            <a:solidFill>
              <a:srgbClr val="334155">
                <a:alpha val="50000"/>
              </a:srgbClr>
            </a:solidFill>
            <a:prstDash val="solid"/>
          </a:ln>
        </p:spPr>
      </p:sp>
      <p:sp>
        <p:nvSpPr>
          <p:cNvPr id="54" name="Text 51"/>
          <p:cNvSpPr/>
          <p:nvPr/>
        </p:nvSpPr>
        <p:spPr>
          <a:xfrm>
            <a:off x="7970996" y="3083243"/>
            <a:ext cx="820903" cy="168593"/>
          </a:xfrm>
          <a:prstGeom prst="rect">
            <a:avLst/>
          </a:prstGeom>
          <a:noFill/>
          <a:ln/>
        </p:spPr>
        <p:txBody>
          <a:bodyPr wrap="square" lIns="68580" tIns="0" rIns="0" bIns="0" rtlCol="0" anchor="ctr"/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495" spc="9" kern="0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1-9 commits 一次性接触</a:t>
            </a:r>
            <a:endParaRPr lang="en-US" sz="495" dirty="0"/>
          </a:p>
        </p:txBody>
      </p:sp>
      <p:sp>
        <p:nvSpPr>
          <p:cNvPr id="55" name="Shape 52"/>
          <p:cNvSpPr/>
          <p:nvPr/>
        </p:nvSpPr>
        <p:spPr>
          <a:xfrm>
            <a:off x="342900" y="3474720"/>
            <a:ext cx="2433876" cy="742950"/>
          </a:xfrm>
          <a:prstGeom prst="roundRect">
            <a:avLst>
              <a:gd name="adj" fmla="val 6154"/>
            </a:avLst>
          </a:prstGeom>
          <a:gradFill rotWithShape="1">
            <a:gsLst>
              <a:gs pos="0">
                <a:srgbClr val="00BCD4">
                  <a:alpha val="6000"/>
                </a:srgbClr>
              </a:gs>
              <a:gs pos="100000">
                <a:srgbClr val="1E293B">
                  <a:alpha val="35000"/>
                </a:srgbClr>
              </a:gs>
            </a:gsLst>
            <a:lin ang="0" scaled="0"/>
          </a:gradFill>
          <a:ln w="5715">
            <a:solidFill>
              <a:srgbClr val="00BCD4">
                <a:alpha val="30000"/>
              </a:srgbClr>
            </a:solidFill>
            <a:prstDash val="solid"/>
          </a:ln>
        </p:spPr>
      </p:sp>
      <p:sp>
        <p:nvSpPr>
          <p:cNvPr id="56" name="Text 53"/>
          <p:cNvSpPr/>
          <p:nvPr/>
        </p:nvSpPr>
        <p:spPr>
          <a:xfrm>
            <a:off x="462915" y="3611880"/>
            <a:ext cx="2457107" cy="97155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buNone/>
            </a:pPr>
            <a:r>
              <a:rPr lang="en-US" sz="540" spc="68" kern="0" dirty="0">
                <a:solidFill>
                  <a:srgbClr val="00BCD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RELEASES · 总发布</a:t>
            </a:r>
            <a:endParaRPr lang="en-US" sz="540" dirty="0"/>
          </a:p>
        </p:txBody>
      </p:sp>
      <p:sp>
        <p:nvSpPr>
          <p:cNvPr id="57" name="Text 54"/>
          <p:cNvSpPr/>
          <p:nvPr/>
        </p:nvSpPr>
        <p:spPr>
          <a:xfrm>
            <a:off x="462915" y="3766185"/>
            <a:ext cx="411480" cy="171450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350" b="1" spc="-22" kern="0" dirty="0">
                <a:solidFill>
                  <a:srgbClr val="F1F5F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32</a:t>
            </a:r>
            <a:endParaRPr lang="en-US" sz="1350" dirty="0"/>
          </a:p>
        </p:txBody>
      </p:sp>
      <p:sp>
        <p:nvSpPr>
          <p:cNvPr id="58" name="Text 55"/>
          <p:cNvSpPr/>
          <p:nvPr/>
        </p:nvSpPr>
        <p:spPr>
          <a:xfrm>
            <a:off x="720090" y="3823335"/>
            <a:ext cx="462915" cy="114300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buNone/>
            </a:pPr>
            <a:r>
              <a:rPr lang="en-US" sz="630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个 release</a:t>
            </a:r>
            <a:endParaRPr lang="en-US" sz="630" dirty="0"/>
          </a:p>
        </p:txBody>
      </p:sp>
      <p:sp>
        <p:nvSpPr>
          <p:cNvPr id="59" name="Text 56"/>
          <p:cNvSpPr/>
          <p:nvPr/>
        </p:nvSpPr>
        <p:spPr>
          <a:xfrm>
            <a:off x="462915" y="3994785"/>
            <a:ext cx="2457107" cy="85725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buNone/>
            </a:pPr>
            <a:r>
              <a:rPr lang="en-US" sz="540" spc="23" kern="0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2026-03-12 → 2026-09-07</a:t>
            </a:r>
            <a:endParaRPr lang="en-US" sz="540" dirty="0"/>
          </a:p>
        </p:txBody>
      </p:sp>
      <p:sp>
        <p:nvSpPr>
          <p:cNvPr id="60" name="Shape 57"/>
          <p:cNvSpPr/>
          <p:nvPr/>
        </p:nvSpPr>
        <p:spPr>
          <a:xfrm>
            <a:off x="2868216" y="3474720"/>
            <a:ext cx="2433876" cy="742950"/>
          </a:xfrm>
          <a:prstGeom prst="roundRect">
            <a:avLst>
              <a:gd name="adj" fmla="val 6154"/>
            </a:avLst>
          </a:prstGeom>
          <a:gradFill rotWithShape="1">
            <a:gsLst>
              <a:gs pos="0">
                <a:srgbClr val="00BCD4">
                  <a:alpha val="6000"/>
                </a:srgbClr>
              </a:gs>
              <a:gs pos="100000">
                <a:srgbClr val="1E293B">
                  <a:alpha val="35000"/>
                </a:srgbClr>
              </a:gs>
            </a:gsLst>
            <a:lin ang="0" scaled="0"/>
          </a:gradFill>
          <a:ln w="5715">
            <a:solidFill>
              <a:srgbClr val="00BCD4">
                <a:alpha val="30000"/>
              </a:srgbClr>
            </a:solidFill>
            <a:prstDash val="solid"/>
          </a:ln>
        </p:spPr>
      </p:sp>
      <p:sp>
        <p:nvSpPr>
          <p:cNvPr id="61" name="Text 58"/>
          <p:cNvSpPr/>
          <p:nvPr/>
        </p:nvSpPr>
        <p:spPr>
          <a:xfrm>
            <a:off x="2988231" y="3611880"/>
            <a:ext cx="2457107" cy="85725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buNone/>
            </a:pPr>
            <a:r>
              <a:rPr lang="en-US" sz="540" spc="68" kern="0" dirty="0">
                <a:solidFill>
                  <a:srgbClr val="00BCD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RECENT CADENCE</a:t>
            </a:r>
            <a:endParaRPr lang="en-US" sz="540" dirty="0"/>
          </a:p>
        </p:txBody>
      </p:sp>
      <p:sp>
        <p:nvSpPr>
          <p:cNvPr id="62" name="Text 59"/>
          <p:cNvSpPr/>
          <p:nvPr/>
        </p:nvSpPr>
        <p:spPr>
          <a:xfrm>
            <a:off x="2988231" y="3754755"/>
            <a:ext cx="291465" cy="171450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350" b="1" spc="-22" kern="0" dirty="0">
                <a:solidFill>
                  <a:srgbClr val="F1F5F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5</a:t>
            </a:r>
            <a:endParaRPr lang="en-US" sz="1350" dirty="0"/>
          </a:p>
        </p:txBody>
      </p:sp>
      <p:sp>
        <p:nvSpPr>
          <p:cNvPr id="63" name="Text 60"/>
          <p:cNvSpPr/>
          <p:nvPr/>
        </p:nvSpPr>
        <p:spPr>
          <a:xfrm>
            <a:off x="3139678" y="3811905"/>
            <a:ext cx="588645" cy="114300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buNone/>
            </a:pPr>
            <a:r>
              <a:rPr lang="en-US" sz="630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release / 8 月</a:t>
            </a:r>
            <a:endParaRPr lang="en-US" sz="630" dirty="0"/>
          </a:p>
        </p:txBody>
      </p:sp>
      <p:sp>
        <p:nvSpPr>
          <p:cNvPr id="64" name="Text 61"/>
          <p:cNvSpPr/>
          <p:nvPr/>
        </p:nvSpPr>
        <p:spPr>
          <a:xfrm>
            <a:off x="2988231" y="3983355"/>
            <a:ext cx="2457107" cy="97155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buNone/>
            </a:pPr>
            <a:r>
              <a:rPr lang="en-US" sz="540" spc="23" kern="0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近月发布频率提升</a:t>
            </a:r>
            <a:endParaRPr lang="en-US" sz="540" dirty="0"/>
          </a:p>
        </p:txBody>
      </p:sp>
      <p:sp>
        <p:nvSpPr>
          <p:cNvPr id="65" name="Shape 62"/>
          <p:cNvSpPr/>
          <p:nvPr/>
        </p:nvSpPr>
        <p:spPr>
          <a:xfrm>
            <a:off x="5393531" y="3474720"/>
            <a:ext cx="3407569" cy="742950"/>
          </a:xfrm>
          <a:prstGeom prst="roundRect">
            <a:avLst>
              <a:gd name="adj" fmla="val 6154"/>
            </a:avLst>
          </a:prstGeom>
          <a:solidFill>
            <a:srgbClr val="FF7043">
              <a:alpha val="6000"/>
            </a:srgbClr>
          </a:solidFill>
          <a:ln w="5715">
            <a:solidFill>
              <a:srgbClr val="FF7043"/>
            </a:solidFill>
            <a:prstDash val="solid"/>
          </a:ln>
          <a:effectLst>
            <a:outerShdw sx="100000" sy="100000" kx="0" ky="0" algn="bl" rotWithShape="0" blurRad="228600" dist="50800" dir="16200000">
              <a:srgbClr val="FF7043">
                <a:alpha val="8000"/>
              </a:srgbClr>
            </a:outerShdw>
          </a:effectLst>
        </p:spPr>
      </p:sp>
      <p:sp>
        <p:nvSpPr>
          <p:cNvPr id="66" name="Shape 63"/>
          <p:cNvSpPr/>
          <p:nvPr/>
        </p:nvSpPr>
        <p:spPr>
          <a:xfrm>
            <a:off x="5513546" y="3731895"/>
            <a:ext cx="228600" cy="228600"/>
          </a:xfrm>
          <a:prstGeom prst="ellipse">
            <a:avLst/>
          </a:prstGeom>
          <a:solidFill>
            <a:srgbClr val="FF7043"/>
          </a:solidFill>
          <a:ln/>
          <a:effectLst>
            <a:outerShdw sx="100000" sy="100000" kx="0" ky="0" algn="bl" rotWithShape="0" blurRad="190500" dist="50800" dir="16200000">
              <a:srgbClr val="FF7043">
                <a:alpha val="45000"/>
              </a:srgbClr>
            </a:outerShdw>
          </a:effectLst>
        </p:spPr>
      </p:sp>
      <p:sp>
        <p:nvSpPr>
          <p:cNvPr id="67" name="Text 64"/>
          <p:cNvSpPr/>
          <p:nvPr/>
        </p:nvSpPr>
        <p:spPr>
          <a:xfrm>
            <a:off x="5513546" y="3731895"/>
            <a:ext cx="354330" cy="228600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buNone/>
            </a:pPr>
            <a:r>
              <a:rPr lang="en-US" sz="99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!</a:t>
            </a:r>
            <a:endParaRPr lang="en-US" sz="990" dirty="0"/>
          </a:p>
        </p:txBody>
      </p:sp>
      <p:sp>
        <p:nvSpPr>
          <p:cNvPr id="68" name="Text 65"/>
          <p:cNvSpPr/>
          <p:nvPr/>
        </p:nvSpPr>
        <p:spPr>
          <a:xfrm>
            <a:off x="5833586" y="3721626"/>
            <a:ext cx="3189199" cy="1234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720" b="1" spc="9" kern="0" dirty="0">
                <a:solidFill>
                  <a:srgbClr val="FF704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stars/forks ≠ 真实使用</a:t>
            </a:r>
            <a:pPr algn="l" indent="0" marL="0">
              <a:lnSpc>
                <a:spcPct val="135000"/>
              </a:lnSpc>
              <a:buNone/>
            </a:pPr>
            <a:r>
              <a:rPr lang="en-US" sz="720" b="1" spc="9" kern="0" dirty="0">
                <a:solidFill>
                  <a:srgbClr val="F1F5F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—— 是弱代理</a:t>
            </a:r>
            <a:endParaRPr lang="en-US" sz="720" dirty="0"/>
          </a:p>
        </p:txBody>
      </p:sp>
      <p:sp>
        <p:nvSpPr>
          <p:cNvPr id="69" name="Text 66"/>
          <p:cNvSpPr/>
          <p:nvPr/>
        </p:nvSpPr>
        <p:spPr>
          <a:xfrm>
            <a:off x="5833586" y="3867894"/>
            <a:ext cx="3189199" cy="102870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540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需结合 commit depth / release cadence 综合判断真实采纳</a:t>
            </a:r>
            <a:endParaRPr lang="en-US" sz="54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0A12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gradFill rotWithShape="1">
            <a:gsLst>
              <a:gs pos="0">
                <a:srgbClr val="0A1220"/>
              </a:gs>
              <a:gs pos="55000">
                <a:srgbClr val="1E293B"/>
              </a:gs>
              <a:gs pos="100000">
                <a:srgbClr val="0D1B2A"/>
              </a:gs>
            </a:gsLst>
            <a:lin ang="2700000" scaled="0"/>
          </a:gra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gradFill rotWithShape="1">
            <a:gsLst>
              <a:gs pos="0">
                <a:srgbClr val="000000">
                  <a:alpha val="4300"/>
                </a:srgbClr>
              </a:gs>
              <a:gs pos="25000">
                <a:srgbClr val="000000">
                  <a:alpha val="0"/>
                </a:srgbClr>
              </a:gs>
              <a:gs pos="50000">
                <a:srgbClr val="000000"/>
              </a:gs>
              <a:gs pos="75000">
                <a:srgbClr val="000000">
                  <a:alpha val="4300"/>
                </a:srgbClr>
              </a:gs>
              <a:gs pos="100000">
                <a:srgbClr val="000000">
                  <a:alpha val="0"/>
                </a:srgbClr>
              </a:gs>
            </a:gsLst>
            <a:lin ang="5400000" scaled="0"/>
          </a:gradFill>
          <a:ln/>
        </p:spPr>
      </p:sp>
      <p:sp>
        <p:nvSpPr>
          <p:cNvPr id="4" name="Shape 2"/>
          <p:cNvSpPr/>
          <p:nvPr/>
        </p:nvSpPr>
        <p:spPr>
          <a:xfrm>
            <a:off x="194310" y="194310"/>
            <a:ext cx="251460" cy="251460"/>
          </a:xfrm>
          <a:prstGeom prst="rect">
            <a:avLst/>
          </a:prstGeom>
          <a:noFill/>
          <a:ln/>
        </p:spPr>
      </p:sp>
      <p:sp>
        <p:nvSpPr>
          <p:cNvPr id="5" name="Shape 3"/>
          <p:cNvSpPr/>
          <p:nvPr/>
        </p:nvSpPr>
        <p:spPr>
          <a:xfrm>
            <a:off x="194310" y="194310"/>
            <a:ext cx="251460" cy="0"/>
          </a:xfrm>
          <a:prstGeom prst="line">
            <a:avLst/>
          </a:prstGeom>
          <a:noFill/>
          <a:ln w="5715">
            <a:solidFill>
              <a:srgbClr val="00BCD4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94310" y="194310"/>
            <a:ext cx="0" cy="251460"/>
          </a:xfrm>
          <a:prstGeom prst="line">
            <a:avLst/>
          </a:prstGeom>
          <a:noFill/>
          <a:ln w="5715">
            <a:solidFill>
              <a:srgbClr val="00BCD4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8698230" y="4697730"/>
            <a:ext cx="251460" cy="251460"/>
          </a:xfrm>
          <a:prstGeom prst="rect">
            <a:avLst/>
          </a:prstGeom>
          <a:noFill/>
          <a:ln/>
        </p:spPr>
      </p:sp>
      <p:sp>
        <p:nvSpPr>
          <p:cNvPr id="8" name="Shape 6"/>
          <p:cNvSpPr/>
          <p:nvPr/>
        </p:nvSpPr>
        <p:spPr>
          <a:xfrm>
            <a:off x="8949690" y="4697730"/>
            <a:ext cx="0" cy="251460"/>
          </a:xfrm>
          <a:prstGeom prst="line">
            <a:avLst/>
          </a:prstGeom>
          <a:noFill/>
          <a:ln w="5715">
            <a:solidFill>
              <a:srgbClr val="00BCD4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8698230" y="4949190"/>
            <a:ext cx="251460" cy="0"/>
          </a:xfrm>
          <a:prstGeom prst="line">
            <a:avLst/>
          </a:prstGeom>
          <a:noFill/>
          <a:ln w="5715">
            <a:solidFill>
              <a:srgbClr val="00BCD4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8195310" y="1371600"/>
            <a:ext cx="34290" cy="34290"/>
          </a:xfrm>
          <a:prstGeom prst="ellipse">
            <a:avLst/>
          </a:prstGeom>
          <a:solidFill>
            <a:srgbClr val="00BCD4"/>
          </a:solidFill>
          <a:ln/>
          <a:effectLst>
            <a:outerShdw sx="100000" sy="100000" kx="0" ky="0" algn="bl" rotWithShape="0" blurRad="95250" dist="50800" dir="16200000">
              <a:srgbClr val="00BCD4">
                <a:alpha val="100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674370" y="3623310"/>
            <a:ext cx="34290" cy="34290"/>
          </a:xfrm>
          <a:prstGeom prst="ellipse">
            <a:avLst/>
          </a:prstGeom>
          <a:solidFill>
            <a:srgbClr val="FF7043"/>
          </a:solidFill>
          <a:ln/>
          <a:effectLst>
            <a:outerShdw sx="100000" sy="100000" kx="0" ky="0" algn="bl" rotWithShape="0" blurRad="95250" dist="50800" dir="16200000">
              <a:srgbClr val="FF7043">
                <a:alpha val="100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8595360" y="3314700"/>
            <a:ext cx="34290" cy="34290"/>
          </a:xfrm>
          <a:prstGeom prst="ellipse">
            <a:avLst/>
          </a:prstGeom>
          <a:solidFill>
            <a:srgbClr val="00BCD4">
              <a:alpha val="55000"/>
            </a:srgbClr>
          </a:solidFill>
          <a:ln/>
          <a:effectLst>
            <a:outerShdw sx="100000" sy="100000" kx="0" ky="0" algn="bl" rotWithShape="0" blurRad="95250" dist="50800" dir="16200000">
              <a:srgbClr val="00BCD4">
                <a:alpha val="100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502920" y="400050"/>
            <a:ext cx="297180" cy="5715"/>
          </a:xfrm>
          <a:prstGeom prst="rect">
            <a:avLst/>
          </a:prstGeom>
          <a:gradFill rotWithShape="1">
            <a:gsLst>
              <a:gs pos="0">
                <a:srgbClr val="00BCD4"/>
              </a:gs>
              <a:gs pos="100000">
                <a:srgbClr val="000000">
                  <a:alpha val="0"/>
                </a:srgbClr>
              </a:gs>
            </a:gsLst>
            <a:lin ang="0" scaled="0"/>
          </a:gradFill>
          <a:ln/>
        </p:spPr>
      </p:sp>
      <p:sp>
        <p:nvSpPr>
          <p:cNvPr id="14" name="Text 12"/>
          <p:cNvSpPr/>
          <p:nvPr/>
        </p:nvSpPr>
        <p:spPr>
          <a:xfrm>
            <a:off x="880110" y="354330"/>
            <a:ext cx="1443380" cy="97155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buNone/>
            </a:pPr>
            <a:r>
              <a:rPr lang="en-US" sz="540" spc="203" kern="0" dirty="0">
                <a:solidFill>
                  <a:srgbClr val="00BCD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核心结论 · KEY INSIGHTS</a:t>
            </a:r>
            <a:endParaRPr lang="en-US" sz="540" dirty="0"/>
          </a:p>
        </p:txBody>
      </p:sp>
      <p:sp>
        <p:nvSpPr>
          <p:cNvPr id="15" name="Shape 13"/>
          <p:cNvSpPr/>
          <p:nvPr/>
        </p:nvSpPr>
        <p:spPr>
          <a:xfrm>
            <a:off x="502920" y="594896"/>
            <a:ext cx="45720" cy="308610"/>
          </a:xfrm>
          <a:prstGeom prst="roundRect">
            <a:avLst>
              <a:gd name="adj" fmla="val 50000"/>
            </a:avLst>
          </a:prstGeom>
          <a:gradFill rotWithShape="1">
            <a:gsLst>
              <a:gs pos="0">
                <a:srgbClr val="00BCD4"/>
              </a:gs>
              <a:gs pos="100000">
                <a:srgbClr val="FF7043"/>
              </a:gs>
            </a:gsLst>
            <a:lin ang="5400000" scaled="0"/>
          </a:gradFill>
          <a:ln/>
          <a:effectLst>
            <a:outerShdw sx="100000" sy="100000" kx="0" ky="0" algn="bl" rotWithShape="0" blurRad="209550" dist="50800" dir="16200000">
              <a:srgbClr val="00BCD4">
                <a:alpha val="50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697230" y="554355"/>
            <a:ext cx="2548890" cy="389692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2790" b="1" spc="90" kern="0" dirty="0">
                <a:solidFill>
                  <a:srgbClr val="E2E8F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三个核心洞察</a:t>
            </a:r>
            <a:endParaRPr lang="en-US" sz="2790" dirty="0"/>
          </a:p>
        </p:txBody>
      </p:sp>
      <p:sp>
        <p:nvSpPr>
          <p:cNvPr id="17" name="Shape 15"/>
          <p:cNvSpPr/>
          <p:nvPr/>
        </p:nvSpPr>
        <p:spPr>
          <a:xfrm>
            <a:off x="502920" y="1164074"/>
            <a:ext cx="1257300" cy="11430"/>
          </a:xfrm>
          <a:prstGeom prst="rect">
            <a:avLst/>
          </a:prstGeom>
          <a:gradFill rotWithShape="1">
            <a:gsLst>
              <a:gs pos="0">
                <a:srgbClr val="00BCD4"/>
              </a:gs>
              <a:gs pos="100000">
                <a:srgbClr val="000000">
                  <a:alpha val="0"/>
                </a:srgbClr>
              </a:gs>
            </a:gsLst>
            <a:lin ang="0" scaled="0"/>
          </a:gradFill>
          <a:ln/>
        </p:spPr>
      </p:sp>
      <p:sp>
        <p:nvSpPr>
          <p:cNvPr id="18" name="Shape 16"/>
          <p:cNvSpPr/>
          <p:nvPr/>
        </p:nvSpPr>
        <p:spPr>
          <a:xfrm>
            <a:off x="1714500" y="1146929"/>
            <a:ext cx="45720" cy="45720"/>
          </a:xfrm>
          <a:prstGeom prst="ellipse">
            <a:avLst/>
          </a:prstGeom>
          <a:solidFill>
            <a:srgbClr val="00BCD4"/>
          </a:solidFill>
          <a:ln/>
          <a:effectLst>
            <a:outerShdw sx="100000" sy="100000" kx="0" ky="0" algn="bl" rotWithShape="0" blurRad="114300" dist="50800" dir="16200000">
              <a:srgbClr val="00BCD4">
                <a:alpha val="100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1840230" y="1092637"/>
            <a:ext cx="862965" cy="154305"/>
          </a:xfrm>
          <a:prstGeom prst="roundRect">
            <a:avLst>
              <a:gd name="adj" fmla="val 7407"/>
            </a:avLst>
          </a:prstGeom>
          <a:noFill/>
          <a:ln w="5715">
            <a:solidFill>
              <a:srgbClr val="94A3B8">
                <a:alpha val="28000"/>
              </a:srgbClr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1840230" y="1092637"/>
            <a:ext cx="966521" cy="154305"/>
          </a:xfrm>
          <a:prstGeom prst="rect">
            <a:avLst/>
          </a:prstGeom>
          <a:noFill/>
          <a:ln/>
        </p:spPr>
        <p:txBody>
          <a:bodyPr wrap="square" lIns="28575" tIns="80010" rIns="80010" bIns="28575" rtlCol="0" anchor="ctr"/>
          <a:lstStyle/>
          <a:p>
            <a:pPr algn="l" indent="0" marL="0">
              <a:buNone/>
            </a:pPr>
            <a:r>
              <a:rPr lang="en-US" sz="540" spc="180" kern="0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CONCLUSION</a:t>
            </a:r>
            <a:endParaRPr lang="en-US" sz="540" dirty="0"/>
          </a:p>
        </p:txBody>
      </p:sp>
      <p:sp>
        <p:nvSpPr>
          <p:cNvPr id="21" name="Shape 19"/>
          <p:cNvSpPr/>
          <p:nvPr/>
        </p:nvSpPr>
        <p:spPr>
          <a:xfrm>
            <a:off x="502920" y="1464112"/>
            <a:ext cx="2613630" cy="2343150"/>
          </a:xfrm>
          <a:prstGeom prst="roundRect">
            <a:avLst>
              <a:gd name="adj" fmla="val 3415"/>
            </a:avLst>
          </a:prstGeom>
          <a:gradFill rotWithShape="1">
            <a:gsLst>
              <a:gs pos="0">
                <a:srgbClr val="00BCD4">
                  <a:alpha val="6000"/>
                </a:srgbClr>
              </a:gs>
              <a:gs pos="100000">
                <a:srgbClr val="1E293B">
                  <a:alpha val="55000"/>
                </a:srgbClr>
              </a:gs>
            </a:gsLst>
            <a:lin ang="4200000" scaled="0"/>
          </a:gradFill>
          <a:ln w="5715">
            <a:solidFill>
              <a:srgbClr val="00BCD4">
                <a:alpha val="22000"/>
              </a:srgbClr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502920" y="1464112"/>
            <a:ext cx="2602200" cy="17145"/>
          </a:xfrm>
          <a:prstGeom prst="rect">
            <a:avLst/>
          </a:prstGeom>
          <a:gradFill rotWithShape="1">
            <a:gsLst>
              <a:gs pos="0">
                <a:srgbClr val="00BCD4"/>
              </a:gs>
              <a:gs pos="100000">
                <a:srgbClr val="FF7043"/>
              </a:gs>
            </a:gsLst>
            <a:lin ang="0" scaled="0"/>
          </a:gradFill>
          <a:ln/>
          <a:effectLst>
            <a:outerShdw sx="100000" sy="100000" kx="0" ky="0" algn="bl" rotWithShape="0" blurRad="133350" dist="50800" dir="16200000">
              <a:srgbClr val="00BCD4">
                <a:alpha val="50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2476470" y="1807012"/>
            <a:ext cx="914400" cy="914400"/>
          </a:xfrm>
          <a:prstGeom prst="rect">
            <a:avLst/>
          </a:prstGeom>
          <a:solidFill>
            <a:srgbClr val="00BCD4">
              <a:alpha val="14000"/>
            </a:srgbClr>
          </a:solidFill>
          <a:ln/>
        </p:spPr>
      </p:sp>
      <p:sp>
        <p:nvSpPr>
          <p:cNvPr id="24" name="Shape 22"/>
          <p:cNvSpPr/>
          <p:nvPr/>
        </p:nvSpPr>
        <p:spPr>
          <a:xfrm>
            <a:off x="657225" y="1641277"/>
            <a:ext cx="400050" cy="171450"/>
          </a:xfrm>
          <a:prstGeom prst="roundRect">
            <a:avLst>
              <a:gd name="adj" fmla="val 3330000"/>
            </a:avLst>
          </a:prstGeom>
          <a:solidFill>
            <a:srgbClr val="00BCD4">
              <a:alpha val="11000"/>
            </a:srgbClr>
          </a:solidFill>
          <a:ln w="5715">
            <a:solidFill>
              <a:srgbClr val="00BCD4">
                <a:alpha val="45000"/>
              </a:srgbClr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720090" y="1709857"/>
            <a:ext cx="34290" cy="34290"/>
          </a:xfrm>
          <a:prstGeom prst="ellipse">
            <a:avLst/>
          </a:prstGeom>
          <a:solidFill>
            <a:srgbClr val="00BCD4"/>
          </a:solidFill>
          <a:ln/>
          <a:effectLst>
            <a:outerShdw sx="100000" sy="100000" kx="0" ky="0" algn="bl" rotWithShape="0" blurRad="76200" dist="50800" dir="16200000">
              <a:srgbClr val="00BCD4">
                <a:alpha val="100000"/>
              </a:srgbClr>
            </a:outerShdw>
          </a:effectLst>
        </p:spPr>
      </p:sp>
      <p:sp>
        <p:nvSpPr>
          <p:cNvPr id="26" name="Text 24"/>
          <p:cNvSpPr/>
          <p:nvPr/>
        </p:nvSpPr>
        <p:spPr>
          <a:xfrm>
            <a:off x="811530" y="1681282"/>
            <a:ext cx="222885" cy="91440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buNone/>
            </a:pPr>
            <a:r>
              <a:rPr lang="en-US" sz="495" spc="135" kern="0" dirty="0">
                <a:solidFill>
                  <a:srgbClr val="00BCD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洞察</a:t>
            </a:r>
            <a:endParaRPr lang="en-US" sz="495" dirty="0"/>
          </a:p>
        </p:txBody>
      </p:sp>
      <p:sp>
        <p:nvSpPr>
          <p:cNvPr id="27" name="Shape 25"/>
          <p:cNvSpPr/>
          <p:nvPr/>
        </p:nvSpPr>
        <p:spPr>
          <a:xfrm>
            <a:off x="2687925" y="1857286"/>
            <a:ext cx="685800" cy="457200"/>
          </a:xfrm>
          <a:prstGeom prst="rect">
            <a:avLst/>
          </a:prstGeom>
          <a:solidFill>
            <a:srgbClr val="00BCD4">
              <a:alpha val="28000"/>
            </a:srgbClr>
          </a:solidFill>
          <a:ln/>
          <a:effectLst>
            <a:outerShdw sx="100000" sy="100000" kx="0" ky="0" algn="bl" rotWithShape="0" blurRad="22860" dist="50800" dir="16200000">
              <a:srgbClr val="00BCD4">
                <a:alpha val="60000"/>
              </a:srgbClr>
            </a:outerShdw>
          </a:effectLst>
        </p:spPr>
      </p:sp>
      <p:sp>
        <p:nvSpPr>
          <p:cNvPr id="28" name="Text 26"/>
          <p:cNvSpPr/>
          <p:nvPr/>
        </p:nvSpPr>
        <p:spPr>
          <a:xfrm>
            <a:off x="2413605" y="1566982"/>
            <a:ext cx="1152144" cy="577215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lnSpc>
                <a:spcPct val="90000"/>
              </a:lnSpc>
              <a:buNone/>
            </a:pPr>
            <a:r>
              <a:rPr lang="en-US" sz="3780" b="1" spc="-90" kern="0" dirty="0">
                <a:solidFill>
                  <a:srgbClr val="000000">
                    <a:alpha val="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01</a:t>
            </a:r>
            <a:endParaRPr lang="en-US" sz="3780" dirty="0"/>
          </a:p>
        </p:txBody>
      </p:sp>
      <p:sp>
        <p:nvSpPr>
          <p:cNvPr id="29" name="Text 27"/>
          <p:cNvSpPr/>
          <p:nvPr/>
        </p:nvSpPr>
        <p:spPr>
          <a:xfrm>
            <a:off x="657225" y="2176165"/>
            <a:ext cx="1074420" cy="177165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170" b="1" spc="45" kern="0" dirty="0">
                <a:solidFill>
                  <a:srgbClr val="E2E8F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进入稳定化期</a:t>
            </a:r>
            <a:endParaRPr lang="en-US" sz="1170" dirty="0"/>
          </a:p>
        </p:txBody>
      </p:sp>
      <p:sp>
        <p:nvSpPr>
          <p:cNvPr id="30" name="Shape 28"/>
          <p:cNvSpPr/>
          <p:nvPr/>
        </p:nvSpPr>
        <p:spPr>
          <a:xfrm>
            <a:off x="657225" y="2464772"/>
            <a:ext cx="251460" cy="11430"/>
          </a:xfrm>
          <a:prstGeom prst="rect">
            <a:avLst/>
          </a:prstGeom>
          <a:gradFill rotWithShape="1">
            <a:gsLst>
              <a:gs pos="0">
                <a:srgbClr val="00BCD4"/>
              </a:gs>
              <a:gs pos="100000">
                <a:srgbClr val="000000">
                  <a:alpha val="0"/>
                </a:srgbClr>
              </a:gs>
            </a:gsLst>
            <a:lin ang="0" scaled="0"/>
          </a:gradFill>
          <a:ln/>
        </p:spPr>
      </p:sp>
      <p:sp>
        <p:nvSpPr>
          <p:cNvPr id="31" name="Text 29"/>
          <p:cNvSpPr/>
          <p:nvPr/>
        </p:nvSpPr>
        <p:spPr>
          <a:xfrm>
            <a:off x="657225" y="2567642"/>
            <a:ext cx="2581623" cy="48863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75000"/>
              </a:lnSpc>
              <a:buNone/>
            </a:pPr>
            <a:r>
              <a:rPr lang="en-US" sz="540" dirty="0">
                <a:solidFill>
                  <a:srgbClr val="00BCD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— 生命周期判断</a:t>
            </a:r>
            <a:endParaRPr lang="en-US" sz="675" dirty="0"/>
          </a:p>
          <a:p>
            <a:pPr algn="l" indent="0" marL="0">
              <a:lnSpc>
                <a:spcPct val="175000"/>
              </a:lnSpc>
              <a:buNone/>
            </a:pPr>
            <a:r>
              <a:rPr lang="en-US" sz="675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从扩张期进入</a:t>
            </a:r>
            <a:pPr algn="l" indent="0" marL="0">
              <a:lnSpc>
                <a:spcPct val="175000"/>
              </a:lnSpc>
              <a:buNone/>
            </a:pPr>
            <a:r>
              <a:rPr lang="en-US" sz="675" b="1" dirty="0">
                <a:solidFill>
                  <a:srgbClr val="00BCD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稳定化期</a:t>
            </a:r>
            <a:pPr algn="l" indent="0" marL="0">
              <a:lnSpc>
                <a:spcPct val="175000"/>
              </a:lnSpc>
              <a:buNone/>
            </a:pPr>
            <a:r>
              <a:rPr lang="en-US" sz="675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：</a:t>
            </a:r>
            <a:pPr algn="l" indent="0" marL="0">
              <a:lnSpc>
                <a:spcPct val="175000"/>
              </a:lnSpc>
              <a:buNone/>
            </a:pPr>
            <a:endParaRPr lang="en-US" sz="675" dirty="0"/>
          </a:p>
          <a:p>
            <a:pPr algn="l" indent="0" marL="0">
              <a:lnSpc>
                <a:spcPct val="175000"/>
              </a:lnSpc>
              <a:buNone/>
            </a:pPr>
            <a:r>
              <a:rPr lang="en-US" sz="675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P2 全给 bug + P1 缺席 +</a:t>
            </a:r>
            <a:pPr algn="l" indent="0" marL="0">
              <a:lnSpc>
                <a:spcPct val="175000"/>
              </a:lnSpc>
              <a:buNone/>
            </a:pPr>
            <a:r>
              <a:rPr lang="en-US" sz="675" b="1" dirty="0">
                <a:solidFill>
                  <a:srgbClr val="FF704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CLI 层 bug</a:t>
            </a:r>
            <a:pPr algn="l" indent="0" marL="0">
              <a:lnSpc>
                <a:spcPct val="175000"/>
              </a:lnSpc>
              <a:buNone/>
            </a:pPr>
            <a:r>
              <a:rPr lang="en-US" sz="675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驱动。</a:t>
            </a:r>
            <a:endParaRPr lang="en-US" sz="675" dirty="0"/>
          </a:p>
        </p:txBody>
      </p:sp>
      <p:sp>
        <p:nvSpPr>
          <p:cNvPr id="32" name="Shape 30"/>
          <p:cNvSpPr/>
          <p:nvPr/>
        </p:nvSpPr>
        <p:spPr>
          <a:xfrm>
            <a:off x="657225" y="3447217"/>
            <a:ext cx="2305020" cy="205740"/>
          </a:xfrm>
          <a:prstGeom prst="rect">
            <a:avLst/>
          </a:prstGeom>
          <a:noFill/>
          <a:ln/>
        </p:spPr>
      </p:sp>
      <p:sp>
        <p:nvSpPr>
          <p:cNvPr id="33" name="Shape 31"/>
          <p:cNvSpPr/>
          <p:nvPr/>
        </p:nvSpPr>
        <p:spPr>
          <a:xfrm>
            <a:off x="657225" y="3447217"/>
            <a:ext cx="2305020" cy="0"/>
          </a:xfrm>
          <a:prstGeom prst="line">
            <a:avLst/>
          </a:prstGeom>
          <a:noFill/>
          <a:ln w="5715">
            <a:solidFill>
              <a:srgbClr val="94A3B8">
                <a:alpha val="18000"/>
              </a:srgbClr>
            </a:solidFill>
            <a:prstDash val="dash"/>
          </a:ln>
        </p:spPr>
      </p:sp>
      <p:sp>
        <p:nvSpPr>
          <p:cNvPr id="34" name="Text 32"/>
          <p:cNvSpPr/>
          <p:nvPr/>
        </p:nvSpPr>
        <p:spPr>
          <a:xfrm>
            <a:off x="657225" y="3570089"/>
            <a:ext cx="340043" cy="68580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buNone/>
            </a:pPr>
            <a:r>
              <a:rPr lang="en-US" sz="450" spc="158" kern="0" dirty="0">
                <a:solidFill>
                  <a:srgbClr val="94A3B8">
                    <a:alpha val="55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PHASE</a:t>
            </a:r>
            <a:endParaRPr lang="en-US" sz="450" dirty="0"/>
          </a:p>
        </p:txBody>
      </p:sp>
      <p:sp>
        <p:nvSpPr>
          <p:cNvPr id="35" name="Text 33"/>
          <p:cNvSpPr/>
          <p:nvPr/>
        </p:nvSpPr>
        <p:spPr>
          <a:xfrm>
            <a:off x="2902059" y="3555802"/>
            <a:ext cx="140196" cy="97155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buNone/>
            </a:pPr>
            <a:r>
              <a:rPr lang="en-US" sz="630" spc="158" kern="0" dirty="0">
                <a:solidFill>
                  <a:srgbClr val="00BCD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▸</a:t>
            </a:r>
            <a:endParaRPr lang="en-US" sz="630" dirty="0"/>
          </a:p>
        </p:txBody>
      </p:sp>
      <p:sp>
        <p:nvSpPr>
          <p:cNvPr id="36" name="Shape 34"/>
          <p:cNvSpPr/>
          <p:nvPr/>
        </p:nvSpPr>
        <p:spPr>
          <a:xfrm>
            <a:off x="3265140" y="1464112"/>
            <a:ext cx="2613630" cy="2343150"/>
          </a:xfrm>
          <a:prstGeom prst="roundRect">
            <a:avLst>
              <a:gd name="adj" fmla="val 3415"/>
            </a:avLst>
          </a:prstGeom>
          <a:gradFill rotWithShape="1">
            <a:gsLst>
              <a:gs pos="0">
                <a:srgbClr val="00BCD4">
                  <a:alpha val="6000"/>
                </a:srgbClr>
              </a:gs>
              <a:gs pos="100000">
                <a:srgbClr val="1E293B">
                  <a:alpha val="55000"/>
                </a:srgbClr>
              </a:gs>
            </a:gsLst>
            <a:lin ang="4200000" scaled="0"/>
          </a:gradFill>
          <a:ln w="5715">
            <a:solidFill>
              <a:srgbClr val="00BCD4">
                <a:alpha val="22000"/>
              </a:srgbClr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3265140" y="1464112"/>
            <a:ext cx="2602200" cy="17145"/>
          </a:xfrm>
          <a:prstGeom prst="rect">
            <a:avLst/>
          </a:prstGeom>
          <a:gradFill rotWithShape="1">
            <a:gsLst>
              <a:gs pos="0">
                <a:srgbClr val="FF7043"/>
              </a:gs>
              <a:gs pos="100000">
                <a:srgbClr val="00BCD4"/>
              </a:gs>
            </a:gsLst>
            <a:lin ang="0" scaled="0"/>
          </a:gradFill>
          <a:ln/>
          <a:effectLst>
            <a:outerShdw sx="100000" sy="100000" kx="0" ky="0" algn="bl" rotWithShape="0" blurRad="133350" dist="50800" dir="16200000">
              <a:srgbClr val="00BCD4">
                <a:alpha val="50000"/>
              </a:srgbClr>
            </a:outerShdw>
          </a:effectLst>
        </p:spPr>
      </p:sp>
      <p:sp>
        <p:nvSpPr>
          <p:cNvPr id="38" name="Shape 36"/>
          <p:cNvSpPr/>
          <p:nvPr/>
        </p:nvSpPr>
        <p:spPr>
          <a:xfrm>
            <a:off x="5238690" y="1807012"/>
            <a:ext cx="914400" cy="914400"/>
          </a:xfrm>
          <a:prstGeom prst="rect">
            <a:avLst/>
          </a:prstGeom>
          <a:solidFill>
            <a:srgbClr val="00BCD4">
              <a:alpha val="14000"/>
            </a:srgbClr>
          </a:solidFill>
          <a:ln/>
        </p:spPr>
      </p:sp>
      <p:sp>
        <p:nvSpPr>
          <p:cNvPr id="39" name="Shape 37"/>
          <p:cNvSpPr/>
          <p:nvPr/>
        </p:nvSpPr>
        <p:spPr>
          <a:xfrm>
            <a:off x="3419445" y="1641277"/>
            <a:ext cx="400050" cy="171450"/>
          </a:xfrm>
          <a:prstGeom prst="roundRect">
            <a:avLst>
              <a:gd name="adj" fmla="val 3330000"/>
            </a:avLst>
          </a:prstGeom>
          <a:solidFill>
            <a:srgbClr val="00BCD4">
              <a:alpha val="11000"/>
            </a:srgbClr>
          </a:solidFill>
          <a:ln w="5715">
            <a:solidFill>
              <a:srgbClr val="00BCD4">
                <a:alpha val="45000"/>
              </a:srgbClr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3482310" y="1709857"/>
            <a:ext cx="34290" cy="34290"/>
          </a:xfrm>
          <a:prstGeom prst="ellipse">
            <a:avLst/>
          </a:prstGeom>
          <a:solidFill>
            <a:srgbClr val="00BCD4"/>
          </a:solidFill>
          <a:ln/>
          <a:effectLst>
            <a:outerShdw sx="100000" sy="100000" kx="0" ky="0" algn="bl" rotWithShape="0" blurRad="76200" dist="50800" dir="16200000">
              <a:srgbClr val="00BCD4">
                <a:alpha val="100000"/>
              </a:srgbClr>
            </a:outerShdw>
          </a:effectLst>
        </p:spPr>
      </p:sp>
      <p:sp>
        <p:nvSpPr>
          <p:cNvPr id="41" name="Text 39"/>
          <p:cNvSpPr/>
          <p:nvPr/>
        </p:nvSpPr>
        <p:spPr>
          <a:xfrm>
            <a:off x="3573750" y="1681282"/>
            <a:ext cx="222885" cy="91440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buNone/>
            </a:pPr>
            <a:r>
              <a:rPr lang="en-US" sz="495" spc="135" kern="0" dirty="0">
                <a:solidFill>
                  <a:srgbClr val="00BCD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洞察</a:t>
            </a:r>
            <a:endParaRPr lang="en-US" sz="495" dirty="0"/>
          </a:p>
        </p:txBody>
      </p:sp>
      <p:sp>
        <p:nvSpPr>
          <p:cNvPr id="42" name="Shape 40"/>
          <p:cNvSpPr/>
          <p:nvPr/>
        </p:nvSpPr>
        <p:spPr>
          <a:xfrm>
            <a:off x="5404425" y="1857286"/>
            <a:ext cx="685800" cy="457200"/>
          </a:xfrm>
          <a:prstGeom prst="rect">
            <a:avLst/>
          </a:prstGeom>
          <a:solidFill>
            <a:srgbClr val="FF7043">
              <a:alpha val="22000"/>
            </a:srgbClr>
          </a:solidFill>
          <a:ln/>
          <a:effectLst>
            <a:outerShdw sx="100000" sy="100000" kx="0" ky="0" algn="bl" rotWithShape="0" blurRad="22860" dist="50800" dir="16200000">
              <a:srgbClr val="FF7043">
                <a:alpha val="60000"/>
              </a:srgbClr>
            </a:outerShdw>
          </a:effectLst>
        </p:spPr>
      </p:sp>
      <p:sp>
        <p:nvSpPr>
          <p:cNvPr id="43" name="Text 41"/>
          <p:cNvSpPr/>
          <p:nvPr/>
        </p:nvSpPr>
        <p:spPr>
          <a:xfrm>
            <a:off x="5084385" y="1566982"/>
            <a:ext cx="1152144" cy="577215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lnSpc>
                <a:spcPct val="90000"/>
              </a:lnSpc>
              <a:buNone/>
            </a:pPr>
            <a:r>
              <a:rPr lang="en-US" sz="3780" b="1" spc="-90" kern="0" dirty="0">
                <a:solidFill>
                  <a:srgbClr val="000000">
                    <a:alpha val="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02</a:t>
            </a:r>
            <a:endParaRPr lang="en-US" sz="3780" dirty="0"/>
          </a:p>
        </p:txBody>
      </p:sp>
      <p:sp>
        <p:nvSpPr>
          <p:cNvPr id="44" name="Text 42"/>
          <p:cNvSpPr/>
          <p:nvPr/>
        </p:nvSpPr>
        <p:spPr>
          <a:xfrm>
            <a:off x="3419445" y="2176165"/>
            <a:ext cx="1383030" cy="177165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170" b="1" spc="45" kern="0" dirty="0">
                <a:solidFill>
                  <a:srgbClr val="E2E8F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兼容性是结构性税</a:t>
            </a:r>
            <a:endParaRPr lang="en-US" sz="1170" dirty="0"/>
          </a:p>
        </p:txBody>
      </p:sp>
      <p:sp>
        <p:nvSpPr>
          <p:cNvPr id="45" name="Shape 43"/>
          <p:cNvSpPr/>
          <p:nvPr/>
        </p:nvSpPr>
        <p:spPr>
          <a:xfrm>
            <a:off x="3419445" y="2464772"/>
            <a:ext cx="251460" cy="11430"/>
          </a:xfrm>
          <a:prstGeom prst="rect">
            <a:avLst/>
          </a:prstGeom>
          <a:gradFill rotWithShape="1">
            <a:gsLst>
              <a:gs pos="0">
                <a:srgbClr val="FF7043"/>
              </a:gs>
              <a:gs pos="100000">
                <a:srgbClr val="000000">
                  <a:alpha val="0"/>
                </a:srgbClr>
              </a:gs>
            </a:gsLst>
            <a:lin ang="0" scaled="0"/>
          </a:gradFill>
          <a:ln/>
        </p:spPr>
      </p:sp>
      <p:sp>
        <p:nvSpPr>
          <p:cNvPr id="46" name="Text 44"/>
          <p:cNvSpPr/>
          <p:nvPr/>
        </p:nvSpPr>
        <p:spPr>
          <a:xfrm>
            <a:off x="3419445" y="2567642"/>
            <a:ext cx="2581623" cy="48863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75000"/>
              </a:lnSpc>
              <a:buNone/>
            </a:pPr>
            <a:r>
              <a:rPr lang="en-US" sz="540" dirty="0">
                <a:solidFill>
                  <a:srgbClr val="00BCD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— 供给侧成本</a:t>
            </a:r>
            <a:endParaRPr lang="en-US" sz="675" dirty="0"/>
          </a:p>
          <a:p>
            <a:pPr algn="l" indent="0" marL="0">
              <a:lnSpc>
                <a:spcPct val="175000"/>
              </a:lnSpc>
              <a:buNone/>
            </a:pPr>
            <a:r>
              <a:rPr lang="en-US" sz="675" b="1" dirty="0">
                <a:solidFill>
                  <a:srgbClr val="FF704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56%</a:t>
            </a:r>
            <a:pPr algn="l" indent="0" marL="0">
              <a:lnSpc>
                <a:spcPct val="175000"/>
              </a:lnSpc>
              <a:buNone/>
            </a:pPr>
            <a:r>
              <a:rPr lang="en-US" sz="675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 带兼容性标签——</a:t>
            </a:r>
            <a:pPr algn="l" indent="0" marL="0">
              <a:lnSpc>
                <a:spcPct val="175000"/>
              </a:lnSpc>
              <a:buNone/>
            </a:pPr>
            <a:endParaRPr lang="en-US" sz="675" dirty="0"/>
          </a:p>
          <a:p>
            <a:pPr algn="l" indent="0" marL="0">
              <a:lnSpc>
                <a:spcPct val="175000"/>
              </a:lnSpc>
              <a:buNone/>
            </a:pPr>
            <a:r>
              <a:rPr lang="en-US" sz="675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供给侧的</a:t>
            </a:r>
            <a:pPr algn="l" indent="0" marL="0">
              <a:lnSpc>
                <a:spcPct val="175000"/>
              </a:lnSpc>
              <a:buNone/>
            </a:pPr>
            <a:r>
              <a:rPr lang="en-US" sz="675" b="1" dirty="0">
                <a:solidFill>
                  <a:srgbClr val="00BCD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隐形成本</a:t>
            </a:r>
            <a:pPr algn="l" indent="0" marL="0">
              <a:lnSpc>
                <a:spcPct val="175000"/>
              </a:lnSpc>
              <a:buNone/>
            </a:pPr>
            <a:r>
              <a:rPr lang="en-US" sz="675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。</a:t>
            </a:r>
            <a:endParaRPr lang="en-US" sz="675" dirty="0"/>
          </a:p>
        </p:txBody>
      </p:sp>
      <p:sp>
        <p:nvSpPr>
          <p:cNvPr id="47" name="Shape 45"/>
          <p:cNvSpPr/>
          <p:nvPr/>
        </p:nvSpPr>
        <p:spPr>
          <a:xfrm>
            <a:off x="3419445" y="3447217"/>
            <a:ext cx="2305020" cy="205740"/>
          </a:xfrm>
          <a:prstGeom prst="rect">
            <a:avLst/>
          </a:prstGeom>
          <a:noFill/>
          <a:ln/>
        </p:spPr>
      </p:sp>
      <p:sp>
        <p:nvSpPr>
          <p:cNvPr id="48" name="Shape 46"/>
          <p:cNvSpPr/>
          <p:nvPr/>
        </p:nvSpPr>
        <p:spPr>
          <a:xfrm>
            <a:off x="3419445" y="3447217"/>
            <a:ext cx="2305020" cy="0"/>
          </a:xfrm>
          <a:prstGeom prst="line">
            <a:avLst/>
          </a:prstGeom>
          <a:noFill/>
          <a:ln w="5715">
            <a:solidFill>
              <a:srgbClr val="94A3B8">
                <a:alpha val="18000"/>
              </a:srgbClr>
            </a:solidFill>
            <a:prstDash val="dash"/>
          </a:ln>
        </p:spPr>
      </p:sp>
      <p:sp>
        <p:nvSpPr>
          <p:cNvPr id="49" name="Text 47"/>
          <p:cNvSpPr/>
          <p:nvPr/>
        </p:nvSpPr>
        <p:spPr>
          <a:xfrm>
            <a:off x="3419445" y="3570089"/>
            <a:ext cx="291465" cy="68580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buNone/>
            </a:pPr>
            <a:r>
              <a:rPr lang="en-US" sz="450" spc="158" kern="0" dirty="0">
                <a:solidFill>
                  <a:srgbClr val="94A3B8">
                    <a:alpha val="55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COST</a:t>
            </a:r>
            <a:endParaRPr lang="en-US" sz="450" dirty="0"/>
          </a:p>
        </p:txBody>
      </p:sp>
      <p:sp>
        <p:nvSpPr>
          <p:cNvPr id="50" name="Text 48"/>
          <p:cNvSpPr/>
          <p:nvPr/>
        </p:nvSpPr>
        <p:spPr>
          <a:xfrm>
            <a:off x="5664279" y="3555802"/>
            <a:ext cx="140196" cy="97155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buNone/>
            </a:pPr>
            <a:r>
              <a:rPr lang="en-US" sz="630" spc="158" kern="0" dirty="0">
                <a:solidFill>
                  <a:srgbClr val="FF704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▸</a:t>
            </a:r>
            <a:endParaRPr lang="en-US" sz="630" dirty="0"/>
          </a:p>
        </p:txBody>
      </p:sp>
      <p:sp>
        <p:nvSpPr>
          <p:cNvPr id="51" name="Shape 49"/>
          <p:cNvSpPr/>
          <p:nvPr/>
        </p:nvSpPr>
        <p:spPr>
          <a:xfrm>
            <a:off x="6027360" y="1464112"/>
            <a:ext cx="2613720" cy="2343150"/>
          </a:xfrm>
          <a:prstGeom prst="roundRect">
            <a:avLst>
              <a:gd name="adj" fmla="val 3415"/>
            </a:avLst>
          </a:prstGeom>
          <a:gradFill rotWithShape="1">
            <a:gsLst>
              <a:gs pos="0">
                <a:srgbClr val="00BCD4">
                  <a:alpha val="6000"/>
                </a:srgbClr>
              </a:gs>
              <a:gs pos="100000">
                <a:srgbClr val="1E293B">
                  <a:alpha val="55000"/>
                </a:srgbClr>
              </a:gs>
            </a:gsLst>
            <a:lin ang="4200000" scaled="0"/>
          </a:gradFill>
          <a:ln w="5715">
            <a:solidFill>
              <a:srgbClr val="00BCD4">
                <a:alpha val="22000"/>
              </a:srgbClr>
            </a:solidFill>
            <a:prstDash val="solid"/>
          </a:ln>
        </p:spPr>
      </p:sp>
      <p:sp>
        <p:nvSpPr>
          <p:cNvPr id="52" name="Shape 50"/>
          <p:cNvSpPr/>
          <p:nvPr/>
        </p:nvSpPr>
        <p:spPr>
          <a:xfrm>
            <a:off x="6027360" y="1464112"/>
            <a:ext cx="2602291" cy="17145"/>
          </a:xfrm>
          <a:prstGeom prst="rect">
            <a:avLst/>
          </a:prstGeom>
          <a:gradFill rotWithShape="1">
            <a:gsLst>
              <a:gs pos="0">
                <a:srgbClr val="00BCD4"/>
              </a:gs>
              <a:gs pos="100000">
                <a:srgbClr val="FF7043"/>
              </a:gs>
            </a:gsLst>
            <a:lin ang="0" scaled="0"/>
          </a:gradFill>
          <a:ln/>
          <a:effectLst>
            <a:outerShdw sx="100000" sy="100000" kx="0" ky="0" algn="bl" rotWithShape="0" blurRad="133350" dist="50800" dir="16200000">
              <a:srgbClr val="00BCD4">
                <a:alpha val="50000"/>
              </a:srgbClr>
            </a:outerShdw>
          </a:effectLst>
        </p:spPr>
      </p:sp>
      <p:sp>
        <p:nvSpPr>
          <p:cNvPr id="53" name="Shape 51"/>
          <p:cNvSpPr/>
          <p:nvPr/>
        </p:nvSpPr>
        <p:spPr>
          <a:xfrm>
            <a:off x="8001001" y="1807012"/>
            <a:ext cx="914400" cy="914400"/>
          </a:xfrm>
          <a:prstGeom prst="rect">
            <a:avLst/>
          </a:prstGeom>
          <a:solidFill>
            <a:srgbClr val="00BCD4">
              <a:alpha val="14000"/>
            </a:srgbClr>
          </a:solidFill>
          <a:ln/>
        </p:spPr>
      </p:sp>
      <p:sp>
        <p:nvSpPr>
          <p:cNvPr id="54" name="Shape 52"/>
          <p:cNvSpPr/>
          <p:nvPr/>
        </p:nvSpPr>
        <p:spPr>
          <a:xfrm>
            <a:off x="6181665" y="1641277"/>
            <a:ext cx="400050" cy="171450"/>
          </a:xfrm>
          <a:prstGeom prst="roundRect">
            <a:avLst>
              <a:gd name="adj" fmla="val 3330000"/>
            </a:avLst>
          </a:prstGeom>
          <a:solidFill>
            <a:srgbClr val="00BCD4">
              <a:alpha val="11000"/>
            </a:srgbClr>
          </a:solidFill>
          <a:ln w="5715">
            <a:solidFill>
              <a:srgbClr val="00BCD4">
                <a:alpha val="45000"/>
              </a:srgbClr>
            </a:solidFill>
            <a:prstDash val="solid"/>
          </a:ln>
        </p:spPr>
      </p:sp>
      <p:sp>
        <p:nvSpPr>
          <p:cNvPr id="55" name="Shape 53"/>
          <p:cNvSpPr/>
          <p:nvPr/>
        </p:nvSpPr>
        <p:spPr>
          <a:xfrm>
            <a:off x="6244530" y="1709857"/>
            <a:ext cx="34290" cy="34290"/>
          </a:xfrm>
          <a:prstGeom prst="ellipse">
            <a:avLst/>
          </a:prstGeom>
          <a:solidFill>
            <a:srgbClr val="00BCD4"/>
          </a:solidFill>
          <a:ln/>
          <a:effectLst>
            <a:outerShdw sx="100000" sy="100000" kx="0" ky="0" algn="bl" rotWithShape="0" blurRad="76200" dist="50800" dir="16200000">
              <a:srgbClr val="00BCD4">
                <a:alpha val="100000"/>
              </a:srgbClr>
            </a:outerShdw>
          </a:effectLst>
        </p:spPr>
      </p:sp>
      <p:sp>
        <p:nvSpPr>
          <p:cNvPr id="56" name="Text 54"/>
          <p:cNvSpPr/>
          <p:nvPr/>
        </p:nvSpPr>
        <p:spPr>
          <a:xfrm>
            <a:off x="6335970" y="1681282"/>
            <a:ext cx="222885" cy="91440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buNone/>
            </a:pPr>
            <a:r>
              <a:rPr lang="en-US" sz="495" spc="135" kern="0" dirty="0">
                <a:solidFill>
                  <a:srgbClr val="00BCD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洞察</a:t>
            </a:r>
            <a:endParaRPr lang="en-US" sz="495" dirty="0"/>
          </a:p>
        </p:txBody>
      </p:sp>
      <p:sp>
        <p:nvSpPr>
          <p:cNvPr id="57" name="Shape 55"/>
          <p:cNvSpPr/>
          <p:nvPr/>
        </p:nvSpPr>
        <p:spPr>
          <a:xfrm>
            <a:off x="8161020" y="1857286"/>
            <a:ext cx="685800" cy="457200"/>
          </a:xfrm>
          <a:prstGeom prst="rect">
            <a:avLst/>
          </a:prstGeom>
          <a:solidFill>
            <a:srgbClr val="00BCD4">
              <a:alpha val="28000"/>
            </a:srgbClr>
          </a:solidFill>
          <a:ln/>
          <a:effectLst>
            <a:outerShdw sx="100000" sy="100000" kx="0" ky="0" algn="bl" rotWithShape="0" blurRad="22860" dist="50800" dir="16200000">
              <a:srgbClr val="00BCD4">
                <a:alpha val="60000"/>
              </a:srgbClr>
            </a:outerShdw>
          </a:effectLst>
        </p:spPr>
      </p:sp>
      <p:sp>
        <p:nvSpPr>
          <p:cNvPr id="58" name="Text 56"/>
          <p:cNvSpPr/>
          <p:nvPr/>
        </p:nvSpPr>
        <p:spPr>
          <a:xfrm>
            <a:off x="7835265" y="1566982"/>
            <a:ext cx="1152144" cy="577215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lnSpc>
                <a:spcPct val="90000"/>
              </a:lnSpc>
              <a:buNone/>
            </a:pPr>
            <a:r>
              <a:rPr lang="en-US" sz="3780" b="1" spc="-90" kern="0" dirty="0">
                <a:solidFill>
                  <a:srgbClr val="000000">
                    <a:alpha val="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03</a:t>
            </a:r>
            <a:endParaRPr lang="en-US" sz="3780" dirty="0"/>
          </a:p>
        </p:txBody>
      </p:sp>
      <p:sp>
        <p:nvSpPr>
          <p:cNvPr id="59" name="Text 57"/>
          <p:cNvSpPr/>
          <p:nvPr/>
        </p:nvSpPr>
        <p:spPr>
          <a:xfrm>
            <a:off x="6181665" y="2176165"/>
            <a:ext cx="1901038" cy="177165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170" b="1" spc="45" kern="0" dirty="0">
                <a:solidFill>
                  <a:srgbClr val="E2E8F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消费侧信任是可观察信号</a:t>
            </a:r>
            <a:endParaRPr lang="en-US" sz="1170" dirty="0"/>
          </a:p>
        </p:txBody>
      </p:sp>
      <p:sp>
        <p:nvSpPr>
          <p:cNvPr id="60" name="Shape 58"/>
          <p:cNvSpPr/>
          <p:nvPr/>
        </p:nvSpPr>
        <p:spPr>
          <a:xfrm>
            <a:off x="6181665" y="2464772"/>
            <a:ext cx="251460" cy="11430"/>
          </a:xfrm>
          <a:prstGeom prst="rect">
            <a:avLst/>
          </a:prstGeom>
          <a:gradFill rotWithShape="1">
            <a:gsLst>
              <a:gs pos="0">
                <a:srgbClr val="00BCD4"/>
              </a:gs>
              <a:gs pos="100000">
                <a:srgbClr val="000000">
                  <a:alpha val="0"/>
                </a:srgbClr>
              </a:gs>
            </a:gsLst>
            <a:lin ang="0" scaled="0"/>
          </a:gradFill>
          <a:ln/>
        </p:spPr>
      </p:sp>
      <p:sp>
        <p:nvSpPr>
          <p:cNvPr id="61" name="Text 59"/>
          <p:cNvSpPr/>
          <p:nvPr/>
        </p:nvSpPr>
        <p:spPr>
          <a:xfrm>
            <a:off x="6181665" y="2567642"/>
            <a:ext cx="2581723" cy="48863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75000"/>
              </a:lnSpc>
              <a:buNone/>
            </a:pPr>
            <a:r>
              <a:rPr lang="en-US" sz="540" dirty="0">
                <a:solidFill>
                  <a:srgbClr val="00BCD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— 消费侧反馈</a:t>
            </a:r>
            <a:endParaRPr lang="en-US" sz="675" dirty="0"/>
          </a:p>
          <a:p>
            <a:pPr algn="l" indent="0" marL="0">
              <a:lnSpc>
                <a:spcPct val="175000"/>
              </a:lnSpc>
              <a:buNone/>
            </a:pPr>
            <a:r>
              <a:rPr lang="en-US" sz="675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feature issue 自带</a:t>
            </a:r>
            <a:pPr algn="l" indent="0" marL="0">
              <a:lnSpc>
                <a:spcPct val="175000"/>
              </a:lnSpc>
              <a:buNone/>
            </a:pPr>
            <a:endParaRPr lang="en-US" sz="675" dirty="0"/>
          </a:p>
          <a:p>
            <a:pPr algn="l" indent="0" marL="0">
              <a:lnSpc>
                <a:spcPct val="175000"/>
              </a:lnSpc>
              <a:buNone/>
            </a:pPr>
            <a:r>
              <a:rPr lang="en-US" sz="675" b="1" dirty="0">
                <a:solidFill>
                  <a:srgbClr val="00BCD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安全边界标签</a:t>
            </a:r>
            <a:pPr algn="l" indent="0" marL="0">
              <a:lnSpc>
                <a:spcPct val="175000"/>
              </a:lnSpc>
              <a:buNone/>
            </a:pPr>
            <a:r>
              <a:rPr lang="en-US" sz="675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。</a:t>
            </a:r>
            <a:endParaRPr lang="en-US" sz="675" dirty="0"/>
          </a:p>
        </p:txBody>
      </p:sp>
      <p:sp>
        <p:nvSpPr>
          <p:cNvPr id="62" name="Shape 60"/>
          <p:cNvSpPr/>
          <p:nvPr/>
        </p:nvSpPr>
        <p:spPr>
          <a:xfrm>
            <a:off x="6181665" y="3447217"/>
            <a:ext cx="2305110" cy="205740"/>
          </a:xfrm>
          <a:prstGeom prst="rect">
            <a:avLst/>
          </a:prstGeom>
          <a:noFill/>
          <a:ln/>
        </p:spPr>
      </p:sp>
      <p:sp>
        <p:nvSpPr>
          <p:cNvPr id="63" name="Shape 61"/>
          <p:cNvSpPr/>
          <p:nvPr/>
        </p:nvSpPr>
        <p:spPr>
          <a:xfrm>
            <a:off x="6181665" y="3447217"/>
            <a:ext cx="2305110" cy="0"/>
          </a:xfrm>
          <a:prstGeom prst="line">
            <a:avLst/>
          </a:prstGeom>
          <a:noFill/>
          <a:ln w="5715">
            <a:solidFill>
              <a:srgbClr val="94A3B8">
                <a:alpha val="18000"/>
              </a:srgbClr>
            </a:solidFill>
            <a:prstDash val="dash"/>
          </a:ln>
        </p:spPr>
      </p:sp>
      <p:sp>
        <p:nvSpPr>
          <p:cNvPr id="64" name="Text 62"/>
          <p:cNvSpPr/>
          <p:nvPr/>
        </p:nvSpPr>
        <p:spPr>
          <a:xfrm>
            <a:off x="6181665" y="3570089"/>
            <a:ext cx="334328" cy="68580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buNone/>
            </a:pPr>
            <a:r>
              <a:rPr lang="en-US" sz="450" spc="158" kern="0" dirty="0">
                <a:solidFill>
                  <a:srgbClr val="94A3B8">
                    <a:alpha val="55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TRUST</a:t>
            </a:r>
            <a:endParaRPr lang="en-US" sz="450" dirty="0"/>
          </a:p>
        </p:txBody>
      </p:sp>
      <p:sp>
        <p:nvSpPr>
          <p:cNvPr id="65" name="Text 63"/>
          <p:cNvSpPr/>
          <p:nvPr/>
        </p:nvSpPr>
        <p:spPr>
          <a:xfrm>
            <a:off x="8426589" y="3555802"/>
            <a:ext cx="140196" cy="97155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buNone/>
            </a:pPr>
            <a:r>
              <a:rPr lang="en-US" sz="630" spc="158" kern="0" dirty="0">
                <a:solidFill>
                  <a:srgbClr val="00BCD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▸</a:t>
            </a:r>
            <a:endParaRPr lang="en-US" sz="630" dirty="0"/>
          </a:p>
        </p:txBody>
      </p:sp>
      <p:sp>
        <p:nvSpPr>
          <p:cNvPr id="66" name="Shape 64"/>
          <p:cNvSpPr/>
          <p:nvPr/>
        </p:nvSpPr>
        <p:spPr>
          <a:xfrm>
            <a:off x="502920" y="3990142"/>
            <a:ext cx="8138160" cy="422910"/>
          </a:xfrm>
          <a:prstGeom prst="roundRect">
            <a:avLst>
              <a:gd name="adj" fmla="val 5405"/>
            </a:avLst>
          </a:prstGeom>
          <a:gradFill rotWithShape="1">
            <a:gsLst>
              <a:gs pos="0">
                <a:srgbClr val="000000">
                  <a:alpha val="0"/>
                </a:srgbClr>
              </a:gs>
              <a:gs pos="50000">
                <a:srgbClr val="00BCD4">
                  <a:alpha val="10000"/>
                </a:srgbClr>
              </a:gs>
              <a:gs pos="100000">
                <a:srgbClr val="000000">
                  <a:alpha val="0"/>
                </a:srgbClr>
              </a:gs>
            </a:gsLst>
            <a:lin ang="0" scaled="0"/>
          </a:gradFill>
          <a:ln/>
        </p:spPr>
      </p:sp>
      <p:sp>
        <p:nvSpPr>
          <p:cNvPr id="67" name="Shape 65"/>
          <p:cNvSpPr/>
          <p:nvPr/>
        </p:nvSpPr>
        <p:spPr>
          <a:xfrm>
            <a:off x="502920" y="3990142"/>
            <a:ext cx="8138160" cy="0"/>
          </a:xfrm>
          <a:prstGeom prst="line">
            <a:avLst/>
          </a:prstGeom>
          <a:noFill/>
          <a:ln w="5715">
            <a:solidFill>
              <a:srgbClr val="00BCD4">
                <a:alpha val="32000"/>
              </a:srgbClr>
            </a:solidFill>
            <a:prstDash val="solid"/>
          </a:ln>
        </p:spPr>
      </p:sp>
      <p:sp>
        <p:nvSpPr>
          <p:cNvPr id="68" name="Shape 66"/>
          <p:cNvSpPr/>
          <p:nvPr/>
        </p:nvSpPr>
        <p:spPr>
          <a:xfrm>
            <a:off x="502920" y="4413052"/>
            <a:ext cx="8138160" cy="0"/>
          </a:xfrm>
          <a:prstGeom prst="line">
            <a:avLst/>
          </a:prstGeom>
          <a:noFill/>
          <a:ln w="5715">
            <a:solidFill>
              <a:srgbClr val="00BCD4">
                <a:alpha val="32000"/>
              </a:srgbClr>
            </a:solidFill>
            <a:prstDash val="solid"/>
          </a:ln>
        </p:spPr>
      </p:sp>
      <p:sp>
        <p:nvSpPr>
          <p:cNvPr id="69" name="Shape 67"/>
          <p:cNvSpPr/>
          <p:nvPr/>
        </p:nvSpPr>
        <p:spPr>
          <a:xfrm>
            <a:off x="3213259" y="4110157"/>
            <a:ext cx="182880" cy="182880"/>
          </a:xfrm>
          <a:prstGeom prst="ellipse">
            <a:avLst/>
          </a:prstGeom>
          <a:solidFill>
            <a:srgbClr val="FF7043">
              <a:alpha val="18000"/>
            </a:srgbClr>
          </a:solidFill>
          <a:ln w="5715">
            <a:solidFill>
              <a:srgbClr val="FF7043"/>
            </a:solidFill>
            <a:prstDash val="solid"/>
          </a:ln>
          <a:effectLst>
            <a:outerShdw sx="100000" sy="100000" kx="0" ky="0" algn="bl" rotWithShape="0" blurRad="133350" dist="50800" dir="16200000">
              <a:srgbClr val="FF7043">
                <a:alpha val="45000"/>
              </a:srgbClr>
            </a:outerShdw>
          </a:effectLst>
        </p:spPr>
      </p:sp>
      <p:sp>
        <p:nvSpPr>
          <p:cNvPr id="70" name="Text 68"/>
          <p:cNvSpPr/>
          <p:nvPr/>
        </p:nvSpPr>
        <p:spPr>
          <a:xfrm>
            <a:off x="3258979" y="4133017"/>
            <a:ext cx="182880" cy="137160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buNone/>
            </a:pPr>
            <a:r>
              <a:rPr lang="en-US" sz="720" b="1" dirty="0">
                <a:solidFill>
                  <a:srgbClr val="FF704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★</a:t>
            </a:r>
            <a:endParaRPr lang="en-US" sz="720" dirty="0"/>
          </a:p>
        </p:txBody>
      </p:sp>
      <p:sp>
        <p:nvSpPr>
          <p:cNvPr id="71" name="Text 69"/>
          <p:cNvSpPr/>
          <p:nvPr/>
        </p:nvSpPr>
        <p:spPr>
          <a:xfrm>
            <a:off x="3499009" y="4130159"/>
            <a:ext cx="2723540" cy="14287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765" spc="68" kern="0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从</a:t>
            </a:r>
            <a:pPr algn="l" indent="0" marL="0">
              <a:buNone/>
            </a:pPr>
            <a:r>
              <a:rPr lang="en-US" sz="765" b="1" spc="68" kern="0" dirty="0">
                <a:solidFill>
                  <a:srgbClr val="00BCD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「能用」</a:t>
            </a:r>
            <a:pPr algn="l" indent="0" marL="0">
              <a:buNone/>
            </a:pPr>
            <a:r>
              <a:rPr lang="en-US" sz="765" spc="68" kern="0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到</a:t>
            </a:r>
            <a:pPr algn="l" indent="0" marL="0">
              <a:buNone/>
            </a:pPr>
            <a:r>
              <a:rPr lang="en-US" sz="765" b="1" spc="68" kern="0" dirty="0">
                <a:solidFill>
                  <a:srgbClr val="FF704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「好用」</a:t>
            </a:r>
            <a:pPr algn="l" indent="0" marL="0">
              <a:buNone/>
            </a:pPr>
            <a:r>
              <a:rPr lang="en-US" sz="765" spc="68" kern="0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的关键跃迁就在</a:t>
            </a:r>
            <a:pPr algn="l" indent="0" marL="0">
              <a:buNone/>
            </a:pPr>
            <a:r>
              <a:rPr lang="en-US" sz="765" b="1" spc="68" kern="0" dirty="0">
                <a:solidFill>
                  <a:srgbClr val="FF704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第三个洞察</a:t>
            </a:r>
            <a:pPr algn="l" indent="0" marL="0">
              <a:buNone/>
            </a:pPr>
            <a:r>
              <a:rPr lang="en-US" sz="765" spc="68" kern="0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里</a:t>
            </a:r>
            <a:endParaRPr lang="en-US" sz="765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gradFill rotWithShape="1">
            <a:gsLst>
              <a:gs pos="0">
                <a:srgbClr val="0B1424"/>
              </a:gs>
              <a:gs pos="50000">
                <a:srgbClr val="0F172A"/>
              </a:gs>
              <a:gs pos="100000">
                <a:srgbClr val="0B1424"/>
              </a:gs>
            </a:gsLst>
            <a:lin ang="5400000" scaled="0"/>
          </a:gradFill>
          <a:ln/>
        </p:spPr>
      </p:sp>
      <p:sp>
        <p:nvSpPr>
          <p:cNvPr id="3" name="Shape 1"/>
          <p:cNvSpPr/>
          <p:nvPr/>
        </p:nvSpPr>
        <p:spPr>
          <a:xfrm>
            <a:off x="2743200" y="-2571750"/>
            <a:ext cx="10972800" cy="6172200"/>
          </a:xfrm>
          <a:prstGeom prst="ellipse">
            <a:avLst/>
          </a:prstGeom>
          <a:gradFill rotWithShape="1">
            <a:gsLst>
              <a:gs pos="0">
                <a:srgbClr val="00BCD4">
                  <a:alpha val="9600"/>
                </a:srgbClr>
              </a:gs>
              <a:gs pos="100000">
                <a:srgbClr val="00BCD4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/>
        </p:spPr>
      </p:sp>
      <p:sp>
        <p:nvSpPr>
          <p:cNvPr id="4" name="Shape 2"/>
          <p:cNvSpPr/>
          <p:nvPr/>
        </p:nvSpPr>
        <p:spPr>
          <a:xfrm>
            <a:off x="-5029200" y="1543050"/>
            <a:ext cx="11887200" cy="6686550"/>
          </a:xfrm>
          <a:prstGeom prst="ellipse">
            <a:avLst/>
          </a:prstGeom>
          <a:gradFill rotWithShape="1">
            <a:gsLst>
              <a:gs pos="0">
                <a:srgbClr val="FF7043">
                  <a:alpha val="5600"/>
                </a:srgbClr>
              </a:gs>
              <a:gs pos="100000">
                <a:srgbClr val="FF7043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/>
        </p:spPr>
      </p:sp>
      <p:sp>
        <p:nvSpPr>
          <p:cNvPr id="5" name="Shape 3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gradFill rotWithShape="1">
            <a:gsLst>
              <a:gs pos="0">
                <a:srgbClr val="000000">
                  <a:alpha val="4300"/>
                </a:srgbClr>
              </a:gs>
              <a:gs pos="25000">
                <a:srgbClr val="000000">
                  <a:alpha val="0"/>
                </a:srgbClr>
              </a:gs>
              <a:gs pos="50000">
                <a:srgbClr val="000000"/>
              </a:gs>
              <a:gs pos="75000">
                <a:srgbClr val="000000">
                  <a:alpha val="4300"/>
                </a:srgbClr>
              </a:gs>
              <a:gs pos="100000">
                <a:srgbClr val="000000">
                  <a:alpha val="0"/>
                </a:srgbClr>
              </a:gs>
            </a:gsLst>
            <a:lin ang="5400000" scaled="0"/>
          </a:gradFill>
          <a:ln/>
        </p:spPr>
      </p:sp>
      <p:sp>
        <p:nvSpPr>
          <p:cNvPr id="6" name="Shape 4"/>
          <p:cNvSpPr/>
          <p:nvPr/>
        </p:nvSpPr>
        <p:spPr>
          <a:xfrm>
            <a:off x="8961120" y="114300"/>
            <a:ext cx="68580" cy="68580"/>
          </a:xfrm>
          <a:prstGeom prst="rect">
            <a:avLst/>
          </a:prstGeom>
          <a:noFill/>
          <a:ln/>
        </p:spPr>
      </p:sp>
      <p:sp>
        <p:nvSpPr>
          <p:cNvPr id="7" name="Shape 5"/>
          <p:cNvSpPr/>
          <p:nvPr/>
        </p:nvSpPr>
        <p:spPr>
          <a:xfrm>
            <a:off x="8961120" y="114300"/>
            <a:ext cx="68580" cy="0"/>
          </a:xfrm>
          <a:prstGeom prst="line">
            <a:avLst/>
          </a:prstGeom>
          <a:noFill/>
          <a:ln w="5715">
            <a:solidFill>
              <a:srgbClr val="00BCD4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9029700" y="114300"/>
            <a:ext cx="0" cy="68580"/>
          </a:xfrm>
          <a:prstGeom prst="line">
            <a:avLst/>
          </a:prstGeom>
          <a:noFill/>
          <a:ln w="5715">
            <a:solidFill>
              <a:srgbClr val="00BCD4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14300" y="4960620"/>
            <a:ext cx="68580" cy="68580"/>
          </a:xfrm>
          <a:prstGeom prst="rect">
            <a:avLst/>
          </a:prstGeom>
          <a:noFill/>
          <a:ln/>
        </p:spPr>
      </p:sp>
      <p:sp>
        <p:nvSpPr>
          <p:cNvPr id="10" name="Shape 8"/>
          <p:cNvSpPr/>
          <p:nvPr/>
        </p:nvSpPr>
        <p:spPr>
          <a:xfrm>
            <a:off x="114300" y="5029200"/>
            <a:ext cx="68580" cy="0"/>
          </a:xfrm>
          <a:prstGeom prst="line">
            <a:avLst/>
          </a:prstGeom>
          <a:noFill/>
          <a:ln w="5715">
            <a:solidFill>
              <a:srgbClr val="FF7043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114300" y="4960620"/>
            <a:ext cx="0" cy="68580"/>
          </a:xfrm>
          <a:prstGeom prst="line">
            <a:avLst/>
          </a:prstGeom>
          <a:noFill/>
          <a:ln w="5715">
            <a:solidFill>
              <a:srgbClr val="FF7043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342900" y="313611"/>
            <a:ext cx="34290" cy="34290"/>
          </a:xfrm>
          <a:prstGeom prst="ellipse">
            <a:avLst/>
          </a:prstGeom>
          <a:solidFill>
            <a:srgbClr val="00BCD4"/>
          </a:solidFill>
          <a:ln/>
          <a:effectLst>
            <a:outerShdw sx="100000" sy="100000" kx="0" ky="0" algn="bl" rotWithShape="0" blurRad="95250" dist="50800" dir="16200000">
              <a:srgbClr val="00BCD4">
                <a:alpha val="100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457200" y="279321"/>
            <a:ext cx="604718" cy="102870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540" spc="76" kern="0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CASE STUDY</a:t>
            </a:r>
            <a:endParaRPr lang="en-US" sz="540" dirty="0"/>
          </a:p>
        </p:txBody>
      </p:sp>
      <p:sp>
        <p:nvSpPr>
          <p:cNvPr id="14" name="Text 12"/>
          <p:cNvSpPr/>
          <p:nvPr/>
        </p:nvSpPr>
        <p:spPr>
          <a:xfrm>
            <a:off x="1073348" y="279321"/>
            <a:ext cx="116586" cy="102870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540" spc="76" kern="0" dirty="0">
                <a:solidFill>
                  <a:srgbClr val="64748B">
                    <a:alpha val="60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/</a:t>
            </a:r>
            <a:endParaRPr lang="en-US" sz="540" dirty="0"/>
          </a:p>
        </p:txBody>
      </p:sp>
      <p:sp>
        <p:nvSpPr>
          <p:cNvPr id="15" name="Text 13"/>
          <p:cNvSpPr/>
          <p:nvPr/>
        </p:nvSpPr>
        <p:spPr>
          <a:xfrm>
            <a:off x="1185863" y="279321"/>
            <a:ext cx="728691" cy="102870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540" spc="76" kern="0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GITHUB ISSUES</a:t>
            </a:r>
            <a:endParaRPr lang="en-US" sz="540" dirty="0"/>
          </a:p>
        </p:txBody>
      </p:sp>
      <p:sp>
        <p:nvSpPr>
          <p:cNvPr id="16" name="Text 14"/>
          <p:cNvSpPr/>
          <p:nvPr/>
        </p:nvSpPr>
        <p:spPr>
          <a:xfrm>
            <a:off x="1916490" y="279321"/>
            <a:ext cx="116586" cy="102870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540" spc="76" kern="0" dirty="0">
                <a:solidFill>
                  <a:srgbClr val="64748B">
                    <a:alpha val="60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/</a:t>
            </a:r>
            <a:endParaRPr lang="en-US" sz="540" dirty="0"/>
          </a:p>
        </p:txBody>
      </p:sp>
      <p:sp>
        <p:nvSpPr>
          <p:cNvPr id="17" name="Text 15"/>
          <p:cNvSpPr/>
          <p:nvPr/>
        </p:nvSpPr>
        <p:spPr>
          <a:xfrm>
            <a:off x="2029004" y="279321"/>
            <a:ext cx="1260758" cy="102870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540" spc="76" kern="0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消费侧信任 · Consumer Trust</a:t>
            </a:r>
            <a:endParaRPr lang="en-US" sz="540" dirty="0"/>
          </a:p>
        </p:txBody>
      </p:sp>
      <p:sp>
        <p:nvSpPr>
          <p:cNvPr id="18" name="Shape 16"/>
          <p:cNvSpPr/>
          <p:nvPr/>
        </p:nvSpPr>
        <p:spPr>
          <a:xfrm>
            <a:off x="6974711" y="251460"/>
            <a:ext cx="606772" cy="158591"/>
          </a:xfrm>
          <a:prstGeom prst="roundRect">
            <a:avLst>
              <a:gd name="adj" fmla="val 10811"/>
            </a:avLst>
          </a:prstGeom>
          <a:solidFill>
            <a:srgbClr val="00BCD4">
              <a:alpha val="6000"/>
            </a:srgbClr>
          </a:solidFill>
          <a:ln w="5715">
            <a:solidFill>
              <a:srgbClr val="00BCD4">
                <a:alpha val="40000"/>
              </a:srgbClr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974711" y="251460"/>
            <a:ext cx="679585" cy="158591"/>
          </a:xfrm>
          <a:prstGeom prst="rect">
            <a:avLst/>
          </a:prstGeom>
          <a:noFill/>
          <a:ln/>
        </p:spPr>
        <p:txBody>
          <a:bodyPr wrap="square" lIns="28575" tIns="62865" rIns="62865" bIns="28575" rtlCol="0" anchor="ctr"/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473" spc="66" kern="0" dirty="0">
                <a:solidFill>
                  <a:srgbClr val="00BCD4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CASE #67002</a:t>
            </a:r>
            <a:endParaRPr lang="en-US" sz="473" dirty="0"/>
          </a:p>
        </p:txBody>
      </p:sp>
      <p:sp>
        <p:nvSpPr>
          <p:cNvPr id="20" name="Shape 18"/>
          <p:cNvSpPr/>
          <p:nvPr/>
        </p:nvSpPr>
        <p:spPr>
          <a:xfrm>
            <a:off x="7627203" y="251460"/>
            <a:ext cx="478721" cy="158591"/>
          </a:xfrm>
          <a:prstGeom prst="roundRect">
            <a:avLst>
              <a:gd name="adj" fmla="val 10811"/>
            </a:avLst>
          </a:prstGeom>
          <a:solidFill>
            <a:srgbClr val="FF7043">
              <a:alpha val="6000"/>
            </a:srgbClr>
          </a:solidFill>
          <a:ln w="5715">
            <a:solidFill>
              <a:srgbClr val="FF7043">
                <a:alpha val="40000"/>
              </a:srgbClr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7627203" y="251460"/>
            <a:ext cx="538728" cy="158591"/>
          </a:xfrm>
          <a:prstGeom prst="rect">
            <a:avLst/>
          </a:prstGeom>
          <a:noFill/>
          <a:ln/>
        </p:spPr>
        <p:txBody>
          <a:bodyPr wrap="square" lIns="28575" tIns="62865" rIns="62865" bIns="28575" rtlCol="0" anchor="ctr"/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473" spc="66" kern="0" dirty="0">
                <a:solidFill>
                  <a:srgbClr val="FF7043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TEXTBOOK</a:t>
            </a:r>
            <a:endParaRPr lang="en-US" sz="473" dirty="0"/>
          </a:p>
        </p:txBody>
      </p:sp>
      <p:sp>
        <p:nvSpPr>
          <p:cNvPr id="22" name="Shape 20"/>
          <p:cNvSpPr/>
          <p:nvPr/>
        </p:nvSpPr>
        <p:spPr>
          <a:xfrm>
            <a:off x="8151644" y="251460"/>
            <a:ext cx="649456" cy="158591"/>
          </a:xfrm>
          <a:prstGeom prst="roundRect">
            <a:avLst>
              <a:gd name="adj" fmla="val 10811"/>
            </a:avLst>
          </a:prstGeom>
          <a:solidFill>
            <a:srgbClr val="0F172A">
              <a:alpha val="55000"/>
            </a:srgbClr>
          </a:solidFill>
          <a:ln w="5715">
            <a:solidFill>
              <a:srgbClr val="94A3B8">
                <a:alpha val="24000"/>
              </a:srgbClr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8151644" y="251460"/>
            <a:ext cx="727391" cy="158591"/>
          </a:xfrm>
          <a:prstGeom prst="rect">
            <a:avLst/>
          </a:prstGeom>
          <a:noFill/>
          <a:ln/>
        </p:spPr>
        <p:txBody>
          <a:bodyPr wrap="square" lIns="28575" tIns="62865" rIns="62865" bIns="28575" rtlCol="0" anchor="ctr"/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473" spc="66" kern="0" dirty="0">
                <a:solidFill>
                  <a:srgbClr val="94A3B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MCP · RELOAD</a:t>
            </a:r>
            <a:endParaRPr lang="en-US" sz="473" dirty="0"/>
          </a:p>
        </p:txBody>
      </p:sp>
      <p:sp>
        <p:nvSpPr>
          <p:cNvPr id="24" name="Text 22"/>
          <p:cNvSpPr/>
          <p:nvPr/>
        </p:nvSpPr>
        <p:spPr>
          <a:xfrm>
            <a:off x="342900" y="512921"/>
            <a:ext cx="9473184" cy="236547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620" b="1" spc="-16" kern="0" dirty="0">
                <a:solidFill>
                  <a:srgbClr val="E2E8F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案例 ·</a:t>
            </a:r>
            <a:pPr algn="l" indent="0" marL="0">
              <a:lnSpc>
                <a:spcPct val="115000"/>
              </a:lnSpc>
              <a:buNone/>
            </a:pPr>
            <a:r>
              <a:rPr lang="en-US" sz="1620" b="1" spc="-16" kern="0" dirty="0">
                <a:solidFill>
                  <a:srgbClr val="FF704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#67002 </a:t>
            </a:r>
            <a:pPr algn="l" indent="0" marL="0">
              <a:lnSpc>
                <a:spcPct val="115000"/>
              </a:lnSpc>
              <a:buNone/>
            </a:pPr>
            <a:r>
              <a:rPr lang="en-US" sz="1620" b="1" spc="-16" kern="0" dirty="0">
                <a:solidFill>
                  <a:srgbClr val="00BCD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Safe MCP Reload</a:t>
            </a:r>
            <a:endParaRPr lang="en-US" sz="1620" dirty="0"/>
          </a:p>
        </p:txBody>
      </p:sp>
      <p:sp>
        <p:nvSpPr>
          <p:cNvPr id="25" name="Shape 23"/>
          <p:cNvSpPr/>
          <p:nvPr/>
        </p:nvSpPr>
        <p:spPr>
          <a:xfrm>
            <a:off x="342900" y="818049"/>
            <a:ext cx="182880" cy="5715"/>
          </a:xfrm>
          <a:prstGeom prst="rect">
            <a:avLst/>
          </a:prstGeom>
          <a:solidFill>
            <a:srgbClr val="00BCD4"/>
          </a:solidFill>
          <a:ln/>
        </p:spPr>
      </p:sp>
      <p:sp>
        <p:nvSpPr>
          <p:cNvPr id="26" name="Text 24"/>
          <p:cNvSpPr/>
          <p:nvPr/>
        </p:nvSpPr>
        <p:spPr>
          <a:xfrm>
            <a:off x="605790" y="818049"/>
            <a:ext cx="3197300" cy="1285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675" spc="14" kern="0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消费侧信任的</a:t>
            </a:r>
            <a:pPr algn="l" indent="0" marL="0">
              <a:lnSpc>
                <a:spcPct val="150000"/>
              </a:lnSpc>
              <a:buNone/>
            </a:pPr>
            <a:r>
              <a:rPr lang="en-US" sz="675" spc="14" kern="0" dirty="0">
                <a:solidFill>
                  <a:srgbClr val="E2E8F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教科书样本</a:t>
            </a:r>
            <a:pPr algn="l" indent="0" marL="0">
              <a:lnSpc>
                <a:spcPct val="150000"/>
              </a:lnSpc>
              <a:buNone/>
            </a:pPr>
            <a:r>
              <a:rPr lang="en-US" sz="675" spc="14" kern="0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· A canonical sample of consumer-side trust</a:t>
            </a:r>
            <a:endParaRPr lang="en-US" sz="675" dirty="0"/>
          </a:p>
        </p:txBody>
      </p:sp>
      <p:sp>
        <p:nvSpPr>
          <p:cNvPr id="27" name="Text 25"/>
          <p:cNvSpPr/>
          <p:nvPr/>
        </p:nvSpPr>
        <p:spPr>
          <a:xfrm>
            <a:off x="342900" y="1118086"/>
            <a:ext cx="4426153" cy="90011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473" spc="113" kern="0" dirty="0">
                <a:solidFill>
                  <a:srgbClr val="00BCD4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GITHUB · ISSUE SNAPSHOT</a:t>
            </a:r>
            <a:endParaRPr lang="en-US" sz="473" dirty="0"/>
          </a:p>
        </p:txBody>
      </p:sp>
      <p:sp>
        <p:nvSpPr>
          <p:cNvPr id="28" name="Shape 26"/>
          <p:cNvSpPr/>
          <p:nvPr/>
        </p:nvSpPr>
        <p:spPr>
          <a:xfrm>
            <a:off x="342900" y="1118086"/>
            <a:ext cx="34290" cy="34290"/>
          </a:xfrm>
          <a:prstGeom prst="ellipse">
            <a:avLst/>
          </a:prstGeom>
          <a:solidFill>
            <a:srgbClr val="00BCD4"/>
          </a:solidFill>
          <a:ln/>
          <a:effectLst>
            <a:outerShdw sx="100000" sy="100000" kx="0" ky="0" algn="bl" rotWithShape="0" blurRad="95250" dist="50800" dir="16200000">
              <a:srgbClr val="00BCD4">
                <a:alpha val="100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342900" y="1118086"/>
            <a:ext cx="205740" cy="5715"/>
          </a:xfrm>
          <a:prstGeom prst="rect">
            <a:avLst/>
          </a:prstGeom>
          <a:gradFill rotWithShape="1">
            <a:gsLst>
              <a:gs pos="0">
                <a:srgbClr val="00BCD4"/>
              </a:gs>
              <a:gs pos="100000">
                <a:srgbClr val="000000">
                  <a:alpha val="0"/>
                </a:srgbClr>
              </a:gs>
            </a:gsLst>
            <a:lin ang="0" scaled="0"/>
          </a:gradFill>
          <a:ln/>
        </p:spPr>
      </p:sp>
      <p:sp>
        <p:nvSpPr>
          <p:cNvPr id="30" name="Shape 28"/>
          <p:cNvSpPr/>
          <p:nvPr/>
        </p:nvSpPr>
        <p:spPr>
          <a:xfrm>
            <a:off x="342900" y="1288107"/>
            <a:ext cx="3951923" cy="3053239"/>
          </a:xfrm>
          <a:prstGeom prst="roundRect">
            <a:avLst>
              <a:gd name="adj" fmla="val 1497"/>
            </a:avLst>
          </a:prstGeom>
          <a:solidFill>
            <a:srgbClr val="152035"/>
          </a:solidFill>
          <a:ln w="5715">
            <a:solidFill>
              <a:srgbClr val="94A3B8">
                <a:alpha val="24000"/>
              </a:srgbClr>
            </a:solidFill>
            <a:prstDash val="solid"/>
          </a:ln>
          <a:effectLst>
            <a:outerShdw sx="100000" sy="100000" kx="0" ky="0" algn="bl" rotWithShape="0" blurRad="476250" dist="190500" dir="16200000">
              <a:srgbClr val="000000">
                <a:alpha val="35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342900" y="1288107"/>
            <a:ext cx="3940493" cy="11430"/>
          </a:xfrm>
          <a:prstGeom prst="rect">
            <a:avLst/>
          </a:prstGeom>
          <a:gradFill rotWithShape="1">
            <a:gsLst>
              <a:gs pos="0">
                <a:srgbClr val="00BCD4"/>
              </a:gs>
              <a:gs pos="25000">
                <a:srgbClr val="00BCD4"/>
              </a:gs>
              <a:gs pos="25000">
                <a:srgbClr val="FF7043"/>
              </a:gs>
              <a:gs pos="45000">
                <a:srgbClr val="FF7043"/>
              </a:gs>
              <a:gs pos="45000">
                <a:srgbClr val="000000">
                  <a:alpha val="0"/>
                </a:srgbClr>
              </a:gs>
            </a:gsLst>
            <a:lin ang="0" scaled="0"/>
          </a:gradFill>
          <a:ln/>
        </p:spPr>
      </p:sp>
      <p:sp>
        <p:nvSpPr>
          <p:cNvPr id="32" name="Shape 30"/>
          <p:cNvSpPr/>
          <p:nvPr/>
        </p:nvSpPr>
        <p:spPr>
          <a:xfrm>
            <a:off x="485775" y="1419552"/>
            <a:ext cx="1377315" cy="160020"/>
          </a:xfrm>
          <a:prstGeom prst="roundRect">
            <a:avLst>
              <a:gd name="adj" fmla="val 14286"/>
            </a:avLst>
          </a:prstGeom>
          <a:solidFill>
            <a:srgbClr val="0F172A">
              <a:alpha val="70000"/>
            </a:srgbClr>
          </a:solidFill>
          <a:ln w="5715">
            <a:solidFill>
              <a:srgbClr val="94A3B8">
                <a:alpha val="14000"/>
              </a:srgbClr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485775" y="1419552"/>
            <a:ext cx="1542593" cy="1600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540" dirty="0">
                <a:solidFill>
                  <a:srgbClr val="94A3B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modelcontextprotocol · server</a:t>
            </a:r>
            <a:endParaRPr lang="en-US" sz="540" dirty="0"/>
          </a:p>
        </p:txBody>
      </p:sp>
      <p:sp>
        <p:nvSpPr>
          <p:cNvPr id="34" name="Shape 32"/>
          <p:cNvSpPr/>
          <p:nvPr/>
        </p:nvSpPr>
        <p:spPr>
          <a:xfrm>
            <a:off x="1920240" y="1423839"/>
            <a:ext cx="337185" cy="151448"/>
          </a:xfrm>
          <a:prstGeom prst="roundRect">
            <a:avLst>
              <a:gd name="adj" fmla="val 15094"/>
            </a:avLst>
          </a:prstGeom>
          <a:solidFill>
            <a:srgbClr val="00BCD4">
              <a:alpha val="10000"/>
            </a:srgbClr>
          </a:solidFill>
          <a:ln w="5715">
            <a:solidFill>
              <a:srgbClr val="00BCD4">
                <a:alpha val="35000"/>
              </a:srgbClr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1920240" y="1423839"/>
            <a:ext cx="400050" cy="1514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495" dirty="0">
                <a:solidFill>
                  <a:srgbClr val="00BCD4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OPEN</a:t>
            </a:r>
            <a:endParaRPr lang="en-US" sz="495" dirty="0"/>
          </a:p>
        </p:txBody>
      </p:sp>
      <p:sp>
        <p:nvSpPr>
          <p:cNvPr id="36" name="Shape 34"/>
          <p:cNvSpPr/>
          <p:nvPr/>
        </p:nvSpPr>
        <p:spPr>
          <a:xfrm>
            <a:off x="1977390" y="1485275"/>
            <a:ext cx="28575" cy="28575"/>
          </a:xfrm>
          <a:prstGeom prst="ellipse">
            <a:avLst/>
          </a:prstGeom>
          <a:solidFill>
            <a:srgbClr val="00BCD4"/>
          </a:solidFill>
          <a:ln/>
          <a:effectLst>
            <a:outerShdw sx="100000" sy="100000" kx="0" ky="0" algn="bl" rotWithShape="0" blurRad="57150" dist="50800" dir="16200000">
              <a:srgbClr val="00BCD4">
                <a:alpha val="100000"/>
              </a:srgbClr>
            </a:outerShdw>
          </a:effectLst>
        </p:spPr>
      </p:sp>
      <p:sp>
        <p:nvSpPr>
          <p:cNvPr id="37" name="Text 35"/>
          <p:cNvSpPr/>
          <p:nvPr/>
        </p:nvSpPr>
        <p:spPr>
          <a:xfrm>
            <a:off x="3889236" y="1419552"/>
            <a:ext cx="325576" cy="94298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495" spc="30" kern="0" dirty="0">
                <a:solidFill>
                  <a:srgbClr val="64748B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#67002</a:t>
            </a:r>
            <a:endParaRPr lang="en-US" sz="495" dirty="0"/>
          </a:p>
        </p:txBody>
      </p:sp>
      <p:sp>
        <p:nvSpPr>
          <p:cNvPr id="38" name="Text 36"/>
          <p:cNvSpPr/>
          <p:nvPr/>
        </p:nvSpPr>
        <p:spPr>
          <a:xfrm>
            <a:off x="485775" y="1671012"/>
            <a:ext cx="4106113" cy="13787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42000"/>
              </a:lnSpc>
              <a:buNone/>
            </a:pPr>
            <a:r>
              <a:rPr lang="en-US" sz="698" spc="-4" kern="0" dirty="0">
                <a:solidFill>
                  <a:srgbClr val="E2E8F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#67002 · feat(api):</a:t>
            </a:r>
            <a:pPr algn="l" indent="0" marL="0">
              <a:lnSpc>
                <a:spcPct val="142000"/>
              </a:lnSpc>
              <a:buNone/>
            </a:pPr>
            <a:r>
              <a:rPr lang="en-US" sz="765" b="1" spc="-4" kern="0" dirty="0">
                <a:solidFill>
                  <a:srgbClr val="E2E8F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add</a:t>
            </a:r>
            <a:pPr algn="l" indent="0" marL="0">
              <a:lnSpc>
                <a:spcPct val="142000"/>
              </a:lnSpc>
              <a:buNone/>
            </a:pPr>
            <a:r>
              <a:rPr lang="en-US" sz="765" b="1" spc="-4" kern="0" dirty="0">
                <a:solidFill>
                  <a:srgbClr val="00BCD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safe</a:t>
            </a:r>
            <a:pPr algn="l" indent="0" marL="0">
              <a:lnSpc>
                <a:spcPct val="142000"/>
              </a:lnSpc>
              <a:buNone/>
            </a:pPr>
            <a:r>
              <a:rPr lang="en-US" sz="765" b="1" spc="-4" kern="0" dirty="0">
                <a:solidFill>
                  <a:srgbClr val="E2E8F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MCP</a:t>
            </a:r>
            <a:pPr algn="l" indent="0" marL="0">
              <a:lnSpc>
                <a:spcPct val="142000"/>
              </a:lnSpc>
              <a:buNone/>
            </a:pPr>
            <a:r>
              <a:rPr lang="en-US" sz="765" b="1" spc="-4" kern="0" dirty="0">
                <a:solidFill>
                  <a:srgbClr val="FF704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reload</a:t>
            </a:r>
            <a:pPr algn="l" indent="0" marL="0">
              <a:lnSpc>
                <a:spcPct val="142000"/>
              </a:lnSpc>
              <a:buNone/>
            </a:pPr>
            <a:r>
              <a:rPr lang="en-US" sz="765" b="1" spc="-4" kern="0" dirty="0">
                <a:solidFill>
                  <a:srgbClr val="E2E8F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control endpoint</a:t>
            </a:r>
            <a:endParaRPr lang="en-US" sz="765" dirty="0"/>
          </a:p>
        </p:txBody>
      </p:sp>
      <p:sp>
        <p:nvSpPr>
          <p:cNvPr id="39" name="Text 37"/>
          <p:cNvSpPr/>
          <p:nvPr/>
        </p:nvSpPr>
        <p:spPr>
          <a:xfrm>
            <a:off x="485775" y="1843177"/>
            <a:ext cx="940918" cy="98584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518" dirty="0">
                <a:solidFill>
                  <a:srgbClr val="64748B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opened by contributor</a:t>
            </a:r>
            <a:endParaRPr lang="en-US" sz="518" dirty="0"/>
          </a:p>
        </p:txBody>
      </p:sp>
      <p:sp>
        <p:nvSpPr>
          <p:cNvPr id="40" name="Text 38"/>
          <p:cNvSpPr/>
          <p:nvPr/>
        </p:nvSpPr>
        <p:spPr>
          <a:xfrm>
            <a:off x="1394460" y="1843177"/>
            <a:ext cx="111728" cy="98584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518" dirty="0">
                <a:solidFill>
                  <a:srgbClr val="64748B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·</a:t>
            </a:r>
            <a:endParaRPr lang="en-US" sz="518" dirty="0"/>
          </a:p>
        </p:txBody>
      </p:sp>
      <p:sp>
        <p:nvSpPr>
          <p:cNvPr id="41" name="Text 39"/>
          <p:cNvSpPr/>
          <p:nvPr/>
        </p:nvSpPr>
        <p:spPr>
          <a:xfrm>
            <a:off x="1503045" y="1843177"/>
            <a:ext cx="465773" cy="98584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518" dirty="0">
                <a:solidFill>
                  <a:srgbClr val="64748B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2 days ago</a:t>
            </a:r>
            <a:endParaRPr lang="en-US" sz="518" dirty="0"/>
          </a:p>
        </p:txBody>
      </p:sp>
      <p:sp>
        <p:nvSpPr>
          <p:cNvPr id="42" name="Text 40"/>
          <p:cNvSpPr/>
          <p:nvPr/>
        </p:nvSpPr>
        <p:spPr>
          <a:xfrm>
            <a:off x="1971675" y="1843177"/>
            <a:ext cx="111728" cy="98584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518" dirty="0">
                <a:solidFill>
                  <a:srgbClr val="64748B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·</a:t>
            </a:r>
            <a:endParaRPr lang="en-US" sz="518" dirty="0"/>
          </a:p>
        </p:txBody>
      </p:sp>
      <p:sp>
        <p:nvSpPr>
          <p:cNvPr id="43" name="Text 41"/>
          <p:cNvSpPr/>
          <p:nvPr/>
        </p:nvSpPr>
        <p:spPr>
          <a:xfrm>
            <a:off x="2080260" y="1843177"/>
            <a:ext cx="672084" cy="98584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518" dirty="0">
                <a:solidFill>
                  <a:srgbClr val="64748B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label: area/mcp</a:t>
            </a:r>
            <a:endParaRPr lang="en-US" sz="518" dirty="0"/>
          </a:p>
        </p:txBody>
      </p:sp>
      <p:sp>
        <p:nvSpPr>
          <p:cNvPr id="44" name="Shape 42"/>
          <p:cNvSpPr/>
          <p:nvPr/>
        </p:nvSpPr>
        <p:spPr>
          <a:xfrm>
            <a:off x="485775" y="2033201"/>
            <a:ext cx="3666173" cy="678120"/>
          </a:xfrm>
          <a:prstGeom prst="roundRect">
            <a:avLst>
              <a:gd name="adj" fmla="val 5057"/>
            </a:avLst>
          </a:prstGeom>
          <a:solidFill>
            <a:srgbClr val="0B1424"/>
          </a:solidFill>
          <a:ln w="5715">
            <a:solidFill>
              <a:srgbClr val="94A3B8">
                <a:alpha val="14000"/>
              </a:srgbClr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577215" y="2118926"/>
            <a:ext cx="3901288" cy="24949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68000"/>
              </a:lnSpc>
              <a:buNone/>
            </a:pPr>
            <a:r>
              <a:rPr lang="en-US" sz="585" dirty="0">
                <a:solidFill>
                  <a:srgbClr val="E2E8F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"Please add a control endpoint for reloading the MCP server — but expose it as</a:t>
            </a:r>
            <a:pPr algn="l" indent="0" marL="0">
              <a:lnSpc>
                <a:spcPct val="168000"/>
              </a:lnSpc>
              <a:buNone/>
            </a:pPr>
            <a:r>
              <a:rPr lang="en-US" sz="540" dirty="0">
                <a:solidFill>
                  <a:srgbClr val="000000">
                    <a:alpha val="0"/>
                  </a:srgbClr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/reload-safe</a:t>
            </a:r>
            <a:pPr algn="l" indent="0" marL="0">
              <a:lnSpc>
                <a:spcPct val="168000"/>
              </a:lnSpc>
              <a:buNone/>
            </a:pPr>
            <a:r>
              <a:rPr lang="en-US" sz="585" dirty="0">
                <a:solidFill>
                  <a:srgbClr val="E2E8F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and require confirmation. I need the capability, but I need it bounded."</a:t>
            </a:r>
            <a:endParaRPr lang="en-US" sz="585" dirty="0"/>
          </a:p>
        </p:txBody>
      </p:sp>
      <p:sp>
        <p:nvSpPr>
          <p:cNvPr id="46" name="Shape 44"/>
          <p:cNvSpPr/>
          <p:nvPr/>
        </p:nvSpPr>
        <p:spPr>
          <a:xfrm>
            <a:off x="3440430" y="2124641"/>
            <a:ext cx="560070" cy="114300"/>
          </a:xfrm>
          <a:prstGeom prst="roundRect">
            <a:avLst>
              <a:gd name="adj" fmla="val 15000"/>
            </a:avLst>
          </a:prstGeom>
          <a:solidFill>
            <a:srgbClr val="00BCD4">
              <a:alpha val="10000"/>
            </a:srgbClr>
          </a:solidFill>
          <a:ln w="5715">
            <a:solidFill>
              <a:srgbClr val="00BCD4">
                <a:alpha val="20000"/>
              </a:srgbClr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3440430" y="2124641"/>
            <a:ext cx="628650" cy="114300"/>
          </a:xfrm>
          <a:prstGeom prst="rect">
            <a:avLst/>
          </a:prstGeom>
          <a:noFill/>
          <a:ln/>
        </p:spPr>
        <p:txBody>
          <a:bodyPr wrap="none" lIns="5715" tIns="34290" rIns="34290" bIns="5715" rtlCol="0" anchor="ctr"/>
          <a:lstStyle/>
          <a:p>
            <a:pPr algn="l" indent="0" marL="0">
              <a:lnSpc>
                <a:spcPct val="168000"/>
              </a:lnSpc>
              <a:buNone/>
            </a:pPr>
            <a:r>
              <a:rPr lang="en-US" sz="540" dirty="0">
                <a:solidFill>
                  <a:srgbClr val="00BCD4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/reload-safe</a:t>
            </a:r>
            <a:endParaRPr lang="en-US" sz="540" dirty="0"/>
          </a:p>
        </p:txBody>
      </p:sp>
      <p:sp>
        <p:nvSpPr>
          <p:cNvPr id="48" name="Shape 46"/>
          <p:cNvSpPr/>
          <p:nvPr/>
        </p:nvSpPr>
        <p:spPr>
          <a:xfrm>
            <a:off x="577215" y="2414141"/>
            <a:ext cx="3483293" cy="211455"/>
          </a:xfrm>
          <a:prstGeom prst="rect">
            <a:avLst/>
          </a:prstGeom>
          <a:solidFill>
            <a:srgbClr val="FF7043">
              <a:alpha val="6000"/>
            </a:srgbClr>
          </a:solidFill>
          <a:ln/>
        </p:spPr>
      </p:sp>
      <p:sp>
        <p:nvSpPr>
          <p:cNvPr id="49" name="Shape 47"/>
          <p:cNvSpPr/>
          <p:nvPr/>
        </p:nvSpPr>
        <p:spPr>
          <a:xfrm>
            <a:off x="577215" y="2414141"/>
            <a:ext cx="0" cy="211455"/>
          </a:xfrm>
          <a:prstGeom prst="line">
            <a:avLst/>
          </a:prstGeom>
          <a:noFill/>
          <a:ln w="11430">
            <a:solidFill>
              <a:srgbClr val="FF7043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577215" y="2414141"/>
            <a:ext cx="3901288" cy="21145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68000"/>
              </a:lnSpc>
              <a:buNone/>
            </a:pPr>
            <a:r>
              <a:rPr lang="en-US" sz="563" i="1" dirty="0">
                <a:solidFill>
                  <a:srgbClr val="E2E8F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"— 用户原话，强调 reload 的</a:t>
            </a:r>
            <a:pPr algn="l" indent="0" marL="0">
              <a:lnSpc>
                <a:spcPct val="168000"/>
              </a:lnSpc>
              <a:buNone/>
            </a:pPr>
            <a:r>
              <a:rPr lang="en-US" sz="563" b="1" i="1" dirty="0">
                <a:solidFill>
                  <a:srgbClr val="FF704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安全收口</a:t>
            </a:r>
            <a:pPr algn="l" indent="0" marL="0">
              <a:lnSpc>
                <a:spcPct val="168000"/>
              </a:lnSpc>
              <a:buNone/>
            </a:pPr>
            <a:r>
              <a:rPr lang="en-US" sz="563" i="1" dirty="0">
                <a:solidFill>
                  <a:srgbClr val="E2E8F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，不是纯功能索取。"</a:t>
            </a:r>
            <a:endParaRPr lang="en-US" sz="563" dirty="0"/>
          </a:p>
        </p:txBody>
      </p:sp>
      <p:sp>
        <p:nvSpPr>
          <p:cNvPr id="51" name="Text 49"/>
          <p:cNvSpPr/>
          <p:nvPr/>
        </p:nvSpPr>
        <p:spPr>
          <a:xfrm>
            <a:off x="485775" y="2791331"/>
            <a:ext cx="505778" cy="118586"/>
          </a:xfrm>
          <a:prstGeom prst="rect">
            <a:avLst/>
          </a:prstGeom>
          <a:noFill/>
          <a:ln/>
        </p:spPr>
        <p:txBody>
          <a:bodyPr wrap="none" lIns="28575" tIns="0" rIns="0" bIns="0" rtlCol="0" anchor="ctr"/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473" spc="76" kern="0" dirty="0">
                <a:solidFill>
                  <a:srgbClr val="64748B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RISK</a:t>
            </a:r>
            <a:endParaRPr lang="en-US" sz="473" dirty="0"/>
          </a:p>
        </p:txBody>
      </p:sp>
      <p:sp>
        <p:nvSpPr>
          <p:cNvPr id="52" name="Shape 50"/>
          <p:cNvSpPr/>
          <p:nvPr/>
        </p:nvSpPr>
        <p:spPr>
          <a:xfrm>
            <a:off x="988695" y="2791331"/>
            <a:ext cx="1074866" cy="155734"/>
          </a:xfrm>
          <a:prstGeom prst="roundRect">
            <a:avLst>
              <a:gd name="adj" fmla="val 11009"/>
            </a:avLst>
          </a:prstGeom>
          <a:solidFill>
            <a:srgbClr val="FF7043">
              <a:alpha val="12000"/>
            </a:srgbClr>
          </a:solidFill>
          <a:ln w="5715">
            <a:solidFill>
              <a:srgbClr val="FF7043">
                <a:alpha val="35000"/>
              </a:srgbClr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988695" y="2791331"/>
            <a:ext cx="1203850" cy="155734"/>
          </a:xfrm>
          <a:prstGeom prst="rect">
            <a:avLst/>
          </a:prstGeom>
          <a:noFill/>
          <a:ln/>
        </p:spPr>
        <p:txBody>
          <a:bodyPr wrap="square" lIns="22860" tIns="57150" rIns="57150" bIns="22860" rtlCol="0" anchor="ctr"/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518" spc="10" kern="0" dirty="0">
                <a:solidFill>
                  <a:srgbClr val="FF9E7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risk-message-delivery</a:t>
            </a:r>
            <a:endParaRPr lang="en-US" sz="518" dirty="0"/>
          </a:p>
        </p:txBody>
      </p:sp>
      <p:sp>
        <p:nvSpPr>
          <p:cNvPr id="54" name="Shape 52"/>
          <p:cNvSpPr/>
          <p:nvPr/>
        </p:nvSpPr>
        <p:spPr>
          <a:xfrm>
            <a:off x="2097851" y="2791331"/>
            <a:ext cx="704284" cy="155734"/>
          </a:xfrm>
          <a:prstGeom prst="roundRect">
            <a:avLst>
              <a:gd name="adj" fmla="val 11009"/>
            </a:avLst>
          </a:prstGeom>
          <a:solidFill>
            <a:srgbClr val="FF7043">
              <a:alpha val="6000"/>
            </a:srgbClr>
          </a:solidFill>
          <a:ln w="5715">
            <a:solidFill>
              <a:srgbClr val="FF7043">
                <a:alpha val="20000"/>
              </a:srgbClr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2097851" y="2791331"/>
            <a:ext cx="788799" cy="155734"/>
          </a:xfrm>
          <a:prstGeom prst="rect">
            <a:avLst/>
          </a:prstGeom>
          <a:noFill/>
          <a:ln/>
        </p:spPr>
        <p:txBody>
          <a:bodyPr wrap="square" lIns="22860" tIns="57150" rIns="57150" bIns="22860" rtlCol="0" anchor="ctr"/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518" spc="10" kern="0" dirty="0">
                <a:solidFill>
                  <a:srgbClr val="FFB094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blast-moderate</a:t>
            </a:r>
            <a:endParaRPr lang="en-US" sz="518" dirty="0"/>
          </a:p>
        </p:txBody>
      </p:sp>
      <p:sp>
        <p:nvSpPr>
          <p:cNvPr id="56" name="Text 54"/>
          <p:cNvSpPr/>
          <p:nvPr/>
        </p:nvSpPr>
        <p:spPr>
          <a:xfrm>
            <a:off x="485775" y="3004215"/>
            <a:ext cx="505778" cy="118586"/>
          </a:xfrm>
          <a:prstGeom prst="rect">
            <a:avLst/>
          </a:prstGeom>
          <a:noFill/>
          <a:ln/>
        </p:spPr>
        <p:txBody>
          <a:bodyPr wrap="none" lIns="28575" tIns="0" rIns="0" bIns="0" rtlCol="0" anchor="ctr"/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473" spc="76" kern="0" dirty="0">
                <a:solidFill>
                  <a:srgbClr val="64748B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COMPONENT</a:t>
            </a:r>
            <a:endParaRPr lang="en-US" sz="473" dirty="0"/>
          </a:p>
        </p:txBody>
      </p:sp>
      <p:sp>
        <p:nvSpPr>
          <p:cNvPr id="57" name="Shape 55"/>
          <p:cNvSpPr/>
          <p:nvPr/>
        </p:nvSpPr>
        <p:spPr>
          <a:xfrm>
            <a:off x="988695" y="3004215"/>
            <a:ext cx="472380" cy="155734"/>
          </a:xfrm>
          <a:prstGeom prst="roundRect">
            <a:avLst>
              <a:gd name="adj" fmla="val 11009"/>
            </a:avLst>
          </a:prstGeom>
          <a:solidFill>
            <a:srgbClr val="00BCD4">
              <a:alpha val="10000"/>
            </a:srgbClr>
          </a:solidFill>
          <a:ln w="5715">
            <a:solidFill>
              <a:srgbClr val="00BCD4">
                <a:alpha val="28000"/>
              </a:srgbClr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988695" y="3004215"/>
            <a:ext cx="538103" cy="155734"/>
          </a:xfrm>
          <a:prstGeom prst="rect">
            <a:avLst/>
          </a:prstGeom>
          <a:noFill/>
          <a:ln/>
        </p:spPr>
        <p:txBody>
          <a:bodyPr wrap="square" lIns="22860" tIns="57150" rIns="57150" bIns="22860" rtlCol="0" anchor="ctr"/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518" spc="10" kern="0" dirty="0">
                <a:solidFill>
                  <a:srgbClr val="00BCD4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gateway</a:t>
            </a:r>
            <a:endParaRPr lang="en-US" sz="518" dirty="0"/>
          </a:p>
        </p:txBody>
      </p:sp>
      <p:sp>
        <p:nvSpPr>
          <p:cNvPr id="59" name="Text 57"/>
          <p:cNvSpPr/>
          <p:nvPr/>
        </p:nvSpPr>
        <p:spPr>
          <a:xfrm>
            <a:off x="485775" y="3217099"/>
            <a:ext cx="505778" cy="118586"/>
          </a:xfrm>
          <a:prstGeom prst="rect">
            <a:avLst/>
          </a:prstGeom>
          <a:noFill/>
          <a:ln/>
        </p:spPr>
        <p:txBody>
          <a:bodyPr wrap="none" lIns="28575" tIns="0" rIns="0" bIns="0" rtlCol="0" anchor="ctr"/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473" spc="76" kern="0" dirty="0">
                <a:solidFill>
                  <a:srgbClr val="64748B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PRIORITY</a:t>
            </a:r>
            <a:endParaRPr lang="en-US" sz="473" dirty="0"/>
          </a:p>
        </p:txBody>
      </p:sp>
      <p:sp>
        <p:nvSpPr>
          <p:cNvPr id="60" name="Shape 58"/>
          <p:cNvSpPr/>
          <p:nvPr/>
        </p:nvSpPr>
        <p:spPr>
          <a:xfrm>
            <a:off x="988695" y="3217099"/>
            <a:ext cx="213687" cy="155734"/>
          </a:xfrm>
          <a:prstGeom prst="roundRect">
            <a:avLst>
              <a:gd name="adj" fmla="val 11009"/>
            </a:avLst>
          </a:prstGeom>
          <a:gradFill rotWithShape="1">
            <a:gsLst>
              <a:gs pos="0">
                <a:srgbClr val="00BCD4">
                  <a:alpha val="15000"/>
                </a:srgbClr>
              </a:gs>
              <a:gs pos="100000">
                <a:srgbClr val="00BCD4">
                  <a:alpha val="5000"/>
                </a:srgbClr>
              </a:gs>
            </a:gsLst>
            <a:lin ang="2700000" scaled="0"/>
          </a:gradFill>
          <a:ln w="5715">
            <a:solidFill>
              <a:srgbClr val="00BCD4">
                <a:alpha val="50000"/>
              </a:srgbClr>
            </a:solidFill>
            <a:prstDash val="solid"/>
          </a:ln>
        </p:spPr>
      </p:sp>
      <p:sp>
        <p:nvSpPr>
          <p:cNvPr id="61" name="Text 59"/>
          <p:cNvSpPr/>
          <p:nvPr/>
        </p:nvSpPr>
        <p:spPr>
          <a:xfrm>
            <a:off x="988695" y="3217099"/>
            <a:ext cx="279410" cy="155734"/>
          </a:xfrm>
          <a:prstGeom prst="rect">
            <a:avLst/>
          </a:prstGeom>
          <a:noFill/>
          <a:ln/>
        </p:spPr>
        <p:txBody>
          <a:bodyPr wrap="none" lIns="22860" tIns="57150" rIns="57150" bIns="22860" rtlCol="0" anchor="ctr"/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518" b="1" spc="31" kern="0" dirty="0">
                <a:solidFill>
                  <a:srgbClr val="5DE1F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P3</a:t>
            </a:r>
            <a:endParaRPr lang="en-US" sz="518" dirty="0"/>
          </a:p>
        </p:txBody>
      </p:sp>
      <p:sp>
        <p:nvSpPr>
          <p:cNvPr id="62" name="Shape 60"/>
          <p:cNvSpPr/>
          <p:nvPr/>
        </p:nvSpPr>
        <p:spPr>
          <a:xfrm>
            <a:off x="4569143" y="1118086"/>
            <a:ext cx="5715" cy="3223260"/>
          </a:xfrm>
          <a:prstGeom prst="rect">
            <a:avLst/>
          </a:prstGeom>
          <a:gradFill rotWithShape="1">
            <a:gsLst>
              <a:gs pos="0">
                <a:srgbClr val="000000">
                  <a:alpha val="0"/>
                </a:srgbClr>
              </a:gs>
              <a:gs pos="15000">
                <a:srgbClr val="94A3B8">
                  <a:alpha val="24000"/>
                </a:srgbClr>
              </a:gs>
              <a:gs pos="85000">
                <a:srgbClr val="94A3B8">
                  <a:alpha val="24000"/>
                </a:srgbClr>
              </a:gs>
              <a:gs pos="100000">
                <a:srgbClr val="000000">
                  <a:alpha val="0"/>
                </a:srgbClr>
              </a:gs>
            </a:gsLst>
            <a:lin ang="5400000" scaled="0"/>
          </a:gradFill>
          <a:ln/>
        </p:spPr>
      </p:sp>
      <p:sp>
        <p:nvSpPr>
          <p:cNvPr id="63" name="Text 61"/>
          <p:cNvSpPr/>
          <p:nvPr/>
        </p:nvSpPr>
        <p:spPr>
          <a:xfrm>
            <a:off x="4849178" y="1118086"/>
            <a:ext cx="4426153" cy="90011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473" spc="113" kern="0" dirty="0">
                <a:solidFill>
                  <a:srgbClr val="FF7043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ANALYSIS · 分析</a:t>
            </a:r>
            <a:endParaRPr lang="en-US" sz="473" dirty="0"/>
          </a:p>
        </p:txBody>
      </p:sp>
      <p:sp>
        <p:nvSpPr>
          <p:cNvPr id="64" name="Shape 62"/>
          <p:cNvSpPr/>
          <p:nvPr/>
        </p:nvSpPr>
        <p:spPr>
          <a:xfrm>
            <a:off x="4849178" y="1118086"/>
            <a:ext cx="34290" cy="34290"/>
          </a:xfrm>
          <a:prstGeom prst="ellipse">
            <a:avLst/>
          </a:prstGeom>
          <a:solidFill>
            <a:srgbClr val="00BCD4"/>
          </a:solidFill>
          <a:ln/>
          <a:effectLst>
            <a:outerShdw sx="100000" sy="100000" kx="0" ky="0" algn="bl" rotWithShape="0" blurRad="95250" dist="50800" dir="16200000">
              <a:srgbClr val="00BCD4">
                <a:alpha val="100000"/>
              </a:srgbClr>
            </a:outerShdw>
          </a:effectLst>
        </p:spPr>
      </p:sp>
      <p:sp>
        <p:nvSpPr>
          <p:cNvPr id="65" name="Shape 63"/>
          <p:cNvSpPr/>
          <p:nvPr/>
        </p:nvSpPr>
        <p:spPr>
          <a:xfrm>
            <a:off x="4849178" y="1118086"/>
            <a:ext cx="205740" cy="5715"/>
          </a:xfrm>
          <a:prstGeom prst="rect">
            <a:avLst/>
          </a:prstGeom>
          <a:gradFill rotWithShape="1">
            <a:gsLst>
              <a:gs pos="0">
                <a:srgbClr val="00BCD4"/>
              </a:gs>
              <a:gs pos="100000">
                <a:srgbClr val="000000">
                  <a:alpha val="0"/>
                </a:srgbClr>
              </a:gs>
            </a:gsLst>
            <a:lin ang="0" scaled="0"/>
          </a:gradFill>
          <a:ln/>
        </p:spPr>
      </p:sp>
      <p:sp>
        <p:nvSpPr>
          <p:cNvPr id="66" name="Shape 64"/>
          <p:cNvSpPr/>
          <p:nvPr/>
        </p:nvSpPr>
        <p:spPr>
          <a:xfrm>
            <a:off x="4849178" y="1379547"/>
            <a:ext cx="3951923" cy="761524"/>
          </a:xfrm>
          <a:prstGeom prst="roundRect">
            <a:avLst>
              <a:gd name="adj" fmla="val 6004"/>
            </a:avLst>
          </a:prstGeom>
          <a:solidFill>
            <a:srgbClr val="152035"/>
          </a:solidFill>
          <a:ln w="17145">
            <a:solidFill>
              <a:srgbClr val="00BCD4">
                <a:alpha val="24000"/>
              </a:srgbClr>
            </a:solidFill>
            <a:prstDash val="solid"/>
          </a:ln>
        </p:spPr>
      </p:sp>
      <p:sp>
        <p:nvSpPr>
          <p:cNvPr id="67" name="Shape 65"/>
          <p:cNvSpPr/>
          <p:nvPr/>
        </p:nvSpPr>
        <p:spPr>
          <a:xfrm>
            <a:off x="4980623" y="1476702"/>
            <a:ext cx="179040" cy="140018"/>
          </a:xfrm>
          <a:prstGeom prst="roundRect">
            <a:avLst>
              <a:gd name="adj" fmla="val 12245"/>
            </a:avLst>
          </a:prstGeom>
          <a:solidFill>
            <a:srgbClr val="00BCD4">
              <a:alpha val="8000"/>
            </a:srgbClr>
          </a:solidFill>
          <a:ln w="5715">
            <a:solidFill>
              <a:srgbClr val="00BCD4">
                <a:alpha val="35000"/>
              </a:srgbClr>
            </a:solidFill>
            <a:prstDash val="solid"/>
          </a:ln>
        </p:spPr>
      </p:sp>
      <p:sp>
        <p:nvSpPr>
          <p:cNvPr id="68" name="Text 66"/>
          <p:cNvSpPr/>
          <p:nvPr/>
        </p:nvSpPr>
        <p:spPr>
          <a:xfrm>
            <a:off x="4980623" y="1476702"/>
            <a:ext cx="241905" cy="140018"/>
          </a:xfrm>
          <a:prstGeom prst="rect">
            <a:avLst/>
          </a:prstGeom>
          <a:noFill/>
          <a:ln/>
        </p:spPr>
        <p:txBody>
          <a:bodyPr wrap="none" lIns="17145" tIns="40005" rIns="40005" bIns="17145" rtlCol="0" anchor="ctr"/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495" b="1" spc="30" kern="0" dirty="0">
                <a:solidFill>
                  <a:srgbClr val="00BCD4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01</a:t>
            </a:r>
            <a:endParaRPr lang="en-US" sz="495" dirty="0"/>
          </a:p>
        </p:txBody>
      </p:sp>
      <p:sp>
        <p:nvSpPr>
          <p:cNvPr id="69" name="Text 67"/>
          <p:cNvSpPr/>
          <p:nvPr/>
        </p:nvSpPr>
        <p:spPr>
          <a:xfrm>
            <a:off x="5216813" y="1501706"/>
            <a:ext cx="797900" cy="90011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473" spc="104" kern="0" dirty="0">
                <a:solidFill>
                  <a:srgbClr val="64748B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KEY OBSERVATION</a:t>
            </a:r>
            <a:endParaRPr lang="en-US" sz="473" dirty="0"/>
          </a:p>
        </p:txBody>
      </p:sp>
      <p:sp>
        <p:nvSpPr>
          <p:cNvPr id="70" name="Text 68"/>
          <p:cNvSpPr/>
          <p:nvPr/>
        </p:nvSpPr>
        <p:spPr>
          <a:xfrm>
            <a:off x="4980623" y="1668155"/>
            <a:ext cx="4144518" cy="124301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675" b="1" dirty="0">
                <a:solidFill>
                  <a:srgbClr val="E2E8F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关键观察：</a:t>
            </a:r>
            <a:pPr algn="l" indent="0" marL="0">
              <a:lnSpc>
                <a:spcPct val="145000"/>
              </a:lnSpc>
              <a:buNone/>
            </a:pPr>
            <a:r>
              <a:rPr lang="en-US" sz="675" b="1" dirty="0">
                <a:solidFill>
                  <a:srgbClr val="00BCD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索取能力的同时，主动索取安全边界</a:t>
            </a:r>
            <a:endParaRPr lang="en-US" sz="675" dirty="0"/>
          </a:p>
        </p:txBody>
      </p:sp>
      <p:sp>
        <p:nvSpPr>
          <p:cNvPr id="71" name="Text 69"/>
          <p:cNvSpPr/>
          <p:nvPr/>
        </p:nvSpPr>
        <p:spPr>
          <a:xfrm>
            <a:off x="4980623" y="1815316"/>
            <a:ext cx="4144518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60000"/>
              </a:lnSpc>
              <a:buNone/>
            </a:pPr>
            <a:r>
              <a:rPr lang="en-US" sz="563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用户主动要求"安全的重载端点"——要能力的同时显式要</a:t>
            </a:r>
            <a:pPr algn="l" indent="0" marL="0">
              <a:lnSpc>
                <a:spcPct val="160000"/>
              </a:lnSpc>
              <a:buNone/>
            </a:pPr>
            <a:r>
              <a:rPr lang="en-US" sz="563" b="1" dirty="0">
                <a:solidFill>
                  <a:srgbClr val="FF704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安全收口</a:t>
            </a:r>
            <a:pPr algn="l" indent="0" marL="0">
              <a:lnSpc>
                <a:spcPct val="160000"/>
              </a:lnSpc>
              <a:buNone/>
            </a:pPr>
            <a:r>
              <a:rPr lang="en-US" sz="563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。这不是纯功能请求，而是把</a:t>
            </a:r>
            <a:pPr algn="l" indent="0" marL="0">
              <a:lnSpc>
                <a:spcPct val="160000"/>
              </a:lnSpc>
              <a:buNone/>
            </a:pPr>
            <a:r>
              <a:rPr lang="en-US" sz="563" b="1" dirty="0">
                <a:solidFill>
                  <a:srgbClr val="00BCD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"信任约束"</a:t>
            </a:r>
            <a:pPr algn="l" indent="0" marL="0">
              <a:lnSpc>
                <a:spcPct val="160000"/>
              </a:lnSpc>
              <a:buNone/>
            </a:pPr>
            <a:r>
              <a:rPr lang="en-US" sz="563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写进了需求语言本身。</a:t>
            </a:r>
            <a:endParaRPr lang="en-US" sz="563" dirty="0"/>
          </a:p>
        </p:txBody>
      </p:sp>
      <p:sp>
        <p:nvSpPr>
          <p:cNvPr id="72" name="Shape 70"/>
          <p:cNvSpPr/>
          <p:nvPr/>
        </p:nvSpPr>
        <p:spPr>
          <a:xfrm>
            <a:off x="4849178" y="2232511"/>
            <a:ext cx="3951923" cy="761524"/>
          </a:xfrm>
          <a:prstGeom prst="roundRect">
            <a:avLst>
              <a:gd name="adj" fmla="val 6004"/>
            </a:avLst>
          </a:prstGeom>
          <a:solidFill>
            <a:srgbClr val="152035"/>
          </a:solidFill>
          <a:ln w="17145">
            <a:solidFill>
              <a:srgbClr val="FF7043">
                <a:alpha val="24000"/>
              </a:srgbClr>
            </a:solidFill>
            <a:prstDash val="solid"/>
          </a:ln>
        </p:spPr>
      </p:sp>
      <p:sp>
        <p:nvSpPr>
          <p:cNvPr id="73" name="Shape 71"/>
          <p:cNvSpPr/>
          <p:nvPr/>
        </p:nvSpPr>
        <p:spPr>
          <a:xfrm>
            <a:off x="4980623" y="2329666"/>
            <a:ext cx="179040" cy="140018"/>
          </a:xfrm>
          <a:prstGeom prst="roundRect">
            <a:avLst>
              <a:gd name="adj" fmla="val 12245"/>
            </a:avLst>
          </a:prstGeom>
          <a:solidFill>
            <a:srgbClr val="FF7043">
              <a:alpha val="8000"/>
            </a:srgbClr>
          </a:solidFill>
          <a:ln w="5715">
            <a:solidFill>
              <a:srgbClr val="FF7043">
                <a:alpha val="40000"/>
              </a:srgbClr>
            </a:solidFill>
            <a:prstDash val="solid"/>
          </a:ln>
        </p:spPr>
      </p:sp>
      <p:sp>
        <p:nvSpPr>
          <p:cNvPr id="74" name="Text 72"/>
          <p:cNvSpPr/>
          <p:nvPr/>
        </p:nvSpPr>
        <p:spPr>
          <a:xfrm>
            <a:off x="4980623" y="2329666"/>
            <a:ext cx="241905" cy="140018"/>
          </a:xfrm>
          <a:prstGeom prst="rect">
            <a:avLst/>
          </a:prstGeom>
          <a:noFill/>
          <a:ln/>
        </p:spPr>
        <p:txBody>
          <a:bodyPr wrap="none" lIns="17145" tIns="40005" rIns="40005" bIns="17145" rtlCol="0" anchor="ctr"/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495" b="1" spc="30" kern="0" dirty="0">
                <a:solidFill>
                  <a:srgbClr val="FF7043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02</a:t>
            </a:r>
            <a:endParaRPr lang="en-US" sz="495" dirty="0"/>
          </a:p>
        </p:txBody>
      </p:sp>
      <p:sp>
        <p:nvSpPr>
          <p:cNvPr id="75" name="Text 73"/>
          <p:cNvSpPr/>
          <p:nvPr/>
        </p:nvSpPr>
        <p:spPr>
          <a:xfrm>
            <a:off x="5216813" y="2354669"/>
            <a:ext cx="1117040" cy="90011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473" spc="104" kern="0" dirty="0">
                <a:solidFill>
                  <a:srgbClr val="64748B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INSTITUTIONAL MEANING</a:t>
            </a:r>
            <a:endParaRPr lang="en-US" sz="473" dirty="0"/>
          </a:p>
        </p:txBody>
      </p:sp>
      <p:sp>
        <p:nvSpPr>
          <p:cNvPr id="76" name="Text 74"/>
          <p:cNvSpPr/>
          <p:nvPr/>
        </p:nvSpPr>
        <p:spPr>
          <a:xfrm>
            <a:off x="4980623" y="2521119"/>
            <a:ext cx="4144518" cy="124301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675" b="1" dirty="0">
                <a:solidFill>
                  <a:srgbClr val="E2E8F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制度含义：</a:t>
            </a:r>
            <a:pPr algn="l" indent="0" marL="0">
              <a:lnSpc>
                <a:spcPct val="145000"/>
              </a:lnSpc>
              <a:buNone/>
            </a:pPr>
            <a:r>
              <a:rPr lang="en-US" sz="675" b="1" dirty="0">
                <a:solidFill>
                  <a:srgbClr val="FF704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从"能用"到"好用"的关键跃迁</a:t>
            </a:r>
            <a:endParaRPr lang="en-US" sz="675" dirty="0"/>
          </a:p>
        </p:txBody>
      </p:sp>
      <p:sp>
        <p:nvSpPr>
          <p:cNvPr id="77" name="Text 75"/>
          <p:cNvSpPr/>
          <p:nvPr/>
        </p:nvSpPr>
        <p:spPr>
          <a:xfrm>
            <a:off x="4980623" y="2668280"/>
            <a:ext cx="4144518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60000"/>
              </a:lnSpc>
              <a:buNone/>
            </a:pPr>
            <a:r>
              <a:rPr lang="en-US" sz="563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消费侧信任的强信号——用户不再停留在"这个端点有没有"，而是追问"这个端点</a:t>
            </a:r>
            <a:pPr algn="l" indent="0" marL="0">
              <a:lnSpc>
                <a:spcPct val="160000"/>
              </a:lnSpc>
              <a:buNone/>
            </a:pPr>
            <a:r>
              <a:rPr lang="en-US" sz="563" b="1" dirty="0">
                <a:solidFill>
                  <a:srgbClr val="FF704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怎么收口</a:t>
            </a:r>
            <a:pPr algn="l" indent="0" marL="0">
              <a:lnSpc>
                <a:spcPct val="160000"/>
              </a:lnSpc>
              <a:buNone/>
            </a:pPr>
            <a:r>
              <a:rPr lang="en-US" sz="563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、谁会被误伤"。产品进入</a:t>
            </a:r>
            <a:pPr algn="l" indent="0" marL="0">
              <a:lnSpc>
                <a:spcPct val="160000"/>
              </a:lnSpc>
              <a:buNone/>
            </a:pPr>
            <a:r>
              <a:rPr lang="en-US" sz="563" b="1" dirty="0">
                <a:solidFill>
                  <a:srgbClr val="00BCD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成熟期</a:t>
            </a:r>
            <a:pPr algn="l" indent="0" marL="0">
              <a:lnSpc>
                <a:spcPct val="160000"/>
              </a:lnSpc>
              <a:buNone/>
            </a:pPr>
            <a:r>
              <a:rPr lang="en-US" sz="563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的可观察指标。</a:t>
            </a:r>
            <a:endParaRPr lang="en-US" sz="563" dirty="0"/>
          </a:p>
        </p:txBody>
      </p:sp>
      <p:sp>
        <p:nvSpPr>
          <p:cNvPr id="78" name="Shape 76"/>
          <p:cNvSpPr/>
          <p:nvPr/>
        </p:nvSpPr>
        <p:spPr>
          <a:xfrm>
            <a:off x="4849178" y="3085475"/>
            <a:ext cx="3951923" cy="617934"/>
          </a:xfrm>
          <a:prstGeom prst="roundRect">
            <a:avLst>
              <a:gd name="adj" fmla="val 7399"/>
            </a:avLst>
          </a:prstGeom>
          <a:gradFill rotWithShape="1">
            <a:gsLst>
              <a:gs pos="0">
                <a:srgbClr val="00BCD4">
                  <a:alpha val="6000"/>
                </a:srgbClr>
              </a:gs>
              <a:gs pos="100000">
                <a:srgbClr val="FF7043">
                  <a:alpha val="4000"/>
                </a:srgbClr>
              </a:gs>
            </a:gsLst>
            <a:lin ang="2700000" scaled="0"/>
          </a:gradFill>
          <a:ln w="17145">
            <a:solidFill>
              <a:srgbClr val="FF7043">
                <a:alpha val="24000"/>
              </a:srgbClr>
            </a:solidFill>
            <a:prstDash val="solid"/>
          </a:ln>
        </p:spPr>
      </p:sp>
      <p:sp>
        <p:nvSpPr>
          <p:cNvPr id="79" name="Shape 77"/>
          <p:cNvSpPr/>
          <p:nvPr/>
        </p:nvSpPr>
        <p:spPr>
          <a:xfrm>
            <a:off x="4969193" y="3213348"/>
            <a:ext cx="80010" cy="5715"/>
          </a:xfrm>
          <a:prstGeom prst="rect">
            <a:avLst/>
          </a:prstGeom>
          <a:solidFill>
            <a:srgbClr val="FF7043"/>
          </a:solidFill>
          <a:ln/>
        </p:spPr>
      </p:sp>
      <p:sp>
        <p:nvSpPr>
          <p:cNvPr id="80" name="Text 78"/>
          <p:cNvSpPr/>
          <p:nvPr/>
        </p:nvSpPr>
        <p:spPr>
          <a:xfrm>
            <a:off x="5094923" y="3171200"/>
            <a:ext cx="814702" cy="90011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473" spc="113" kern="0" dirty="0">
                <a:solidFill>
                  <a:srgbClr val="FF7043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NARRATIVE · 收束</a:t>
            </a:r>
            <a:endParaRPr lang="en-US" sz="473" dirty="0"/>
          </a:p>
        </p:txBody>
      </p:sp>
      <p:sp>
        <p:nvSpPr>
          <p:cNvPr id="81" name="Shape 79"/>
          <p:cNvSpPr/>
          <p:nvPr/>
        </p:nvSpPr>
        <p:spPr>
          <a:xfrm>
            <a:off x="5868055" y="3213348"/>
            <a:ext cx="80010" cy="5715"/>
          </a:xfrm>
          <a:prstGeom prst="rect">
            <a:avLst/>
          </a:prstGeom>
          <a:solidFill>
            <a:srgbClr val="FF7043"/>
          </a:solidFill>
          <a:ln/>
        </p:spPr>
      </p:sp>
      <p:sp>
        <p:nvSpPr>
          <p:cNvPr id="82" name="Text 80"/>
          <p:cNvSpPr/>
          <p:nvPr/>
        </p:nvSpPr>
        <p:spPr>
          <a:xfrm>
            <a:off x="4969193" y="3306931"/>
            <a:ext cx="4170121" cy="31075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70000"/>
              </a:lnSpc>
              <a:buNone/>
            </a:pPr>
            <a:r>
              <a:rPr lang="en-US" sz="720" b="1" dirty="0">
                <a:solidFill>
                  <a:srgbClr val="FF704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"</a:t>
            </a:r>
            <a:pPr algn="l" indent="0" marL="0">
              <a:lnSpc>
                <a:spcPct val="170000"/>
              </a:lnSpc>
              <a:buNone/>
            </a:pPr>
            <a:r>
              <a:rPr lang="en-US" sz="585" dirty="0">
                <a:solidFill>
                  <a:srgbClr val="E2E8F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#67002 是</a:t>
            </a:r>
            <a:pPr algn="l" indent="0" marL="0">
              <a:lnSpc>
                <a:spcPct val="170000"/>
              </a:lnSpc>
              <a:buNone/>
            </a:pPr>
            <a:r>
              <a:rPr lang="en-US" sz="585" b="1" dirty="0">
                <a:solidFill>
                  <a:srgbClr val="FF704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教科书样本</a:t>
            </a:r>
            <a:pPr algn="l" indent="0" marL="0">
              <a:lnSpc>
                <a:spcPct val="170000"/>
              </a:lnSpc>
              <a:buNone/>
            </a:pPr>
            <a:r>
              <a:rPr lang="en-US" sz="585" dirty="0">
                <a:solidFill>
                  <a:srgbClr val="E2E8F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：用户在索取 MCP reload 功能的同时显式要求</a:t>
            </a:r>
            <a:pPr algn="l" indent="0" marL="0">
              <a:lnSpc>
                <a:spcPct val="170000"/>
              </a:lnSpc>
              <a:buNone/>
            </a:pPr>
            <a:r>
              <a:rPr lang="en-US" sz="585" b="1" dirty="0">
                <a:solidFill>
                  <a:srgbClr val="00BCD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安全边界</a:t>
            </a:r>
            <a:pPr algn="l" indent="0" marL="0">
              <a:lnSpc>
                <a:spcPct val="170000"/>
              </a:lnSpc>
              <a:buNone/>
            </a:pPr>
            <a:r>
              <a:rPr lang="en-US" sz="585" dirty="0">
                <a:solidFill>
                  <a:srgbClr val="E2E8F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。这是"消费侧信任"的</a:t>
            </a:r>
            <a:pPr algn="l" indent="0" marL="0">
              <a:lnSpc>
                <a:spcPct val="170000"/>
              </a:lnSpc>
              <a:buNone/>
            </a:pPr>
            <a:r>
              <a:rPr lang="en-US" sz="585" b="1" dirty="0">
                <a:solidFill>
                  <a:srgbClr val="00BCD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可观察信号</a:t>
            </a:r>
            <a:pPr algn="l" indent="0" marL="0">
              <a:lnSpc>
                <a:spcPct val="170000"/>
              </a:lnSpc>
              <a:buNone/>
            </a:pPr>
            <a:r>
              <a:rPr lang="en-US" sz="585" dirty="0">
                <a:solidFill>
                  <a:srgbClr val="E2E8F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，也是从"能用"</a:t>
            </a:r>
            <a:pPr algn="l" indent="0" marL="0">
              <a:lnSpc>
                <a:spcPct val="170000"/>
              </a:lnSpc>
              <a:buNone/>
            </a:pPr>
            <a:r>
              <a:rPr lang="en-US" sz="585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→</a:t>
            </a:r>
            <a:pPr algn="l" indent="0" marL="0">
              <a:lnSpc>
                <a:spcPct val="170000"/>
              </a:lnSpc>
              <a:buNone/>
            </a:pPr>
            <a:r>
              <a:rPr lang="en-US" sz="585" dirty="0">
                <a:solidFill>
                  <a:srgbClr val="E2E8F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"好用"的</a:t>
            </a:r>
            <a:pPr algn="l" indent="0" marL="0">
              <a:lnSpc>
                <a:spcPct val="170000"/>
              </a:lnSpc>
              <a:buNone/>
            </a:pPr>
            <a:r>
              <a:rPr lang="en-US" sz="585" b="1" dirty="0">
                <a:solidFill>
                  <a:srgbClr val="FF704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跃迁证据</a:t>
            </a:r>
            <a:pPr algn="l" indent="0" marL="0">
              <a:lnSpc>
                <a:spcPct val="170000"/>
              </a:lnSpc>
              <a:buNone/>
            </a:pPr>
            <a:r>
              <a:rPr lang="en-US" sz="585" dirty="0">
                <a:solidFill>
                  <a:srgbClr val="E2E8F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。</a:t>
            </a:r>
            <a:pPr algn="l" indent="0" marL="0">
              <a:lnSpc>
                <a:spcPct val="170000"/>
              </a:lnSpc>
              <a:buNone/>
            </a:pPr>
            <a:r>
              <a:rPr lang="en-US" sz="720" b="1" dirty="0">
                <a:solidFill>
                  <a:srgbClr val="FF704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" </a:t>
            </a:r>
            <a:endParaRPr lang="en-US" sz="585" dirty="0"/>
          </a:p>
        </p:txBody>
      </p:sp>
      <p:sp>
        <p:nvSpPr>
          <p:cNvPr id="83" name="Shape 81"/>
          <p:cNvSpPr/>
          <p:nvPr/>
        </p:nvSpPr>
        <p:spPr>
          <a:xfrm>
            <a:off x="342900" y="4519136"/>
            <a:ext cx="8458200" cy="464344"/>
          </a:xfrm>
          <a:prstGeom prst="rect">
            <a:avLst/>
          </a:prstGeom>
          <a:noFill/>
          <a:ln/>
        </p:spPr>
      </p:sp>
      <p:sp>
        <p:nvSpPr>
          <p:cNvPr id="84" name="Shape 82"/>
          <p:cNvSpPr/>
          <p:nvPr/>
        </p:nvSpPr>
        <p:spPr>
          <a:xfrm>
            <a:off x="342900" y="4519136"/>
            <a:ext cx="8458200" cy="0"/>
          </a:xfrm>
          <a:prstGeom prst="line">
            <a:avLst/>
          </a:prstGeom>
          <a:noFill/>
          <a:ln w="5715">
            <a:solidFill>
              <a:srgbClr val="94A3B8">
                <a:alpha val="14000"/>
              </a:srgbClr>
            </a:solidFill>
            <a:prstDash val="solid"/>
          </a:ln>
        </p:spPr>
      </p:sp>
      <p:sp>
        <p:nvSpPr>
          <p:cNvPr id="85" name="Shape 83"/>
          <p:cNvSpPr/>
          <p:nvPr/>
        </p:nvSpPr>
        <p:spPr>
          <a:xfrm>
            <a:off x="342900" y="4616291"/>
            <a:ext cx="2054543" cy="367189"/>
          </a:xfrm>
          <a:prstGeom prst="roundRect">
            <a:avLst>
              <a:gd name="adj" fmla="val 9339"/>
            </a:avLst>
          </a:prstGeom>
          <a:solidFill>
            <a:srgbClr val="152035"/>
          </a:solidFill>
          <a:ln w="5715">
            <a:solidFill>
              <a:srgbClr val="94A3B8">
                <a:alpha val="24000"/>
              </a:srgbClr>
            </a:solidFill>
            <a:prstDash val="solid"/>
          </a:ln>
        </p:spPr>
      </p:sp>
      <p:sp>
        <p:nvSpPr>
          <p:cNvPr id="86" name="Shape 84"/>
          <p:cNvSpPr/>
          <p:nvPr/>
        </p:nvSpPr>
        <p:spPr>
          <a:xfrm>
            <a:off x="342900" y="4616291"/>
            <a:ext cx="17145" cy="355759"/>
          </a:xfrm>
          <a:prstGeom prst="roundRect">
            <a:avLst>
              <a:gd name="adj" fmla="val 100000"/>
            </a:avLst>
          </a:prstGeom>
          <a:solidFill>
            <a:srgbClr val="00BCD4"/>
          </a:solidFill>
          <a:ln/>
        </p:spPr>
      </p:sp>
      <p:sp>
        <p:nvSpPr>
          <p:cNvPr id="87" name="Text 85"/>
          <p:cNvSpPr/>
          <p:nvPr/>
        </p:nvSpPr>
        <p:spPr>
          <a:xfrm>
            <a:off x="440055" y="4690586"/>
            <a:ext cx="2083460" cy="81439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428" spc="94" kern="0" dirty="0">
                <a:solidFill>
                  <a:srgbClr val="64748B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ISSUE</a:t>
            </a:r>
            <a:endParaRPr lang="en-US" sz="428" dirty="0"/>
          </a:p>
        </p:txBody>
      </p:sp>
      <p:sp>
        <p:nvSpPr>
          <p:cNvPr id="88" name="Text 86"/>
          <p:cNvSpPr/>
          <p:nvPr/>
        </p:nvSpPr>
        <p:spPr>
          <a:xfrm>
            <a:off x="440055" y="4789170"/>
            <a:ext cx="2083460" cy="120015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630" spc="6" kern="0" dirty="0">
                <a:solidFill>
                  <a:srgbClr val="00BCD4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#67002</a:t>
            </a:r>
            <a:endParaRPr lang="en-US" sz="630" dirty="0"/>
          </a:p>
        </p:txBody>
      </p:sp>
      <p:sp>
        <p:nvSpPr>
          <p:cNvPr id="89" name="Shape 87"/>
          <p:cNvSpPr/>
          <p:nvPr/>
        </p:nvSpPr>
        <p:spPr>
          <a:xfrm>
            <a:off x="2477453" y="4616291"/>
            <a:ext cx="2054543" cy="367189"/>
          </a:xfrm>
          <a:prstGeom prst="roundRect">
            <a:avLst>
              <a:gd name="adj" fmla="val 9339"/>
            </a:avLst>
          </a:prstGeom>
          <a:solidFill>
            <a:srgbClr val="152035"/>
          </a:solidFill>
          <a:ln w="5715">
            <a:solidFill>
              <a:srgbClr val="94A3B8">
                <a:alpha val="24000"/>
              </a:srgbClr>
            </a:solidFill>
            <a:prstDash val="solid"/>
          </a:ln>
        </p:spPr>
      </p:sp>
      <p:sp>
        <p:nvSpPr>
          <p:cNvPr id="90" name="Shape 88"/>
          <p:cNvSpPr/>
          <p:nvPr/>
        </p:nvSpPr>
        <p:spPr>
          <a:xfrm>
            <a:off x="2477453" y="4616291"/>
            <a:ext cx="17145" cy="355759"/>
          </a:xfrm>
          <a:prstGeom prst="roundRect">
            <a:avLst>
              <a:gd name="adj" fmla="val 100000"/>
            </a:avLst>
          </a:prstGeom>
          <a:solidFill>
            <a:srgbClr val="FF7043"/>
          </a:solidFill>
          <a:ln/>
        </p:spPr>
      </p:sp>
      <p:sp>
        <p:nvSpPr>
          <p:cNvPr id="91" name="Text 89"/>
          <p:cNvSpPr/>
          <p:nvPr/>
        </p:nvSpPr>
        <p:spPr>
          <a:xfrm>
            <a:off x="2574608" y="4690586"/>
            <a:ext cx="2083460" cy="81439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428" spc="94" kern="0" dirty="0">
                <a:solidFill>
                  <a:srgbClr val="64748B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LABELS</a:t>
            </a:r>
            <a:endParaRPr lang="en-US" sz="428" dirty="0"/>
          </a:p>
        </p:txBody>
      </p:sp>
      <p:sp>
        <p:nvSpPr>
          <p:cNvPr id="92" name="Text 90"/>
          <p:cNvSpPr/>
          <p:nvPr/>
        </p:nvSpPr>
        <p:spPr>
          <a:xfrm>
            <a:off x="2574608" y="4789170"/>
            <a:ext cx="2083460" cy="1071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563" spc="6" kern="0" dirty="0">
                <a:solidFill>
                  <a:srgbClr val="94A3B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risk-message-delivery</a:t>
            </a:r>
            <a:pPr algn="l" indent="0" marL="0">
              <a:lnSpc>
                <a:spcPct val="150000"/>
              </a:lnSpc>
              <a:buNone/>
            </a:pPr>
            <a:r>
              <a:rPr lang="en-US" sz="563" spc="6" kern="0" dirty="0">
                <a:solidFill>
                  <a:srgbClr val="64748B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·</a:t>
            </a:r>
            <a:pPr algn="l" indent="0" marL="0">
              <a:lnSpc>
                <a:spcPct val="150000"/>
              </a:lnSpc>
              <a:buNone/>
            </a:pPr>
            <a:r>
              <a:rPr lang="en-US" sz="563" spc="6" kern="0" dirty="0">
                <a:solidFill>
                  <a:srgbClr val="94A3B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blast-moderate</a:t>
            </a:r>
            <a:endParaRPr lang="en-US" sz="563" dirty="0"/>
          </a:p>
        </p:txBody>
      </p:sp>
      <p:sp>
        <p:nvSpPr>
          <p:cNvPr id="93" name="Shape 91"/>
          <p:cNvSpPr/>
          <p:nvPr/>
        </p:nvSpPr>
        <p:spPr>
          <a:xfrm>
            <a:off x="4612005" y="4616291"/>
            <a:ext cx="2054543" cy="367189"/>
          </a:xfrm>
          <a:prstGeom prst="roundRect">
            <a:avLst>
              <a:gd name="adj" fmla="val 9339"/>
            </a:avLst>
          </a:prstGeom>
          <a:solidFill>
            <a:srgbClr val="152035"/>
          </a:solidFill>
          <a:ln w="5715">
            <a:solidFill>
              <a:srgbClr val="94A3B8">
                <a:alpha val="24000"/>
              </a:srgbClr>
            </a:solidFill>
            <a:prstDash val="solid"/>
          </a:ln>
        </p:spPr>
      </p:sp>
      <p:sp>
        <p:nvSpPr>
          <p:cNvPr id="94" name="Shape 92"/>
          <p:cNvSpPr/>
          <p:nvPr/>
        </p:nvSpPr>
        <p:spPr>
          <a:xfrm>
            <a:off x="4612005" y="4616291"/>
            <a:ext cx="17145" cy="355759"/>
          </a:xfrm>
          <a:prstGeom prst="roundRect">
            <a:avLst>
              <a:gd name="adj" fmla="val 100000"/>
            </a:avLst>
          </a:prstGeom>
          <a:solidFill>
            <a:srgbClr val="00BCD4"/>
          </a:solidFill>
          <a:ln/>
        </p:spPr>
      </p:sp>
      <p:sp>
        <p:nvSpPr>
          <p:cNvPr id="95" name="Text 93"/>
          <p:cNvSpPr/>
          <p:nvPr/>
        </p:nvSpPr>
        <p:spPr>
          <a:xfrm>
            <a:off x="4709160" y="4690586"/>
            <a:ext cx="2083460" cy="81439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428" spc="94" kern="0" dirty="0">
                <a:solidFill>
                  <a:srgbClr val="64748B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PRIORITY</a:t>
            </a:r>
            <a:endParaRPr lang="en-US" sz="428" dirty="0"/>
          </a:p>
        </p:txBody>
      </p:sp>
      <p:sp>
        <p:nvSpPr>
          <p:cNvPr id="96" name="Text 94"/>
          <p:cNvSpPr/>
          <p:nvPr/>
        </p:nvSpPr>
        <p:spPr>
          <a:xfrm>
            <a:off x="4709160" y="4789170"/>
            <a:ext cx="2083460" cy="120015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630" spc="6" kern="0" dirty="0">
                <a:solidFill>
                  <a:srgbClr val="E2E8F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P3</a:t>
            </a:r>
            <a:endParaRPr lang="en-US" sz="630" dirty="0"/>
          </a:p>
        </p:txBody>
      </p:sp>
      <p:sp>
        <p:nvSpPr>
          <p:cNvPr id="97" name="Shape 95"/>
          <p:cNvSpPr/>
          <p:nvPr/>
        </p:nvSpPr>
        <p:spPr>
          <a:xfrm>
            <a:off x="6746558" y="4616291"/>
            <a:ext cx="2054543" cy="367189"/>
          </a:xfrm>
          <a:prstGeom prst="roundRect">
            <a:avLst>
              <a:gd name="adj" fmla="val 9339"/>
            </a:avLst>
          </a:prstGeom>
          <a:solidFill>
            <a:srgbClr val="152035"/>
          </a:solidFill>
          <a:ln w="5715">
            <a:solidFill>
              <a:srgbClr val="94A3B8">
                <a:alpha val="24000"/>
              </a:srgbClr>
            </a:solidFill>
            <a:prstDash val="solid"/>
          </a:ln>
        </p:spPr>
      </p:sp>
      <p:sp>
        <p:nvSpPr>
          <p:cNvPr id="98" name="Shape 96"/>
          <p:cNvSpPr/>
          <p:nvPr/>
        </p:nvSpPr>
        <p:spPr>
          <a:xfrm>
            <a:off x="6746558" y="4616291"/>
            <a:ext cx="17145" cy="355759"/>
          </a:xfrm>
          <a:prstGeom prst="roundRect">
            <a:avLst>
              <a:gd name="adj" fmla="val 100000"/>
            </a:avLst>
          </a:prstGeom>
          <a:solidFill>
            <a:srgbClr val="FF7043"/>
          </a:solidFill>
          <a:ln/>
        </p:spPr>
      </p:sp>
      <p:sp>
        <p:nvSpPr>
          <p:cNvPr id="99" name="Text 97"/>
          <p:cNvSpPr/>
          <p:nvPr/>
        </p:nvSpPr>
        <p:spPr>
          <a:xfrm>
            <a:off x="6843713" y="4690586"/>
            <a:ext cx="2083460" cy="81439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428" spc="94" kern="0" dirty="0">
                <a:solidFill>
                  <a:srgbClr val="64748B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SIGNAL</a:t>
            </a:r>
            <a:endParaRPr lang="en-US" sz="428" dirty="0"/>
          </a:p>
        </p:txBody>
      </p:sp>
      <p:sp>
        <p:nvSpPr>
          <p:cNvPr id="100" name="Text 98"/>
          <p:cNvSpPr/>
          <p:nvPr/>
        </p:nvSpPr>
        <p:spPr>
          <a:xfrm>
            <a:off x="6843713" y="4789170"/>
            <a:ext cx="2083460" cy="120015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630" spc="6" kern="0" dirty="0">
                <a:solidFill>
                  <a:srgbClr val="FF7043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CONSUMER TRUST</a:t>
            </a:r>
            <a:endParaRPr lang="en-US" sz="63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1E293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gradFill rotWithShape="1">
            <a:gsLst>
              <a:gs pos="0">
                <a:srgbClr val="1E293B"/>
              </a:gs>
              <a:gs pos="100000">
                <a:srgbClr val="0F172A"/>
              </a:gs>
            </a:gsLst>
            <a:lin ang="2700000" scaled="0"/>
          </a:gradFill>
          <a:ln/>
        </p:spPr>
      </p:sp>
      <p:sp>
        <p:nvSpPr>
          <p:cNvPr id="3" name="Shape 1"/>
          <p:cNvSpPr/>
          <p:nvPr/>
        </p:nvSpPr>
        <p:spPr>
          <a:xfrm>
            <a:off x="-2286000" y="-1543050"/>
            <a:ext cx="8229600" cy="4629150"/>
          </a:xfrm>
          <a:prstGeom prst="ellipse">
            <a:avLst/>
          </a:prstGeom>
          <a:gradFill rotWithShape="1">
            <a:gsLst>
              <a:gs pos="0">
                <a:srgbClr val="00BCD4">
                  <a:alpha val="9600"/>
                </a:srgbClr>
              </a:gs>
              <a:gs pos="100000">
                <a:srgbClr val="00BCD4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/>
        </p:spPr>
      </p:sp>
      <p:sp>
        <p:nvSpPr>
          <p:cNvPr id="4" name="Shape 2"/>
          <p:cNvSpPr/>
          <p:nvPr/>
        </p:nvSpPr>
        <p:spPr>
          <a:xfrm>
            <a:off x="3200400" y="2057400"/>
            <a:ext cx="8229600" cy="4629150"/>
          </a:xfrm>
          <a:prstGeom prst="ellipse">
            <a:avLst/>
          </a:prstGeom>
          <a:gradFill rotWithShape="1">
            <a:gsLst>
              <a:gs pos="0">
                <a:srgbClr val="FF7043">
                  <a:alpha val="8000"/>
                </a:srgbClr>
              </a:gs>
              <a:gs pos="100000">
                <a:srgbClr val="FF7043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/>
        </p:spPr>
      </p:sp>
      <p:sp>
        <p:nvSpPr>
          <p:cNvPr id="5" name="Shape 3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gradFill rotWithShape="1">
            <a:gsLst>
              <a:gs pos="0">
                <a:srgbClr val="000000">
                  <a:alpha val="4000"/>
                </a:srgbClr>
              </a:gs>
              <a:gs pos="25000">
                <a:srgbClr val="000000">
                  <a:alpha val="0"/>
                </a:srgbClr>
              </a:gs>
              <a:gs pos="50000">
                <a:srgbClr val="000000"/>
              </a:gs>
              <a:gs pos="75000">
                <a:srgbClr val="000000">
                  <a:alpha val="4000"/>
                </a:srgbClr>
              </a:gs>
              <a:gs pos="100000">
                <a:srgbClr val="000000">
                  <a:alpha val="0"/>
                </a:srgbClr>
              </a:gs>
            </a:gsLst>
            <a:lin ang="5400000" scaled="0"/>
          </a:gradFill>
          <a:ln/>
        </p:spPr>
      </p:sp>
      <p:sp>
        <p:nvSpPr>
          <p:cNvPr id="6" name="Shape 4"/>
          <p:cNvSpPr/>
          <p:nvPr/>
        </p:nvSpPr>
        <p:spPr>
          <a:xfrm>
            <a:off x="0" y="0"/>
            <a:ext cx="9144000" cy="11430"/>
          </a:xfrm>
          <a:prstGeom prst="rect">
            <a:avLst/>
          </a:prstGeom>
          <a:gradFill rotWithShape="1">
            <a:gsLst>
              <a:gs pos="0">
                <a:srgbClr val="000000">
                  <a:alpha val="0"/>
                </a:srgbClr>
              </a:gs>
              <a:gs pos="30000">
                <a:srgbClr val="00BCD4"/>
              </a:gs>
              <a:gs pos="70000">
                <a:srgbClr val="FF7043"/>
              </a:gs>
              <a:gs pos="100000">
                <a:srgbClr val="000000">
                  <a:alpha val="0"/>
                </a:srgbClr>
              </a:gs>
            </a:gsLst>
            <a:lin ang="0" scaled="0"/>
          </a:gradFill>
          <a:ln/>
        </p:spPr>
      </p:sp>
      <p:sp>
        <p:nvSpPr>
          <p:cNvPr id="7" name="Shape 5"/>
          <p:cNvSpPr/>
          <p:nvPr/>
        </p:nvSpPr>
        <p:spPr>
          <a:xfrm>
            <a:off x="45720" y="45720"/>
            <a:ext cx="80010" cy="80010"/>
          </a:xfrm>
          <a:prstGeom prst="rect">
            <a:avLst/>
          </a:prstGeom>
          <a:noFill/>
          <a:ln/>
        </p:spPr>
      </p:sp>
      <p:sp>
        <p:nvSpPr>
          <p:cNvPr id="8" name="Shape 6"/>
          <p:cNvSpPr/>
          <p:nvPr/>
        </p:nvSpPr>
        <p:spPr>
          <a:xfrm>
            <a:off x="45720" y="45720"/>
            <a:ext cx="80010" cy="0"/>
          </a:xfrm>
          <a:prstGeom prst="line">
            <a:avLst/>
          </a:prstGeom>
          <a:noFill/>
          <a:ln w="5715">
            <a:solidFill>
              <a:srgbClr val="00BCD4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5720" y="45720"/>
            <a:ext cx="0" cy="80010"/>
          </a:xfrm>
          <a:prstGeom prst="line">
            <a:avLst/>
          </a:prstGeom>
          <a:noFill/>
          <a:ln w="5715">
            <a:solidFill>
              <a:srgbClr val="00BCD4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9018270" y="45720"/>
            <a:ext cx="80010" cy="80010"/>
          </a:xfrm>
          <a:prstGeom prst="rect">
            <a:avLst/>
          </a:prstGeom>
          <a:noFill/>
          <a:ln/>
        </p:spPr>
      </p:sp>
      <p:sp>
        <p:nvSpPr>
          <p:cNvPr id="11" name="Shape 9"/>
          <p:cNvSpPr/>
          <p:nvPr/>
        </p:nvSpPr>
        <p:spPr>
          <a:xfrm>
            <a:off x="9018270" y="45720"/>
            <a:ext cx="80010" cy="0"/>
          </a:xfrm>
          <a:prstGeom prst="line">
            <a:avLst/>
          </a:prstGeom>
          <a:noFill/>
          <a:ln w="5715">
            <a:solidFill>
              <a:srgbClr val="00BCD4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9098280" y="45720"/>
            <a:ext cx="0" cy="80010"/>
          </a:xfrm>
          <a:prstGeom prst="line">
            <a:avLst/>
          </a:prstGeom>
          <a:noFill/>
          <a:ln w="5715">
            <a:solidFill>
              <a:srgbClr val="00BCD4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5720" y="5017770"/>
            <a:ext cx="80010" cy="80010"/>
          </a:xfrm>
          <a:prstGeom prst="rect">
            <a:avLst/>
          </a:prstGeom>
          <a:noFill/>
          <a:ln/>
        </p:spPr>
      </p:sp>
      <p:sp>
        <p:nvSpPr>
          <p:cNvPr id="14" name="Shape 12"/>
          <p:cNvSpPr/>
          <p:nvPr/>
        </p:nvSpPr>
        <p:spPr>
          <a:xfrm>
            <a:off x="45720" y="5097780"/>
            <a:ext cx="80010" cy="0"/>
          </a:xfrm>
          <a:prstGeom prst="line">
            <a:avLst/>
          </a:prstGeom>
          <a:noFill/>
          <a:ln w="5715">
            <a:solidFill>
              <a:srgbClr val="00BCD4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45720" y="5017770"/>
            <a:ext cx="0" cy="80010"/>
          </a:xfrm>
          <a:prstGeom prst="line">
            <a:avLst/>
          </a:prstGeom>
          <a:noFill/>
          <a:ln w="5715">
            <a:solidFill>
              <a:srgbClr val="00BCD4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9018270" y="5017770"/>
            <a:ext cx="80010" cy="80010"/>
          </a:xfrm>
          <a:prstGeom prst="rect">
            <a:avLst/>
          </a:prstGeom>
          <a:noFill/>
          <a:ln/>
        </p:spPr>
      </p:sp>
      <p:sp>
        <p:nvSpPr>
          <p:cNvPr id="17" name="Shape 15"/>
          <p:cNvSpPr/>
          <p:nvPr/>
        </p:nvSpPr>
        <p:spPr>
          <a:xfrm>
            <a:off x="9098280" y="5017770"/>
            <a:ext cx="0" cy="80010"/>
          </a:xfrm>
          <a:prstGeom prst="line">
            <a:avLst/>
          </a:prstGeom>
          <a:noFill/>
          <a:ln w="5715">
            <a:solidFill>
              <a:srgbClr val="00BCD4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9018270" y="5097780"/>
            <a:ext cx="80010" cy="0"/>
          </a:xfrm>
          <a:prstGeom prst="line">
            <a:avLst/>
          </a:prstGeom>
          <a:noFill/>
          <a:ln w="5715">
            <a:solidFill>
              <a:srgbClr val="00BCD4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342900" y="251460"/>
            <a:ext cx="8458200" cy="604629"/>
          </a:xfrm>
          <a:prstGeom prst="rect">
            <a:avLst/>
          </a:prstGeom>
          <a:noFill/>
          <a:ln/>
        </p:spPr>
      </p:sp>
      <p:sp>
        <p:nvSpPr>
          <p:cNvPr id="20" name="Shape 18"/>
          <p:cNvSpPr/>
          <p:nvPr/>
        </p:nvSpPr>
        <p:spPr>
          <a:xfrm>
            <a:off x="342900" y="856089"/>
            <a:ext cx="8458200" cy="0"/>
          </a:xfrm>
          <a:prstGeom prst="line">
            <a:avLst/>
          </a:prstGeom>
          <a:noFill/>
          <a:ln w="5715">
            <a:solidFill>
              <a:srgbClr val="94A3B8">
                <a:alpha val="15000"/>
              </a:srgbClr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342900" y="274320"/>
            <a:ext cx="34290" cy="34290"/>
          </a:xfrm>
          <a:prstGeom prst="ellipse">
            <a:avLst/>
          </a:prstGeom>
          <a:solidFill>
            <a:srgbClr val="00BCD4"/>
          </a:solidFill>
          <a:ln/>
          <a:effectLst>
            <a:outerShdw sx="100000" sy="100000" kx="0" ky="0" algn="bl" rotWithShape="0" blurRad="95250" dist="50800" dir="16200000">
              <a:srgbClr val="00BCD4">
                <a:alpha val="100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434340" y="251460"/>
            <a:ext cx="2713339" cy="80010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buNone/>
            </a:pPr>
            <a:r>
              <a:rPr lang="en-US" sz="495" spc="109" kern="0" dirty="0">
                <a:solidFill>
                  <a:srgbClr val="00BCD4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INSTITUTIONAL ECONOMICS · FRAMEWORK SYNTHESIS</a:t>
            </a:r>
            <a:endParaRPr lang="en-US" sz="495" dirty="0"/>
          </a:p>
        </p:txBody>
      </p:sp>
      <p:sp>
        <p:nvSpPr>
          <p:cNvPr id="23" name="Text 21"/>
          <p:cNvSpPr/>
          <p:nvPr/>
        </p:nvSpPr>
        <p:spPr>
          <a:xfrm>
            <a:off x="342900" y="377190"/>
            <a:ext cx="4401050" cy="21029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440" b="1" spc="-14" kern="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制度经济学视角 ·</a:t>
            </a:r>
            <a:pPr algn="l" indent="0" marL="0">
              <a:lnSpc>
                <a:spcPct val="115000"/>
              </a:lnSpc>
              <a:buNone/>
            </a:pPr>
            <a:r>
              <a:rPr lang="en-US" sz="1440" b="1" spc="-14" kern="0" dirty="0">
                <a:solidFill>
                  <a:srgbClr val="00BCD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Williamson</a:t>
            </a:r>
            <a:pPr algn="l" indent="0" marL="0">
              <a:lnSpc>
                <a:spcPct val="115000"/>
              </a:lnSpc>
              <a:buNone/>
            </a:pPr>
            <a:r>
              <a:rPr lang="en-US" sz="1440" b="1" spc="-14" kern="0" dirty="0">
                <a:solidFill>
                  <a:srgbClr val="FF704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×</a:t>
            </a:r>
            <a:pPr algn="l" indent="0" marL="0">
              <a:lnSpc>
                <a:spcPct val="115000"/>
              </a:lnSpc>
              <a:buNone/>
            </a:pPr>
            <a:r>
              <a:rPr lang="en-US" sz="1440" b="1" spc="-14" kern="0" dirty="0">
                <a:solidFill>
                  <a:srgbClr val="00BCD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Roland</a:t>
            </a:r>
            <a:endParaRPr lang="en-US" sz="1440" dirty="0"/>
          </a:p>
        </p:txBody>
      </p:sp>
      <p:sp>
        <p:nvSpPr>
          <p:cNvPr id="24" name="Text 22"/>
          <p:cNvSpPr/>
          <p:nvPr/>
        </p:nvSpPr>
        <p:spPr>
          <a:xfrm>
            <a:off x="342900" y="633204"/>
            <a:ext cx="4401050" cy="1143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630" spc="13" kern="0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核心命题：</a:t>
            </a:r>
            <a:pPr algn="l" indent="0" marL="0">
              <a:buNone/>
            </a:pPr>
            <a:r>
              <a:rPr lang="en-US" sz="630" spc="13" kern="0" dirty="0">
                <a:solidFill>
                  <a:srgbClr val="FF704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层次 × 时间</a:t>
            </a:r>
            <a:pPr algn="l" indent="0" marL="0">
              <a:buNone/>
            </a:pPr>
            <a:r>
              <a:rPr lang="en-US" sz="630" spc="13" kern="0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的分析矩阵 — 将静态层次链与动态时间轴合二为一，回答改革受阻的空间与速度问题</a:t>
            </a:r>
            <a:endParaRPr lang="en-US" sz="630" dirty="0"/>
          </a:p>
        </p:txBody>
      </p:sp>
      <p:sp>
        <p:nvSpPr>
          <p:cNvPr id="25" name="Shape 23"/>
          <p:cNvSpPr/>
          <p:nvPr/>
        </p:nvSpPr>
        <p:spPr>
          <a:xfrm>
            <a:off x="7306628" y="598914"/>
            <a:ext cx="897255" cy="142875"/>
          </a:xfrm>
          <a:prstGeom prst="roundRect">
            <a:avLst>
              <a:gd name="adj" fmla="val 12000"/>
            </a:avLst>
          </a:prstGeom>
          <a:noFill/>
          <a:ln w="5715">
            <a:solidFill>
              <a:srgbClr val="00BCD4">
                <a:alpha val="35000"/>
              </a:srgbClr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7306628" y="598914"/>
            <a:ext cx="1004926" cy="142875"/>
          </a:xfrm>
          <a:prstGeom prst="rect">
            <a:avLst/>
          </a:prstGeom>
          <a:noFill/>
          <a:ln/>
        </p:spPr>
        <p:txBody>
          <a:bodyPr wrap="square" lIns="28575" tIns="57150" rIns="57150" bIns="28575" rtlCol="0" anchor="ctr"/>
          <a:lstStyle/>
          <a:p>
            <a:pPr algn="l" indent="0" marL="0">
              <a:buNone/>
            </a:pPr>
            <a:r>
              <a:rPr lang="en-US" sz="450" spc="68" kern="0" dirty="0">
                <a:solidFill>
                  <a:srgbClr val="00BCD4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LAYERED × TEMPORAL</a:t>
            </a:r>
            <a:endParaRPr lang="en-US" sz="450" dirty="0"/>
          </a:p>
        </p:txBody>
      </p:sp>
      <p:sp>
        <p:nvSpPr>
          <p:cNvPr id="27" name="Shape 25"/>
          <p:cNvSpPr/>
          <p:nvPr/>
        </p:nvSpPr>
        <p:spPr>
          <a:xfrm>
            <a:off x="8306753" y="593199"/>
            <a:ext cx="494348" cy="154305"/>
          </a:xfrm>
          <a:prstGeom prst="roundRect">
            <a:avLst>
              <a:gd name="adj" fmla="val 11111"/>
            </a:avLst>
          </a:prstGeom>
          <a:noFill/>
          <a:ln w="5715">
            <a:solidFill>
              <a:srgbClr val="FF7043">
                <a:alpha val="40000"/>
              </a:srgbClr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8306753" y="593199"/>
            <a:ext cx="553669" cy="154305"/>
          </a:xfrm>
          <a:prstGeom prst="rect">
            <a:avLst/>
          </a:prstGeom>
          <a:noFill/>
          <a:ln/>
        </p:spPr>
        <p:txBody>
          <a:bodyPr wrap="square" lIns="28575" tIns="57150" rIns="57150" bIns="28575" rtlCol="0" anchor="ctr"/>
          <a:lstStyle/>
          <a:p>
            <a:pPr algn="l" indent="0" marL="0">
              <a:buNone/>
            </a:pPr>
            <a:r>
              <a:rPr lang="en-US" sz="450" spc="68" kern="0" dirty="0">
                <a:solidFill>
                  <a:srgbClr val="FF7043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大分流 2.0</a:t>
            </a:r>
            <a:endParaRPr lang="en-US" sz="450" dirty="0"/>
          </a:p>
        </p:txBody>
      </p:sp>
      <p:sp>
        <p:nvSpPr>
          <p:cNvPr id="29" name="Shape 27"/>
          <p:cNvSpPr/>
          <p:nvPr/>
        </p:nvSpPr>
        <p:spPr>
          <a:xfrm>
            <a:off x="342900" y="981819"/>
            <a:ext cx="3497580" cy="3217099"/>
          </a:xfrm>
          <a:prstGeom prst="roundRect">
            <a:avLst>
              <a:gd name="adj" fmla="val 1066"/>
            </a:avLst>
          </a:prstGeom>
          <a:gradFill rotWithShape="1">
            <a:gsLst>
              <a:gs pos="0">
                <a:srgbClr val="243447">
                  <a:alpha val="70000"/>
                </a:srgbClr>
              </a:gs>
              <a:gs pos="100000">
                <a:srgbClr val="1E293B">
                  <a:alpha val="50000"/>
                </a:srgbClr>
              </a:gs>
            </a:gsLst>
            <a:lin ang="4200000" scaled="0"/>
          </a:gradFill>
          <a:ln w="5715">
            <a:solidFill>
              <a:srgbClr val="94A3B8">
                <a:alpha val="15000"/>
              </a:srgbClr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342900" y="981819"/>
            <a:ext cx="17145" cy="3205669"/>
          </a:xfrm>
          <a:prstGeom prst="rect">
            <a:avLst/>
          </a:prstGeom>
          <a:solidFill>
            <a:srgbClr val="00BCD4"/>
          </a:solidFill>
          <a:ln/>
        </p:spPr>
      </p:sp>
      <p:sp>
        <p:nvSpPr>
          <p:cNvPr id="31" name="Text 29"/>
          <p:cNvSpPr/>
          <p:nvPr/>
        </p:nvSpPr>
        <p:spPr>
          <a:xfrm>
            <a:off x="474345" y="1101834"/>
            <a:ext cx="1843430" cy="74295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buNone/>
            </a:pPr>
            <a:r>
              <a:rPr lang="en-US" sz="450" spc="90" kern="0" dirty="0">
                <a:solidFill>
                  <a:srgbClr val="64748B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DIMENSION 01 / LAYERED</a:t>
            </a:r>
            <a:endParaRPr lang="en-US" sz="450" dirty="0"/>
          </a:p>
        </p:txBody>
      </p:sp>
      <p:sp>
        <p:nvSpPr>
          <p:cNvPr id="32" name="Text 30"/>
          <p:cNvSpPr/>
          <p:nvPr/>
        </p:nvSpPr>
        <p:spPr>
          <a:xfrm>
            <a:off x="474345" y="1198989"/>
            <a:ext cx="1843430" cy="142875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buNone/>
            </a:pPr>
            <a:r>
              <a:rPr lang="en-US" sz="765" spc="8" kern="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Williamson 层次链</a:t>
            </a:r>
            <a:endParaRPr lang="en-US" sz="765" dirty="0"/>
          </a:p>
        </p:txBody>
      </p:sp>
      <p:sp>
        <p:nvSpPr>
          <p:cNvPr id="33" name="Text 31"/>
          <p:cNvSpPr/>
          <p:nvPr/>
        </p:nvSpPr>
        <p:spPr>
          <a:xfrm>
            <a:off x="474345" y="1364724"/>
            <a:ext cx="1843430" cy="91440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buNone/>
            </a:pPr>
            <a:r>
              <a:rPr lang="en-US" sz="495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L1 社会嵌入 → L2 制度环境 → L3 治理机制 → L4 资源配置</a:t>
            </a:r>
            <a:endParaRPr lang="en-US" sz="495" dirty="0"/>
          </a:p>
        </p:txBody>
      </p:sp>
      <p:sp>
        <p:nvSpPr>
          <p:cNvPr id="34" name="Shape 32"/>
          <p:cNvSpPr/>
          <p:nvPr/>
        </p:nvSpPr>
        <p:spPr>
          <a:xfrm>
            <a:off x="2947511" y="1101834"/>
            <a:ext cx="761524" cy="120015"/>
          </a:xfrm>
          <a:prstGeom prst="roundRect">
            <a:avLst>
              <a:gd name="adj" fmla="val 9524"/>
            </a:avLst>
          </a:prstGeom>
          <a:solidFill>
            <a:srgbClr val="00BCD4">
              <a:alpha val="15000"/>
            </a:srgbClr>
          </a:solidFill>
          <a:ln w="5715">
            <a:solidFill>
              <a:srgbClr val="00BCD4">
                <a:alpha val="35000"/>
              </a:srgbClr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2947511" y="1101834"/>
            <a:ext cx="852907" cy="120015"/>
          </a:xfrm>
          <a:prstGeom prst="rect">
            <a:avLst/>
          </a:prstGeom>
          <a:noFill/>
          <a:ln/>
        </p:spPr>
        <p:txBody>
          <a:bodyPr wrap="square" lIns="17145" tIns="45720" rIns="45720" bIns="17145" rtlCol="0" anchor="ctr"/>
          <a:lstStyle/>
          <a:p>
            <a:pPr algn="l" indent="0" marL="0">
              <a:buNone/>
            </a:pPr>
            <a:r>
              <a:rPr lang="en-US" sz="405" spc="61" kern="0" dirty="0">
                <a:solidFill>
                  <a:srgbClr val="00BCD4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SPATIAL · 在哪里受阻</a:t>
            </a:r>
            <a:endParaRPr lang="en-US" sz="405" dirty="0"/>
          </a:p>
        </p:txBody>
      </p:sp>
      <p:sp>
        <p:nvSpPr>
          <p:cNvPr id="36" name="Shape 34"/>
          <p:cNvSpPr/>
          <p:nvPr/>
        </p:nvSpPr>
        <p:spPr>
          <a:xfrm>
            <a:off x="474345" y="1570464"/>
            <a:ext cx="3234690" cy="337185"/>
          </a:xfrm>
          <a:prstGeom prst="roundRect">
            <a:avLst>
              <a:gd name="adj" fmla="val 6780"/>
            </a:avLst>
          </a:prstGeom>
          <a:solidFill>
            <a:srgbClr val="0F172A">
              <a:alpha val="50000"/>
            </a:srgbClr>
          </a:solidFill>
          <a:ln w="5715">
            <a:solidFill>
              <a:srgbClr val="00BCD4">
                <a:alpha val="18000"/>
              </a:srgbClr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771525" y="1896219"/>
            <a:ext cx="5715" cy="45720"/>
          </a:xfrm>
          <a:prstGeom prst="rect">
            <a:avLst/>
          </a:prstGeom>
          <a:solidFill>
            <a:srgbClr val="00BCD4">
              <a:alpha val="35000"/>
            </a:srgbClr>
          </a:solidFill>
          <a:ln/>
        </p:spPr>
      </p:sp>
      <p:sp>
        <p:nvSpPr>
          <p:cNvPr id="38" name="Text 36"/>
          <p:cNvSpPr/>
          <p:nvPr/>
        </p:nvSpPr>
        <p:spPr>
          <a:xfrm>
            <a:off x="560070" y="1687622"/>
            <a:ext cx="331470" cy="102870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buNone/>
            </a:pPr>
            <a:r>
              <a:rPr lang="en-US" sz="630" spc="31" kern="0" dirty="0">
                <a:solidFill>
                  <a:srgbClr val="00BCD4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L1</a:t>
            </a:r>
            <a:endParaRPr lang="en-US" sz="630" dirty="0"/>
          </a:p>
        </p:txBody>
      </p:sp>
      <p:sp>
        <p:nvSpPr>
          <p:cNvPr id="39" name="Text 37"/>
          <p:cNvSpPr/>
          <p:nvPr/>
        </p:nvSpPr>
        <p:spPr>
          <a:xfrm>
            <a:off x="880110" y="1633329"/>
            <a:ext cx="2731141" cy="108585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buNone/>
            </a:pPr>
            <a:r>
              <a:rPr lang="en-US" sz="585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社会嵌入</a:t>
            </a:r>
            <a:endParaRPr lang="en-US" sz="585" dirty="0"/>
          </a:p>
        </p:txBody>
      </p:sp>
      <p:sp>
        <p:nvSpPr>
          <p:cNvPr id="40" name="Text 38"/>
          <p:cNvSpPr/>
          <p:nvPr/>
        </p:nvSpPr>
        <p:spPr>
          <a:xfrm>
            <a:off x="880110" y="1753344"/>
            <a:ext cx="2731141" cy="91440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buNone/>
            </a:pPr>
            <a:r>
              <a:rPr lang="en-US" sz="495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文化 · 信任 · 非正式规范</a:t>
            </a:r>
            <a:endParaRPr lang="en-US" sz="495" dirty="0"/>
          </a:p>
        </p:txBody>
      </p:sp>
      <p:sp>
        <p:nvSpPr>
          <p:cNvPr id="41" name="Text 39"/>
          <p:cNvSpPr/>
          <p:nvPr/>
        </p:nvSpPr>
        <p:spPr>
          <a:xfrm>
            <a:off x="3387209" y="1704767"/>
            <a:ext cx="287536" cy="68580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buNone/>
            </a:pPr>
            <a:r>
              <a:rPr lang="en-US" sz="405" spc="41" kern="0" dirty="0">
                <a:solidFill>
                  <a:srgbClr val="64748B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DEEPEST</a:t>
            </a:r>
            <a:endParaRPr lang="en-US" sz="405" dirty="0"/>
          </a:p>
        </p:txBody>
      </p:sp>
      <p:sp>
        <p:nvSpPr>
          <p:cNvPr id="42" name="Shape 40"/>
          <p:cNvSpPr/>
          <p:nvPr/>
        </p:nvSpPr>
        <p:spPr>
          <a:xfrm>
            <a:off x="474345" y="1953369"/>
            <a:ext cx="3234690" cy="337185"/>
          </a:xfrm>
          <a:prstGeom prst="roundRect">
            <a:avLst>
              <a:gd name="adj" fmla="val 6780"/>
            </a:avLst>
          </a:prstGeom>
          <a:solidFill>
            <a:srgbClr val="0F172A">
              <a:alpha val="50000"/>
            </a:srgbClr>
          </a:solidFill>
          <a:ln w="5715">
            <a:solidFill>
              <a:srgbClr val="00BCD4">
                <a:alpha val="18000"/>
              </a:srgbClr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771525" y="2279124"/>
            <a:ext cx="5715" cy="45720"/>
          </a:xfrm>
          <a:prstGeom prst="rect">
            <a:avLst/>
          </a:prstGeom>
          <a:solidFill>
            <a:srgbClr val="00BCD4">
              <a:alpha val="35000"/>
            </a:srgbClr>
          </a:solidFill>
          <a:ln/>
        </p:spPr>
      </p:sp>
      <p:sp>
        <p:nvSpPr>
          <p:cNvPr id="44" name="Text 42"/>
          <p:cNvSpPr/>
          <p:nvPr/>
        </p:nvSpPr>
        <p:spPr>
          <a:xfrm>
            <a:off x="560070" y="2070527"/>
            <a:ext cx="331470" cy="102870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buNone/>
            </a:pPr>
            <a:r>
              <a:rPr lang="en-US" sz="630" spc="31" kern="0" dirty="0">
                <a:solidFill>
                  <a:srgbClr val="00BCD4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L2</a:t>
            </a:r>
            <a:endParaRPr lang="en-US" sz="630" dirty="0"/>
          </a:p>
        </p:txBody>
      </p:sp>
      <p:sp>
        <p:nvSpPr>
          <p:cNvPr id="45" name="Text 43"/>
          <p:cNvSpPr/>
          <p:nvPr/>
        </p:nvSpPr>
        <p:spPr>
          <a:xfrm>
            <a:off x="880110" y="2016234"/>
            <a:ext cx="2542318" cy="108585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buNone/>
            </a:pPr>
            <a:r>
              <a:rPr lang="en-US" sz="585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制度环境</a:t>
            </a:r>
            <a:endParaRPr lang="en-US" sz="585" dirty="0"/>
          </a:p>
        </p:txBody>
      </p:sp>
      <p:sp>
        <p:nvSpPr>
          <p:cNvPr id="46" name="Text 44"/>
          <p:cNvSpPr/>
          <p:nvPr/>
        </p:nvSpPr>
        <p:spPr>
          <a:xfrm>
            <a:off x="880110" y="2136249"/>
            <a:ext cx="2542318" cy="91440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buNone/>
            </a:pPr>
            <a:r>
              <a:rPr lang="en-US" sz="495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政治体制 · 宪法规则 · 权力结构</a:t>
            </a:r>
            <a:endParaRPr lang="en-US" sz="495" dirty="0"/>
          </a:p>
        </p:txBody>
      </p:sp>
      <p:sp>
        <p:nvSpPr>
          <p:cNvPr id="47" name="Text 45"/>
          <p:cNvSpPr/>
          <p:nvPr/>
        </p:nvSpPr>
        <p:spPr>
          <a:xfrm>
            <a:off x="3218617" y="2087672"/>
            <a:ext cx="456128" cy="68580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buNone/>
            </a:pPr>
            <a:r>
              <a:rPr lang="en-US" sz="405" spc="41" kern="0" dirty="0">
                <a:solidFill>
                  <a:srgbClr val="64748B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CONSTRAINING</a:t>
            </a:r>
            <a:endParaRPr lang="en-US" sz="405" dirty="0"/>
          </a:p>
        </p:txBody>
      </p:sp>
      <p:sp>
        <p:nvSpPr>
          <p:cNvPr id="48" name="Shape 46"/>
          <p:cNvSpPr/>
          <p:nvPr/>
        </p:nvSpPr>
        <p:spPr>
          <a:xfrm>
            <a:off x="474345" y="2336274"/>
            <a:ext cx="3234690" cy="337185"/>
          </a:xfrm>
          <a:prstGeom prst="roundRect">
            <a:avLst>
              <a:gd name="adj" fmla="val 6780"/>
            </a:avLst>
          </a:prstGeom>
          <a:solidFill>
            <a:srgbClr val="0F172A">
              <a:alpha val="50000"/>
            </a:srgbClr>
          </a:solidFill>
          <a:ln w="5715">
            <a:solidFill>
              <a:srgbClr val="00BCD4">
                <a:alpha val="18000"/>
              </a:srgbClr>
            </a:solidFill>
            <a:prstDash val="solid"/>
          </a:ln>
        </p:spPr>
      </p:sp>
      <p:sp>
        <p:nvSpPr>
          <p:cNvPr id="49" name="Shape 47"/>
          <p:cNvSpPr/>
          <p:nvPr/>
        </p:nvSpPr>
        <p:spPr>
          <a:xfrm>
            <a:off x="771525" y="2662029"/>
            <a:ext cx="5715" cy="45720"/>
          </a:xfrm>
          <a:prstGeom prst="rect">
            <a:avLst/>
          </a:prstGeom>
          <a:solidFill>
            <a:srgbClr val="00BCD4">
              <a:alpha val="35000"/>
            </a:srgbClr>
          </a:solidFill>
          <a:ln/>
        </p:spPr>
      </p:sp>
      <p:sp>
        <p:nvSpPr>
          <p:cNvPr id="50" name="Text 48"/>
          <p:cNvSpPr/>
          <p:nvPr/>
        </p:nvSpPr>
        <p:spPr>
          <a:xfrm>
            <a:off x="560070" y="2453432"/>
            <a:ext cx="331470" cy="102870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buNone/>
            </a:pPr>
            <a:r>
              <a:rPr lang="en-US" sz="630" spc="31" kern="0" dirty="0">
                <a:solidFill>
                  <a:srgbClr val="00BCD4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L3</a:t>
            </a:r>
            <a:endParaRPr lang="en-US" sz="630" dirty="0"/>
          </a:p>
        </p:txBody>
      </p:sp>
      <p:sp>
        <p:nvSpPr>
          <p:cNvPr id="51" name="Text 49"/>
          <p:cNvSpPr/>
          <p:nvPr/>
        </p:nvSpPr>
        <p:spPr>
          <a:xfrm>
            <a:off x="880110" y="2399139"/>
            <a:ext cx="2617927" cy="108585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buNone/>
            </a:pPr>
            <a:r>
              <a:rPr lang="en-US" sz="585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治理机制</a:t>
            </a:r>
            <a:endParaRPr lang="en-US" sz="585" dirty="0"/>
          </a:p>
        </p:txBody>
      </p:sp>
      <p:sp>
        <p:nvSpPr>
          <p:cNvPr id="52" name="Text 50"/>
          <p:cNvSpPr/>
          <p:nvPr/>
        </p:nvSpPr>
        <p:spPr>
          <a:xfrm>
            <a:off x="880110" y="2519154"/>
            <a:ext cx="2617927" cy="91440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buNone/>
            </a:pPr>
            <a:r>
              <a:rPr lang="en-US" sz="495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合同 · 组织架构 · 内部规则</a:t>
            </a:r>
            <a:endParaRPr lang="en-US" sz="495" dirty="0"/>
          </a:p>
        </p:txBody>
      </p:sp>
      <p:sp>
        <p:nvSpPr>
          <p:cNvPr id="53" name="Text 51"/>
          <p:cNvSpPr/>
          <p:nvPr/>
        </p:nvSpPr>
        <p:spPr>
          <a:xfrm>
            <a:off x="3286125" y="2470577"/>
            <a:ext cx="388620" cy="68580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buNone/>
            </a:pPr>
            <a:r>
              <a:rPr lang="en-US" sz="405" spc="41" kern="0" dirty="0">
                <a:solidFill>
                  <a:srgbClr val="64748B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GOVERNANCE</a:t>
            </a:r>
            <a:endParaRPr lang="en-US" sz="405" dirty="0"/>
          </a:p>
        </p:txBody>
      </p:sp>
      <p:sp>
        <p:nvSpPr>
          <p:cNvPr id="54" name="Shape 52"/>
          <p:cNvSpPr/>
          <p:nvPr/>
        </p:nvSpPr>
        <p:spPr>
          <a:xfrm>
            <a:off x="474345" y="2719179"/>
            <a:ext cx="3234690" cy="337185"/>
          </a:xfrm>
          <a:prstGeom prst="roundRect">
            <a:avLst>
              <a:gd name="adj" fmla="val 6780"/>
            </a:avLst>
          </a:prstGeom>
          <a:solidFill>
            <a:srgbClr val="0F172A">
              <a:alpha val="50000"/>
            </a:srgbClr>
          </a:solidFill>
          <a:ln w="5715">
            <a:solidFill>
              <a:srgbClr val="00BCD4">
                <a:alpha val="18000"/>
              </a:srgbClr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560070" y="2836337"/>
            <a:ext cx="331470" cy="102870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buNone/>
            </a:pPr>
            <a:r>
              <a:rPr lang="en-US" sz="630" spc="31" kern="0" dirty="0">
                <a:solidFill>
                  <a:srgbClr val="00BCD4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L4</a:t>
            </a:r>
            <a:endParaRPr lang="en-US" sz="630" dirty="0"/>
          </a:p>
        </p:txBody>
      </p:sp>
      <p:sp>
        <p:nvSpPr>
          <p:cNvPr id="56" name="Text 54"/>
          <p:cNvSpPr/>
          <p:nvPr/>
        </p:nvSpPr>
        <p:spPr>
          <a:xfrm>
            <a:off x="880110" y="2782044"/>
            <a:ext cx="2617927" cy="108585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buNone/>
            </a:pPr>
            <a:r>
              <a:rPr lang="en-US" sz="585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资源配置</a:t>
            </a:r>
            <a:endParaRPr lang="en-US" sz="585" dirty="0"/>
          </a:p>
        </p:txBody>
      </p:sp>
      <p:sp>
        <p:nvSpPr>
          <p:cNvPr id="57" name="Text 55"/>
          <p:cNvSpPr/>
          <p:nvPr/>
        </p:nvSpPr>
        <p:spPr>
          <a:xfrm>
            <a:off x="880110" y="2902059"/>
            <a:ext cx="2617927" cy="91440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buNone/>
            </a:pPr>
            <a:r>
              <a:rPr lang="en-US" sz="495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个体决策 · 市场交易 · 行为</a:t>
            </a:r>
            <a:endParaRPr lang="en-US" sz="495" dirty="0"/>
          </a:p>
        </p:txBody>
      </p:sp>
      <p:sp>
        <p:nvSpPr>
          <p:cNvPr id="58" name="Text 56"/>
          <p:cNvSpPr/>
          <p:nvPr/>
        </p:nvSpPr>
        <p:spPr>
          <a:xfrm>
            <a:off x="3286125" y="2853482"/>
            <a:ext cx="388620" cy="68580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buNone/>
            </a:pPr>
            <a:r>
              <a:rPr lang="en-US" sz="405" spc="41" kern="0" dirty="0">
                <a:solidFill>
                  <a:srgbClr val="64748B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SHALLOWEST</a:t>
            </a:r>
            <a:endParaRPr lang="en-US" sz="405" dirty="0"/>
          </a:p>
        </p:txBody>
      </p:sp>
      <p:sp>
        <p:nvSpPr>
          <p:cNvPr id="59" name="Shape 57"/>
          <p:cNvSpPr/>
          <p:nvPr/>
        </p:nvSpPr>
        <p:spPr>
          <a:xfrm>
            <a:off x="474345" y="3113514"/>
            <a:ext cx="3234690" cy="148590"/>
          </a:xfrm>
          <a:prstGeom prst="rect">
            <a:avLst/>
          </a:prstGeom>
          <a:noFill/>
          <a:ln/>
        </p:spPr>
      </p:sp>
      <p:sp>
        <p:nvSpPr>
          <p:cNvPr id="60" name="Shape 58"/>
          <p:cNvSpPr/>
          <p:nvPr/>
        </p:nvSpPr>
        <p:spPr>
          <a:xfrm>
            <a:off x="474345" y="3113514"/>
            <a:ext cx="3234690" cy="0"/>
          </a:xfrm>
          <a:prstGeom prst="line">
            <a:avLst/>
          </a:prstGeom>
          <a:noFill/>
          <a:ln w="5715">
            <a:solidFill>
              <a:srgbClr val="00BCD4">
                <a:alpha val="25000"/>
              </a:srgbClr>
            </a:solidFill>
            <a:prstDash val="dash"/>
          </a:ln>
        </p:spPr>
      </p:sp>
      <p:sp>
        <p:nvSpPr>
          <p:cNvPr id="61" name="Text 59"/>
          <p:cNvSpPr/>
          <p:nvPr/>
        </p:nvSpPr>
        <p:spPr>
          <a:xfrm>
            <a:off x="474345" y="3176379"/>
            <a:ext cx="729691" cy="85725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buNone/>
            </a:pPr>
            <a:r>
              <a:rPr lang="en-US" sz="450" spc="45" kern="0" dirty="0">
                <a:solidFill>
                  <a:srgbClr val="64748B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↑ DEPTH · 由外向内</a:t>
            </a:r>
            <a:endParaRPr lang="en-US" sz="450" dirty="0"/>
          </a:p>
        </p:txBody>
      </p:sp>
      <p:sp>
        <p:nvSpPr>
          <p:cNvPr id="62" name="Text 60"/>
          <p:cNvSpPr/>
          <p:nvPr/>
        </p:nvSpPr>
        <p:spPr>
          <a:xfrm>
            <a:off x="2657475" y="3176379"/>
            <a:ext cx="1177747" cy="85725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buNone/>
            </a:pPr>
            <a:r>
              <a:rPr lang="en-US" sz="450" spc="45" kern="0" dirty="0">
                <a:solidFill>
                  <a:srgbClr val="00BCD4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L4 → L3 → L2 → L1 → 约束递增</a:t>
            </a:r>
            <a:endParaRPr lang="en-US" sz="450" dirty="0"/>
          </a:p>
        </p:txBody>
      </p:sp>
      <p:sp>
        <p:nvSpPr>
          <p:cNvPr id="63" name="Text 61"/>
          <p:cNvSpPr/>
          <p:nvPr/>
        </p:nvSpPr>
        <p:spPr>
          <a:xfrm>
            <a:off x="4214813" y="1638776"/>
            <a:ext cx="800100" cy="85725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ctr" indent="0" marL="0">
              <a:buNone/>
            </a:pPr>
            <a:r>
              <a:rPr lang="en-US" sz="450" spc="81" kern="0" dirty="0">
                <a:solidFill>
                  <a:srgbClr val="64748B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— X AXIS · 层次 —</a:t>
            </a:r>
            <a:endParaRPr lang="en-US" sz="450" dirty="0"/>
          </a:p>
        </p:txBody>
      </p:sp>
      <p:pic>
        <p:nvPicPr>
          <p:cNvPr id="64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4057650" y="1804511"/>
            <a:ext cx="1028700" cy="1028700"/>
          </a:xfrm>
          <a:prstGeom prst="rect">
            <a:avLst/>
          </a:prstGeom>
        </p:spPr>
      </p:pic>
      <p:sp>
        <p:nvSpPr>
          <p:cNvPr id="65" name="Shape 62"/>
          <p:cNvSpPr/>
          <p:nvPr/>
        </p:nvSpPr>
        <p:spPr>
          <a:xfrm>
            <a:off x="4200525" y="1947386"/>
            <a:ext cx="742950" cy="742950"/>
          </a:xfrm>
          <a:prstGeom prst="ellipse">
            <a:avLst/>
          </a:prstGeom>
          <a:gradFill rotWithShape="1">
            <a:gsLst>
              <a:gs pos="0">
                <a:srgbClr val="00BCD4">
                  <a:alpha val="90000"/>
                </a:srgbClr>
              </a:gs>
              <a:gs pos="100000">
                <a:srgbClr val="FF7043">
                  <a:alpha val="90000"/>
                </a:srgbClr>
              </a:gs>
            </a:gsLst>
            <a:lin ang="2700000" scaled="0"/>
          </a:gradFill>
          <a:ln/>
          <a:effectLst>
            <a:outerShdw sx="100000" sy="100000" kx="0" ky="0" algn="bl" rotWithShape="0" blurRad="381000" dist="50800" dir="16200000">
              <a:srgbClr val="FF7043">
                <a:alpha val="35000"/>
              </a:srgbClr>
            </a:outerShdw>
          </a:effectLst>
        </p:spPr>
      </p:sp>
      <p:sp>
        <p:nvSpPr>
          <p:cNvPr id="66" name="Text 63"/>
          <p:cNvSpPr/>
          <p:nvPr/>
        </p:nvSpPr>
        <p:spPr>
          <a:xfrm>
            <a:off x="4385548" y="2127409"/>
            <a:ext cx="424339" cy="68580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buNone/>
            </a:pPr>
            <a:r>
              <a:rPr lang="en-US" sz="405" spc="101" kern="0" dirty="0">
                <a:solidFill>
                  <a:srgbClr val="FFFFFF">
                    <a:alpha val="90000"/>
                  </a:srgbClr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FRAMEWORK</a:t>
            </a:r>
            <a:endParaRPr lang="en-US" sz="405" dirty="0"/>
          </a:p>
        </p:txBody>
      </p:sp>
      <p:sp>
        <p:nvSpPr>
          <p:cNvPr id="67" name="Text 64"/>
          <p:cNvSpPr/>
          <p:nvPr/>
        </p:nvSpPr>
        <p:spPr>
          <a:xfrm>
            <a:off x="4222313" y="2230279"/>
            <a:ext cx="847963" cy="148590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170" b="1" spc="-23" kern="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大分流 2.0</a:t>
            </a:r>
            <a:endParaRPr lang="en-US" sz="1170" dirty="0"/>
          </a:p>
        </p:txBody>
      </p:sp>
      <p:sp>
        <p:nvSpPr>
          <p:cNvPr id="68" name="Text 65"/>
          <p:cNvSpPr/>
          <p:nvPr/>
        </p:nvSpPr>
        <p:spPr>
          <a:xfrm>
            <a:off x="4394210" y="2413159"/>
            <a:ext cx="424071" cy="97155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buNone/>
            </a:pPr>
            <a:r>
              <a:rPr lang="en-US" sz="540" spc="27" kern="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大分流 2.0</a:t>
            </a:r>
            <a:endParaRPr lang="en-US" sz="540" dirty="0"/>
          </a:p>
        </p:txBody>
      </p:sp>
      <p:sp>
        <p:nvSpPr>
          <p:cNvPr id="69" name="Text 66"/>
          <p:cNvSpPr/>
          <p:nvPr/>
        </p:nvSpPr>
        <p:spPr>
          <a:xfrm>
            <a:off x="4214813" y="2913221"/>
            <a:ext cx="800100" cy="85725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ctr" indent="0" marL="0">
              <a:buNone/>
            </a:pPr>
            <a:r>
              <a:rPr lang="en-US" sz="450" spc="81" kern="0" dirty="0">
                <a:solidFill>
                  <a:srgbClr val="64748B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— Y AXIS · 时间 —</a:t>
            </a:r>
            <a:endParaRPr lang="en-US" sz="450" dirty="0"/>
          </a:p>
        </p:txBody>
      </p:sp>
      <p:sp>
        <p:nvSpPr>
          <p:cNvPr id="70" name="Shape 67"/>
          <p:cNvSpPr/>
          <p:nvPr/>
        </p:nvSpPr>
        <p:spPr>
          <a:xfrm>
            <a:off x="3966210" y="3124676"/>
            <a:ext cx="1211580" cy="417195"/>
          </a:xfrm>
          <a:prstGeom prst="roundRect">
            <a:avLst>
              <a:gd name="adj" fmla="val 5479"/>
            </a:avLst>
          </a:prstGeom>
          <a:solidFill>
            <a:srgbClr val="0F172A">
              <a:alpha val="60000"/>
            </a:srgbClr>
          </a:solidFill>
          <a:ln w="5715">
            <a:solidFill>
              <a:srgbClr val="94A3B8">
                <a:alpha val="15000"/>
              </a:srgbClr>
            </a:solidFill>
            <a:prstDash val="solid"/>
          </a:ln>
        </p:spPr>
      </p:sp>
      <p:sp>
        <p:nvSpPr>
          <p:cNvPr id="71" name="Text 68"/>
          <p:cNvSpPr/>
          <p:nvPr/>
        </p:nvSpPr>
        <p:spPr>
          <a:xfrm>
            <a:off x="4040505" y="3187541"/>
            <a:ext cx="1190549" cy="68580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buNone/>
            </a:pPr>
            <a:r>
              <a:rPr lang="en-US" sz="405" spc="81" kern="0" dirty="0">
                <a:solidFill>
                  <a:srgbClr val="64748B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MESHING RULE</a:t>
            </a:r>
            <a:endParaRPr lang="en-US" sz="405" dirty="0"/>
          </a:p>
        </p:txBody>
      </p:sp>
      <p:sp>
        <p:nvSpPr>
          <p:cNvPr id="72" name="Text 69"/>
          <p:cNvSpPr/>
          <p:nvPr/>
        </p:nvSpPr>
        <p:spPr>
          <a:xfrm>
            <a:off x="4040505" y="3290411"/>
            <a:ext cx="1190549" cy="18859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495" dirty="0">
                <a:solidFill>
                  <a:srgbClr val="E2E8F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在</a:t>
            </a:r>
            <a:pPr algn="l" indent="0" marL="0">
              <a:lnSpc>
                <a:spcPct val="150000"/>
              </a:lnSpc>
              <a:buNone/>
            </a:pPr>
            <a:r>
              <a:rPr lang="en-US" sz="495" b="1" dirty="0">
                <a:solidFill>
                  <a:srgbClr val="00BCD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L1–L4</a:t>
            </a:r>
            <a:pPr algn="l" indent="0" marL="0">
              <a:lnSpc>
                <a:spcPct val="150000"/>
              </a:lnSpc>
              <a:buNone/>
            </a:pPr>
            <a:r>
              <a:rPr lang="en-US" sz="495" dirty="0">
                <a:solidFill>
                  <a:srgbClr val="E2E8F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的哪一层受阻</a:t>
            </a:r>
            <a:pPr algn="l" indent="0" marL="0">
              <a:lnSpc>
                <a:spcPct val="150000"/>
              </a:lnSpc>
              <a:buNone/>
            </a:pPr>
            <a:r>
              <a:rPr lang="en-US" sz="495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×</a:t>
            </a:r>
            <a:pPr algn="l" indent="0" marL="0">
              <a:lnSpc>
                <a:spcPct val="150000"/>
              </a:lnSpc>
              <a:buNone/>
            </a:pPr>
            <a:r>
              <a:rPr lang="en-US" sz="495" dirty="0">
                <a:solidFill>
                  <a:srgbClr val="E2E8F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属</a:t>
            </a:r>
            <a:pPr algn="l" indent="0" marL="0">
              <a:lnSpc>
                <a:spcPct val="150000"/>
              </a:lnSpc>
              <a:buNone/>
            </a:pPr>
            <a:r>
              <a:rPr lang="en-US" sz="495" b="1" dirty="0">
                <a:solidFill>
                  <a:srgbClr val="FF704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慢/快</a:t>
            </a:r>
            <a:pPr algn="l" indent="0" marL="0">
              <a:lnSpc>
                <a:spcPct val="150000"/>
              </a:lnSpc>
              <a:buNone/>
            </a:pPr>
            <a:r>
              <a:rPr lang="en-US" sz="495" dirty="0">
                <a:solidFill>
                  <a:srgbClr val="E2E8F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哪一维</a:t>
            </a:r>
            <a:endParaRPr lang="en-US" sz="495" dirty="0"/>
          </a:p>
        </p:txBody>
      </p:sp>
      <p:sp>
        <p:nvSpPr>
          <p:cNvPr id="73" name="Shape 70"/>
          <p:cNvSpPr/>
          <p:nvPr/>
        </p:nvSpPr>
        <p:spPr>
          <a:xfrm>
            <a:off x="5303520" y="981819"/>
            <a:ext cx="3497580" cy="3217099"/>
          </a:xfrm>
          <a:prstGeom prst="roundRect">
            <a:avLst>
              <a:gd name="adj" fmla="val 1066"/>
            </a:avLst>
          </a:prstGeom>
          <a:gradFill rotWithShape="1">
            <a:gsLst>
              <a:gs pos="0">
                <a:srgbClr val="243447">
                  <a:alpha val="70000"/>
                </a:srgbClr>
              </a:gs>
              <a:gs pos="100000">
                <a:srgbClr val="1E293B">
                  <a:alpha val="50000"/>
                </a:srgbClr>
              </a:gs>
            </a:gsLst>
            <a:lin ang="4200000" scaled="0"/>
          </a:gradFill>
          <a:ln w="5715">
            <a:solidFill>
              <a:srgbClr val="94A3B8">
                <a:alpha val="15000"/>
              </a:srgbClr>
            </a:solidFill>
            <a:prstDash val="solid"/>
          </a:ln>
        </p:spPr>
      </p:sp>
      <p:sp>
        <p:nvSpPr>
          <p:cNvPr id="74" name="Shape 71"/>
          <p:cNvSpPr/>
          <p:nvPr/>
        </p:nvSpPr>
        <p:spPr>
          <a:xfrm>
            <a:off x="5303520" y="981819"/>
            <a:ext cx="17145" cy="3205669"/>
          </a:xfrm>
          <a:prstGeom prst="rect">
            <a:avLst/>
          </a:prstGeom>
          <a:solidFill>
            <a:srgbClr val="FF7043"/>
          </a:solidFill>
          <a:ln/>
        </p:spPr>
      </p:sp>
      <p:sp>
        <p:nvSpPr>
          <p:cNvPr id="75" name="Text 72"/>
          <p:cNvSpPr/>
          <p:nvPr/>
        </p:nvSpPr>
        <p:spPr>
          <a:xfrm>
            <a:off x="5434965" y="1101834"/>
            <a:ext cx="1645006" cy="74295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buNone/>
            </a:pPr>
            <a:r>
              <a:rPr lang="en-US" sz="450" spc="90" kern="0" dirty="0">
                <a:solidFill>
                  <a:srgbClr val="64748B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DIMENSION 02 / TEMPORAL</a:t>
            </a:r>
            <a:endParaRPr lang="en-US" sz="450" dirty="0"/>
          </a:p>
        </p:txBody>
      </p:sp>
      <p:sp>
        <p:nvSpPr>
          <p:cNvPr id="76" name="Text 73"/>
          <p:cNvSpPr/>
          <p:nvPr/>
        </p:nvSpPr>
        <p:spPr>
          <a:xfrm>
            <a:off x="5434965" y="1198989"/>
            <a:ext cx="1645006" cy="142875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buNone/>
            </a:pPr>
            <a:r>
              <a:rPr lang="en-US" sz="765" spc="8" kern="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Roland 2004 时间轴</a:t>
            </a:r>
            <a:endParaRPr lang="en-US" sz="765" dirty="0"/>
          </a:p>
        </p:txBody>
      </p:sp>
      <p:sp>
        <p:nvSpPr>
          <p:cNvPr id="77" name="Text 74"/>
          <p:cNvSpPr/>
          <p:nvPr/>
        </p:nvSpPr>
        <p:spPr>
          <a:xfrm>
            <a:off x="5434965" y="1364724"/>
            <a:ext cx="1645006" cy="91440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buNone/>
            </a:pPr>
            <a:r>
              <a:rPr lang="en-US" sz="495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slow-moving 文化与规范 ↔ fast-moving 政治制度</a:t>
            </a:r>
            <a:endParaRPr lang="en-US" sz="495" dirty="0"/>
          </a:p>
        </p:txBody>
      </p:sp>
      <p:sp>
        <p:nvSpPr>
          <p:cNvPr id="78" name="Shape 75"/>
          <p:cNvSpPr/>
          <p:nvPr/>
        </p:nvSpPr>
        <p:spPr>
          <a:xfrm>
            <a:off x="7871787" y="1101834"/>
            <a:ext cx="797868" cy="120015"/>
          </a:xfrm>
          <a:prstGeom prst="roundRect">
            <a:avLst>
              <a:gd name="adj" fmla="val 9524"/>
            </a:avLst>
          </a:prstGeom>
          <a:solidFill>
            <a:srgbClr val="FF7043">
              <a:alpha val="15000"/>
            </a:srgbClr>
          </a:solidFill>
          <a:ln w="5715">
            <a:solidFill>
              <a:srgbClr val="FF7043">
                <a:alpha val="35000"/>
              </a:srgbClr>
            </a:solidFill>
            <a:prstDash val="solid"/>
          </a:ln>
        </p:spPr>
      </p:sp>
      <p:sp>
        <p:nvSpPr>
          <p:cNvPr id="79" name="Text 76"/>
          <p:cNvSpPr/>
          <p:nvPr/>
        </p:nvSpPr>
        <p:spPr>
          <a:xfrm>
            <a:off x="7871787" y="1101834"/>
            <a:ext cx="893612" cy="120015"/>
          </a:xfrm>
          <a:prstGeom prst="rect">
            <a:avLst/>
          </a:prstGeom>
          <a:noFill/>
          <a:ln/>
        </p:spPr>
        <p:txBody>
          <a:bodyPr wrap="square" lIns="17145" tIns="45720" rIns="45720" bIns="17145" rtlCol="0" anchor="ctr"/>
          <a:lstStyle/>
          <a:p>
            <a:pPr algn="l" indent="0" marL="0">
              <a:buNone/>
            </a:pPr>
            <a:r>
              <a:rPr lang="en-US" sz="405" spc="61" kern="0" dirty="0">
                <a:solidFill>
                  <a:srgbClr val="FF7043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VELOCITY · 为什么受阻</a:t>
            </a:r>
            <a:endParaRPr lang="en-US" sz="405" dirty="0"/>
          </a:p>
        </p:txBody>
      </p:sp>
      <p:sp>
        <p:nvSpPr>
          <p:cNvPr id="80" name="Shape 77"/>
          <p:cNvSpPr/>
          <p:nvPr/>
        </p:nvSpPr>
        <p:spPr>
          <a:xfrm>
            <a:off x="5434965" y="1570464"/>
            <a:ext cx="3234690" cy="365760"/>
          </a:xfrm>
          <a:prstGeom prst="roundRect">
            <a:avLst>
              <a:gd name="adj" fmla="val 6250"/>
            </a:avLst>
          </a:prstGeom>
          <a:gradFill rotWithShape="1">
            <a:gsLst>
              <a:gs pos="0">
                <a:srgbClr val="00BCD4">
                  <a:alpha val="25000"/>
                </a:srgbClr>
              </a:gs>
              <a:gs pos="100000">
                <a:srgbClr val="FF7043">
                  <a:alpha val="25000"/>
                </a:srgbClr>
              </a:gs>
            </a:gsLst>
            <a:lin ang="0" scaled="0"/>
          </a:gradFill>
          <a:ln w="5715">
            <a:solidFill>
              <a:srgbClr val="94A3B8">
                <a:alpha val="15000"/>
              </a:srgbClr>
            </a:solidFill>
            <a:prstDash val="solid"/>
          </a:ln>
        </p:spPr>
      </p:sp>
      <p:sp>
        <p:nvSpPr>
          <p:cNvPr id="81" name="Text 78"/>
          <p:cNvSpPr/>
          <p:nvPr/>
        </p:nvSpPr>
        <p:spPr>
          <a:xfrm>
            <a:off x="5543550" y="1659047"/>
            <a:ext cx="1689811" cy="85725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buNone/>
            </a:pPr>
            <a:r>
              <a:rPr lang="en-US" sz="450" spc="90" kern="0" dirty="0">
                <a:solidFill>
                  <a:srgbClr val="00BCD4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◀ SLOW · 慢变量</a:t>
            </a:r>
            <a:endParaRPr lang="en-US" sz="450" dirty="0"/>
          </a:p>
        </p:txBody>
      </p:sp>
      <p:sp>
        <p:nvSpPr>
          <p:cNvPr id="82" name="Text 79"/>
          <p:cNvSpPr/>
          <p:nvPr/>
        </p:nvSpPr>
        <p:spPr>
          <a:xfrm>
            <a:off x="5543550" y="1756202"/>
            <a:ext cx="1689811" cy="91440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buNone/>
            </a:pPr>
            <a:r>
              <a:rPr lang="en-US" sz="495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文化与规范</a:t>
            </a:r>
            <a:endParaRPr lang="en-US" sz="495" dirty="0"/>
          </a:p>
        </p:txBody>
      </p:sp>
      <p:sp>
        <p:nvSpPr>
          <p:cNvPr id="83" name="Shape 80"/>
          <p:cNvSpPr/>
          <p:nvPr/>
        </p:nvSpPr>
        <p:spPr>
          <a:xfrm>
            <a:off x="6955155" y="1656189"/>
            <a:ext cx="194310" cy="194310"/>
          </a:xfrm>
          <a:prstGeom prst="ellipse">
            <a:avLst/>
          </a:prstGeom>
          <a:solidFill>
            <a:srgbClr val="1E293B"/>
          </a:solidFill>
          <a:ln w="11430">
            <a:solidFill>
              <a:srgbClr val="FFFFFF"/>
            </a:solidFill>
            <a:prstDash val="solid"/>
          </a:ln>
          <a:effectLst>
            <a:outerShdw sx="100000" sy="100000" kx="0" ky="0" algn="bl" rotWithShape="0" blurRad="190500" dist="50800" dir="16200000">
              <a:srgbClr val="FFFFFF">
                <a:alpha val="30000"/>
              </a:srgbClr>
            </a:outerShdw>
          </a:effectLst>
        </p:spPr>
      </p:sp>
      <p:sp>
        <p:nvSpPr>
          <p:cNvPr id="84" name="Text 81"/>
          <p:cNvSpPr/>
          <p:nvPr/>
        </p:nvSpPr>
        <p:spPr>
          <a:xfrm>
            <a:off x="6955155" y="1656189"/>
            <a:ext cx="251460" cy="194310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buNone/>
            </a:pPr>
            <a:r>
              <a:rPr lang="en-US" sz="450" dirty="0">
                <a:solidFill>
                  <a:srgbClr val="FFFF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T</a:t>
            </a:r>
            <a:endParaRPr lang="en-US" sz="450" dirty="0"/>
          </a:p>
        </p:txBody>
      </p:sp>
      <p:sp>
        <p:nvSpPr>
          <p:cNvPr id="85" name="Text 82"/>
          <p:cNvSpPr/>
          <p:nvPr/>
        </p:nvSpPr>
        <p:spPr>
          <a:xfrm>
            <a:off x="7943850" y="1659047"/>
            <a:ext cx="691286" cy="85725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r" indent="0" marL="0">
              <a:buNone/>
            </a:pPr>
            <a:r>
              <a:rPr lang="en-US" sz="450" spc="90" kern="0" dirty="0">
                <a:solidFill>
                  <a:srgbClr val="FF7043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FAST · 快变量 ▶</a:t>
            </a:r>
            <a:endParaRPr lang="en-US" sz="450" dirty="0"/>
          </a:p>
        </p:txBody>
      </p:sp>
      <p:sp>
        <p:nvSpPr>
          <p:cNvPr id="86" name="Text 83"/>
          <p:cNvSpPr/>
          <p:nvPr/>
        </p:nvSpPr>
        <p:spPr>
          <a:xfrm>
            <a:off x="8309610" y="1756202"/>
            <a:ext cx="314325" cy="91440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r" indent="0" marL="0">
              <a:buNone/>
            </a:pPr>
            <a:r>
              <a:rPr lang="en-US" sz="495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政治制度</a:t>
            </a:r>
            <a:endParaRPr lang="en-US" sz="495" dirty="0"/>
          </a:p>
        </p:txBody>
      </p:sp>
      <p:sp>
        <p:nvSpPr>
          <p:cNvPr id="87" name="Shape 84"/>
          <p:cNvSpPr/>
          <p:nvPr/>
        </p:nvSpPr>
        <p:spPr>
          <a:xfrm>
            <a:off x="5434965" y="2016234"/>
            <a:ext cx="1588770" cy="709017"/>
          </a:xfrm>
          <a:prstGeom prst="roundRect">
            <a:avLst>
              <a:gd name="adj" fmla="val 3224"/>
            </a:avLst>
          </a:prstGeom>
          <a:solidFill>
            <a:srgbClr val="0F172A">
              <a:alpha val="50000"/>
            </a:srgbClr>
          </a:solidFill>
          <a:ln w="17145">
            <a:solidFill>
              <a:srgbClr val="00BCD4">
                <a:alpha val="15000"/>
              </a:srgbClr>
            </a:solidFill>
            <a:prstDash val="solid"/>
          </a:ln>
        </p:spPr>
      </p:sp>
      <p:sp>
        <p:nvSpPr>
          <p:cNvPr id="88" name="Shape 85"/>
          <p:cNvSpPr/>
          <p:nvPr/>
        </p:nvSpPr>
        <p:spPr>
          <a:xfrm>
            <a:off x="5532120" y="2104817"/>
            <a:ext cx="45720" cy="45720"/>
          </a:xfrm>
          <a:prstGeom prst="ellipse">
            <a:avLst/>
          </a:prstGeom>
          <a:solidFill>
            <a:srgbClr val="00BCD4"/>
          </a:solidFill>
          <a:ln/>
          <a:effectLst>
            <a:outerShdw sx="100000" sy="100000" kx="0" ky="0" algn="bl" rotWithShape="0" blurRad="76200" dist="50800" dir="16200000">
              <a:srgbClr val="00BCD4">
                <a:alpha val="100000"/>
              </a:srgbClr>
            </a:outerShdw>
          </a:effectLst>
        </p:spPr>
      </p:sp>
      <p:sp>
        <p:nvSpPr>
          <p:cNvPr id="89" name="Text 86"/>
          <p:cNvSpPr/>
          <p:nvPr/>
        </p:nvSpPr>
        <p:spPr>
          <a:xfrm>
            <a:off x="5623560" y="2090529"/>
            <a:ext cx="528638" cy="74295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buNone/>
            </a:pPr>
            <a:r>
              <a:rPr lang="en-US" sz="450" spc="68" kern="0" dirty="0">
                <a:solidFill>
                  <a:srgbClr val="00BCD4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SLOW-MOVING</a:t>
            </a:r>
            <a:endParaRPr lang="en-US" sz="450" dirty="0"/>
          </a:p>
        </p:txBody>
      </p:sp>
      <p:sp>
        <p:nvSpPr>
          <p:cNvPr id="90" name="Text 87"/>
          <p:cNvSpPr/>
          <p:nvPr/>
        </p:nvSpPr>
        <p:spPr>
          <a:xfrm>
            <a:off x="5532120" y="2210544"/>
            <a:ext cx="1476185" cy="44041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marL="342900" indent="-342900">
              <a:buSzPct val="100000"/>
              <a:buChar char="•"/>
            </a:pPr>
            <a:r>
              <a:rPr lang="en-US" sz="518" dirty="0">
                <a:solidFill>
                  <a:srgbClr val="E2E8F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文化价值观 · 社会规范</a:t>
            </a:r>
            <a:endParaRPr lang="en-US" sz="518" dirty="0"/>
          </a:p>
          <a:p>
            <a:pPr algn="l" marL="342900" indent="-342900">
              <a:buSzPct val="100000"/>
              <a:buChar char="•"/>
            </a:pPr>
            <a:r>
              <a:rPr lang="en-US" sz="518" dirty="0">
                <a:solidFill>
                  <a:srgbClr val="E2E8F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非正式约束 · 信任体系</a:t>
            </a:r>
            <a:endParaRPr lang="en-US" sz="518" dirty="0"/>
          </a:p>
          <a:p>
            <a:pPr algn="l" marL="342900" indent="-342900">
              <a:buSzPct val="100000"/>
              <a:buChar char="•"/>
            </a:pPr>
            <a:r>
              <a:rPr lang="en-US" sz="518" dirty="0">
                <a:solidFill>
                  <a:srgbClr val="E2E8F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代际传递 · 百年尺度</a:t>
            </a:r>
            <a:endParaRPr lang="en-US" sz="518" dirty="0"/>
          </a:p>
          <a:p>
            <a:pPr algn="l" marL="342900" indent="-342900">
              <a:buSzPct val="100000"/>
              <a:buChar char="•"/>
            </a:pPr>
            <a:r>
              <a:rPr lang="en-US" sz="518" dirty="0">
                <a:solidFill>
                  <a:srgbClr val="E2E8F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深层路径依赖</a:t>
            </a:r>
            <a:endParaRPr lang="en-US" sz="518" dirty="0"/>
          </a:p>
        </p:txBody>
      </p:sp>
      <p:sp>
        <p:nvSpPr>
          <p:cNvPr id="91" name="Shape 88"/>
          <p:cNvSpPr/>
          <p:nvPr/>
        </p:nvSpPr>
        <p:spPr>
          <a:xfrm>
            <a:off x="7080885" y="2016234"/>
            <a:ext cx="1588770" cy="709017"/>
          </a:xfrm>
          <a:prstGeom prst="roundRect">
            <a:avLst>
              <a:gd name="adj" fmla="val 3224"/>
            </a:avLst>
          </a:prstGeom>
          <a:solidFill>
            <a:srgbClr val="0F172A">
              <a:alpha val="50000"/>
            </a:srgbClr>
          </a:solidFill>
          <a:ln w="17145">
            <a:solidFill>
              <a:srgbClr val="FF7043">
                <a:alpha val="15000"/>
              </a:srgbClr>
            </a:solidFill>
            <a:prstDash val="solid"/>
          </a:ln>
        </p:spPr>
      </p:sp>
      <p:sp>
        <p:nvSpPr>
          <p:cNvPr id="92" name="Shape 89"/>
          <p:cNvSpPr/>
          <p:nvPr/>
        </p:nvSpPr>
        <p:spPr>
          <a:xfrm>
            <a:off x="7178040" y="2104817"/>
            <a:ext cx="45720" cy="45720"/>
          </a:xfrm>
          <a:prstGeom prst="ellipse">
            <a:avLst/>
          </a:prstGeom>
          <a:solidFill>
            <a:srgbClr val="FF7043"/>
          </a:solidFill>
          <a:ln/>
          <a:effectLst>
            <a:outerShdw sx="100000" sy="100000" kx="0" ky="0" algn="bl" rotWithShape="0" blurRad="76200" dist="50800" dir="16200000">
              <a:srgbClr val="FF7043">
                <a:alpha val="100000"/>
              </a:srgbClr>
            </a:outerShdw>
          </a:effectLst>
        </p:spPr>
      </p:sp>
      <p:sp>
        <p:nvSpPr>
          <p:cNvPr id="93" name="Text 90"/>
          <p:cNvSpPr/>
          <p:nvPr/>
        </p:nvSpPr>
        <p:spPr>
          <a:xfrm>
            <a:off x="7269480" y="2090529"/>
            <a:ext cx="528638" cy="74295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buNone/>
            </a:pPr>
            <a:r>
              <a:rPr lang="en-US" sz="450" spc="68" kern="0" dirty="0">
                <a:solidFill>
                  <a:srgbClr val="FF7043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FAST-MOVING</a:t>
            </a:r>
            <a:endParaRPr lang="en-US" sz="450" dirty="0"/>
          </a:p>
        </p:txBody>
      </p:sp>
      <p:sp>
        <p:nvSpPr>
          <p:cNvPr id="94" name="Text 91"/>
          <p:cNvSpPr/>
          <p:nvPr/>
        </p:nvSpPr>
        <p:spPr>
          <a:xfrm>
            <a:off x="7178040" y="2210544"/>
            <a:ext cx="1476185" cy="44041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marL="342900" indent="-342900">
              <a:buSzPct val="100000"/>
              <a:buChar char="•"/>
            </a:pPr>
            <a:r>
              <a:rPr lang="en-US" sz="518" dirty="0">
                <a:solidFill>
                  <a:srgbClr val="E2E8F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政治制度 · 政策工具</a:t>
            </a:r>
            <a:endParaRPr lang="en-US" sz="518" dirty="0"/>
          </a:p>
          <a:p>
            <a:pPr algn="l" marL="342900" indent="-342900">
              <a:buSzPct val="100000"/>
              <a:buChar char="•"/>
            </a:pPr>
            <a:r>
              <a:rPr lang="en-US" sz="518" dirty="0">
                <a:solidFill>
                  <a:srgbClr val="E2E8F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行政法规 · 治理程序</a:t>
            </a:r>
            <a:endParaRPr lang="en-US" sz="518" dirty="0"/>
          </a:p>
          <a:p>
            <a:pPr algn="l" marL="342900" indent="-342900">
              <a:buSzPct val="100000"/>
              <a:buChar char="•"/>
            </a:pPr>
            <a:r>
              <a:rPr lang="en-US" sz="518" dirty="0">
                <a:solidFill>
                  <a:srgbClr val="E2E8F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制度移植 · 可跨越边界</a:t>
            </a:r>
            <a:endParaRPr lang="en-US" sz="518" dirty="0"/>
          </a:p>
          <a:p>
            <a:pPr algn="l" marL="342900" indent="-342900">
              <a:buSzPct val="100000"/>
              <a:buChar char="•"/>
            </a:pPr>
            <a:r>
              <a:rPr lang="en-US" sz="518" dirty="0">
                <a:solidFill>
                  <a:srgbClr val="E2E8F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技术赋能的加速域</a:t>
            </a:r>
            <a:endParaRPr lang="en-US" sz="518" dirty="0"/>
          </a:p>
        </p:txBody>
      </p:sp>
      <p:sp>
        <p:nvSpPr>
          <p:cNvPr id="95" name="Shape 92"/>
          <p:cNvSpPr/>
          <p:nvPr/>
        </p:nvSpPr>
        <p:spPr>
          <a:xfrm>
            <a:off x="5434965" y="2782401"/>
            <a:ext cx="3234690" cy="148590"/>
          </a:xfrm>
          <a:prstGeom prst="rect">
            <a:avLst/>
          </a:prstGeom>
          <a:noFill/>
          <a:ln/>
        </p:spPr>
      </p:sp>
      <p:sp>
        <p:nvSpPr>
          <p:cNvPr id="96" name="Shape 93"/>
          <p:cNvSpPr/>
          <p:nvPr/>
        </p:nvSpPr>
        <p:spPr>
          <a:xfrm>
            <a:off x="5434965" y="2782401"/>
            <a:ext cx="3234690" cy="0"/>
          </a:xfrm>
          <a:prstGeom prst="line">
            <a:avLst/>
          </a:prstGeom>
          <a:noFill/>
          <a:ln w="5715">
            <a:solidFill>
              <a:srgbClr val="FF7043">
                <a:alpha val="25000"/>
              </a:srgbClr>
            </a:solidFill>
            <a:prstDash val="dash"/>
          </a:ln>
        </p:spPr>
      </p:sp>
      <p:sp>
        <p:nvSpPr>
          <p:cNvPr id="97" name="Text 94"/>
          <p:cNvSpPr/>
          <p:nvPr/>
        </p:nvSpPr>
        <p:spPr>
          <a:xfrm>
            <a:off x="5434965" y="2850981"/>
            <a:ext cx="806501" cy="74295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buNone/>
            </a:pPr>
            <a:r>
              <a:rPr lang="en-US" sz="450" spc="45" kern="0" dirty="0">
                <a:solidFill>
                  <a:srgbClr val="64748B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SLOW ← TIME → FAST</a:t>
            </a:r>
            <a:endParaRPr lang="en-US" sz="450" dirty="0"/>
          </a:p>
        </p:txBody>
      </p:sp>
      <p:sp>
        <p:nvSpPr>
          <p:cNvPr id="98" name="Text 95"/>
          <p:cNvSpPr/>
          <p:nvPr/>
        </p:nvSpPr>
        <p:spPr>
          <a:xfrm>
            <a:off x="8172450" y="2845266"/>
            <a:ext cx="556870" cy="85725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buNone/>
            </a:pPr>
            <a:r>
              <a:rPr lang="en-US" sz="450" spc="45" kern="0" dirty="0">
                <a:solidFill>
                  <a:srgbClr val="FF7043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速度差 = 阻塞点</a:t>
            </a:r>
            <a:endParaRPr lang="en-US" sz="450" dirty="0"/>
          </a:p>
        </p:txBody>
      </p:sp>
      <p:sp>
        <p:nvSpPr>
          <p:cNvPr id="99" name="Shape 96"/>
          <p:cNvSpPr/>
          <p:nvPr/>
        </p:nvSpPr>
        <p:spPr>
          <a:xfrm>
            <a:off x="342900" y="4301788"/>
            <a:ext cx="8458200" cy="424517"/>
          </a:xfrm>
          <a:prstGeom prst="roundRect">
            <a:avLst>
              <a:gd name="adj" fmla="val 5385"/>
            </a:avLst>
          </a:prstGeom>
          <a:gradFill rotWithShape="1">
            <a:gsLst>
              <a:gs pos="0">
                <a:srgbClr val="00BCD4">
                  <a:alpha val="8000"/>
                </a:srgbClr>
              </a:gs>
              <a:gs pos="100000">
                <a:srgbClr val="FF7043">
                  <a:alpha val="8000"/>
                </a:srgbClr>
              </a:gs>
            </a:gsLst>
            <a:lin ang="0" scaled="0"/>
          </a:gradFill>
          <a:ln w="5715">
            <a:solidFill>
              <a:srgbClr val="94A3B8">
                <a:alpha val="15000"/>
              </a:srgbClr>
            </a:solidFill>
            <a:prstDash val="solid"/>
          </a:ln>
        </p:spPr>
      </p:sp>
      <p:sp>
        <p:nvSpPr>
          <p:cNvPr id="100" name="Shape 97"/>
          <p:cNvSpPr/>
          <p:nvPr/>
        </p:nvSpPr>
        <p:spPr>
          <a:xfrm>
            <a:off x="342900" y="4301788"/>
            <a:ext cx="17145" cy="413087"/>
          </a:xfrm>
          <a:prstGeom prst="rect">
            <a:avLst/>
          </a:prstGeom>
          <a:gradFill rotWithShape="1">
            <a:gsLst>
              <a:gs pos="0">
                <a:srgbClr val="00BCD4"/>
              </a:gs>
              <a:gs pos="100000">
                <a:srgbClr val="FF7043"/>
              </a:gs>
            </a:gsLst>
            <a:lin ang="5400000" scaled="0"/>
          </a:gradFill>
          <a:ln/>
        </p:spPr>
      </p:sp>
      <p:sp>
        <p:nvSpPr>
          <p:cNvPr id="101" name="Shape 98"/>
          <p:cNvSpPr/>
          <p:nvPr/>
        </p:nvSpPr>
        <p:spPr>
          <a:xfrm>
            <a:off x="474345" y="4399746"/>
            <a:ext cx="228600" cy="228600"/>
          </a:xfrm>
          <a:prstGeom prst="ellipse">
            <a:avLst/>
          </a:prstGeom>
          <a:solidFill>
            <a:srgbClr val="0F172A">
              <a:alpha val="60000"/>
            </a:srgbClr>
          </a:solidFill>
          <a:ln w="5715">
            <a:solidFill>
              <a:srgbClr val="00BCD4">
                <a:alpha val="35000"/>
              </a:srgbClr>
            </a:solidFill>
            <a:prstDash val="solid"/>
          </a:ln>
        </p:spPr>
      </p:sp>
      <p:sp>
        <p:nvSpPr>
          <p:cNvPr id="102" name="Text 99"/>
          <p:cNvSpPr/>
          <p:nvPr/>
        </p:nvSpPr>
        <p:spPr>
          <a:xfrm>
            <a:off x="474345" y="4399746"/>
            <a:ext cx="302895" cy="228600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buNone/>
            </a:pPr>
            <a:r>
              <a:rPr lang="en-US" sz="585" dirty="0">
                <a:solidFill>
                  <a:srgbClr val="00BCD4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×</a:t>
            </a:r>
            <a:endParaRPr lang="en-US" sz="585" dirty="0"/>
          </a:p>
        </p:txBody>
      </p:sp>
      <p:sp>
        <p:nvSpPr>
          <p:cNvPr id="103" name="Text 100"/>
          <p:cNvSpPr/>
          <p:nvPr/>
        </p:nvSpPr>
        <p:spPr>
          <a:xfrm>
            <a:off x="805815" y="4398943"/>
            <a:ext cx="8807501" cy="230207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55000"/>
              </a:lnSpc>
              <a:buNone/>
            </a:pPr>
            <a:r>
              <a:rPr lang="en-US" sz="585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Williamson</a:t>
            </a:r>
            <a:pPr algn="l" indent="0" marL="0">
              <a:lnSpc>
                <a:spcPct val="155000"/>
              </a:lnSpc>
              <a:buNone/>
            </a:pPr>
            <a:r>
              <a:rPr lang="en-US" sz="585" dirty="0">
                <a:solidFill>
                  <a:srgbClr val="E2E8F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的</a:t>
            </a:r>
            <a:pPr algn="l" indent="0" marL="0">
              <a:lnSpc>
                <a:spcPct val="155000"/>
              </a:lnSpc>
              <a:buNone/>
            </a:pPr>
            <a:r>
              <a:rPr lang="en-US" sz="585" b="1" dirty="0">
                <a:solidFill>
                  <a:srgbClr val="00BCD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静态层次</a:t>
            </a:r>
            <a:pPr algn="l" indent="0" marL="0">
              <a:lnSpc>
                <a:spcPct val="155000"/>
              </a:lnSpc>
              <a:buNone/>
            </a:pPr>
            <a:r>
              <a:rPr lang="en-US" sz="585" dirty="0">
                <a:solidFill>
                  <a:srgbClr val="E2E8F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（L1–L4）加上</a:t>
            </a:r>
            <a:pPr algn="l" indent="0" marL="0">
              <a:lnSpc>
                <a:spcPct val="155000"/>
              </a:lnSpc>
              <a:buNone/>
            </a:pPr>
            <a:r>
              <a:rPr lang="en-US" sz="585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Roland</a:t>
            </a:r>
            <a:pPr algn="l" indent="0" marL="0">
              <a:lnSpc>
                <a:spcPct val="155000"/>
              </a:lnSpc>
              <a:buNone/>
            </a:pPr>
            <a:r>
              <a:rPr lang="en-US" sz="585" dirty="0">
                <a:solidFill>
                  <a:srgbClr val="E2E8F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的</a:t>
            </a:r>
            <a:pPr algn="l" indent="0" marL="0">
              <a:lnSpc>
                <a:spcPct val="155000"/>
              </a:lnSpc>
              <a:buNone/>
            </a:pPr>
            <a:r>
              <a:rPr lang="en-US" sz="585" b="1" dirty="0">
                <a:solidFill>
                  <a:srgbClr val="FF704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动态速度</a:t>
            </a:r>
            <a:pPr algn="l" indent="0" marL="0">
              <a:lnSpc>
                <a:spcPct val="155000"/>
              </a:lnSpc>
              <a:buNone/>
            </a:pPr>
            <a:r>
              <a:rPr lang="en-US" sz="585" dirty="0">
                <a:solidFill>
                  <a:srgbClr val="E2E8F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（slow ↔ fast），构成"</a:t>
            </a:r>
            <a:pPr algn="l" indent="0" marL="0">
              <a:lnSpc>
                <a:spcPct val="155000"/>
              </a:lnSpc>
              <a:buNone/>
            </a:pPr>
            <a:r>
              <a:rPr lang="en-US" sz="585" b="1" dirty="0">
                <a:solidFill>
                  <a:srgbClr val="00BCD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层次 × 时间</a:t>
            </a:r>
            <a:pPr algn="l" indent="0" marL="0">
              <a:lnSpc>
                <a:spcPct val="155000"/>
              </a:lnSpc>
              <a:buNone/>
            </a:pPr>
            <a:r>
              <a:rPr lang="en-US" sz="585" dirty="0">
                <a:solidFill>
                  <a:srgbClr val="E2E8F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"的分析矩阵。</a:t>
            </a:r>
            <a:pPr algn="l" indent="0" marL="0">
              <a:lnSpc>
                <a:spcPct val="155000"/>
              </a:lnSpc>
              <a:buNone/>
            </a:pPr>
            <a:r>
              <a:rPr lang="en-US" sz="585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"大分流 2.0"</a:t>
            </a:r>
            <a:pPr algn="l" indent="0" marL="0">
              <a:lnSpc>
                <a:spcPct val="155000"/>
              </a:lnSpc>
              <a:buNone/>
            </a:pPr>
            <a:r>
              <a:rPr lang="en-US" sz="585" dirty="0">
                <a:solidFill>
                  <a:srgbClr val="E2E8F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的核心追问——</a:t>
            </a:r>
            <a:pPr algn="l" indent="0" marL="0">
              <a:lnSpc>
                <a:spcPct val="155000"/>
              </a:lnSpc>
              <a:buNone/>
            </a:pPr>
            <a:r>
              <a:rPr lang="en-US" sz="585" b="1" dirty="0">
                <a:solidFill>
                  <a:srgbClr val="00BCD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中国行政开源</a:t>
            </a:r>
            <a:pPr algn="l" indent="0" marL="0">
              <a:lnSpc>
                <a:spcPct val="155000"/>
              </a:lnSpc>
              <a:buNone/>
            </a:pPr>
            <a:r>
              <a:rPr lang="en-US" sz="585" dirty="0">
                <a:solidFill>
                  <a:srgbClr val="E2E8F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属于</a:t>
            </a:r>
            <a:pPr algn="l" indent="0" marL="0">
              <a:lnSpc>
                <a:spcPct val="155000"/>
              </a:lnSpc>
              <a:buNone/>
            </a:pPr>
            <a:r>
              <a:rPr lang="en-US" sz="585" b="1" dirty="0">
                <a:solidFill>
                  <a:srgbClr val="FF704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fast-moving 移植</a:t>
            </a:r>
            <a:pPr algn="l" indent="0" marL="0">
              <a:lnSpc>
                <a:spcPct val="155000"/>
              </a:lnSpc>
              <a:buNone/>
            </a:pPr>
            <a:r>
              <a:rPr lang="en-US" sz="585" dirty="0">
                <a:solidFill>
                  <a:srgbClr val="E2E8F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、</a:t>
            </a:r>
            <a:pPr algn="l" indent="0" marL="0">
              <a:lnSpc>
                <a:spcPct val="155000"/>
              </a:lnSpc>
              <a:buNone/>
            </a:pPr>
            <a:r>
              <a:rPr lang="en-US" sz="585" b="1" dirty="0">
                <a:solidFill>
                  <a:srgbClr val="00BCD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全球协作文化</a:t>
            </a:r>
            <a:pPr algn="l" indent="0" marL="0">
              <a:lnSpc>
                <a:spcPct val="155000"/>
              </a:lnSpc>
              <a:buNone/>
            </a:pPr>
            <a:r>
              <a:rPr lang="en-US" sz="585" dirty="0">
                <a:solidFill>
                  <a:srgbClr val="E2E8F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属于</a:t>
            </a:r>
            <a:pPr algn="l" indent="0" marL="0">
              <a:lnSpc>
                <a:spcPct val="155000"/>
              </a:lnSpc>
              <a:buNone/>
            </a:pPr>
            <a:r>
              <a:rPr lang="en-US" sz="585" b="1" dirty="0">
                <a:solidFill>
                  <a:srgbClr val="FF704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slow-moving</a:t>
            </a:r>
            <a:pPr algn="l" indent="0" marL="0">
              <a:lnSpc>
                <a:spcPct val="155000"/>
              </a:lnSpc>
              <a:buNone/>
            </a:pPr>
            <a:r>
              <a:rPr lang="en-US" sz="585" dirty="0">
                <a:solidFill>
                  <a:srgbClr val="E2E8F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——正是这个矩阵能回答的：</a:t>
            </a:r>
            <a:pPr algn="l" indent="0" marL="0">
              <a:lnSpc>
                <a:spcPct val="155000"/>
              </a:lnSpc>
              <a:buNone/>
            </a:pPr>
            <a:r>
              <a:rPr lang="en-US" sz="585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卡在哪一层 · 为什么卡</a:t>
            </a:r>
            <a:pPr algn="l" indent="0" marL="0">
              <a:lnSpc>
                <a:spcPct val="155000"/>
              </a:lnSpc>
              <a:buNone/>
            </a:pPr>
            <a:r>
              <a:rPr lang="en-US" sz="585" dirty="0">
                <a:solidFill>
                  <a:srgbClr val="E2E8F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。</a:t>
            </a:r>
            <a:endParaRPr lang="en-US" sz="585" dirty="0"/>
          </a:p>
        </p:txBody>
      </p:sp>
      <p:sp>
        <p:nvSpPr>
          <p:cNvPr id="104" name="Text 101"/>
          <p:cNvSpPr/>
          <p:nvPr/>
        </p:nvSpPr>
        <p:spPr>
          <a:xfrm>
            <a:off x="342900" y="4817745"/>
            <a:ext cx="1707113" cy="74295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buNone/>
            </a:pPr>
            <a:r>
              <a:rPr lang="en-US" sz="405" spc="61" kern="0" dirty="0">
                <a:solidFill>
                  <a:srgbClr val="64748B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THEORY · WILLIAMSON (2000) × ROLAND (2004)</a:t>
            </a:r>
            <a:endParaRPr lang="en-US" sz="405" dirty="0"/>
          </a:p>
        </p:txBody>
      </p:sp>
      <p:sp>
        <p:nvSpPr>
          <p:cNvPr id="105" name="Text 102"/>
          <p:cNvSpPr/>
          <p:nvPr/>
        </p:nvSpPr>
        <p:spPr>
          <a:xfrm>
            <a:off x="7947511" y="4817745"/>
            <a:ext cx="956019" cy="74295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buNone/>
            </a:pPr>
            <a:r>
              <a:rPr lang="en-US" sz="405" spc="61" kern="0" dirty="0">
                <a:solidFill>
                  <a:srgbClr val="64748B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SYNTHESIS · 层次矩阵 v1.0</a:t>
            </a:r>
            <a:endParaRPr lang="en-US" sz="405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1E293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gradFill rotWithShape="1">
            <a:gsLst>
              <a:gs pos="0">
                <a:srgbClr val="1E293B"/>
              </a:gs>
              <a:gs pos="100000">
                <a:srgbClr val="172033"/>
              </a:gs>
            </a:gsLst>
            <a:lin ang="5400000" scaled="0"/>
          </a:gradFill>
          <a:ln/>
        </p:spPr>
      </p:sp>
      <p:sp>
        <p:nvSpPr>
          <p:cNvPr id="3" name="Shape 1"/>
          <p:cNvSpPr/>
          <p:nvPr/>
        </p:nvSpPr>
        <p:spPr>
          <a:xfrm>
            <a:off x="4560570" y="480060"/>
            <a:ext cx="22860" cy="4572000"/>
          </a:xfrm>
          <a:prstGeom prst="rect">
            <a:avLst/>
          </a:prstGeom>
          <a:gradFill rotWithShape="1">
            <a:gsLst>
              <a:gs pos="0">
                <a:srgbClr val="000000">
                  <a:alpha val="0"/>
                </a:srgbClr>
              </a:gs>
              <a:gs pos="6000">
                <a:srgbClr val="94A3B8">
                  <a:alpha val="15000"/>
                </a:srgbClr>
              </a:gs>
              <a:gs pos="16000">
                <a:srgbClr val="94A3B8">
                  <a:alpha val="40000"/>
                </a:srgbClr>
              </a:gs>
              <a:gs pos="50000">
                <a:srgbClr val="94A3B8">
                  <a:alpha val="70000"/>
                </a:srgbClr>
              </a:gs>
              <a:gs pos="84000">
                <a:srgbClr val="94A3B8">
                  <a:alpha val="40000"/>
                </a:srgbClr>
              </a:gs>
              <a:gs pos="94000">
                <a:srgbClr val="94A3B8">
                  <a:alpha val="15000"/>
                </a:srgbClr>
              </a:gs>
              <a:gs pos="100000">
                <a:srgbClr val="000000">
                  <a:alpha val="0"/>
                </a:srgbClr>
              </a:gs>
            </a:gsLst>
            <a:lin ang="5400000" scaled="0"/>
          </a:gradFill>
          <a:ln/>
          <a:effectLst>
            <a:outerShdw sx="100000" sy="100000" kx="0" ky="0" algn="bl" rotWithShape="0" blurRad="171450" dist="50800" dir="16200000">
              <a:srgbClr val="94A3B8">
                <a:alpha val="45000"/>
              </a:srgbClr>
            </a:outerShdw>
          </a:effectLst>
        </p:spPr>
      </p:sp>
      <p:sp>
        <p:nvSpPr>
          <p:cNvPr id="4" name="Text 2"/>
          <p:cNvSpPr/>
          <p:nvPr/>
        </p:nvSpPr>
        <p:spPr>
          <a:xfrm>
            <a:off x="342900" y="204311"/>
            <a:ext cx="2114964" cy="80010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495" spc="168" kern="0" dirty="0">
                <a:solidFill>
                  <a:srgbClr val="00BCD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PAGE 21 · OPEN SOURCE BIFURCATION</a:t>
            </a:r>
            <a:endParaRPr lang="en-US" sz="495" dirty="0"/>
          </a:p>
        </p:txBody>
      </p:sp>
      <p:sp>
        <p:nvSpPr>
          <p:cNvPr id="5" name="Text 3"/>
          <p:cNvSpPr/>
          <p:nvPr/>
        </p:nvSpPr>
        <p:spPr>
          <a:xfrm>
            <a:off x="342900" y="338614"/>
            <a:ext cx="818406" cy="194310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1260" b="1" spc="-25" kern="0" dirty="0">
                <a:solidFill>
                  <a:srgbClr val="E2E8F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行政开源 </a:t>
            </a:r>
            <a:endParaRPr lang="en-US" sz="1260" dirty="0"/>
          </a:p>
        </p:txBody>
      </p:sp>
      <p:sp>
        <p:nvSpPr>
          <p:cNvPr id="6" name="Text 4"/>
          <p:cNvSpPr/>
          <p:nvPr/>
        </p:nvSpPr>
        <p:spPr>
          <a:xfrm>
            <a:off x="1001286" y="338614"/>
            <a:ext cx="384048" cy="194310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1260" b="1" spc="-25" kern="0" dirty="0">
                <a:solidFill>
                  <a:srgbClr val="FF704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vs</a:t>
            </a:r>
            <a:endParaRPr lang="en-US" sz="1260" dirty="0"/>
          </a:p>
        </p:txBody>
      </p:sp>
      <p:sp>
        <p:nvSpPr>
          <p:cNvPr id="7" name="Text 5"/>
          <p:cNvSpPr/>
          <p:nvPr/>
        </p:nvSpPr>
        <p:spPr>
          <a:xfrm>
            <a:off x="1183541" y="338614"/>
            <a:ext cx="1712914" cy="194310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1260" b="1" spc="-25" kern="0" dirty="0">
                <a:solidFill>
                  <a:srgbClr val="E2E8F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自发开源 · 大分流 2.0</a:t>
            </a:r>
            <a:endParaRPr lang="en-US" sz="1260" dirty="0"/>
          </a:p>
        </p:txBody>
      </p:sp>
      <p:sp>
        <p:nvSpPr>
          <p:cNvPr id="8" name="Shape 6"/>
          <p:cNvSpPr/>
          <p:nvPr/>
        </p:nvSpPr>
        <p:spPr>
          <a:xfrm>
            <a:off x="685800" y="1678781"/>
            <a:ext cx="1111389" cy="551498"/>
          </a:xfrm>
          <a:prstGeom prst="rect">
            <a:avLst/>
          </a:prstGeom>
          <a:solidFill>
            <a:srgbClr val="1E293B">
              <a:alpha val="90000"/>
            </a:srgbClr>
          </a:solidFill>
          <a:ln w="5715">
            <a:solidFill>
              <a:srgbClr val="00BCD4"/>
            </a:solidFill>
            <a:prstDash val="solid"/>
          </a:ln>
          <a:effectLst>
            <a:outerShdw sx="100000" sy="100000" kx="0" ky="0" algn="bl" rotWithShape="0" blurRad="228600" dist="76200" dir="16200000">
              <a:srgbClr val="000000">
                <a:alpha val="35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805815" y="1758791"/>
            <a:ext cx="349776" cy="68580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450" b="1" spc="126" kern="0" dirty="0">
                <a:solidFill>
                  <a:srgbClr val="00BCD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行政开源</a:t>
            </a:r>
            <a:endParaRPr lang="en-US" sz="450" dirty="0"/>
          </a:p>
        </p:txBody>
      </p:sp>
      <p:sp>
        <p:nvSpPr>
          <p:cNvPr id="10" name="Text 8"/>
          <p:cNvSpPr/>
          <p:nvPr/>
        </p:nvSpPr>
        <p:spPr>
          <a:xfrm>
            <a:off x="805815" y="1867376"/>
            <a:ext cx="997089" cy="148590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990" b="1" spc="-10" kern="0" dirty="0">
                <a:solidFill>
                  <a:srgbClr val="00BCD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自上而下的秩序</a:t>
            </a:r>
            <a:endParaRPr lang="en-US" sz="990" dirty="0"/>
          </a:p>
        </p:txBody>
      </p:sp>
      <p:sp>
        <p:nvSpPr>
          <p:cNvPr id="11" name="Text 9"/>
          <p:cNvSpPr/>
          <p:nvPr/>
        </p:nvSpPr>
        <p:spPr>
          <a:xfrm>
            <a:off x="805815" y="2067401"/>
            <a:ext cx="819302" cy="80010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495" spc="25" kern="0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Top-down · Regulated</a:t>
            </a:r>
            <a:endParaRPr lang="en-US" sz="495" dirty="0"/>
          </a:p>
        </p:txBody>
      </p:sp>
      <p:pic>
        <p:nvPicPr>
          <p:cNvPr id="12" name="Image 0" descr="/home/lee/developing/markdown-to-slides/agentcon-2026-hermes-evolution/images/page_021_hero.png">    </p:cNvPr>
          <p:cNvPicPr>
            <a:picLocks noChangeAspect="1"/>
          </p:cNvPicPr>
          <p:nvPr/>
        </p:nvPicPr>
        <p:blipFill>
          <a:blip r:embed="rId1"/>
          <a:srcRect l="0" r="0" t="-132" b="-132"/>
          <a:stretch/>
        </p:blipFill>
        <p:spPr>
          <a:xfrm>
            <a:off x="2223135" y="640080"/>
            <a:ext cx="4697730" cy="2628900"/>
          </a:xfrm>
          <a:prstGeom prst="rect">
            <a:avLst/>
          </a:prstGeom>
        </p:spPr>
      </p:pic>
      <p:sp>
        <p:nvSpPr>
          <p:cNvPr id="13" name="Shape 10"/>
          <p:cNvSpPr/>
          <p:nvPr/>
        </p:nvSpPr>
        <p:spPr>
          <a:xfrm>
            <a:off x="7346811" y="1678781"/>
            <a:ext cx="1111389" cy="551498"/>
          </a:xfrm>
          <a:prstGeom prst="rect">
            <a:avLst/>
          </a:prstGeom>
          <a:solidFill>
            <a:srgbClr val="1E293B">
              <a:alpha val="90000"/>
            </a:srgbClr>
          </a:solidFill>
          <a:ln w="5715">
            <a:solidFill>
              <a:srgbClr val="FF7043"/>
            </a:solidFill>
            <a:prstDash val="solid"/>
          </a:ln>
          <a:effectLst>
            <a:outerShdw sx="100000" sy="100000" kx="0" ky="0" algn="bl" rotWithShape="0" blurRad="228600" dist="76200" dir="16200000">
              <a:srgbClr val="000000">
                <a:alpha val="35000"/>
              </a:srgbClr>
            </a:outerShdw>
          </a:effectLst>
        </p:spPr>
      </p:sp>
      <p:sp>
        <p:nvSpPr>
          <p:cNvPr id="14" name="Text 11"/>
          <p:cNvSpPr/>
          <p:nvPr/>
        </p:nvSpPr>
        <p:spPr>
          <a:xfrm>
            <a:off x="7466826" y="1758791"/>
            <a:ext cx="349776" cy="68580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450" b="1" spc="126" kern="0" dirty="0">
                <a:solidFill>
                  <a:srgbClr val="FF704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自发开源</a:t>
            </a:r>
            <a:endParaRPr lang="en-US" sz="450" dirty="0"/>
          </a:p>
        </p:txBody>
      </p:sp>
      <p:sp>
        <p:nvSpPr>
          <p:cNvPr id="15" name="Text 12"/>
          <p:cNvSpPr/>
          <p:nvPr/>
        </p:nvSpPr>
        <p:spPr>
          <a:xfrm>
            <a:off x="7466826" y="1867376"/>
            <a:ext cx="997089" cy="148590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990" b="1" spc="-10" kern="0" dirty="0">
                <a:solidFill>
                  <a:srgbClr val="FF704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自下而上的涌现</a:t>
            </a:r>
            <a:endParaRPr lang="en-US" sz="990" dirty="0"/>
          </a:p>
        </p:txBody>
      </p:sp>
      <p:sp>
        <p:nvSpPr>
          <p:cNvPr id="16" name="Text 13"/>
          <p:cNvSpPr/>
          <p:nvPr/>
        </p:nvSpPr>
        <p:spPr>
          <a:xfrm>
            <a:off x="7466826" y="2067401"/>
            <a:ext cx="825703" cy="80010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495" spc="25" kern="0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Bottom-up · Emergent</a:t>
            </a:r>
            <a:endParaRPr lang="en-US" sz="495" dirty="0"/>
          </a:p>
        </p:txBody>
      </p:sp>
      <p:sp>
        <p:nvSpPr>
          <p:cNvPr id="17" name="Shape 14"/>
          <p:cNvSpPr/>
          <p:nvPr/>
        </p:nvSpPr>
        <p:spPr>
          <a:xfrm>
            <a:off x="342900" y="3977640"/>
            <a:ext cx="2028825" cy="742950"/>
          </a:xfrm>
          <a:prstGeom prst="rect">
            <a:avLst/>
          </a:prstGeom>
          <a:gradFill rotWithShape="1">
            <a:gsLst>
              <a:gs pos="0">
                <a:srgbClr val="1E293B">
                  <a:alpha val="60000"/>
                </a:srgbClr>
              </a:gs>
              <a:gs pos="100000">
                <a:srgbClr val="0F172A">
                  <a:alpha val="85000"/>
                </a:srgbClr>
              </a:gs>
            </a:gsLst>
            <a:lin ang="5400000" scaled="0"/>
          </a:gradFill>
          <a:ln w="17145">
            <a:solidFill>
              <a:srgbClr val="00BCD4">
                <a:alpha val="15000"/>
              </a:srgbClr>
            </a:solidFill>
            <a:prstDash val="solid"/>
          </a:ln>
        </p:spPr>
      </p:sp>
      <p:sp>
        <p:nvSpPr>
          <p:cNvPr id="18" name="Shape 15"/>
          <p:cNvSpPr/>
          <p:nvPr/>
        </p:nvSpPr>
        <p:spPr>
          <a:xfrm>
            <a:off x="451485" y="4069080"/>
            <a:ext cx="125730" cy="125730"/>
          </a:xfrm>
          <a:prstGeom prst="roundRect">
            <a:avLst>
              <a:gd name="adj" fmla="val 18182"/>
            </a:avLst>
          </a:prstGeom>
          <a:solidFill>
            <a:srgbClr val="00BCD4">
              <a:alpha val="18000"/>
            </a:srgbClr>
          </a:solidFill>
          <a:ln w="5715">
            <a:solidFill>
              <a:srgbClr val="00BCD4">
                <a:alpha val="45000"/>
              </a:srgbClr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477649" y="4084796"/>
            <a:ext cx="150876" cy="94298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495" b="1" spc="-4" kern="0" dirty="0">
                <a:solidFill>
                  <a:srgbClr val="00BCD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01</a:t>
            </a:r>
            <a:endParaRPr lang="en-US" sz="495" dirty="0"/>
          </a:p>
        </p:txBody>
      </p:sp>
      <p:sp>
        <p:nvSpPr>
          <p:cNvPr id="20" name="Text 17"/>
          <p:cNvSpPr/>
          <p:nvPr/>
        </p:nvSpPr>
        <p:spPr>
          <a:xfrm>
            <a:off x="634365" y="4074795"/>
            <a:ext cx="634633" cy="114300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720" b="1" spc="-7" kern="0" dirty="0">
                <a:solidFill>
                  <a:srgbClr val="00BCD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中国行政开源</a:t>
            </a:r>
            <a:endParaRPr lang="en-US" sz="720" dirty="0"/>
          </a:p>
        </p:txBody>
      </p:sp>
      <p:sp>
        <p:nvSpPr>
          <p:cNvPr id="21" name="Text 18"/>
          <p:cNvSpPr/>
          <p:nvPr/>
        </p:nvSpPr>
        <p:spPr>
          <a:xfrm>
            <a:off x="451485" y="4269105"/>
            <a:ext cx="1914239" cy="50399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marL="342900" indent="-342900">
              <a:buSzPct val="100000"/>
              <a:buChar char="•"/>
            </a:pPr>
            <a:r>
              <a:rPr lang="en-US" sz="585" dirty="0">
                <a:solidFill>
                  <a:srgbClr val="E2E8F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AtomGit / MirrorZ 平台</a:t>
            </a:r>
            <a:endParaRPr lang="en-US" sz="585" dirty="0"/>
          </a:p>
          <a:p>
            <a:pPr algn="l" marL="342900" indent="-342900">
              <a:buSzPct val="100000"/>
              <a:buChar char="•"/>
            </a:pPr>
            <a:r>
              <a:rPr lang="en-US" sz="585" dirty="0">
                <a:solidFill>
                  <a:srgbClr val="E2E8F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中文开源社区</a:t>
            </a:r>
            <a:endParaRPr lang="en-US" sz="585" dirty="0"/>
          </a:p>
          <a:p>
            <a:pPr algn="l" marL="342900" indent="-342900">
              <a:buSzPct val="100000"/>
              <a:buChar char="•"/>
            </a:pPr>
            <a:r>
              <a:rPr lang="en-US" sz="585" dirty="0">
                <a:solidFill>
                  <a:srgbClr val="E2E8F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信通院标准</a:t>
            </a:r>
            <a:endParaRPr lang="en-US" sz="585" dirty="0"/>
          </a:p>
          <a:p>
            <a:pPr algn="l" marL="342900" indent="-342900">
              <a:buSzPct val="100000"/>
              <a:buChar char="•"/>
            </a:pPr>
            <a:r>
              <a:rPr lang="en-US" sz="585" dirty="0">
                <a:solidFill>
                  <a:srgbClr val="E2E8F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官方治理 · 政策驱动</a:t>
            </a:r>
            <a:endParaRPr lang="en-US" sz="585" dirty="0"/>
          </a:p>
        </p:txBody>
      </p:sp>
      <p:sp>
        <p:nvSpPr>
          <p:cNvPr id="22" name="Shape 19"/>
          <p:cNvSpPr/>
          <p:nvPr/>
        </p:nvSpPr>
        <p:spPr>
          <a:xfrm>
            <a:off x="2486025" y="3977640"/>
            <a:ext cx="2028825" cy="742950"/>
          </a:xfrm>
          <a:prstGeom prst="rect">
            <a:avLst/>
          </a:prstGeom>
          <a:gradFill rotWithShape="1">
            <a:gsLst>
              <a:gs pos="0">
                <a:srgbClr val="1E293B">
                  <a:alpha val="60000"/>
                </a:srgbClr>
              </a:gs>
              <a:gs pos="100000">
                <a:srgbClr val="0F172A">
                  <a:alpha val="85000"/>
                </a:srgbClr>
              </a:gs>
            </a:gsLst>
            <a:lin ang="5400000" scaled="0"/>
          </a:gradFill>
          <a:ln w="17145">
            <a:solidFill>
              <a:srgbClr val="FF7043">
                <a:alpha val="15000"/>
              </a:srgbClr>
            </a:solidFill>
            <a:prstDash val="solid"/>
          </a:ln>
        </p:spPr>
      </p:sp>
      <p:sp>
        <p:nvSpPr>
          <p:cNvPr id="23" name="Shape 20"/>
          <p:cNvSpPr/>
          <p:nvPr/>
        </p:nvSpPr>
        <p:spPr>
          <a:xfrm>
            <a:off x="2594610" y="4069080"/>
            <a:ext cx="125730" cy="125730"/>
          </a:xfrm>
          <a:prstGeom prst="roundRect">
            <a:avLst>
              <a:gd name="adj" fmla="val 18182"/>
            </a:avLst>
          </a:prstGeom>
          <a:solidFill>
            <a:srgbClr val="FF7043">
              <a:alpha val="18000"/>
            </a:srgbClr>
          </a:solidFill>
          <a:ln w="5715">
            <a:solidFill>
              <a:srgbClr val="FF7043">
                <a:alpha val="45000"/>
              </a:srgbClr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2615059" y="4084796"/>
            <a:ext cx="150876" cy="94298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495" b="1" spc="-4" kern="0" dirty="0">
                <a:solidFill>
                  <a:srgbClr val="FF704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02</a:t>
            </a:r>
            <a:endParaRPr lang="en-US" sz="495" dirty="0"/>
          </a:p>
        </p:txBody>
      </p:sp>
      <p:sp>
        <p:nvSpPr>
          <p:cNvPr id="25" name="Text 22"/>
          <p:cNvSpPr/>
          <p:nvPr/>
        </p:nvSpPr>
        <p:spPr>
          <a:xfrm>
            <a:off x="2777490" y="4074795"/>
            <a:ext cx="634633" cy="114300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720" b="1" spc="-7" kern="0" dirty="0">
                <a:solidFill>
                  <a:srgbClr val="FF704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全球自发开源</a:t>
            </a:r>
            <a:endParaRPr lang="en-US" sz="720" dirty="0"/>
          </a:p>
        </p:txBody>
      </p:sp>
      <p:sp>
        <p:nvSpPr>
          <p:cNvPr id="26" name="Text 23"/>
          <p:cNvSpPr/>
          <p:nvPr/>
        </p:nvSpPr>
        <p:spPr>
          <a:xfrm>
            <a:off x="2594610" y="4269105"/>
            <a:ext cx="1914239" cy="50399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marL="342900" indent="-342900">
              <a:buSzPct val="100000"/>
              <a:buChar char="•"/>
            </a:pPr>
            <a:r>
              <a:rPr lang="en-US" sz="585" dirty="0">
                <a:solidFill>
                  <a:srgbClr val="E2E8F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GitHub · Docker Hub</a:t>
            </a:r>
            <a:endParaRPr lang="en-US" sz="585" dirty="0"/>
          </a:p>
          <a:p>
            <a:pPr algn="l" marL="342900" indent="-342900">
              <a:buSzPct val="100000"/>
              <a:buChar char="•"/>
            </a:pPr>
            <a:r>
              <a:rPr lang="en-US" sz="585" dirty="0">
                <a:solidFill>
                  <a:srgbClr val="E2E8F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Linux Foundation / OpenSSF</a:t>
            </a:r>
            <a:endParaRPr lang="en-US" sz="585" dirty="0"/>
          </a:p>
          <a:p>
            <a:pPr algn="l" marL="342900" indent="-342900">
              <a:buSzPct val="100000"/>
              <a:buChar char="•"/>
            </a:pPr>
            <a:r>
              <a:rPr lang="en-US" sz="585" dirty="0">
                <a:solidFill>
                  <a:srgbClr val="E2E8F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FLOSS 协议生态</a:t>
            </a:r>
            <a:endParaRPr lang="en-US" sz="585" dirty="0"/>
          </a:p>
          <a:p>
            <a:pPr algn="l" marL="342900" indent="-342900">
              <a:buSzPct val="100000"/>
              <a:buChar char="•"/>
            </a:pPr>
            <a:r>
              <a:rPr lang="en-US" sz="585" dirty="0">
                <a:solidFill>
                  <a:srgbClr val="E2E8F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分布式 · 草根涌现</a:t>
            </a:r>
            <a:endParaRPr lang="en-US" sz="585" dirty="0"/>
          </a:p>
        </p:txBody>
      </p:sp>
      <p:sp>
        <p:nvSpPr>
          <p:cNvPr id="27" name="Shape 24"/>
          <p:cNvSpPr/>
          <p:nvPr/>
        </p:nvSpPr>
        <p:spPr>
          <a:xfrm>
            <a:off x="4629150" y="3977640"/>
            <a:ext cx="2028825" cy="742950"/>
          </a:xfrm>
          <a:prstGeom prst="rect">
            <a:avLst/>
          </a:prstGeom>
          <a:gradFill rotWithShape="1">
            <a:gsLst>
              <a:gs pos="0">
                <a:srgbClr val="1E293B">
                  <a:alpha val="60000"/>
                </a:srgbClr>
              </a:gs>
              <a:gs pos="100000">
                <a:srgbClr val="0F172A">
                  <a:alpha val="85000"/>
                </a:srgbClr>
              </a:gs>
            </a:gsLst>
            <a:lin ang="5400000" scaled="0"/>
          </a:gradFill>
          <a:ln w="17145">
            <a:solidFill>
              <a:srgbClr val="00BCD4">
                <a:alpha val="15000"/>
              </a:srgbClr>
            </a:solidFill>
            <a:prstDash val="solid"/>
          </a:ln>
        </p:spPr>
      </p:sp>
      <p:sp>
        <p:nvSpPr>
          <p:cNvPr id="28" name="Shape 25"/>
          <p:cNvSpPr/>
          <p:nvPr/>
        </p:nvSpPr>
        <p:spPr>
          <a:xfrm>
            <a:off x="4737735" y="4069080"/>
            <a:ext cx="125730" cy="125730"/>
          </a:xfrm>
          <a:prstGeom prst="roundRect">
            <a:avLst>
              <a:gd name="adj" fmla="val 18182"/>
            </a:avLst>
          </a:prstGeom>
          <a:solidFill>
            <a:srgbClr val="00BCD4">
              <a:alpha val="18000"/>
            </a:srgbClr>
          </a:solidFill>
          <a:ln w="5715">
            <a:solidFill>
              <a:srgbClr val="00BCD4">
                <a:alpha val="45000"/>
              </a:srgbClr>
            </a:solidFill>
            <a:prstDash val="solid"/>
          </a:ln>
        </p:spPr>
      </p:sp>
      <p:sp>
        <p:nvSpPr>
          <p:cNvPr id="29" name="Text 26"/>
          <p:cNvSpPr/>
          <p:nvPr/>
        </p:nvSpPr>
        <p:spPr>
          <a:xfrm>
            <a:off x="4758184" y="4084796"/>
            <a:ext cx="150876" cy="94298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495" b="1" spc="-4" kern="0" dirty="0">
                <a:solidFill>
                  <a:srgbClr val="00BCD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03</a:t>
            </a:r>
            <a:endParaRPr lang="en-US" sz="495" dirty="0"/>
          </a:p>
        </p:txBody>
      </p:sp>
      <p:sp>
        <p:nvSpPr>
          <p:cNvPr id="30" name="Text 27"/>
          <p:cNvSpPr/>
          <p:nvPr/>
        </p:nvSpPr>
        <p:spPr>
          <a:xfrm>
            <a:off x="4920615" y="4074795"/>
            <a:ext cx="733842" cy="114300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720" b="1" spc="-7" kern="0" dirty="0">
                <a:solidFill>
                  <a:srgbClr val="00BCD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大分流 2.0 核心</a:t>
            </a:r>
            <a:endParaRPr lang="en-US" sz="720" dirty="0"/>
          </a:p>
        </p:txBody>
      </p:sp>
      <p:sp>
        <p:nvSpPr>
          <p:cNvPr id="31" name="Text 28"/>
          <p:cNvSpPr/>
          <p:nvPr/>
        </p:nvSpPr>
        <p:spPr>
          <a:xfrm>
            <a:off x="4737735" y="4269105"/>
            <a:ext cx="1914239" cy="50399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marL="342900" indent="-342900">
              <a:buSzPct val="100000"/>
              <a:buChar char="•"/>
            </a:pPr>
            <a:r>
              <a:rPr lang="en-US" sz="585" dirty="0">
                <a:solidFill>
                  <a:srgbClr val="E2E8F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真开源 = FLOSS 公地</a:t>
            </a:r>
            <a:endParaRPr lang="en-US" sz="585" dirty="0"/>
          </a:p>
          <a:p>
            <a:pPr algn="l" marL="342900" indent="-342900">
              <a:buSzPct val="100000"/>
              <a:buChar char="•"/>
            </a:pPr>
            <a:r>
              <a:rPr lang="en-US" sz="585" dirty="0">
                <a:solidFill>
                  <a:srgbClr val="E2E8F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伪开源 = 特许工程代码</a:t>
            </a:r>
            <a:endParaRPr lang="en-US" sz="585" dirty="0"/>
          </a:p>
          <a:p>
            <a:pPr algn="l" marL="342900" indent="-342900">
              <a:buSzPct val="100000"/>
              <a:buChar char="•"/>
            </a:pPr>
            <a:r>
              <a:rPr lang="en-US" sz="585" dirty="0">
                <a:solidFill>
                  <a:srgbClr val="E2E8F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局域网共享 · 赛博庄园</a:t>
            </a:r>
            <a:endParaRPr lang="en-US" sz="585" dirty="0"/>
          </a:p>
          <a:p>
            <a:pPr algn="l" marL="342900" indent="-342900">
              <a:buSzPct val="100000"/>
              <a:buChar char="•"/>
            </a:pPr>
            <a:r>
              <a:rPr lang="en-US" sz="585" dirty="0">
                <a:solidFill>
                  <a:srgbClr val="E2E8F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本质是特权的另一种包装</a:t>
            </a:r>
            <a:endParaRPr lang="en-US" sz="585" dirty="0"/>
          </a:p>
        </p:txBody>
      </p:sp>
      <p:sp>
        <p:nvSpPr>
          <p:cNvPr id="32" name="Shape 29"/>
          <p:cNvSpPr/>
          <p:nvPr/>
        </p:nvSpPr>
        <p:spPr>
          <a:xfrm>
            <a:off x="6772275" y="3977640"/>
            <a:ext cx="2028825" cy="742950"/>
          </a:xfrm>
          <a:prstGeom prst="rect">
            <a:avLst/>
          </a:prstGeom>
          <a:gradFill rotWithShape="1">
            <a:gsLst>
              <a:gs pos="0">
                <a:srgbClr val="1E293B">
                  <a:alpha val="60000"/>
                </a:srgbClr>
              </a:gs>
              <a:gs pos="100000">
                <a:srgbClr val="0F172A">
                  <a:alpha val="85000"/>
                </a:srgbClr>
              </a:gs>
            </a:gsLst>
            <a:lin ang="5400000" scaled="0"/>
          </a:gradFill>
          <a:ln w="17145">
            <a:solidFill>
              <a:srgbClr val="FF7043">
                <a:alpha val="15000"/>
              </a:srgbClr>
            </a:solidFill>
            <a:prstDash val="solid"/>
          </a:ln>
        </p:spPr>
      </p:sp>
      <p:sp>
        <p:nvSpPr>
          <p:cNvPr id="33" name="Shape 30"/>
          <p:cNvSpPr/>
          <p:nvPr/>
        </p:nvSpPr>
        <p:spPr>
          <a:xfrm>
            <a:off x="6880860" y="4069080"/>
            <a:ext cx="125730" cy="125730"/>
          </a:xfrm>
          <a:prstGeom prst="roundRect">
            <a:avLst>
              <a:gd name="adj" fmla="val 18182"/>
            </a:avLst>
          </a:prstGeom>
          <a:solidFill>
            <a:srgbClr val="FF7043">
              <a:alpha val="18000"/>
            </a:srgbClr>
          </a:solidFill>
          <a:ln w="5715">
            <a:solidFill>
              <a:srgbClr val="FF7043">
                <a:alpha val="45000"/>
              </a:srgbClr>
            </a:solidFill>
            <a:prstDash val="solid"/>
          </a:ln>
        </p:spPr>
      </p:sp>
      <p:sp>
        <p:nvSpPr>
          <p:cNvPr id="34" name="Text 31"/>
          <p:cNvSpPr/>
          <p:nvPr/>
        </p:nvSpPr>
        <p:spPr>
          <a:xfrm>
            <a:off x="6898451" y="4084796"/>
            <a:ext cx="153412" cy="94298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495" b="1" spc="-4" kern="0" dirty="0">
                <a:solidFill>
                  <a:srgbClr val="FF704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04</a:t>
            </a:r>
            <a:endParaRPr lang="en-US" sz="495" dirty="0"/>
          </a:p>
        </p:txBody>
      </p:sp>
      <p:sp>
        <p:nvSpPr>
          <p:cNvPr id="35" name="Text 32"/>
          <p:cNvSpPr/>
          <p:nvPr/>
        </p:nvSpPr>
        <p:spPr>
          <a:xfrm>
            <a:off x="7063740" y="4074795"/>
            <a:ext cx="453628" cy="114300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720" b="1" spc="-7" kern="0" dirty="0">
                <a:solidFill>
                  <a:srgbClr val="FF704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制度含义</a:t>
            </a:r>
            <a:endParaRPr lang="en-US" sz="720" dirty="0"/>
          </a:p>
        </p:txBody>
      </p:sp>
      <p:sp>
        <p:nvSpPr>
          <p:cNvPr id="36" name="Text 33"/>
          <p:cNvSpPr/>
          <p:nvPr/>
        </p:nvSpPr>
        <p:spPr>
          <a:xfrm>
            <a:off x="6880860" y="4269105"/>
            <a:ext cx="1914239" cy="50399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marL="342900" indent="-342900">
              <a:buSzPct val="100000"/>
              <a:buChar char="•"/>
            </a:pPr>
            <a:r>
              <a:rPr lang="en-US" sz="585" dirty="0">
                <a:solidFill>
                  <a:srgbClr val="E2E8F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fast-moving 层 · 可行政改变</a:t>
            </a:r>
            <a:endParaRPr lang="en-US" sz="585" dirty="0"/>
          </a:p>
          <a:p>
            <a:pPr algn="l" marL="342900" indent="-342900">
              <a:buSzPct val="100000"/>
              <a:buChar char="•"/>
            </a:pPr>
            <a:r>
              <a:rPr lang="en-US" sz="585" dirty="0">
                <a:solidFill>
                  <a:srgbClr val="E2E8F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slow-moving 层 · 协作信任未建</a:t>
            </a:r>
            <a:endParaRPr lang="en-US" sz="585" dirty="0"/>
          </a:p>
          <a:p>
            <a:pPr algn="l" marL="342900" indent="-342900">
              <a:buSzPct val="100000"/>
              <a:buChar char="•"/>
            </a:pPr>
            <a:r>
              <a:rPr lang="en-US" sz="585" dirty="0">
                <a:solidFill>
                  <a:srgbClr val="E2E8F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无法一夜改变</a:t>
            </a:r>
            <a:endParaRPr lang="en-US" sz="585" dirty="0"/>
          </a:p>
          <a:p>
            <a:pPr algn="l" marL="342900" indent="-342900">
              <a:buSzPct val="100000"/>
              <a:buChar char="•"/>
            </a:pPr>
            <a:r>
              <a:rPr lang="en-US" sz="585" dirty="0">
                <a:solidFill>
                  <a:srgbClr val="E2E8F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需几代人演化</a:t>
            </a:r>
            <a:endParaRPr lang="en-US" sz="585" dirty="0"/>
          </a:p>
        </p:txBody>
      </p:sp>
      <p:sp>
        <p:nvSpPr>
          <p:cNvPr id="37" name="Shape 34"/>
          <p:cNvSpPr/>
          <p:nvPr/>
        </p:nvSpPr>
        <p:spPr>
          <a:xfrm>
            <a:off x="342900" y="4583430"/>
            <a:ext cx="8458200" cy="331470"/>
          </a:xfrm>
          <a:prstGeom prst="rect">
            <a:avLst/>
          </a:prstGeom>
          <a:noFill/>
          <a:ln/>
        </p:spPr>
      </p:sp>
      <p:sp>
        <p:nvSpPr>
          <p:cNvPr id="38" name="Shape 35"/>
          <p:cNvSpPr/>
          <p:nvPr/>
        </p:nvSpPr>
        <p:spPr>
          <a:xfrm>
            <a:off x="342900" y="4583430"/>
            <a:ext cx="8458200" cy="0"/>
          </a:xfrm>
          <a:prstGeom prst="line">
            <a:avLst/>
          </a:prstGeom>
          <a:noFill/>
          <a:ln w="5715">
            <a:solidFill>
              <a:srgbClr val="94A3B8">
                <a:alpha val="20000"/>
              </a:srgbClr>
            </a:solidFill>
            <a:prstDash val="solid"/>
          </a:ln>
        </p:spPr>
      </p:sp>
      <p:sp>
        <p:nvSpPr>
          <p:cNvPr id="39" name="Shape 36"/>
          <p:cNvSpPr/>
          <p:nvPr/>
        </p:nvSpPr>
        <p:spPr>
          <a:xfrm rot="2700000">
            <a:off x="342900" y="4769168"/>
            <a:ext cx="45720" cy="45720"/>
          </a:xfrm>
          <a:prstGeom prst="rect">
            <a:avLst/>
          </a:prstGeom>
          <a:solidFill>
            <a:srgbClr val="00BCD4"/>
          </a:solidFill>
          <a:ln/>
          <a:effectLst>
            <a:outerShdw sx="100000" sy="100000" kx="0" ky="0" algn="bl" rotWithShape="0" blurRad="95250" dist="50800" dir="16200000">
              <a:srgbClr val="00BCD4">
                <a:alpha val="80000"/>
              </a:srgbClr>
            </a:outerShdw>
          </a:effectLst>
        </p:spPr>
      </p:sp>
      <p:sp>
        <p:nvSpPr>
          <p:cNvPr id="40" name="Text 37"/>
          <p:cNvSpPr/>
          <p:nvPr/>
        </p:nvSpPr>
        <p:spPr>
          <a:xfrm>
            <a:off x="468630" y="4745861"/>
            <a:ext cx="6626028" cy="91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55000"/>
              </a:lnSpc>
              <a:buNone/>
            </a:pPr>
            <a:r>
              <a:rPr lang="en-US" sz="585" spc="3" kern="0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中国"行政开源"与全球"自发开源"的分野——</a:t>
            </a:r>
            <a:pPr algn="l" indent="0" marL="0">
              <a:lnSpc>
                <a:spcPct val="155000"/>
              </a:lnSpc>
              <a:buNone/>
            </a:pPr>
            <a:r>
              <a:rPr lang="en-US" sz="585" b="1" spc="3" kern="0" dirty="0">
                <a:solidFill>
                  <a:srgbClr val="00BCD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真开源</a:t>
            </a:r>
            <a:pPr algn="l" indent="0" marL="0">
              <a:lnSpc>
                <a:spcPct val="155000"/>
              </a:lnSpc>
              <a:buNone/>
            </a:pPr>
            <a:r>
              <a:rPr lang="en-US" sz="585" spc="3" kern="0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是公地开源，</a:t>
            </a:r>
            <a:pPr algn="l" indent="0" marL="0">
              <a:lnSpc>
                <a:spcPct val="155000"/>
              </a:lnSpc>
              <a:buNone/>
            </a:pPr>
            <a:r>
              <a:rPr lang="en-US" sz="585" b="1" spc="3" kern="0" dirty="0">
                <a:solidFill>
                  <a:srgbClr val="FF704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伪开源</a:t>
            </a:r>
            <a:pPr algn="l" indent="0" marL="0">
              <a:lnSpc>
                <a:spcPct val="155000"/>
              </a:lnSpc>
              <a:buNone/>
            </a:pPr>
            <a:r>
              <a:rPr lang="en-US" sz="585" spc="3" kern="0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是特许工程代码；</a:t>
            </a:r>
            <a:pPr algn="l" indent="0" marL="0">
              <a:lnSpc>
                <a:spcPct val="155000"/>
              </a:lnSpc>
              <a:buNone/>
            </a:pPr>
            <a:r>
              <a:rPr lang="en-US" sz="585" b="1" spc="3" kern="0" dirty="0">
                <a:solidFill>
                  <a:srgbClr val="E2E8F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行政力量</a:t>
            </a:r>
            <a:pPr algn="l" indent="0" marL="0">
              <a:lnSpc>
                <a:spcPct val="155000"/>
              </a:lnSpc>
              <a:buNone/>
            </a:pPr>
            <a:r>
              <a:rPr lang="en-US" sz="585" spc="3" kern="0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可以改变 fast-moving 层，但</a:t>
            </a:r>
            <a:pPr algn="l" indent="0" marL="0">
              <a:lnSpc>
                <a:spcPct val="155000"/>
              </a:lnSpc>
              <a:buNone/>
            </a:pPr>
            <a:r>
              <a:rPr lang="en-US" sz="585" b="1" spc="3" kern="0" dirty="0">
                <a:solidFill>
                  <a:srgbClr val="FF704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slow-moving 层</a:t>
            </a:r>
            <a:pPr algn="l" indent="0" marL="0">
              <a:lnSpc>
                <a:spcPct val="155000"/>
              </a:lnSpc>
              <a:buNone/>
            </a:pPr>
            <a:r>
              <a:rPr lang="en-US" sz="585" spc="3" kern="0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的协作文化需要几代人的演化。</a:t>
            </a:r>
            <a:endParaRPr lang="en-US" sz="585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463040" y="-2057400"/>
            <a:ext cx="11338560" cy="6377940"/>
          </a:xfrm>
          <a:prstGeom prst="ellipse">
            <a:avLst/>
          </a:prstGeom>
          <a:gradFill rotWithShape="1">
            <a:gsLst>
              <a:gs pos="0">
                <a:srgbClr val="00BCD4">
                  <a:alpha val="10400"/>
                </a:srgbClr>
              </a:gs>
              <a:gs pos="100000">
                <a:srgbClr val="00BCD4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/>
        </p:spPr>
      </p:sp>
      <p:sp>
        <p:nvSpPr>
          <p:cNvPr id="3" name="Shape 1"/>
          <p:cNvSpPr/>
          <p:nvPr/>
        </p:nvSpPr>
        <p:spPr>
          <a:xfrm>
            <a:off x="365760" y="274320"/>
            <a:ext cx="8412480" cy="856000"/>
          </a:xfrm>
          <a:prstGeom prst="rect">
            <a:avLst/>
          </a:prstGeom>
          <a:noFill/>
          <a:ln/>
        </p:spPr>
      </p:sp>
      <p:sp>
        <p:nvSpPr>
          <p:cNvPr id="4" name="Shape 2"/>
          <p:cNvSpPr/>
          <p:nvPr/>
        </p:nvSpPr>
        <p:spPr>
          <a:xfrm>
            <a:off x="365760" y="1130320"/>
            <a:ext cx="8412480" cy="0"/>
          </a:xfrm>
          <a:prstGeom prst="line">
            <a:avLst/>
          </a:prstGeom>
          <a:noFill/>
          <a:ln w="5715">
            <a:solidFill>
              <a:srgbClr val="FFFFFF">
                <a:alpha val="8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65760" y="274320"/>
            <a:ext cx="160020" cy="5715"/>
          </a:xfrm>
          <a:prstGeom prst="rect">
            <a:avLst/>
          </a:prstGeom>
          <a:solidFill>
            <a:srgbClr val="00BCD4"/>
          </a:solidFill>
          <a:ln/>
        </p:spPr>
      </p:sp>
      <p:sp>
        <p:nvSpPr>
          <p:cNvPr id="6" name="Shape 4"/>
          <p:cNvSpPr/>
          <p:nvPr/>
        </p:nvSpPr>
        <p:spPr>
          <a:xfrm>
            <a:off x="365760" y="274320"/>
            <a:ext cx="34290" cy="34290"/>
          </a:xfrm>
          <a:prstGeom prst="ellipse">
            <a:avLst/>
          </a:prstGeom>
          <a:solidFill>
            <a:srgbClr val="00BCD4"/>
          </a:solidFill>
          <a:ln/>
          <a:effectLst>
            <a:outerShdw sx="100000" sy="100000" kx="0" ky="0" algn="bl" rotWithShape="0" blurRad="95250" dist="50800" dir="16200000">
              <a:srgbClr val="00BCD4">
                <a:alpha val="90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605790" y="274320"/>
            <a:ext cx="2045956" cy="80010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buNone/>
            </a:pPr>
            <a:r>
              <a:rPr lang="en-US" sz="495" spc="158" kern="0" dirty="0">
                <a:solidFill>
                  <a:srgbClr val="00BCD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EVOLUTION TRACKING · SNAPSHOT 01</a:t>
            </a:r>
            <a:endParaRPr lang="en-US" sz="495" dirty="0"/>
          </a:p>
        </p:txBody>
      </p:sp>
      <p:sp>
        <p:nvSpPr>
          <p:cNvPr id="8" name="Text 6"/>
          <p:cNvSpPr/>
          <p:nvPr/>
        </p:nvSpPr>
        <p:spPr>
          <a:xfrm>
            <a:off x="365760" y="422910"/>
            <a:ext cx="1856036" cy="320040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2070" b="1" spc="21" kern="0" dirty="0">
                <a:solidFill>
                  <a:srgbClr val="F1F5F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长期演化追踪</a:t>
            </a:r>
            <a:endParaRPr lang="en-US" sz="2070" dirty="0"/>
          </a:p>
        </p:txBody>
      </p:sp>
      <p:sp>
        <p:nvSpPr>
          <p:cNvPr id="9" name="Text 7"/>
          <p:cNvSpPr/>
          <p:nvPr/>
        </p:nvSpPr>
        <p:spPr>
          <a:xfrm>
            <a:off x="2004626" y="422910"/>
            <a:ext cx="446913" cy="320040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2070" spc="21" kern="0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·</a:t>
            </a:r>
            <a:endParaRPr lang="en-US" sz="2070" dirty="0"/>
          </a:p>
        </p:txBody>
      </p:sp>
      <p:sp>
        <p:nvSpPr>
          <p:cNvPr id="10" name="Text 8"/>
          <p:cNvSpPr/>
          <p:nvPr/>
        </p:nvSpPr>
        <p:spPr>
          <a:xfrm>
            <a:off x="2127319" y="422910"/>
            <a:ext cx="1324987" cy="320040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2070" b="1" spc="21" kern="0" dirty="0">
                <a:solidFill>
                  <a:srgbClr val="00BCD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不是终点</a:t>
            </a:r>
            <a:endParaRPr lang="en-US" sz="2070" dirty="0"/>
          </a:p>
        </p:txBody>
      </p:sp>
      <p:sp>
        <p:nvSpPr>
          <p:cNvPr id="11" name="Text 9"/>
          <p:cNvSpPr/>
          <p:nvPr/>
        </p:nvSpPr>
        <p:spPr>
          <a:xfrm>
            <a:off x="365760" y="816620"/>
            <a:ext cx="6400800" cy="15939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55000"/>
              </a:lnSpc>
              <a:buNone/>
            </a:pPr>
            <a:r>
              <a:rPr lang="en-US" sz="810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进化论的哲学里</a:t>
            </a:r>
            <a:pPr algn="l" indent="0" marL="0">
              <a:lnSpc>
                <a:spcPct val="155000"/>
              </a:lnSpc>
              <a:buNone/>
            </a:pPr>
            <a:r>
              <a:rPr lang="en-US" sz="810" dirty="0">
                <a:solidFill>
                  <a:srgbClr val="00BCD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没有终点</a:t>
            </a:r>
            <a:pPr algn="l" indent="0" marL="0">
              <a:lnSpc>
                <a:spcPct val="155000"/>
              </a:lnSpc>
              <a:buNone/>
            </a:pPr>
            <a:r>
              <a:rPr lang="en-US" sz="810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——</a:t>
            </a:r>
            <a:pPr algn="l" indent="0" marL="0">
              <a:lnSpc>
                <a:spcPct val="155000"/>
              </a:lnSpc>
              <a:buNone/>
            </a:pPr>
            <a:r>
              <a:rPr lang="en-US" sz="810" b="1" i="1" dirty="0">
                <a:solidFill>
                  <a:srgbClr val="FF704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Keep Movement</a:t>
            </a:r>
            <a:endParaRPr lang="en-US" sz="810" dirty="0"/>
          </a:p>
        </p:txBody>
      </p:sp>
      <p:sp>
        <p:nvSpPr>
          <p:cNvPr id="12" name="Shape 10"/>
          <p:cNvSpPr/>
          <p:nvPr/>
        </p:nvSpPr>
        <p:spPr>
          <a:xfrm>
            <a:off x="365760" y="2387620"/>
            <a:ext cx="8412480" cy="11430"/>
          </a:xfrm>
          <a:prstGeom prst="rect">
            <a:avLst/>
          </a:prstGeom>
          <a:gradFill rotWithShape="1">
            <a:gsLst>
              <a:gs pos="0">
                <a:srgbClr val="00BCD4">
                  <a:alpha val="95000"/>
                </a:srgbClr>
              </a:gs>
              <a:gs pos="60000">
                <a:srgbClr val="00BCD4">
                  <a:alpha val="80000"/>
                </a:srgbClr>
              </a:gs>
              <a:gs pos="92000">
                <a:srgbClr val="00BCD4">
                  <a:alpha val="35000"/>
                </a:srgbClr>
              </a:gs>
              <a:gs pos="100000">
                <a:srgbClr val="000000">
                  <a:alpha val="0"/>
                </a:srgbClr>
              </a:gs>
            </a:gsLst>
            <a:lin ang="0" scaled="0"/>
          </a:gradFill>
          <a:ln/>
          <a:effectLst>
            <a:outerShdw sx="100000" sy="100000" kx="0" ky="0" algn="bl" rotWithShape="0" blurRad="171450" dist="50800" dir="16200000">
              <a:srgbClr val="00BCD4">
                <a:alpha val="55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365760" y="2330470"/>
            <a:ext cx="8412480" cy="137160"/>
          </a:xfrm>
          <a:prstGeom prst="rect">
            <a:avLst/>
          </a:prstGeom>
          <a:solidFill>
            <a:srgbClr val="00BCD4">
              <a:alpha val="22000"/>
            </a:srgbClr>
          </a:solidFill>
          <a:ln/>
          <a:effectLst>
            <a:outerShdw sx="100000" sy="100000" kx="0" ky="0" algn="bl" rotWithShape="0" blurRad="34290" dist="50800" dir="16200000">
              <a:srgbClr val="00BCD4">
                <a:alpha val="60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947395" y="1244620"/>
            <a:ext cx="518993" cy="188595"/>
          </a:xfrm>
          <a:prstGeom prst="roundRect">
            <a:avLst>
              <a:gd name="adj" fmla="val 6061"/>
            </a:avLst>
          </a:prstGeom>
          <a:solidFill>
            <a:srgbClr val="FF7043">
              <a:alpha val="8000"/>
            </a:srgbClr>
          </a:solidFill>
          <a:ln w="5715">
            <a:solidFill>
              <a:srgbClr val="FF7043">
                <a:alpha val="45000"/>
              </a:srgbClr>
            </a:solidFill>
            <a:prstDash val="solid"/>
          </a:ln>
          <a:effectLst>
            <a:outerShdw sx="100000" sy="100000" kx="0" ky="0" algn="bl" rotWithShape="0" blurRad="190500" dist="50800" dir="16200000">
              <a:srgbClr val="FF7043">
                <a:alpha val="20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1044550" y="1296055"/>
            <a:ext cx="393263" cy="85725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buNone/>
            </a:pPr>
            <a:r>
              <a:rPr lang="en-US" sz="540" spc="151" kern="0" dirty="0">
                <a:solidFill>
                  <a:srgbClr val="FF704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START</a:t>
            </a:r>
            <a:endParaRPr lang="en-US" sz="540" dirty="0"/>
          </a:p>
        </p:txBody>
      </p:sp>
      <p:sp>
        <p:nvSpPr>
          <p:cNvPr id="16" name="Text 14"/>
          <p:cNvSpPr/>
          <p:nvPr/>
        </p:nvSpPr>
        <p:spPr>
          <a:xfrm>
            <a:off x="786304" y="1524655"/>
            <a:ext cx="933517" cy="23431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765" spc="31" kern="0" dirty="0">
                <a:solidFill>
                  <a:srgbClr val="F1F5F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演讲 · 2026-09-21</a:t>
            </a:r>
            <a:endParaRPr lang="en-US" sz="765" dirty="0"/>
          </a:p>
        </p:txBody>
      </p:sp>
      <p:sp>
        <p:nvSpPr>
          <p:cNvPr id="17" name="Text 15"/>
          <p:cNvSpPr/>
          <p:nvPr/>
        </p:nvSpPr>
        <p:spPr>
          <a:xfrm>
            <a:off x="786304" y="1816120"/>
            <a:ext cx="928116" cy="14287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450" spc="126" kern="0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当下快照 · SNAPSHOT NOW</a:t>
            </a:r>
            <a:endParaRPr lang="en-US" sz="450" dirty="0"/>
          </a:p>
        </p:txBody>
      </p:sp>
      <p:sp>
        <p:nvSpPr>
          <p:cNvPr id="18" name="Shape 16"/>
          <p:cNvSpPr/>
          <p:nvPr/>
        </p:nvSpPr>
        <p:spPr>
          <a:xfrm>
            <a:off x="1204034" y="1958995"/>
            <a:ext cx="5715" cy="205740"/>
          </a:xfrm>
          <a:prstGeom prst="rect">
            <a:avLst/>
          </a:prstGeom>
          <a:gradFill rotWithShape="1">
            <a:gsLst>
              <a:gs pos="0">
                <a:srgbClr val="000000">
                  <a:alpha val="0"/>
                </a:srgbClr>
              </a:gs>
              <a:gs pos="100000">
                <a:srgbClr val="00BCD4">
                  <a:alpha val="70000"/>
                </a:srgbClr>
              </a:gs>
            </a:gsLst>
            <a:lin ang="5400000" scaled="0"/>
          </a:gradFill>
          <a:ln/>
        </p:spPr>
      </p:sp>
      <p:sp>
        <p:nvSpPr>
          <p:cNvPr id="19" name="Shape 17"/>
          <p:cNvSpPr/>
          <p:nvPr/>
        </p:nvSpPr>
        <p:spPr>
          <a:xfrm>
            <a:off x="949762" y="2130445"/>
            <a:ext cx="514350" cy="514350"/>
          </a:xfrm>
          <a:prstGeom prst="ellipse">
            <a:avLst/>
          </a:prstGeom>
          <a:solidFill>
            <a:srgbClr val="AB00CF">
              <a:alpha val="50000"/>
            </a:srgbClr>
          </a:solidFill>
          <a:ln/>
          <a:effectLst>
            <a:outerShdw sx="100000" sy="100000" kx="0" ky="0" algn="bl" rotWithShape="0" blurRad="34290" dist="50800" dir="16200000">
              <a:srgbClr val="AB00CF">
                <a:alpha val="60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1115497" y="2296180"/>
            <a:ext cx="182880" cy="182880"/>
          </a:xfrm>
          <a:prstGeom prst="ellipse">
            <a:avLst/>
          </a:prstGeom>
          <a:gradFill rotWithShape="1">
            <a:gsLst>
              <a:gs pos="0">
                <a:srgbClr val="000000">
                  <a:alpha val="0"/>
                </a:srgbClr>
              </a:gs>
              <a:gs pos="30000">
                <a:srgbClr val="000000">
                  <a:alpha val="0"/>
                </a:srgbClr>
              </a:gs>
              <a:gs pos="55000">
                <a:srgbClr val="00BCD4">
                  <a:alpha val="35000"/>
                </a:srgbClr>
              </a:gs>
              <a:gs pos="80000">
                <a:srgbClr val="000000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/>
        </p:spPr>
      </p:sp>
      <p:sp>
        <p:nvSpPr>
          <p:cNvPr id="21" name="Shape 19"/>
          <p:cNvSpPr/>
          <p:nvPr/>
        </p:nvSpPr>
        <p:spPr>
          <a:xfrm>
            <a:off x="1172647" y="2353330"/>
            <a:ext cx="68580" cy="68580"/>
          </a:xfrm>
          <a:prstGeom prst="ellipse">
            <a:avLst/>
          </a:prstGeom>
          <a:gradFill rotWithShape="1">
            <a:gsLst>
              <a:gs pos="0">
                <a:srgbClr val="FFFFFF"/>
              </a:gs>
              <a:gs pos="55000">
                <a:srgbClr val="00BCD4"/>
              </a:gs>
              <a:gs pos="100000">
                <a:srgbClr val="0097A7"/>
              </a:gs>
            </a:gsLst>
            <a:path path="circle">
              <a:fillToRect l="50000" t="50000" r="50000" b="50000"/>
            </a:path>
          </a:gradFill>
          <a:ln/>
          <a:effectLst>
            <a:outerShdw sx="100000" sy="100000" kx="0" ky="0" algn="bl" rotWithShape="0" blurRad="228600" dist="50800" dir="16200000">
              <a:srgbClr val="00BCD4">
                <a:alpha val="95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2694667" y="1244620"/>
            <a:ext cx="389602" cy="217170"/>
          </a:xfrm>
          <a:prstGeom prst="roundRect">
            <a:avLst>
              <a:gd name="adj" fmla="val 5263"/>
            </a:avLst>
          </a:prstGeom>
          <a:solidFill>
            <a:srgbClr val="00BCD4">
              <a:alpha val="7000"/>
            </a:srgbClr>
          </a:solidFill>
          <a:ln w="5715">
            <a:solidFill>
              <a:srgbClr val="00BCD4">
                <a:alpha val="45000"/>
              </a:srgbClr>
            </a:solidFill>
            <a:prstDash val="solid"/>
          </a:ln>
          <a:effectLst>
            <a:outerShdw sx="100000" sy="100000" kx="0" ky="0" algn="bl" rotWithShape="0" blurRad="209550" dist="50800" dir="16200000">
              <a:srgbClr val="00BCD4">
                <a:alpha val="18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2791822" y="1307485"/>
            <a:ext cx="275302" cy="97155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buNone/>
            </a:pPr>
            <a:r>
              <a:rPr lang="en-US" sz="630" spc="139" kern="0" dirty="0">
                <a:solidFill>
                  <a:srgbClr val="00BCD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定位</a:t>
            </a:r>
            <a:endParaRPr lang="en-US" sz="630" dirty="0"/>
          </a:p>
        </p:txBody>
      </p:sp>
      <p:sp>
        <p:nvSpPr>
          <p:cNvPr id="24" name="Shape 22"/>
          <p:cNvSpPr/>
          <p:nvPr/>
        </p:nvSpPr>
        <p:spPr>
          <a:xfrm>
            <a:off x="2886566" y="1461790"/>
            <a:ext cx="5715" cy="205740"/>
          </a:xfrm>
          <a:prstGeom prst="rect">
            <a:avLst/>
          </a:prstGeom>
          <a:gradFill rotWithShape="1">
            <a:gsLst>
              <a:gs pos="0">
                <a:srgbClr val="000000">
                  <a:alpha val="0"/>
                </a:srgbClr>
              </a:gs>
              <a:gs pos="100000">
                <a:srgbClr val="00BCD4">
                  <a:alpha val="70000"/>
                </a:srgbClr>
              </a:gs>
            </a:gsLst>
            <a:lin ang="5400000" scaled="0"/>
          </a:gradFill>
          <a:ln/>
        </p:spPr>
      </p:sp>
      <p:sp>
        <p:nvSpPr>
          <p:cNvPr id="25" name="Shape 23"/>
          <p:cNvSpPr/>
          <p:nvPr/>
        </p:nvSpPr>
        <p:spPr>
          <a:xfrm>
            <a:off x="2886566" y="2570500"/>
            <a:ext cx="5715" cy="205740"/>
          </a:xfrm>
          <a:prstGeom prst="rect">
            <a:avLst/>
          </a:prstGeom>
          <a:gradFill rotWithShape="1">
            <a:gsLst>
              <a:gs pos="0">
                <a:srgbClr val="00BCD4">
                  <a:alpha val="70000"/>
                </a:srgbClr>
              </a:gs>
              <a:gs pos="100000">
                <a:srgbClr val="000000">
                  <a:alpha val="0"/>
                </a:srgbClr>
              </a:gs>
            </a:gsLst>
            <a:lin ang="5400000" scaled="0"/>
          </a:gradFill>
          <a:ln/>
        </p:spPr>
      </p:sp>
      <p:sp>
        <p:nvSpPr>
          <p:cNvPr id="26" name="Shape 24"/>
          <p:cNvSpPr/>
          <p:nvPr/>
        </p:nvSpPr>
        <p:spPr>
          <a:xfrm>
            <a:off x="2468835" y="2776240"/>
            <a:ext cx="841266" cy="563285"/>
          </a:xfrm>
          <a:prstGeom prst="roundRect">
            <a:avLst>
              <a:gd name="adj" fmla="val 2029"/>
            </a:avLst>
          </a:prstGeom>
          <a:solidFill>
            <a:srgbClr val="1E293B">
              <a:alpha val="72000"/>
            </a:srgbClr>
          </a:solidFill>
          <a:ln w="5715">
            <a:solidFill>
              <a:srgbClr val="FFFFFF">
                <a:alpha val="9000"/>
              </a:srgbClr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2592244" y="2839105"/>
            <a:ext cx="668655" cy="436751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55000"/>
              </a:lnSpc>
              <a:buNone/>
            </a:pPr>
            <a:r>
              <a:rPr lang="en-US" sz="585" dirty="0">
                <a:solidFill>
                  <a:srgbClr val="F1F5F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本演讲是</a:t>
            </a:r>
            <a:pPr algn="ctr" indent="0" marL="0">
              <a:lnSpc>
                <a:spcPct val="155000"/>
              </a:lnSpc>
              <a:buNone/>
            </a:pPr>
            <a:r>
              <a:rPr lang="en-US" sz="585" b="1" dirty="0">
                <a:solidFill>
                  <a:srgbClr val="00BCD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长期演化追踪系统</a:t>
            </a:r>
            <a:pPr algn="ctr" indent="0" marL="0">
              <a:lnSpc>
                <a:spcPct val="155000"/>
              </a:lnSpc>
              <a:buNone/>
            </a:pPr>
            <a:r>
              <a:rPr lang="en-US" sz="585" dirty="0">
                <a:solidFill>
                  <a:srgbClr val="F1F5F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的</a:t>
            </a:r>
            <a:pPr algn="ctr" indent="0" marL="0">
              <a:lnSpc>
                <a:spcPct val="155000"/>
              </a:lnSpc>
              <a:buNone/>
            </a:pPr>
            <a:r>
              <a:rPr lang="en-US" sz="585" b="1" dirty="0">
                <a:solidFill>
                  <a:srgbClr val="00BCD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第一个快照</a:t>
            </a:r>
            <a:pPr algn="ctr" indent="0" marL="0">
              <a:lnSpc>
                <a:spcPct val="155000"/>
              </a:lnSpc>
              <a:buNone/>
            </a:pPr>
            <a:r>
              <a:rPr lang="en-US" sz="585" dirty="0">
                <a:solidFill>
                  <a:srgbClr val="F1F5F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——记录起点，而非终局。</a:t>
            </a:r>
            <a:endParaRPr lang="en-US" sz="585" dirty="0"/>
          </a:p>
        </p:txBody>
      </p:sp>
      <p:sp>
        <p:nvSpPr>
          <p:cNvPr id="28" name="Shape 26"/>
          <p:cNvSpPr/>
          <p:nvPr/>
        </p:nvSpPr>
        <p:spPr>
          <a:xfrm>
            <a:off x="2632293" y="2130445"/>
            <a:ext cx="514350" cy="514350"/>
          </a:xfrm>
          <a:prstGeom prst="ellipse">
            <a:avLst/>
          </a:prstGeom>
          <a:solidFill>
            <a:srgbClr val="AB00D4">
              <a:alpha val="50000"/>
            </a:srgbClr>
          </a:solidFill>
          <a:ln/>
          <a:effectLst>
            <a:outerShdw sx="100000" sy="100000" kx="0" ky="0" algn="bl" rotWithShape="0" blurRad="34290" dist="50800" dir="16200000">
              <a:srgbClr val="AB00D4">
                <a:alpha val="60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2798028" y="2296180"/>
            <a:ext cx="182880" cy="182880"/>
          </a:xfrm>
          <a:prstGeom prst="ellipse">
            <a:avLst/>
          </a:prstGeom>
          <a:gradFill rotWithShape="1">
            <a:gsLst>
              <a:gs pos="0">
                <a:srgbClr val="000000">
                  <a:alpha val="0"/>
                </a:srgbClr>
              </a:gs>
              <a:gs pos="30000">
                <a:srgbClr val="000000">
                  <a:alpha val="0"/>
                </a:srgbClr>
              </a:gs>
              <a:gs pos="55000">
                <a:srgbClr val="00BCD4">
                  <a:alpha val="35000"/>
                </a:srgbClr>
              </a:gs>
              <a:gs pos="80000">
                <a:srgbClr val="000000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/>
        </p:spPr>
      </p:sp>
      <p:sp>
        <p:nvSpPr>
          <p:cNvPr id="30" name="Shape 28"/>
          <p:cNvSpPr/>
          <p:nvPr/>
        </p:nvSpPr>
        <p:spPr>
          <a:xfrm>
            <a:off x="2855178" y="2353330"/>
            <a:ext cx="68580" cy="68580"/>
          </a:xfrm>
          <a:prstGeom prst="ellipse">
            <a:avLst/>
          </a:prstGeom>
          <a:gradFill rotWithShape="1">
            <a:gsLst>
              <a:gs pos="0">
                <a:srgbClr val="FFFFFF"/>
              </a:gs>
              <a:gs pos="55000">
                <a:srgbClr val="00BCD4"/>
              </a:gs>
              <a:gs pos="100000">
                <a:srgbClr val="0097A7"/>
              </a:gs>
            </a:gsLst>
            <a:path path="circle">
              <a:fillToRect l="50000" t="50000" r="50000" b="50000"/>
            </a:path>
          </a:gradFill>
          <a:ln/>
          <a:effectLst>
            <a:outerShdw sx="100000" sy="100000" kx="0" ky="0" algn="bl" rotWithShape="0" blurRad="228600" dist="50800" dir="16200000">
              <a:srgbClr val="00BCD4">
                <a:alpha val="95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4328309" y="1244620"/>
            <a:ext cx="487204" cy="217170"/>
          </a:xfrm>
          <a:prstGeom prst="roundRect">
            <a:avLst>
              <a:gd name="adj" fmla="val 5263"/>
            </a:avLst>
          </a:prstGeom>
          <a:solidFill>
            <a:srgbClr val="00BCD4">
              <a:alpha val="7000"/>
            </a:srgbClr>
          </a:solidFill>
          <a:ln w="5715">
            <a:solidFill>
              <a:srgbClr val="00BCD4">
                <a:alpha val="45000"/>
              </a:srgbClr>
            </a:solidFill>
            <a:prstDash val="solid"/>
          </a:ln>
          <a:effectLst>
            <a:outerShdw sx="100000" sy="100000" kx="0" ky="0" algn="bl" rotWithShape="0" blurRad="209550" dist="50800" dir="16200000">
              <a:srgbClr val="00BCD4">
                <a:alpha val="18000"/>
              </a:srgbClr>
            </a:outerShdw>
          </a:effectLst>
        </p:spPr>
      </p:sp>
      <p:sp>
        <p:nvSpPr>
          <p:cNvPr id="32" name="Text 30"/>
          <p:cNvSpPr/>
          <p:nvPr/>
        </p:nvSpPr>
        <p:spPr>
          <a:xfrm>
            <a:off x="4425464" y="1307485"/>
            <a:ext cx="372904" cy="97155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buNone/>
            </a:pPr>
            <a:r>
              <a:rPr lang="en-US" sz="630" spc="139" kern="0" dirty="0">
                <a:solidFill>
                  <a:srgbClr val="00BCD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需求侧</a:t>
            </a:r>
            <a:endParaRPr lang="en-US" sz="630" dirty="0"/>
          </a:p>
        </p:txBody>
      </p:sp>
      <p:sp>
        <p:nvSpPr>
          <p:cNvPr id="33" name="Shape 31"/>
          <p:cNvSpPr/>
          <p:nvPr/>
        </p:nvSpPr>
        <p:spPr>
          <a:xfrm>
            <a:off x="4569053" y="1461790"/>
            <a:ext cx="5715" cy="205740"/>
          </a:xfrm>
          <a:prstGeom prst="rect">
            <a:avLst/>
          </a:prstGeom>
          <a:gradFill rotWithShape="1">
            <a:gsLst>
              <a:gs pos="0">
                <a:srgbClr val="000000">
                  <a:alpha val="0"/>
                </a:srgbClr>
              </a:gs>
              <a:gs pos="100000">
                <a:srgbClr val="00BCD4">
                  <a:alpha val="70000"/>
                </a:srgbClr>
              </a:gs>
            </a:gsLst>
            <a:lin ang="5400000" scaled="0"/>
          </a:gradFill>
          <a:ln/>
        </p:spPr>
      </p:sp>
      <p:sp>
        <p:nvSpPr>
          <p:cNvPr id="34" name="Shape 32"/>
          <p:cNvSpPr/>
          <p:nvPr/>
        </p:nvSpPr>
        <p:spPr>
          <a:xfrm>
            <a:off x="4569009" y="2570500"/>
            <a:ext cx="5715" cy="205740"/>
          </a:xfrm>
          <a:prstGeom prst="rect">
            <a:avLst/>
          </a:prstGeom>
          <a:gradFill rotWithShape="1">
            <a:gsLst>
              <a:gs pos="0">
                <a:srgbClr val="00BCD4">
                  <a:alpha val="70000"/>
                </a:srgbClr>
              </a:gs>
              <a:gs pos="100000">
                <a:srgbClr val="000000">
                  <a:alpha val="0"/>
                </a:srgbClr>
              </a:gs>
            </a:gsLst>
            <a:lin ang="5400000" scaled="0"/>
          </a:gradFill>
          <a:ln/>
        </p:spPr>
      </p:sp>
      <p:sp>
        <p:nvSpPr>
          <p:cNvPr id="35" name="Shape 33"/>
          <p:cNvSpPr/>
          <p:nvPr/>
        </p:nvSpPr>
        <p:spPr>
          <a:xfrm>
            <a:off x="4151278" y="2776240"/>
            <a:ext cx="841266" cy="563285"/>
          </a:xfrm>
          <a:prstGeom prst="roundRect">
            <a:avLst>
              <a:gd name="adj" fmla="val 2029"/>
            </a:avLst>
          </a:prstGeom>
          <a:solidFill>
            <a:srgbClr val="1E293B">
              <a:alpha val="72000"/>
            </a:srgbClr>
          </a:solidFill>
          <a:ln w="5715">
            <a:solidFill>
              <a:srgbClr val="FFFFFF">
                <a:alpha val="9000"/>
              </a:srgbClr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4268971" y="2839105"/>
            <a:ext cx="680085" cy="436751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55000"/>
              </a:lnSpc>
              <a:buNone/>
            </a:pPr>
            <a:r>
              <a:rPr lang="en-US" sz="585" dirty="0">
                <a:solidFill>
                  <a:srgbClr val="F1F5F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持续追踪</a:t>
            </a:r>
            <a:pPr algn="ctr" indent="0" marL="0">
              <a:lnSpc>
                <a:spcPct val="155000"/>
              </a:lnSpc>
              <a:buNone/>
            </a:pPr>
            <a:r>
              <a:rPr lang="en-US" sz="585" b="1" dirty="0">
                <a:solidFill>
                  <a:srgbClr val="00BCD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Issue 演化</a:t>
            </a:r>
            <a:pPr algn="ctr" indent="0" marL="0">
              <a:lnSpc>
                <a:spcPct val="155000"/>
              </a:lnSpc>
              <a:buNone/>
            </a:pPr>
            <a:r>
              <a:rPr lang="en-US" sz="585" dirty="0">
                <a:solidFill>
                  <a:srgbClr val="F1F5F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，每周更新——需求信号随时间沉淀。</a:t>
            </a:r>
            <a:endParaRPr lang="en-US" sz="585" dirty="0"/>
          </a:p>
        </p:txBody>
      </p:sp>
      <p:sp>
        <p:nvSpPr>
          <p:cNvPr id="37" name="Shape 35"/>
          <p:cNvSpPr/>
          <p:nvPr/>
        </p:nvSpPr>
        <p:spPr>
          <a:xfrm>
            <a:off x="4314736" y="2130445"/>
            <a:ext cx="514350" cy="514350"/>
          </a:xfrm>
          <a:prstGeom prst="ellipse">
            <a:avLst/>
          </a:prstGeom>
          <a:solidFill>
            <a:srgbClr val="AB00D9">
              <a:alpha val="50000"/>
            </a:srgbClr>
          </a:solidFill>
          <a:ln/>
          <a:effectLst>
            <a:outerShdw sx="100000" sy="100000" kx="0" ky="0" algn="bl" rotWithShape="0" blurRad="34290" dist="50800" dir="16200000">
              <a:srgbClr val="AB00D9">
                <a:alpha val="60000"/>
              </a:srgbClr>
            </a:outerShdw>
          </a:effectLst>
        </p:spPr>
      </p:sp>
      <p:sp>
        <p:nvSpPr>
          <p:cNvPr id="38" name="Shape 36"/>
          <p:cNvSpPr/>
          <p:nvPr/>
        </p:nvSpPr>
        <p:spPr>
          <a:xfrm>
            <a:off x="4480471" y="2296180"/>
            <a:ext cx="182880" cy="182880"/>
          </a:xfrm>
          <a:prstGeom prst="ellipse">
            <a:avLst/>
          </a:prstGeom>
          <a:gradFill rotWithShape="1">
            <a:gsLst>
              <a:gs pos="0">
                <a:srgbClr val="000000">
                  <a:alpha val="0"/>
                </a:srgbClr>
              </a:gs>
              <a:gs pos="30000">
                <a:srgbClr val="000000">
                  <a:alpha val="0"/>
                </a:srgbClr>
              </a:gs>
              <a:gs pos="55000">
                <a:srgbClr val="00BCD4">
                  <a:alpha val="35000"/>
                </a:srgbClr>
              </a:gs>
              <a:gs pos="80000">
                <a:srgbClr val="000000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/>
        </p:spPr>
      </p:sp>
      <p:sp>
        <p:nvSpPr>
          <p:cNvPr id="39" name="Shape 37"/>
          <p:cNvSpPr/>
          <p:nvPr/>
        </p:nvSpPr>
        <p:spPr>
          <a:xfrm>
            <a:off x="4537621" y="2353330"/>
            <a:ext cx="68580" cy="68580"/>
          </a:xfrm>
          <a:prstGeom prst="ellipse">
            <a:avLst/>
          </a:prstGeom>
          <a:gradFill rotWithShape="1">
            <a:gsLst>
              <a:gs pos="0">
                <a:srgbClr val="FFFFFF"/>
              </a:gs>
              <a:gs pos="55000">
                <a:srgbClr val="00BCD4"/>
              </a:gs>
              <a:gs pos="100000">
                <a:srgbClr val="0097A7"/>
              </a:gs>
            </a:gsLst>
            <a:path path="circle">
              <a:fillToRect l="50000" t="50000" r="50000" b="50000"/>
            </a:path>
          </a:gradFill>
          <a:ln/>
          <a:effectLst>
            <a:outerShdw sx="100000" sy="100000" kx="0" ky="0" algn="bl" rotWithShape="0" blurRad="228600" dist="50800" dir="16200000">
              <a:srgbClr val="00BCD4">
                <a:alpha val="95000"/>
              </a:srgbClr>
            </a:outerShdw>
          </a:effectLst>
        </p:spPr>
      </p:sp>
      <p:sp>
        <p:nvSpPr>
          <p:cNvPr id="40" name="Shape 38"/>
          <p:cNvSpPr/>
          <p:nvPr/>
        </p:nvSpPr>
        <p:spPr>
          <a:xfrm>
            <a:off x="6010841" y="1244620"/>
            <a:ext cx="487204" cy="217170"/>
          </a:xfrm>
          <a:prstGeom prst="roundRect">
            <a:avLst>
              <a:gd name="adj" fmla="val 5263"/>
            </a:avLst>
          </a:prstGeom>
          <a:solidFill>
            <a:srgbClr val="00BCD4">
              <a:alpha val="7000"/>
            </a:srgbClr>
          </a:solidFill>
          <a:ln w="5715">
            <a:solidFill>
              <a:srgbClr val="00BCD4">
                <a:alpha val="45000"/>
              </a:srgbClr>
            </a:solidFill>
            <a:prstDash val="solid"/>
          </a:ln>
          <a:effectLst>
            <a:outerShdw sx="100000" sy="100000" kx="0" ky="0" algn="bl" rotWithShape="0" blurRad="209550" dist="50800" dir="16200000">
              <a:srgbClr val="00BCD4">
                <a:alpha val="18000"/>
              </a:srgbClr>
            </a:outerShdw>
          </a:effectLst>
        </p:spPr>
      </p:sp>
      <p:sp>
        <p:nvSpPr>
          <p:cNvPr id="41" name="Text 39"/>
          <p:cNvSpPr/>
          <p:nvPr/>
        </p:nvSpPr>
        <p:spPr>
          <a:xfrm>
            <a:off x="6107996" y="1307485"/>
            <a:ext cx="372904" cy="97155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buNone/>
            </a:pPr>
            <a:r>
              <a:rPr lang="en-US" sz="630" spc="139" kern="0" dirty="0">
                <a:solidFill>
                  <a:srgbClr val="00BCD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供给侧</a:t>
            </a:r>
            <a:endParaRPr lang="en-US" sz="630" dirty="0"/>
          </a:p>
        </p:txBody>
      </p:sp>
      <p:sp>
        <p:nvSpPr>
          <p:cNvPr id="42" name="Shape 40"/>
          <p:cNvSpPr/>
          <p:nvPr/>
        </p:nvSpPr>
        <p:spPr>
          <a:xfrm>
            <a:off x="6251585" y="1461790"/>
            <a:ext cx="5715" cy="205740"/>
          </a:xfrm>
          <a:prstGeom prst="rect">
            <a:avLst/>
          </a:prstGeom>
          <a:gradFill rotWithShape="1">
            <a:gsLst>
              <a:gs pos="0">
                <a:srgbClr val="000000">
                  <a:alpha val="0"/>
                </a:srgbClr>
              </a:gs>
              <a:gs pos="100000">
                <a:srgbClr val="00BCD4">
                  <a:alpha val="70000"/>
                </a:srgbClr>
              </a:gs>
            </a:gsLst>
            <a:lin ang="5400000" scaled="0"/>
          </a:gradFill>
          <a:ln/>
        </p:spPr>
      </p:sp>
      <p:sp>
        <p:nvSpPr>
          <p:cNvPr id="43" name="Shape 41"/>
          <p:cNvSpPr/>
          <p:nvPr/>
        </p:nvSpPr>
        <p:spPr>
          <a:xfrm>
            <a:off x="6251540" y="2570500"/>
            <a:ext cx="5715" cy="205740"/>
          </a:xfrm>
          <a:prstGeom prst="rect">
            <a:avLst/>
          </a:prstGeom>
          <a:gradFill rotWithShape="1">
            <a:gsLst>
              <a:gs pos="0">
                <a:srgbClr val="00BCD4">
                  <a:alpha val="70000"/>
                </a:srgbClr>
              </a:gs>
              <a:gs pos="100000">
                <a:srgbClr val="000000">
                  <a:alpha val="0"/>
                </a:srgbClr>
              </a:gs>
            </a:gsLst>
            <a:lin ang="5400000" scaled="0"/>
          </a:gradFill>
          <a:ln/>
        </p:spPr>
      </p:sp>
      <p:sp>
        <p:nvSpPr>
          <p:cNvPr id="44" name="Shape 42"/>
          <p:cNvSpPr/>
          <p:nvPr/>
        </p:nvSpPr>
        <p:spPr>
          <a:xfrm>
            <a:off x="5833809" y="2776240"/>
            <a:ext cx="841266" cy="563285"/>
          </a:xfrm>
          <a:prstGeom prst="roundRect">
            <a:avLst>
              <a:gd name="adj" fmla="val 2029"/>
            </a:avLst>
          </a:prstGeom>
          <a:solidFill>
            <a:srgbClr val="1E293B">
              <a:alpha val="72000"/>
            </a:srgbClr>
          </a:solidFill>
          <a:ln w="5715">
            <a:solidFill>
              <a:srgbClr val="FFFFFF">
                <a:alpha val="9000"/>
              </a:srgbClr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5957218" y="2839105"/>
            <a:ext cx="668655" cy="436751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55000"/>
              </a:lnSpc>
              <a:buNone/>
            </a:pPr>
            <a:r>
              <a:rPr lang="en-US" sz="585" dirty="0">
                <a:solidFill>
                  <a:srgbClr val="F1F5F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持续追踪</a:t>
            </a:r>
            <a:pPr algn="ctr" indent="0" marL="0">
              <a:lnSpc>
                <a:spcPct val="155000"/>
              </a:lnSpc>
              <a:buNone/>
            </a:pPr>
            <a:r>
              <a:rPr lang="en-US" sz="585" b="1" dirty="0">
                <a:solidFill>
                  <a:srgbClr val="00BCD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 演化</a:t>
            </a:r>
            <a:pPr algn="ctr" indent="0" marL="0">
              <a:lnSpc>
                <a:spcPct val="155000"/>
              </a:lnSpc>
              <a:buNone/>
            </a:pPr>
            <a:r>
              <a:rPr lang="en-US" sz="585" dirty="0">
                <a:solidFill>
                  <a:srgbClr val="F1F5F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，每周更新——供给能力随协作生长。</a:t>
            </a:r>
            <a:endParaRPr lang="en-US" sz="585" dirty="0"/>
          </a:p>
        </p:txBody>
      </p:sp>
      <p:sp>
        <p:nvSpPr>
          <p:cNvPr id="46" name="Shape 44"/>
          <p:cNvSpPr/>
          <p:nvPr/>
        </p:nvSpPr>
        <p:spPr>
          <a:xfrm>
            <a:off x="5997267" y="2130445"/>
            <a:ext cx="514350" cy="514350"/>
          </a:xfrm>
          <a:prstGeom prst="ellipse">
            <a:avLst/>
          </a:prstGeom>
          <a:solidFill>
            <a:srgbClr val="AB00DE">
              <a:alpha val="50000"/>
            </a:srgbClr>
          </a:solidFill>
          <a:ln/>
          <a:effectLst>
            <a:outerShdw sx="100000" sy="100000" kx="0" ky="0" algn="bl" rotWithShape="0" blurRad="34290" dist="50800" dir="16200000">
              <a:srgbClr val="AB00DE">
                <a:alpha val="60000"/>
              </a:srgbClr>
            </a:outerShdw>
          </a:effectLst>
        </p:spPr>
      </p:sp>
      <p:sp>
        <p:nvSpPr>
          <p:cNvPr id="47" name="Shape 45"/>
          <p:cNvSpPr/>
          <p:nvPr/>
        </p:nvSpPr>
        <p:spPr>
          <a:xfrm>
            <a:off x="6163002" y="2296180"/>
            <a:ext cx="182880" cy="182880"/>
          </a:xfrm>
          <a:prstGeom prst="ellipse">
            <a:avLst/>
          </a:prstGeom>
          <a:gradFill rotWithShape="1">
            <a:gsLst>
              <a:gs pos="0">
                <a:srgbClr val="000000">
                  <a:alpha val="0"/>
                </a:srgbClr>
              </a:gs>
              <a:gs pos="30000">
                <a:srgbClr val="000000">
                  <a:alpha val="0"/>
                </a:srgbClr>
              </a:gs>
              <a:gs pos="55000">
                <a:srgbClr val="00BCD4">
                  <a:alpha val="35000"/>
                </a:srgbClr>
              </a:gs>
              <a:gs pos="80000">
                <a:srgbClr val="000000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/>
        </p:spPr>
      </p:sp>
      <p:sp>
        <p:nvSpPr>
          <p:cNvPr id="48" name="Shape 46"/>
          <p:cNvSpPr/>
          <p:nvPr/>
        </p:nvSpPr>
        <p:spPr>
          <a:xfrm>
            <a:off x="6220152" y="2353330"/>
            <a:ext cx="68580" cy="68580"/>
          </a:xfrm>
          <a:prstGeom prst="ellipse">
            <a:avLst/>
          </a:prstGeom>
          <a:gradFill rotWithShape="1">
            <a:gsLst>
              <a:gs pos="0">
                <a:srgbClr val="FFFFFF"/>
              </a:gs>
              <a:gs pos="55000">
                <a:srgbClr val="00BCD4"/>
              </a:gs>
              <a:gs pos="100000">
                <a:srgbClr val="0097A7"/>
              </a:gs>
            </a:gsLst>
            <a:path path="circle">
              <a:fillToRect l="50000" t="50000" r="50000" b="50000"/>
            </a:path>
          </a:gradFill>
          <a:ln/>
          <a:effectLst>
            <a:outerShdw sx="100000" sy="100000" kx="0" ky="0" algn="bl" rotWithShape="0" blurRad="228600" dist="50800" dir="16200000">
              <a:srgbClr val="00BCD4">
                <a:alpha val="95000"/>
              </a:srgbClr>
            </a:outerShdw>
          </a:effectLst>
        </p:spPr>
      </p:sp>
      <p:sp>
        <p:nvSpPr>
          <p:cNvPr id="49" name="Shape 47"/>
          <p:cNvSpPr/>
          <p:nvPr/>
        </p:nvSpPr>
        <p:spPr>
          <a:xfrm>
            <a:off x="7693372" y="1244620"/>
            <a:ext cx="487204" cy="217170"/>
          </a:xfrm>
          <a:prstGeom prst="roundRect">
            <a:avLst>
              <a:gd name="adj" fmla="val 5263"/>
            </a:avLst>
          </a:prstGeom>
          <a:solidFill>
            <a:srgbClr val="00BCD4">
              <a:alpha val="7000"/>
            </a:srgbClr>
          </a:solidFill>
          <a:ln w="5715">
            <a:solidFill>
              <a:srgbClr val="00BCD4">
                <a:alpha val="45000"/>
              </a:srgbClr>
            </a:solidFill>
            <a:prstDash val="solid"/>
          </a:ln>
          <a:effectLst>
            <a:outerShdw sx="100000" sy="100000" kx="0" ky="0" algn="bl" rotWithShape="0" blurRad="209550" dist="50800" dir="16200000">
              <a:srgbClr val="00BCD4">
                <a:alpha val="18000"/>
              </a:srgbClr>
            </a:outerShdw>
          </a:effectLst>
        </p:spPr>
      </p:sp>
      <p:sp>
        <p:nvSpPr>
          <p:cNvPr id="50" name="Text 48"/>
          <p:cNvSpPr/>
          <p:nvPr/>
        </p:nvSpPr>
        <p:spPr>
          <a:xfrm>
            <a:off x="7790527" y="1307485"/>
            <a:ext cx="372904" cy="97155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buNone/>
            </a:pPr>
            <a:r>
              <a:rPr lang="en-US" sz="630" spc="139" kern="0" dirty="0">
                <a:solidFill>
                  <a:srgbClr val="00BCD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消费侧</a:t>
            </a:r>
            <a:endParaRPr lang="en-US" sz="630" dirty="0"/>
          </a:p>
        </p:txBody>
      </p:sp>
      <p:sp>
        <p:nvSpPr>
          <p:cNvPr id="51" name="Shape 49"/>
          <p:cNvSpPr/>
          <p:nvPr/>
        </p:nvSpPr>
        <p:spPr>
          <a:xfrm>
            <a:off x="7934117" y="1461790"/>
            <a:ext cx="5715" cy="205740"/>
          </a:xfrm>
          <a:prstGeom prst="rect">
            <a:avLst/>
          </a:prstGeom>
          <a:gradFill rotWithShape="1">
            <a:gsLst>
              <a:gs pos="0">
                <a:srgbClr val="000000">
                  <a:alpha val="0"/>
                </a:srgbClr>
              </a:gs>
              <a:gs pos="100000">
                <a:srgbClr val="00BCD4">
                  <a:alpha val="70000"/>
                </a:srgbClr>
              </a:gs>
            </a:gsLst>
            <a:lin ang="5400000" scaled="0"/>
          </a:gradFill>
          <a:ln/>
        </p:spPr>
      </p:sp>
      <p:sp>
        <p:nvSpPr>
          <p:cNvPr id="52" name="Shape 50"/>
          <p:cNvSpPr/>
          <p:nvPr/>
        </p:nvSpPr>
        <p:spPr>
          <a:xfrm>
            <a:off x="7934072" y="2570500"/>
            <a:ext cx="5715" cy="205740"/>
          </a:xfrm>
          <a:prstGeom prst="rect">
            <a:avLst/>
          </a:prstGeom>
          <a:gradFill rotWithShape="1">
            <a:gsLst>
              <a:gs pos="0">
                <a:srgbClr val="00BCD4">
                  <a:alpha val="70000"/>
                </a:srgbClr>
              </a:gs>
              <a:gs pos="100000">
                <a:srgbClr val="000000">
                  <a:alpha val="0"/>
                </a:srgbClr>
              </a:gs>
            </a:gsLst>
            <a:lin ang="5400000" scaled="0"/>
          </a:gradFill>
          <a:ln/>
        </p:spPr>
      </p:sp>
      <p:sp>
        <p:nvSpPr>
          <p:cNvPr id="53" name="Shape 51"/>
          <p:cNvSpPr/>
          <p:nvPr/>
        </p:nvSpPr>
        <p:spPr>
          <a:xfrm>
            <a:off x="7516341" y="2776240"/>
            <a:ext cx="841266" cy="563285"/>
          </a:xfrm>
          <a:prstGeom prst="roundRect">
            <a:avLst>
              <a:gd name="adj" fmla="val 2029"/>
            </a:avLst>
          </a:prstGeom>
          <a:solidFill>
            <a:srgbClr val="1E293B">
              <a:alpha val="72000"/>
            </a:srgbClr>
          </a:solidFill>
          <a:ln w="5715">
            <a:solidFill>
              <a:srgbClr val="FFFFFF">
                <a:alpha val="9000"/>
              </a:srgbClr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7630820" y="2839105"/>
            <a:ext cx="686514" cy="436751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55000"/>
              </a:lnSpc>
              <a:buNone/>
            </a:pPr>
            <a:r>
              <a:rPr lang="en-US" sz="585" dirty="0">
                <a:solidFill>
                  <a:srgbClr val="F1F5F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寻找</a:t>
            </a:r>
            <a:pPr algn="ctr" indent="0" marL="0">
              <a:lnSpc>
                <a:spcPct val="155000"/>
              </a:lnSpc>
              <a:buNone/>
            </a:pPr>
            <a:r>
              <a:rPr lang="en-US" sz="585" b="1" dirty="0">
                <a:solidFill>
                  <a:srgbClr val="FF704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更强信号</a:t>
            </a:r>
            <a:pPr algn="ctr" indent="0" marL="0">
              <a:lnSpc>
                <a:spcPct val="155000"/>
              </a:lnSpc>
              <a:buNone/>
            </a:pPr>
            <a:r>
              <a:rPr lang="en-US" sz="585" dirty="0">
                <a:solidFill>
                  <a:srgbClr val="F1F5F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——涵盖</a:t>
            </a:r>
            <a:pPr algn="ctr" indent="0" marL="0">
              <a:lnSpc>
                <a:spcPct val="155000"/>
              </a:lnSpc>
              <a:buNone/>
            </a:pPr>
            <a:r>
              <a:rPr lang="en-US" sz="585" b="1" dirty="0">
                <a:solidFill>
                  <a:srgbClr val="00BCD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PyPI / Docker / Discord</a:t>
            </a:r>
            <a:pPr algn="ctr" indent="0" marL="0">
              <a:lnSpc>
                <a:spcPct val="155000"/>
              </a:lnSpc>
              <a:buNone/>
            </a:pPr>
            <a:r>
              <a:rPr lang="en-US" sz="585" dirty="0">
                <a:solidFill>
                  <a:srgbClr val="F1F5F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等多元来源。</a:t>
            </a:r>
            <a:endParaRPr lang="en-US" sz="585" dirty="0"/>
          </a:p>
        </p:txBody>
      </p:sp>
      <p:sp>
        <p:nvSpPr>
          <p:cNvPr id="55" name="Shape 53"/>
          <p:cNvSpPr/>
          <p:nvPr/>
        </p:nvSpPr>
        <p:spPr>
          <a:xfrm>
            <a:off x="7679799" y="2130445"/>
            <a:ext cx="514350" cy="514350"/>
          </a:xfrm>
          <a:prstGeom prst="ellipse">
            <a:avLst/>
          </a:prstGeom>
          <a:solidFill>
            <a:srgbClr val="AB00E3">
              <a:alpha val="50000"/>
            </a:srgbClr>
          </a:solidFill>
          <a:ln/>
          <a:effectLst>
            <a:outerShdw sx="100000" sy="100000" kx="0" ky="0" algn="bl" rotWithShape="0" blurRad="34290" dist="50800" dir="16200000">
              <a:srgbClr val="AB00E3">
                <a:alpha val="60000"/>
              </a:srgbClr>
            </a:outerShdw>
          </a:effectLst>
        </p:spPr>
      </p:sp>
      <p:sp>
        <p:nvSpPr>
          <p:cNvPr id="56" name="Shape 54"/>
          <p:cNvSpPr/>
          <p:nvPr/>
        </p:nvSpPr>
        <p:spPr>
          <a:xfrm>
            <a:off x="7845534" y="2296180"/>
            <a:ext cx="182880" cy="182880"/>
          </a:xfrm>
          <a:prstGeom prst="ellipse">
            <a:avLst/>
          </a:prstGeom>
          <a:gradFill rotWithShape="1">
            <a:gsLst>
              <a:gs pos="0">
                <a:srgbClr val="000000">
                  <a:alpha val="0"/>
                </a:srgbClr>
              </a:gs>
              <a:gs pos="30000">
                <a:srgbClr val="000000">
                  <a:alpha val="0"/>
                </a:srgbClr>
              </a:gs>
              <a:gs pos="55000">
                <a:srgbClr val="00BCD4">
                  <a:alpha val="35000"/>
                </a:srgbClr>
              </a:gs>
              <a:gs pos="80000">
                <a:srgbClr val="000000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/>
        </p:spPr>
      </p:sp>
      <p:sp>
        <p:nvSpPr>
          <p:cNvPr id="57" name="Shape 55"/>
          <p:cNvSpPr/>
          <p:nvPr/>
        </p:nvSpPr>
        <p:spPr>
          <a:xfrm>
            <a:off x="7902684" y="2353330"/>
            <a:ext cx="68580" cy="68580"/>
          </a:xfrm>
          <a:prstGeom prst="ellipse">
            <a:avLst/>
          </a:prstGeom>
          <a:gradFill rotWithShape="1">
            <a:gsLst>
              <a:gs pos="0">
                <a:srgbClr val="FFFFFF"/>
              </a:gs>
              <a:gs pos="55000">
                <a:srgbClr val="00BCD4"/>
              </a:gs>
              <a:gs pos="100000">
                <a:srgbClr val="0097A7"/>
              </a:gs>
            </a:gsLst>
            <a:path path="circle">
              <a:fillToRect l="50000" t="50000" r="50000" b="50000"/>
            </a:path>
          </a:gradFill>
          <a:ln/>
          <a:effectLst>
            <a:outerShdw sx="100000" sy="100000" kx="0" ky="0" algn="bl" rotWithShape="0" blurRad="228600" dist="50800" dir="16200000">
              <a:srgbClr val="00BCD4">
                <a:alpha val="95000"/>
              </a:srgbClr>
            </a:outerShdw>
          </a:effectLst>
        </p:spPr>
      </p:sp>
      <p:sp>
        <p:nvSpPr>
          <p:cNvPr id="58" name="Shape 56"/>
          <p:cNvSpPr/>
          <p:nvPr/>
        </p:nvSpPr>
        <p:spPr>
          <a:xfrm>
            <a:off x="365760" y="4346258"/>
            <a:ext cx="8412480" cy="522923"/>
          </a:xfrm>
          <a:prstGeom prst="rect">
            <a:avLst/>
          </a:prstGeom>
          <a:noFill/>
          <a:ln/>
        </p:spPr>
      </p:sp>
      <p:sp>
        <p:nvSpPr>
          <p:cNvPr id="59" name="Shape 57"/>
          <p:cNvSpPr/>
          <p:nvPr/>
        </p:nvSpPr>
        <p:spPr>
          <a:xfrm>
            <a:off x="365760" y="4346258"/>
            <a:ext cx="8412480" cy="0"/>
          </a:xfrm>
          <a:prstGeom prst="line">
            <a:avLst/>
          </a:prstGeom>
          <a:noFill/>
          <a:ln w="5715">
            <a:solidFill>
              <a:srgbClr val="FFFFFF">
                <a:alpha val="8000"/>
              </a:srgbClr>
            </a:solidFill>
            <a:prstDash val="solid"/>
          </a:ln>
        </p:spPr>
      </p:sp>
      <p:sp>
        <p:nvSpPr>
          <p:cNvPr id="60" name="Text 58"/>
          <p:cNvSpPr/>
          <p:nvPr/>
        </p:nvSpPr>
        <p:spPr>
          <a:xfrm>
            <a:off x="365760" y="4477703"/>
            <a:ext cx="1420978" cy="68580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buNone/>
            </a:pPr>
            <a:r>
              <a:rPr lang="en-US" sz="450" spc="135" kern="0" dirty="0">
                <a:solidFill>
                  <a:srgbClr val="00BCD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INSTITUTIONAL DIMENSIONS</a:t>
            </a:r>
            <a:endParaRPr lang="en-US" sz="450" dirty="0"/>
          </a:p>
        </p:txBody>
      </p:sp>
      <p:sp>
        <p:nvSpPr>
          <p:cNvPr id="61" name="Text 59"/>
          <p:cNvSpPr/>
          <p:nvPr/>
        </p:nvSpPr>
        <p:spPr>
          <a:xfrm>
            <a:off x="365760" y="4603433"/>
            <a:ext cx="551676" cy="131445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buNone/>
            </a:pPr>
            <a:r>
              <a:rPr lang="en-US" sz="855" b="1" spc="17" kern="0" dirty="0">
                <a:solidFill>
                  <a:srgbClr val="F1F5F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制度维度</a:t>
            </a:r>
            <a:endParaRPr lang="en-US" sz="855" dirty="0"/>
          </a:p>
        </p:txBody>
      </p:sp>
      <p:sp>
        <p:nvSpPr>
          <p:cNvPr id="62" name="Text 60"/>
          <p:cNvSpPr/>
          <p:nvPr/>
        </p:nvSpPr>
        <p:spPr>
          <a:xfrm>
            <a:off x="365760" y="4780598"/>
            <a:ext cx="687286" cy="80010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buNone/>
            </a:pPr>
            <a:r>
              <a:rPr lang="en-US" sz="495" spc="109" kern="0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三个并行追踪维度</a:t>
            </a:r>
            <a:endParaRPr lang="en-US" sz="495" dirty="0"/>
          </a:p>
        </p:txBody>
      </p:sp>
      <p:sp>
        <p:nvSpPr>
          <p:cNvPr id="63" name="Shape 61"/>
          <p:cNvSpPr/>
          <p:nvPr/>
        </p:nvSpPr>
        <p:spPr>
          <a:xfrm>
            <a:off x="2034540" y="4477703"/>
            <a:ext cx="2171700" cy="391478"/>
          </a:xfrm>
          <a:prstGeom prst="rect">
            <a:avLst/>
          </a:prstGeom>
          <a:solidFill>
            <a:srgbClr val="1E293B">
              <a:alpha val="50000"/>
            </a:srgbClr>
          </a:solidFill>
          <a:ln/>
        </p:spPr>
      </p:sp>
      <p:sp>
        <p:nvSpPr>
          <p:cNvPr id="64" name="Shape 62"/>
          <p:cNvSpPr/>
          <p:nvPr/>
        </p:nvSpPr>
        <p:spPr>
          <a:xfrm>
            <a:off x="2034540" y="4477703"/>
            <a:ext cx="0" cy="391478"/>
          </a:xfrm>
          <a:prstGeom prst="line">
            <a:avLst/>
          </a:prstGeom>
          <a:noFill/>
          <a:ln w="11430">
            <a:solidFill>
              <a:srgbClr val="00BCD4"/>
            </a:solidFill>
            <a:prstDash val="solid"/>
          </a:ln>
        </p:spPr>
      </p:sp>
      <p:sp>
        <p:nvSpPr>
          <p:cNvPr id="65" name="Text 63"/>
          <p:cNvSpPr/>
          <p:nvPr/>
        </p:nvSpPr>
        <p:spPr>
          <a:xfrm>
            <a:off x="2160270" y="4563428"/>
            <a:ext cx="371296" cy="114300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buNone/>
            </a:pPr>
            <a:r>
              <a:rPr lang="en-US" sz="720" spc="14" kern="0" dirty="0">
                <a:solidFill>
                  <a:srgbClr val="F1F5F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度量权</a:t>
            </a:r>
            <a:endParaRPr lang="en-US" sz="720" dirty="0"/>
          </a:p>
        </p:txBody>
      </p:sp>
      <p:sp>
        <p:nvSpPr>
          <p:cNvPr id="66" name="Text 64"/>
          <p:cNvSpPr/>
          <p:nvPr/>
        </p:nvSpPr>
        <p:spPr>
          <a:xfrm>
            <a:off x="2160270" y="4712018"/>
            <a:ext cx="1750319" cy="80010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495" spc="20" kern="0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谁定义"好"，谁定义"多"——量度标准的分配与共识。</a:t>
            </a:r>
            <a:endParaRPr lang="en-US" sz="495" dirty="0"/>
          </a:p>
        </p:txBody>
      </p:sp>
      <p:sp>
        <p:nvSpPr>
          <p:cNvPr id="67" name="Shape 65"/>
          <p:cNvSpPr/>
          <p:nvPr/>
        </p:nvSpPr>
        <p:spPr>
          <a:xfrm>
            <a:off x="4320540" y="4477703"/>
            <a:ext cx="2171700" cy="391478"/>
          </a:xfrm>
          <a:prstGeom prst="rect">
            <a:avLst/>
          </a:prstGeom>
          <a:solidFill>
            <a:srgbClr val="1E293B">
              <a:alpha val="50000"/>
            </a:srgbClr>
          </a:solidFill>
          <a:ln/>
        </p:spPr>
      </p:sp>
      <p:sp>
        <p:nvSpPr>
          <p:cNvPr id="68" name="Shape 66"/>
          <p:cNvSpPr/>
          <p:nvPr/>
        </p:nvSpPr>
        <p:spPr>
          <a:xfrm>
            <a:off x="4320540" y="4477703"/>
            <a:ext cx="0" cy="391478"/>
          </a:xfrm>
          <a:prstGeom prst="line">
            <a:avLst/>
          </a:prstGeom>
          <a:noFill/>
          <a:ln w="11430">
            <a:solidFill>
              <a:srgbClr val="00BCD4"/>
            </a:solidFill>
            <a:prstDash val="solid"/>
          </a:ln>
        </p:spPr>
      </p:sp>
      <p:sp>
        <p:nvSpPr>
          <p:cNvPr id="69" name="Text 67"/>
          <p:cNvSpPr/>
          <p:nvPr/>
        </p:nvSpPr>
        <p:spPr>
          <a:xfrm>
            <a:off x="4446270" y="4563428"/>
            <a:ext cx="371296" cy="114300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buNone/>
            </a:pPr>
            <a:r>
              <a:rPr lang="en-US" sz="720" spc="14" kern="0" dirty="0">
                <a:solidFill>
                  <a:srgbClr val="F1F5F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可靠性</a:t>
            </a:r>
            <a:endParaRPr lang="en-US" sz="720" dirty="0"/>
          </a:p>
        </p:txBody>
      </p:sp>
      <p:sp>
        <p:nvSpPr>
          <p:cNvPr id="70" name="Text 68"/>
          <p:cNvSpPr/>
          <p:nvPr/>
        </p:nvSpPr>
        <p:spPr>
          <a:xfrm>
            <a:off x="4446270" y="4712018"/>
            <a:ext cx="1464583" cy="80010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495" spc="20" kern="0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信号是否稳定、可复现、经得起长周期检验。</a:t>
            </a:r>
            <a:endParaRPr lang="en-US" sz="495" dirty="0"/>
          </a:p>
        </p:txBody>
      </p:sp>
      <p:sp>
        <p:nvSpPr>
          <p:cNvPr id="71" name="Shape 69"/>
          <p:cNvSpPr/>
          <p:nvPr/>
        </p:nvSpPr>
        <p:spPr>
          <a:xfrm>
            <a:off x="6606540" y="4477703"/>
            <a:ext cx="2171700" cy="391478"/>
          </a:xfrm>
          <a:prstGeom prst="rect">
            <a:avLst/>
          </a:prstGeom>
          <a:solidFill>
            <a:srgbClr val="1E293B">
              <a:alpha val="50000"/>
            </a:srgbClr>
          </a:solidFill>
          <a:ln/>
        </p:spPr>
      </p:sp>
      <p:sp>
        <p:nvSpPr>
          <p:cNvPr id="72" name="Shape 70"/>
          <p:cNvSpPr/>
          <p:nvPr/>
        </p:nvSpPr>
        <p:spPr>
          <a:xfrm>
            <a:off x="6606540" y="4477703"/>
            <a:ext cx="0" cy="391478"/>
          </a:xfrm>
          <a:prstGeom prst="line">
            <a:avLst/>
          </a:prstGeom>
          <a:noFill/>
          <a:ln w="11430">
            <a:solidFill>
              <a:srgbClr val="00BCD4"/>
            </a:solidFill>
            <a:prstDash val="solid"/>
          </a:ln>
        </p:spPr>
      </p:sp>
      <p:sp>
        <p:nvSpPr>
          <p:cNvPr id="73" name="Text 71"/>
          <p:cNvSpPr/>
          <p:nvPr/>
        </p:nvSpPr>
        <p:spPr>
          <a:xfrm>
            <a:off x="6732270" y="4563428"/>
            <a:ext cx="277981" cy="114300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buNone/>
            </a:pPr>
            <a:r>
              <a:rPr lang="en-US" sz="720" spc="14" kern="0" dirty="0">
                <a:solidFill>
                  <a:srgbClr val="F1F5F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产权</a:t>
            </a:r>
            <a:endParaRPr lang="en-US" sz="720" dirty="0"/>
          </a:p>
        </p:txBody>
      </p:sp>
      <p:sp>
        <p:nvSpPr>
          <p:cNvPr id="74" name="Text 72"/>
          <p:cNvSpPr/>
          <p:nvPr/>
        </p:nvSpPr>
        <p:spPr>
          <a:xfrm>
            <a:off x="6732270" y="4712018"/>
            <a:ext cx="1537792" cy="80010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495" spc="20" kern="0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数据与信号的归属边界——贡献、复用与流动。</a:t>
            </a:r>
            <a:endParaRPr lang="en-US" sz="495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05081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gradFill rotWithShape="1">
            <a:gsLst>
              <a:gs pos="0">
                <a:srgbClr val="000000">
                  <a:alpha val="5000"/>
                </a:srgbClr>
              </a:gs>
              <a:gs pos="25000">
                <a:srgbClr val="000000">
                  <a:alpha val="0"/>
                </a:srgbClr>
              </a:gs>
              <a:gs pos="50000">
                <a:srgbClr val="000000"/>
              </a:gs>
              <a:gs pos="75000">
                <a:srgbClr val="000000">
                  <a:alpha val="5000"/>
                </a:srgbClr>
              </a:gs>
              <a:gs pos="100000">
                <a:srgbClr val="000000">
                  <a:alpha val="0"/>
                </a:srgbClr>
              </a:gs>
            </a:gsLst>
            <a:lin ang="5400000" scaled="0"/>
          </a:gradFill>
          <a:ln/>
        </p:spPr>
      </p:sp>
      <p:sp>
        <p:nvSpPr>
          <p:cNvPr id="3" name="Shape 1"/>
          <p:cNvSpPr/>
          <p:nvPr/>
        </p:nvSpPr>
        <p:spPr>
          <a:xfrm>
            <a:off x="228600" y="228600"/>
            <a:ext cx="240030" cy="240030"/>
          </a:xfrm>
          <a:prstGeom prst="rect">
            <a:avLst/>
          </a:prstGeom>
          <a:noFill/>
          <a:ln/>
        </p:spPr>
      </p:sp>
      <p:sp>
        <p:nvSpPr>
          <p:cNvPr id="4" name="Shape 2"/>
          <p:cNvSpPr/>
          <p:nvPr/>
        </p:nvSpPr>
        <p:spPr>
          <a:xfrm>
            <a:off x="228600" y="228600"/>
            <a:ext cx="240030" cy="0"/>
          </a:xfrm>
          <a:prstGeom prst="line">
            <a:avLst/>
          </a:prstGeom>
          <a:noFill/>
          <a:ln w="5715">
            <a:solidFill>
              <a:srgbClr val="E8EEF5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228600" y="228600"/>
            <a:ext cx="0" cy="240030"/>
          </a:xfrm>
          <a:prstGeom prst="line">
            <a:avLst/>
          </a:prstGeom>
          <a:noFill/>
          <a:ln w="5715">
            <a:solidFill>
              <a:srgbClr val="E8EEF5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8675370" y="228600"/>
            <a:ext cx="240030" cy="240030"/>
          </a:xfrm>
          <a:prstGeom prst="rect">
            <a:avLst/>
          </a:prstGeom>
          <a:noFill/>
          <a:ln/>
        </p:spPr>
      </p:sp>
      <p:sp>
        <p:nvSpPr>
          <p:cNvPr id="7" name="Shape 5"/>
          <p:cNvSpPr/>
          <p:nvPr/>
        </p:nvSpPr>
        <p:spPr>
          <a:xfrm>
            <a:off x="8675370" y="228600"/>
            <a:ext cx="240030" cy="0"/>
          </a:xfrm>
          <a:prstGeom prst="line">
            <a:avLst/>
          </a:prstGeom>
          <a:noFill/>
          <a:ln w="5715">
            <a:solidFill>
              <a:srgbClr val="E8EEF5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8915400" y="228600"/>
            <a:ext cx="0" cy="240030"/>
          </a:xfrm>
          <a:prstGeom prst="line">
            <a:avLst/>
          </a:prstGeom>
          <a:noFill/>
          <a:ln w="5715">
            <a:solidFill>
              <a:srgbClr val="E8EEF5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228600" y="4674870"/>
            <a:ext cx="240030" cy="240030"/>
          </a:xfrm>
          <a:prstGeom prst="rect">
            <a:avLst/>
          </a:prstGeom>
          <a:noFill/>
          <a:ln/>
        </p:spPr>
      </p:sp>
      <p:sp>
        <p:nvSpPr>
          <p:cNvPr id="10" name="Shape 8"/>
          <p:cNvSpPr/>
          <p:nvPr/>
        </p:nvSpPr>
        <p:spPr>
          <a:xfrm>
            <a:off x="228600" y="4914900"/>
            <a:ext cx="240030" cy="0"/>
          </a:xfrm>
          <a:prstGeom prst="line">
            <a:avLst/>
          </a:prstGeom>
          <a:noFill/>
          <a:ln w="5715">
            <a:solidFill>
              <a:srgbClr val="E8EEF5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228600" y="4674870"/>
            <a:ext cx="0" cy="240030"/>
          </a:xfrm>
          <a:prstGeom prst="line">
            <a:avLst/>
          </a:prstGeom>
          <a:noFill/>
          <a:ln w="5715">
            <a:solidFill>
              <a:srgbClr val="E8EEF5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8675370" y="4674870"/>
            <a:ext cx="240030" cy="240030"/>
          </a:xfrm>
          <a:prstGeom prst="rect">
            <a:avLst/>
          </a:prstGeom>
          <a:noFill/>
          <a:ln/>
        </p:spPr>
      </p:sp>
      <p:sp>
        <p:nvSpPr>
          <p:cNvPr id="13" name="Shape 11"/>
          <p:cNvSpPr/>
          <p:nvPr/>
        </p:nvSpPr>
        <p:spPr>
          <a:xfrm>
            <a:off x="8915400" y="4674870"/>
            <a:ext cx="0" cy="240030"/>
          </a:xfrm>
          <a:prstGeom prst="line">
            <a:avLst/>
          </a:prstGeom>
          <a:noFill/>
          <a:ln w="5715">
            <a:solidFill>
              <a:srgbClr val="E8EEF5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8675370" y="4914900"/>
            <a:ext cx="240030" cy="0"/>
          </a:xfrm>
          <a:prstGeom prst="line">
            <a:avLst/>
          </a:prstGeom>
          <a:noFill/>
          <a:ln w="5715">
            <a:solidFill>
              <a:srgbClr val="E8EEF5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457200" y="388620"/>
            <a:ext cx="542925" cy="148590"/>
          </a:xfrm>
          <a:prstGeom prst="roundRect">
            <a:avLst>
              <a:gd name="adj" fmla="val 7692"/>
            </a:avLst>
          </a:prstGeom>
          <a:noFill/>
          <a:ln w="5715">
            <a:solidFill>
              <a:srgbClr val="00BCD4">
                <a:alpha val="25000"/>
              </a:srgbClr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57200" y="388620"/>
            <a:ext cx="608076" cy="148590"/>
          </a:xfrm>
          <a:prstGeom prst="rect">
            <a:avLst/>
          </a:prstGeom>
          <a:noFill/>
          <a:ln/>
        </p:spPr>
        <p:txBody>
          <a:bodyPr wrap="square" lIns="28575" tIns="68580" rIns="68580" bIns="28575" rtlCol="0" anchor="ctr"/>
          <a:lstStyle/>
          <a:p>
            <a:pPr algn="l" indent="0" marL="0">
              <a:buNone/>
            </a:pPr>
            <a:r>
              <a:rPr lang="en-US" sz="495" spc="135" kern="0" dirty="0">
                <a:solidFill>
                  <a:srgbClr val="00BCD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CLOSING</a:t>
            </a:r>
            <a:endParaRPr lang="en-US" sz="495" dirty="0"/>
          </a:p>
        </p:txBody>
      </p:sp>
      <p:sp>
        <p:nvSpPr>
          <p:cNvPr id="17" name="Text 15"/>
          <p:cNvSpPr/>
          <p:nvPr/>
        </p:nvSpPr>
        <p:spPr>
          <a:xfrm>
            <a:off x="1091565" y="408623"/>
            <a:ext cx="1350569" cy="108585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buNone/>
            </a:pPr>
            <a:r>
              <a:rPr lang="en-US" sz="585" spc="180" kern="0" dirty="0">
                <a:solidFill>
                  <a:srgbClr val="8AA0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结语 · 开源之为思想的力量</a:t>
            </a:r>
            <a:endParaRPr lang="en-US" sz="585" dirty="0"/>
          </a:p>
        </p:txBody>
      </p:sp>
      <p:sp>
        <p:nvSpPr>
          <p:cNvPr id="18" name="Text 16"/>
          <p:cNvSpPr/>
          <p:nvPr/>
        </p:nvSpPr>
        <p:spPr>
          <a:xfrm>
            <a:off x="7378065" y="388620"/>
            <a:ext cx="1465783" cy="148590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r" indent="0" marL="0">
              <a:buNone/>
            </a:pPr>
            <a:r>
              <a:rPr lang="en-US" sz="990" spc="45" kern="0" dirty="0">
                <a:solidFill>
                  <a:srgbClr val="00BCD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— FIN —</a:t>
            </a:r>
            <a:endParaRPr lang="en-US" sz="990" dirty="0"/>
          </a:p>
        </p:txBody>
      </p:sp>
      <p:sp>
        <p:nvSpPr>
          <p:cNvPr id="19" name="Text 17"/>
          <p:cNvSpPr/>
          <p:nvPr/>
        </p:nvSpPr>
        <p:spPr>
          <a:xfrm>
            <a:off x="7378065" y="537210"/>
            <a:ext cx="1465783" cy="80010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r" indent="0" marL="0">
              <a:buNone/>
            </a:pPr>
            <a:r>
              <a:rPr lang="en-US" sz="495" spc="90" kern="0" dirty="0">
                <a:solidFill>
                  <a:srgbClr val="8AA0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OPEN SOURCE × AGENT × IDEAS</a:t>
            </a:r>
            <a:endParaRPr lang="en-US" sz="495" dirty="0"/>
          </a:p>
        </p:txBody>
      </p:sp>
      <p:sp>
        <p:nvSpPr>
          <p:cNvPr id="20" name="Text 18"/>
          <p:cNvSpPr/>
          <p:nvPr/>
        </p:nvSpPr>
        <p:spPr>
          <a:xfrm>
            <a:off x="3137535" y="880110"/>
            <a:ext cx="674370" cy="91440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ctr" indent="0" marL="0">
              <a:buNone/>
            </a:pPr>
            <a:r>
              <a:rPr lang="en-US" sz="585" spc="360" kern="0" dirty="0">
                <a:solidFill>
                  <a:srgbClr val="8AA0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收束与落点</a:t>
            </a:r>
            <a:endParaRPr lang="en-US" sz="585" dirty="0"/>
          </a:p>
        </p:txBody>
      </p:sp>
      <p:sp>
        <p:nvSpPr>
          <p:cNvPr id="21" name="Shape 19"/>
          <p:cNvSpPr/>
          <p:nvPr/>
        </p:nvSpPr>
        <p:spPr>
          <a:xfrm>
            <a:off x="3886200" y="908417"/>
            <a:ext cx="34290" cy="34290"/>
          </a:xfrm>
          <a:prstGeom prst="ellipse">
            <a:avLst/>
          </a:prstGeom>
          <a:solidFill>
            <a:srgbClr val="00BCD4"/>
          </a:solidFill>
          <a:ln/>
          <a:effectLst>
            <a:outerShdw sx="100000" sy="100000" kx="0" ky="0" algn="bl" rotWithShape="0" blurRad="114300" dist="50800" dir="16200000">
              <a:srgbClr val="00BCD4">
                <a:alpha val="100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4069080" y="880110"/>
            <a:ext cx="2169871" cy="91440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ctr" indent="0" marL="0">
              <a:buNone/>
            </a:pPr>
            <a:r>
              <a:rPr lang="en-US" sz="585" spc="360" kern="0" dirty="0">
                <a:solidFill>
                  <a:srgbClr val="8AA0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Thought · System · Code</a:t>
            </a:r>
            <a:endParaRPr lang="en-US" sz="585" dirty="0"/>
          </a:p>
        </p:txBody>
      </p:sp>
      <p:sp>
        <p:nvSpPr>
          <p:cNvPr id="23" name="Text 21"/>
          <p:cNvSpPr/>
          <p:nvPr/>
        </p:nvSpPr>
        <p:spPr>
          <a:xfrm>
            <a:off x="1863090" y="1034415"/>
            <a:ext cx="932688" cy="548640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4320" dirty="0">
                <a:solidFill>
                  <a:srgbClr val="00BCD4">
                    <a:alpha val="35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"</a:t>
            </a:r>
            <a:endParaRPr lang="en-US" sz="4320" dirty="0"/>
          </a:p>
        </p:txBody>
      </p:sp>
      <p:sp>
        <p:nvSpPr>
          <p:cNvPr id="24" name="Text 22"/>
          <p:cNvSpPr/>
          <p:nvPr/>
        </p:nvSpPr>
        <p:spPr>
          <a:xfrm>
            <a:off x="2205990" y="1102995"/>
            <a:ext cx="5299862" cy="578287"/>
          </a:xfrm>
          <a:prstGeom prst="rect">
            <a:avLst/>
          </a:prstGeom>
          <a:noFill/>
          <a:ln/>
          <a:effectLst>
            <a:outerShdw sx="100000" sy="100000" kx="0" ky="0" algn="bl" rotWithShape="0" blurRad="342900" dist="50800" dir="5400000">
              <a:srgbClr val="00BCD4">
                <a:alpha val="15000"/>
              </a:srgbClr>
            </a:outerShdw>
          </a:effectLst>
        </p:spPr>
        <p:txBody>
          <a:bodyPr wrap="square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3960" b="1" spc="180" kern="0" dirty="0">
                <a:solidFill>
                  <a:srgbClr val="E8EEF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思想是制度的</a:t>
            </a:r>
            <a:pPr algn="ctr" indent="0" marL="0">
              <a:lnSpc>
                <a:spcPct val="115000"/>
              </a:lnSpc>
              <a:buNone/>
            </a:pPr>
            <a:r>
              <a:rPr lang="en-US" sz="3960" b="1" spc="180" kern="0" dirty="0">
                <a:solidFill>
                  <a:srgbClr val="F0F7F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源代码</a:t>
            </a:r>
            <a:endParaRPr lang="en-US" sz="3960" dirty="0"/>
          </a:p>
        </p:txBody>
      </p:sp>
      <p:sp>
        <p:nvSpPr>
          <p:cNvPr id="25" name="Text 23"/>
          <p:cNvSpPr/>
          <p:nvPr/>
        </p:nvSpPr>
        <p:spPr>
          <a:xfrm>
            <a:off x="5360670" y="1085850"/>
            <a:ext cx="2080260" cy="605790"/>
          </a:xfrm>
          <a:prstGeom prst="rect">
            <a:avLst/>
          </a:prstGeom>
          <a:noFill/>
          <a:ln/>
          <a:effectLst>
            <a:outerShdw sx="100000" sy="100000" kx="0" ky="0" algn="bl" rotWithShape="0" blurRad="342900" dist="50800" dir="5400000">
              <a:srgbClr val="00BCD4">
                <a:alpha val="15000"/>
              </a:srgbClr>
            </a:outerShdw>
          </a:effectLst>
        </p:spPr>
        <p:txBody>
          <a:bodyPr wrap="none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3960" b="1" spc="180" kern="0" dirty="0">
                <a:solidFill>
                  <a:srgbClr val="00BCD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源代码</a:t>
            </a:r>
            <a:endParaRPr lang="en-US" sz="3960" dirty="0"/>
          </a:p>
        </p:txBody>
      </p:sp>
      <p:sp>
        <p:nvSpPr>
          <p:cNvPr id="26" name="Text 24"/>
          <p:cNvSpPr/>
          <p:nvPr/>
        </p:nvSpPr>
        <p:spPr>
          <a:xfrm>
            <a:off x="7040880" y="1304092"/>
            <a:ext cx="932688" cy="548640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4320" dirty="0">
                <a:solidFill>
                  <a:srgbClr val="00BCD4">
                    <a:alpha val="35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"</a:t>
            </a:r>
            <a:endParaRPr lang="en-US" sz="4320" dirty="0"/>
          </a:p>
        </p:txBody>
      </p:sp>
      <p:sp>
        <p:nvSpPr>
          <p:cNvPr id="27" name="Text 25"/>
          <p:cNvSpPr/>
          <p:nvPr/>
        </p:nvSpPr>
        <p:spPr>
          <a:xfrm>
            <a:off x="457200" y="1807012"/>
            <a:ext cx="9217152" cy="12001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75" spc="225" kern="0" dirty="0">
                <a:solidFill>
                  <a:srgbClr val="8AA0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不是规则在动</a:t>
            </a:r>
            <a:pPr algn="ctr" indent="0" marL="0">
              <a:buNone/>
            </a:pPr>
            <a:r>
              <a:rPr lang="en-US" sz="675" spc="225" kern="0" dirty="0">
                <a:solidFill>
                  <a:srgbClr val="00BCD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/</a:t>
            </a:r>
            <a:pPr algn="ctr" indent="0" marL="0">
              <a:buNone/>
            </a:pPr>
            <a:r>
              <a:rPr lang="en-US" sz="675" spc="225" kern="0" dirty="0">
                <a:solidFill>
                  <a:srgbClr val="8AA0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是思想在动</a:t>
            </a:r>
            <a:pPr algn="ctr" indent="0" marL="0">
              <a:buNone/>
            </a:pPr>
            <a:r>
              <a:rPr lang="en-US" sz="675" spc="225" kern="0" dirty="0">
                <a:solidFill>
                  <a:srgbClr val="00BCD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/</a:t>
            </a:r>
            <a:pPr algn="ctr" indent="0" marL="0">
              <a:buNone/>
            </a:pPr>
            <a:r>
              <a:rPr lang="en-US" sz="675" spc="225" kern="0" dirty="0">
                <a:solidFill>
                  <a:srgbClr val="8AA0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Keep Movement</a:t>
            </a:r>
            <a:endParaRPr lang="en-US" sz="675" dirty="0"/>
          </a:p>
        </p:txBody>
      </p:sp>
      <p:sp>
        <p:nvSpPr>
          <p:cNvPr id="28" name="Shape 26"/>
          <p:cNvSpPr/>
          <p:nvPr/>
        </p:nvSpPr>
        <p:spPr>
          <a:xfrm>
            <a:off x="3451860" y="2152769"/>
            <a:ext cx="685800" cy="5715"/>
          </a:xfrm>
          <a:prstGeom prst="rect">
            <a:avLst/>
          </a:prstGeom>
          <a:gradFill rotWithShape="1">
            <a:gsLst>
              <a:gs pos="0">
                <a:srgbClr val="000000">
                  <a:alpha val="0"/>
                </a:srgbClr>
              </a:gs>
              <a:gs pos="50000">
                <a:srgbClr val="00BCD4">
                  <a:alpha val="25000"/>
                </a:srgbClr>
              </a:gs>
              <a:gs pos="100000">
                <a:srgbClr val="000000">
                  <a:alpha val="0"/>
                </a:srgbClr>
              </a:gs>
            </a:gsLst>
            <a:lin ang="0" scaled="0"/>
          </a:gradFill>
          <a:ln/>
        </p:spPr>
      </p:sp>
      <p:sp>
        <p:nvSpPr>
          <p:cNvPr id="29" name="Text 27"/>
          <p:cNvSpPr/>
          <p:nvPr/>
        </p:nvSpPr>
        <p:spPr>
          <a:xfrm>
            <a:off x="4240530" y="2121337"/>
            <a:ext cx="742493" cy="68580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buNone/>
            </a:pPr>
            <a:r>
              <a:rPr lang="en-US" sz="450" spc="180" kern="0" dirty="0">
                <a:solidFill>
                  <a:srgbClr val="00BCD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FOUR · TAKES</a:t>
            </a:r>
            <a:endParaRPr lang="en-US" sz="450" dirty="0"/>
          </a:p>
        </p:txBody>
      </p:sp>
      <p:sp>
        <p:nvSpPr>
          <p:cNvPr id="30" name="Shape 28"/>
          <p:cNvSpPr/>
          <p:nvPr/>
        </p:nvSpPr>
        <p:spPr>
          <a:xfrm>
            <a:off x="5006340" y="2152769"/>
            <a:ext cx="685800" cy="5715"/>
          </a:xfrm>
          <a:prstGeom prst="rect">
            <a:avLst/>
          </a:prstGeom>
          <a:gradFill rotWithShape="1">
            <a:gsLst>
              <a:gs pos="0">
                <a:srgbClr val="000000">
                  <a:alpha val="0"/>
                </a:srgbClr>
              </a:gs>
              <a:gs pos="50000">
                <a:srgbClr val="00BCD4">
                  <a:alpha val="25000"/>
                </a:srgbClr>
              </a:gs>
              <a:gs pos="100000">
                <a:srgbClr val="000000">
                  <a:alpha val="0"/>
                </a:srgbClr>
              </a:gs>
            </a:gsLst>
            <a:lin ang="0" scaled="0"/>
          </a:gradFill>
          <a:ln/>
        </p:spPr>
      </p:sp>
      <p:sp>
        <p:nvSpPr>
          <p:cNvPr id="31" name="Shape 29"/>
          <p:cNvSpPr/>
          <p:nvPr/>
        </p:nvSpPr>
        <p:spPr>
          <a:xfrm>
            <a:off x="457200" y="2361367"/>
            <a:ext cx="1971675" cy="1143000"/>
          </a:xfrm>
          <a:prstGeom prst="rect">
            <a:avLst/>
          </a:prstGeom>
          <a:solidFill>
            <a:srgbClr val="1E293B">
              <a:alpha val="55000"/>
            </a:srgbClr>
          </a:solidFill>
          <a:ln w="11430">
            <a:solidFill>
              <a:srgbClr val="00BCD4">
                <a:alpha val="15000"/>
              </a:srgbClr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457200" y="2349937"/>
            <a:ext cx="228600" cy="11430"/>
          </a:xfrm>
          <a:prstGeom prst="rect">
            <a:avLst/>
          </a:prstGeom>
          <a:solidFill>
            <a:srgbClr val="00BCD4"/>
          </a:solidFill>
          <a:ln/>
          <a:effectLst>
            <a:outerShdw sx="100000" sy="100000" kx="0" ky="0" algn="bl" rotWithShape="0" blurRad="114300" dist="50800" dir="16200000">
              <a:srgbClr val="00BCD4">
                <a:alpha val="100000"/>
              </a:srgbClr>
            </a:outerShdw>
          </a:effectLst>
        </p:spPr>
      </p:sp>
      <p:sp>
        <p:nvSpPr>
          <p:cNvPr id="33" name="Text 31"/>
          <p:cNvSpPr/>
          <p:nvPr/>
        </p:nvSpPr>
        <p:spPr>
          <a:xfrm>
            <a:off x="588645" y="2498527"/>
            <a:ext cx="1913839" cy="80010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buNone/>
            </a:pPr>
            <a:r>
              <a:rPr lang="en-US" sz="495" spc="135" kern="0" dirty="0">
                <a:solidFill>
                  <a:srgbClr val="00BCD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01 · SHIFT</a:t>
            </a:r>
            <a:endParaRPr lang="en-US" sz="495" dirty="0"/>
          </a:p>
        </p:txBody>
      </p:sp>
      <p:sp>
        <p:nvSpPr>
          <p:cNvPr id="34" name="Shape 32"/>
          <p:cNvSpPr/>
          <p:nvPr/>
        </p:nvSpPr>
        <p:spPr>
          <a:xfrm>
            <a:off x="588645" y="2498527"/>
            <a:ext cx="1194435" cy="5715"/>
          </a:xfrm>
          <a:prstGeom prst="rect">
            <a:avLst/>
          </a:prstGeom>
          <a:gradFill rotWithShape="1">
            <a:gsLst>
              <a:gs pos="0">
                <a:srgbClr val="00BCD4">
                  <a:alpha val="25000"/>
                </a:srgbClr>
              </a:gs>
              <a:gs pos="100000">
                <a:srgbClr val="000000">
                  <a:alpha val="0"/>
                </a:srgbClr>
              </a:gs>
            </a:gsLst>
            <a:lin ang="0" scaled="0"/>
          </a:gradFill>
          <a:ln/>
        </p:spPr>
      </p:sp>
      <p:sp>
        <p:nvSpPr>
          <p:cNvPr id="35" name="Text 33"/>
          <p:cNvSpPr/>
          <p:nvPr/>
        </p:nvSpPr>
        <p:spPr>
          <a:xfrm>
            <a:off x="588645" y="2635687"/>
            <a:ext cx="1913839" cy="141089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855" b="1" spc="45" kern="0" dirty="0">
                <a:solidFill>
                  <a:srgbClr val="E8EEF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从 Agent 到制度</a:t>
            </a:r>
            <a:endParaRPr lang="en-US" sz="855" dirty="0"/>
          </a:p>
        </p:txBody>
      </p:sp>
      <p:sp>
        <p:nvSpPr>
          <p:cNvPr id="36" name="Text 34"/>
          <p:cNvSpPr/>
          <p:nvPr/>
        </p:nvSpPr>
        <p:spPr>
          <a:xfrm>
            <a:off x="588645" y="2845356"/>
            <a:ext cx="1913839" cy="378797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70000"/>
              </a:lnSpc>
              <a:buNone/>
            </a:pPr>
            <a:r>
              <a:rPr lang="en-US" sz="585" spc="14" kern="0" dirty="0">
                <a:solidFill>
                  <a:srgbClr val="E8EEF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Hermes 是样本，不是终点。</a:t>
            </a:r>
            <a:pPr algn="l" indent="0" marL="0">
              <a:lnSpc>
                <a:spcPct val="170000"/>
              </a:lnSpc>
              <a:buNone/>
            </a:pPr>
            <a:endParaRPr lang="en-US" sz="585" dirty="0"/>
          </a:p>
          <a:p>
            <a:pPr algn="l" indent="0" marL="0">
              <a:lnSpc>
                <a:spcPct val="170000"/>
              </a:lnSpc>
              <a:buNone/>
            </a:pPr>
            <a:r>
              <a:rPr lang="en-US" sz="585" spc="14" kern="0" dirty="0">
                <a:solidFill>
                  <a:srgbClr val="8AA0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单个 Agent 的能力边界，正在被重新编译为可复制、可演化的制度结构。</a:t>
            </a:r>
            <a:endParaRPr lang="en-US" sz="585" dirty="0"/>
          </a:p>
        </p:txBody>
      </p:sp>
      <p:sp>
        <p:nvSpPr>
          <p:cNvPr id="37" name="Shape 35"/>
          <p:cNvSpPr/>
          <p:nvPr/>
        </p:nvSpPr>
        <p:spPr>
          <a:xfrm>
            <a:off x="2543175" y="2361367"/>
            <a:ext cx="1971675" cy="1143000"/>
          </a:xfrm>
          <a:prstGeom prst="rect">
            <a:avLst/>
          </a:prstGeom>
          <a:solidFill>
            <a:srgbClr val="1E293B">
              <a:alpha val="55000"/>
            </a:srgbClr>
          </a:solidFill>
          <a:ln w="11430">
            <a:solidFill>
              <a:srgbClr val="00BCD4">
                <a:alpha val="15000"/>
              </a:srgbClr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2543175" y="2349937"/>
            <a:ext cx="228600" cy="11430"/>
          </a:xfrm>
          <a:prstGeom prst="rect">
            <a:avLst/>
          </a:prstGeom>
          <a:solidFill>
            <a:srgbClr val="00BCD4"/>
          </a:solidFill>
          <a:ln/>
          <a:effectLst>
            <a:outerShdw sx="100000" sy="100000" kx="0" ky="0" algn="bl" rotWithShape="0" blurRad="114300" dist="50800" dir="16200000">
              <a:srgbClr val="00BCD4">
                <a:alpha val="100000"/>
              </a:srgbClr>
            </a:outerShdw>
          </a:effectLst>
        </p:spPr>
      </p:sp>
      <p:sp>
        <p:nvSpPr>
          <p:cNvPr id="39" name="Text 37"/>
          <p:cNvSpPr/>
          <p:nvPr/>
        </p:nvSpPr>
        <p:spPr>
          <a:xfrm>
            <a:off x="2674620" y="2498527"/>
            <a:ext cx="1913839" cy="80010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buNone/>
            </a:pPr>
            <a:r>
              <a:rPr lang="en-US" sz="495" spc="135" kern="0" dirty="0">
                <a:solidFill>
                  <a:srgbClr val="00BCD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02 · DOCTRINE</a:t>
            </a:r>
            <a:endParaRPr lang="en-US" sz="495" dirty="0"/>
          </a:p>
        </p:txBody>
      </p:sp>
      <p:sp>
        <p:nvSpPr>
          <p:cNvPr id="40" name="Shape 38"/>
          <p:cNvSpPr/>
          <p:nvPr/>
        </p:nvSpPr>
        <p:spPr>
          <a:xfrm>
            <a:off x="2674620" y="2498527"/>
            <a:ext cx="988695" cy="5715"/>
          </a:xfrm>
          <a:prstGeom prst="rect">
            <a:avLst/>
          </a:prstGeom>
          <a:gradFill rotWithShape="1">
            <a:gsLst>
              <a:gs pos="0">
                <a:srgbClr val="00BCD4">
                  <a:alpha val="25000"/>
                </a:srgbClr>
              </a:gs>
              <a:gs pos="100000">
                <a:srgbClr val="000000">
                  <a:alpha val="0"/>
                </a:srgbClr>
              </a:gs>
            </a:gsLst>
            <a:lin ang="0" scaled="0"/>
          </a:gradFill>
          <a:ln/>
        </p:spPr>
      </p:sp>
      <p:sp>
        <p:nvSpPr>
          <p:cNvPr id="41" name="Text 39"/>
          <p:cNvSpPr/>
          <p:nvPr/>
        </p:nvSpPr>
        <p:spPr>
          <a:xfrm>
            <a:off x="2674620" y="2635687"/>
            <a:ext cx="1913839" cy="141089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855" b="1" spc="45" kern="0" dirty="0">
                <a:solidFill>
                  <a:srgbClr val="E8EEF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开源之道</a:t>
            </a:r>
            <a:endParaRPr lang="en-US" sz="855" dirty="0"/>
          </a:p>
        </p:txBody>
      </p:sp>
      <p:sp>
        <p:nvSpPr>
          <p:cNvPr id="42" name="Text 40"/>
          <p:cNvSpPr/>
          <p:nvPr/>
        </p:nvSpPr>
        <p:spPr>
          <a:xfrm>
            <a:off x="2674620" y="2845356"/>
            <a:ext cx="1913839" cy="378797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70000"/>
              </a:lnSpc>
              <a:buNone/>
            </a:pPr>
            <a:r>
              <a:rPr lang="en-US" sz="585" spc="14" kern="0" dirty="0">
                <a:solidFill>
                  <a:srgbClr val="8AA0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道是</a:t>
            </a:r>
            <a:pPr algn="l" indent="0" marL="0">
              <a:lnSpc>
                <a:spcPct val="170000"/>
              </a:lnSpc>
              <a:buNone/>
            </a:pPr>
            <a:r>
              <a:rPr lang="en-US" sz="585" spc="14" kern="0" dirty="0">
                <a:solidFill>
                  <a:srgbClr val="E8EEF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思想（idea）</a:t>
            </a:r>
            <a:pPr algn="l" indent="0" marL="0">
              <a:lnSpc>
                <a:spcPct val="170000"/>
              </a:lnSpc>
              <a:buNone/>
            </a:pPr>
            <a:r>
              <a:rPr lang="en-US" sz="585" spc="14" kern="0" dirty="0">
                <a:solidFill>
                  <a:srgbClr val="8AA0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，不是道路（road）。</a:t>
            </a:r>
            <a:pPr algn="l" indent="0" marL="0">
              <a:lnSpc>
                <a:spcPct val="170000"/>
              </a:lnSpc>
              <a:buNone/>
            </a:pPr>
            <a:endParaRPr lang="en-US" sz="585" dirty="0"/>
          </a:p>
          <a:p>
            <a:pPr algn="l" indent="0" marL="0">
              <a:lnSpc>
                <a:spcPct val="170000"/>
              </a:lnSpc>
              <a:buNone/>
            </a:pPr>
            <a:r>
              <a:rPr lang="en-US" sz="585" spc="14" kern="0" dirty="0">
                <a:solidFill>
                  <a:srgbClr val="8AA0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开源不是路径依赖，是一种以共享为底色的思维方式。</a:t>
            </a:r>
            <a:endParaRPr lang="en-US" sz="585" dirty="0"/>
          </a:p>
        </p:txBody>
      </p:sp>
      <p:sp>
        <p:nvSpPr>
          <p:cNvPr id="43" name="Shape 41"/>
          <p:cNvSpPr/>
          <p:nvPr/>
        </p:nvSpPr>
        <p:spPr>
          <a:xfrm>
            <a:off x="4629150" y="2361367"/>
            <a:ext cx="1971675" cy="1143000"/>
          </a:xfrm>
          <a:prstGeom prst="rect">
            <a:avLst/>
          </a:prstGeom>
          <a:solidFill>
            <a:srgbClr val="1E293B">
              <a:alpha val="55000"/>
            </a:srgbClr>
          </a:solidFill>
          <a:ln w="11430">
            <a:solidFill>
              <a:srgbClr val="00BCD4">
                <a:alpha val="15000"/>
              </a:srgbClr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4629150" y="2349937"/>
            <a:ext cx="228600" cy="11430"/>
          </a:xfrm>
          <a:prstGeom prst="rect">
            <a:avLst/>
          </a:prstGeom>
          <a:solidFill>
            <a:srgbClr val="00BCD4"/>
          </a:solidFill>
          <a:ln/>
          <a:effectLst>
            <a:outerShdw sx="100000" sy="100000" kx="0" ky="0" algn="bl" rotWithShape="0" blurRad="114300" dist="50800" dir="16200000">
              <a:srgbClr val="00BCD4">
                <a:alpha val="100000"/>
              </a:srgbClr>
            </a:outerShdw>
          </a:effectLst>
        </p:spPr>
      </p:sp>
      <p:sp>
        <p:nvSpPr>
          <p:cNvPr id="45" name="Text 43"/>
          <p:cNvSpPr/>
          <p:nvPr/>
        </p:nvSpPr>
        <p:spPr>
          <a:xfrm>
            <a:off x="4760595" y="2498527"/>
            <a:ext cx="1913839" cy="80010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buNone/>
            </a:pPr>
            <a:r>
              <a:rPr lang="en-US" sz="495" spc="135" kern="0" dirty="0">
                <a:solidFill>
                  <a:srgbClr val="00BCD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03 · MOTION</a:t>
            </a:r>
            <a:endParaRPr lang="en-US" sz="495" dirty="0"/>
          </a:p>
        </p:txBody>
      </p:sp>
      <p:sp>
        <p:nvSpPr>
          <p:cNvPr id="46" name="Shape 44"/>
          <p:cNvSpPr/>
          <p:nvPr/>
        </p:nvSpPr>
        <p:spPr>
          <a:xfrm>
            <a:off x="4760595" y="2498527"/>
            <a:ext cx="1091565" cy="5715"/>
          </a:xfrm>
          <a:prstGeom prst="rect">
            <a:avLst/>
          </a:prstGeom>
          <a:gradFill rotWithShape="1">
            <a:gsLst>
              <a:gs pos="0">
                <a:srgbClr val="00BCD4">
                  <a:alpha val="25000"/>
                </a:srgbClr>
              </a:gs>
              <a:gs pos="100000">
                <a:srgbClr val="000000">
                  <a:alpha val="0"/>
                </a:srgbClr>
              </a:gs>
            </a:gsLst>
            <a:lin ang="0" scaled="0"/>
          </a:gradFill>
          <a:ln/>
        </p:spPr>
      </p:sp>
      <p:sp>
        <p:nvSpPr>
          <p:cNvPr id="47" name="Text 45"/>
          <p:cNvSpPr/>
          <p:nvPr/>
        </p:nvSpPr>
        <p:spPr>
          <a:xfrm>
            <a:off x="4760595" y="2635687"/>
            <a:ext cx="1913839" cy="14108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855" b="1" spc="45" kern="0" dirty="0">
                <a:solidFill>
                  <a:srgbClr val="E8EEF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Keep</a:t>
            </a:r>
            <a:pPr algn="l" indent="0" marL="0">
              <a:lnSpc>
                <a:spcPct val="130000"/>
              </a:lnSpc>
              <a:buNone/>
            </a:pPr>
            <a:r>
              <a:rPr lang="en-US" sz="855" b="1" spc="45" kern="0" dirty="0">
                <a:solidFill>
                  <a:srgbClr val="FF704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Movement</a:t>
            </a:r>
            <a:endParaRPr lang="en-US" sz="855" dirty="0"/>
          </a:p>
        </p:txBody>
      </p:sp>
      <p:sp>
        <p:nvSpPr>
          <p:cNvPr id="48" name="Text 46"/>
          <p:cNvSpPr/>
          <p:nvPr/>
        </p:nvSpPr>
        <p:spPr>
          <a:xfrm>
            <a:off x="4760595" y="2845356"/>
            <a:ext cx="1913839" cy="2525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70000"/>
              </a:lnSpc>
              <a:buNone/>
            </a:pPr>
            <a:r>
              <a:rPr lang="en-US" sz="585" spc="14" kern="0" dirty="0">
                <a:solidFill>
                  <a:srgbClr val="8AA0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知识不是静止的，</a:t>
            </a:r>
            <a:pPr algn="l" indent="0" marL="0">
              <a:lnSpc>
                <a:spcPct val="170000"/>
              </a:lnSpc>
              <a:buNone/>
            </a:pPr>
            <a:r>
              <a:rPr lang="en-US" sz="585" spc="14" kern="0" dirty="0">
                <a:solidFill>
                  <a:srgbClr val="E8EEF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是在移动中产生的</a:t>
            </a:r>
            <a:pPr algn="l" indent="0" marL="0">
              <a:lnSpc>
                <a:spcPct val="170000"/>
              </a:lnSpc>
              <a:buNone/>
            </a:pPr>
            <a:r>
              <a:rPr lang="en-US" sz="585" spc="14" kern="0" dirty="0">
                <a:solidFill>
                  <a:srgbClr val="8AA0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。</a:t>
            </a:r>
            <a:pPr algn="l" indent="0" marL="0">
              <a:lnSpc>
                <a:spcPct val="170000"/>
              </a:lnSpc>
              <a:buNone/>
            </a:pPr>
            <a:endParaRPr lang="en-US" sz="585" dirty="0"/>
          </a:p>
          <a:p>
            <a:pPr algn="l" indent="0" marL="0">
              <a:lnSpc>
                <a:spcPct val="170000"/>
              </a:lnSpc>
              <a:buNone/>
            </a:pPr>
            <a:r>
              <a:rPr lang="en-US" sz="585" spc="14" kern="0" dirty="0">
                <a:solidFill>
                  <a:srgbClr val="8AA0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停滞即固化；流动本身就是创造，演化才有意义。</a:t>
            </a:r>
            <a:endParaRPr lang="en-US" sz="585" dirty="0"/>
          </a:p>
        </p:txBody>
      </p:sp>
      <p:sp>
        <p:nvSpPr>
          <p:cNvPr id="49" name="Shape 47"/>
          <p:cNvSpPr/>
          <p:nvPr/>
        </p:nvSpPr>
        <p:spPr>
          <a:xfrm>
            <a:off x="6715125" y="2361367"/>
            <a:ext cx="1971675" cy="1143000"/>
          </a:xfrm>
          <a:prstGeom prst="rect">
            <a:avLst/>
          </a:prstGeom>
          <a:solidFill>
            <a:srgbClr val="1E293B">
              <a:alpha val="55000"/>
            </a:srgbClr>
          </a:solidFill>
          <a:ln w="11430">
            <a:solidFill>
              <a:srgbClr val="00BCD4">
                <a:alpha val="15000"/>
              </a:srgbClr>
            </a:solidFill>
            <a:prstDash val="solid"/>
          </a:ln>
        </p:spPr>
      </p:sp>
      <p:sp>
        <p:nvSpPr>
          <p:cNvPr id="50" name="Shape 48"/>
          <p:cNvSpPr/>
          <p:nvPr/>
        </p:nvSpPr>
        <p:spPr>
          <a:xfrm>
            <a:off x="6715125" y="2349937"/>
            <a:ext cx="228600" cy="11430"/>
          </a:xfrm>
          <a:prstGeom prst="rect">
            <a:avLst/>
          </a:prstGeom>
          <a:solidFill>
            <a:srgbClr val="00BCD4"/>
          </a:solidFill>
          <a:ln/>
          <a:effectLst>
            <a:outerShdw sx="100000" sy="100000" kx="0" ky="0" algn="bl" rotWithShape="0" blurRad="114300" dist="50800" dir="16200000">
              <a:srgbClr val="00BCD4">
                <a:alpha val="100000"/>
              </a:srgbClr>
            </a:outerShdw>
          </a:effectLst>
        </p:spPr>
      </p:sp>
      <p:sp>
        <p:nvSpPr>
          <p:cNvPr id="51" name="Text 49"/>
          <p:cNvSpPr/>
          <p:nvPr/>
        </p:nvSpPr>
        <p:spPr>
          <a:xfrm>
            <a:off x="6846570" y="2498527"/>
            <a:ext cx="1913839" cy="80010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buNone/>
            </a:pPr>
            <a:r>
              <a:rPr lang="en-US" sz="495" spc="135" kern="0" dirty="0">
                <a:solidFill>
                  <a:srgbClr val="00BCD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04 · BLANK</a:t>
            </a:r>
            <a:endParaRPr lang="en-US" sz="495" dirty="0"/>
          </a:p>
        </p:txBody>
      </p:sp>
      <p:sp>
        <p:nvSpPr>
          <p:cNvPr id="52" name="Shape 50"/>
          <p:cNvSpPr/>
          <p:nvPr/>
        </p:nvSpPr>
        <p:spPr>
          <a:xfrm>
            <a:off x="6846570" y="2498527"/>
            <a:ext cx="1148715" cy="5715"/>
          </a:xfrm>
          <a:prstGeom prst="rect">
            <a:avLst/>
          </a:prstGeom>
          <a:gradFill rotWithShape="1">
            <a:gsLst>
              <a:gs pos="0">
                <a:srgbClr val="00BCD4">
                  <a:alpha val="25000"/>
                </a:srgbClr>
              </a:gs>
              <a:gs pos="100000">
                <a:srgbClr val="000000">
                  <a:alpha val="0"/>
                </a:srgbClr>
              </a:gs>
            </a:gsLst>
            <a:lin ang="0" scaled="0"/>
          </a:gradFill>
          <a:ln/>
        </p:spPr>
      </p:sp>
      <p:sp>
        <p:nvSpPr>
          <p:cNvPr id="53" name="Text 51"/>
          <p:cNvSpPr/>
          <p:nvPr/>
        </p:nvSpPr>
        <p:spPr>
          <a:xfrm>
            <a:off x="6846570" y="2635687"/>
            <a:ext cx="1913839" cy="141089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855" b="1" spc="45" kern="0" dirty="0">
                <a:solidFill>
                  <a:srgbClr val="E8EEF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一句留白</a:t>
            </a:r>
            <a:endParaRPr lang="en-US" sz="855" dirty="0"/>
          </a:p>
        </p:txBody>
      </p:sp>
      <p:sp>
        <p:nvSpPr>
          <p:cNvPr id="54" name="Text 52"/>
          <p:cNvSpPr/>
          <p:nvPr/>
        </p:nvSpPr>
        <p:spPr>
          <a:xfrm>
            <a:off x="6846570" y="2845356"/>
            <a:ext cx="1913839" cy="2525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70000"/>
              </a:lnSpc>
              <a:buNone/>
            </a:pPr>
            <a:r>
              <a:rPr lang="en-US" sz="585" spc="14" kern="0" dirty="0">
                <a:solidFill>
                  <a:srgbClr val="8AA0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不是要证明什么——</a:t>
            </a:r>
            <a:pPr algn="l" indent="0" marL="0">
              <a:lnSpc>
                <a:spcPct val="170000"/>
              </a:lnSpc>
              <a:buNone/>
            </a:pPr>
            <a:r>
              <a:rPr lang="en-US" sz="585" spc="14" kern="0" dirty="0">
                <a:solidFill>
                  <a:srgbClr val="E8EEF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是打开一种思考</a:t>
            </a:r>
            <a:pPr algn="l" indent="0" marL="0">
              <a:lnSpc>
                <a:spcPct val="170000"/>
              </a:lnSpc>
              <a:buNone/>
            </a:pPr>
            <a:r>
              <a:rPr lang="en-US" sz="585" spc="14" kern="0" dirty="0">
                <a:solidFill>
                  <a:srgbClr val="8AA0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。</a:t>
            </a:r>
            <a:pPr algn="l" indent="0" marL="0">
              <a:lnSpc>
                <a:spcPct val="170000"/>
              </a:lnSpc>
              <a:buNone/>
            </a:pPr>
            <a:endParaRPr lang="en-US" sz="585" dirty="0"/>
          </a:p>
          <a:p>
            <a:pPr algn="l" indent="0" marL="0">
              <a:lnSpc>
                <a:spcPct val="170000"/>
              </a:lnSpc>
              <a:buNone/>
            </a:pPr>
            <a:r>
              <a:rPr lang="en-US" sz="585" spc="14" kern="0" dirty="0">
                <a:solidFill>
                  <a:srgbClr val="8AA0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剩下的，交给在座的每一位继续写下去。</a:t>
            </a:r>
            <a:endParaRPr lang="en-US" sz="585" dirty="0"/>
          </a:p>
        </p:txBody>
      </p:sp>
      <p:sp>
        <p:nvSpPr>
          <p:cNvPr id="55" name="Shape 53"/>
          <p:cNvSpPr/>
          <p:nvPr/>
        </p:nvSpPr>
        <p:spPr>
          <a:xfrm>
            <a:off x="457200" y="4445824"/>
            <a:ext cx="8229600" cy="354776"/>
          </a:xfrm>
          <a:prstGeom prst="rect">
            <a:avLst/>
          </a:prstGeom>
          <a:noFill/>
          <a:ln/>
        </p:spPr>
      </p:sp>
      <p:sp>
        <p:nvSpPr>
          <p:cNvPr id="56" name="Shape 54"/>
          <p:cNvSpPr/>
          <p:nvPr/>
        </p:nvSpPr>
        <p:spPr>
          <a:xfrm>
            <a:off x="457200" y="4445824"/>
            <a:ext cx="8229600" cy="0"/>
          </a:xfrm>
          <a:prstGeom prst="line">
            <a:avLst/>
          </a:prstGeom>
          <a:noFill/>
          <a:ln w="5715">
            <a:solidFill>
              <a:srgbClr val="00BCD4">
                <a:alpha val="12000"/>
              </a:srgbClr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457200" y="4554409"/>
            <a:ext cx="4192524" cy="116532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lnSpc>
                <a:spcPct val="170000"/>
              </a:lnSpc>
              <a:buNone/>
            </a:pPr>
            <a:r>
              <a:rPr lang="en-US" sz="540" spc="135" kern="0" dirty="0">
                <a:solidFill>
                  <a:srgbClr val="E8EEF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用制度经济学的眼睛，重新看 Agent 的演化。</a:t>
            </a:r>
            <a:endParaRPr lang="en-US" sz="540" dirty="0"/>
          </a:p>
        </p:txBody>
      </p:sp>
      <p:sp>
        <p:nvSpPr>
          <p:cNvPr id="58" name="Text 56"/>
          <p:cNvSpPr/>
          <p:nvPr/>
        </p:nvSpPr>
        <p:spPr>
          <a:xfrm>
            <a:off x="457200" y="4693801"/>
            <a:ext cx="4192524" cy="106799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lnSpc>
                <a:spcPct val="170000"/>
              </a:lnSpc>
              <a:buNone/>
            </a:pPr>
            <a:r>
              <a:rPr lang="en-US" sz="495" spc="90" kern="0" dirty="0">
                <a:solidFill>
                  <a:srgbClr val="8AA0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OPEN SOURCE · AS A FORM OF THOUGHT — NOT A SET OF TOOLS, BUT A WAY OF THINKING.</a:t>
            </a:r>
            <a:endParaRPr lang="en-US" sz="495" dirty="0"/>
          </a:p>
        </p:txBody>
      </p:sp>
      <p:sp>
        <p:nvSpPr>
          <p:cNvPr id="59" name="Text 57"/>
          <p:cNvSpPr/>
          <p:nvPr/>
        </p:nvSpPr>
        <p:spPr>
          <a:xfrm>
            <a:off x="7338060" y="4623435"/>
            <a:ext cx="1510589" cy="68580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r" indent="0" marL="0">
              <a:buNone/>
            </a:pPr>
            <a:r>
              <a:rPr lang="en-US" sz="450" spc="135" kern="0" dirty="0">
                <a:solidFill>
                  <a:srgbClr val="8AA0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END · OF · TALK</a:t>
            </a:r>
            <a:endParaRPr lang="en-US" sz="450" dirty="0"/>
          </a:p>
        </p:txBody>
      </p:sp>
      <p:sp>
        <p:nvSpPr>
          <p:cNvPr id="60" name="Text 58"/>
          <p:cNvSpPr/>
          <p:nvPr/>
        </p:nvSpPr>
        <p:spPr>
          <a:xfrm>
            <a:off x="7338060" y="4714875"/>
            <a:ext cx="1510589" cy="85725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r" indent="0" marL="0">
              <a:buNone/>
            </a:pPr>
            <a:r>
              <a:rPr lang="en-US" sz="540" spc="270" kern="0" dirty="0">
                <a:solidFill>
                  <a:srgbClr val="FF704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— KEEP MOVEMENT —</a:t>
            </a:r>
            <a:endParaRPr lang="en-US" sz="54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1E293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gradFill rotWithShape="1">
            <a:gsLst>
              <a:gs pos="0">
                <a:srgbClr val="1E293B"/>
              </a:gs>
              <a:gs pos="100000">
                <a:srgbClr val="0F172A"/>
              </a:gs>
            </a:gsLst>
            <a:lin ang="5400000" scaled="0"/>
          </a:gradFill>
          <a:ln/>
        </p:spPr>
      </p:sp>
      <p:sp>
        <p:nvSpPr>
          <p:cNvPr id="3" name="Shape 1"/>
          <p:cNvSpPr/>
          <p:nvPr/>
        </p:nvSpPr>
        <p:spPr>
          <a:xfrm>
            <a:off x="2286000" y="-2314575"/>
            <a:ext cx="10972800" cy="6172200"/>
          </a:xfrm>
          <a:prstGeom prst="ellipse">
            <a:avLst/>
          </a:prstGeom>
          <a:gradFill rotWithShape="1">
            <a:gsLst>
              <a:gs pos="0">
                <a:srgbClr val="00BCD4">
                  <a:alpha val="9600"/>
                </a:srgbClr>
              </a:gs>
              <a:gs pos="100000">
                <a:srgbClr val="00BCD4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/>
        </p:spPr>
      </p:sp>
      <p:sp>
        <p:nvSpPr>
          <p:cNvPr id="4" name="Shape 2"/>
          <p:cNvSpPr/>
          <p:nvPr/>
        </p:nvSpPr>
        <p:spPr>
          <a:xfrm>
            <a:off x="-4572000" y="1543050"/>
            <a:ext cx="10972800" cy="6172200"/>
          </a:xfrm>
          <a:prstGeom prst="ellipse">
            <a:avLst/>
          </a:prstGeom>
          <a:gradFill rotWithShape="1">
            <a:gsLst>
              <a:gs pos="0">
                <a:srgbClr val="FF7043">
                  <a:alpha val="4800"/>
                </a:srgbClr>
              </a:gs>
              <a:gs pos="100000">
                <a:srgbClr val="FF7043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/>
        </p:spPr>
      </p:sp>
      <p:sp>
        <p:nvSpPr>
          <p:cNvPr id="5" name="Shape 3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gradFill rotWithShape="1">
            <a:gsLst>
              <a:gs pos="0">
                <a:srgbClr val="000000">
                  <a:alpha val="4000"/>
                </a:srgbClr>
              </a:gs>
              <a:gs pos="25000">
                <a:srgbClr val="000000">
                  <a:alpha val="0"/>
                </a:srgbClr>
              </a:gs>
              <a:gs pos="50000">
                <a:srgbClr val="000000"/>
              </a:gs>
              <a:gs pos="75000">
                <a:srgbClr val="000000">
                  <a:alpha val="4000"/>
                </a:srgbClr>
              </a:gs>
              <a:gs pos="100000">
                <a:srgbClr val="000000">
                  <a:alpha val="0"/>
                </a:srgbClr>
              </a:gs>
            </a:gsLst>
            <a:lin ang="5400000" scaled="0"/>
          </a:gradFill>
          <a:ln/>
        </p:spPr>
      </p:sp>
      <p:sp>
        <p:nvSpPr>
          <p:cNvPr id="6" name="Shape 4"/>
          <p:cNvSpPr/>
          <p:nvPr/>
        </p:nvSpPr>
        <p:spPr>
          <a:xfrm>
            <a:off x="514350" y="400050"/>
            <a:ext cx="8115300" cy="988606"/>
          </a:xfrm>
          <a:prstGeom prst="rect">
            <a:avLst/>
          </a:prstGeom>
          <a:noFill/>
          <a:ln/>
        </p:spPr>
      </p:sp>
      <p:sp>
        <p:nvSpPr>
          <p:cNvPr id="7" name="Shape 5"/>
          <p:cNvSpPr/>
          <p:nvPr/>
        </p:nvSpPr>
        <p:spPr>
          <a:xfrm>
            <a:off x="514350" y="1388656"/>
            <a:ext cx="8115300" cy="0"/>
          </a:xfrm>
          <a:prstGeom prst="line">
            <a:avLst/>
          </a:prstGeom>
          <a:noFill/>
          <a:ln w="5715">
            <a:solidFill>
              <a:srgbClr val="94A3B8">
                <a:alpha val="1500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14350" y="457200"/>
            <a:ext cx="34290" cy="34290"/>
          </a:xfrm>
          <a:prstGeom prst="ellipse">
            <a:avLst/>
          </a:prstGeom>
          <a:solidFill>
            <a:srgbClr val="00BCD4"/>
          </a:solidFill>
          <a:ln/>
          <a:effectLst>
            <a:outerShdw sx="100000" sy="100000" kx="0" ky="0" algn="bl" rotWithShape="0" blurRad="114300" dist="50800" dir="16200000">
              <a:srgbClr val="00BCD4">
                <a:alpha val="100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617220" y="428625"/>
            <a:ext cx="1696212" cy="91440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buNone/>
            </a:pPr>
            <a:r>
              <a:rPr lang="en-US" sz="585" spc="135" kern="0" dirty="0">
                <a:solidFill>
                  <a:srgbClr val="00BCD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Q &amp; A · CLOSING DISCUSSION</a:t>
            </a:r>
            <a:endParaRPr lang="en-US" sz="585" dirty="0"/>
          </a:p>
        </p:txBody>
      </p:sp>
      <p:sp>
        <p:nvSpPr>
          <p:cNvPr id="10" name="Text 8"/>
          <p:cNvSpPr/>
          <p:nvPr/>
        </p:nvSpPr>
        <p:spPr>
          <a:xfrm>
            <a:off x="514350" y="600075"/>
            <a:ext cx="8122615" cy="36459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2610" b="1" spc="-45" kern="0" dirty="0">
                <a:solidFill>
                  <a:srgbClr val="F1F5F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讨论与</a:t>
            </a:r>
            <a:pPr algn="l" indent="0" marL="0">
              <a:lnSpc>
                <a:spcPct val="110000"/>
              </a:lnSpc>
              <a:buNone/>
            </a:pPr>
            <a:r>
              <a:rPr lang="en-US" sz="2610" b="1" spc="-45" kern="0" dirty="0">
                <a:solidFill>
                  <a:srgbClr val="00BCD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延伸阅读</a:t>
            </a:r>
            <a:endParaRPr lang="en-US" sz="2610" dirty="0"/>
          </a:p>
        </p:txBody>
      </p:sp>
      <p:sp>
        <p:nvSpPr>
          <p:cNvPr id="11" name="Text 9"/>
          <p:cNvSpPr/>
          <p:nvPr/>
        </p:nvSpPr>
        <p:spPr>
          <a:xfrm>
            <a:off x="514350" y="1044684"/>
            <a:ext cx="6400800" cy="155377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70000"/>
              </a:lnSpc>
              <a:buNone/>
            </a:pPr>
            <a:r>
              <a:rPr lang="en-US" sz="720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三个开放问题留给</a:t>
            </a:r>
            <a:pPr algn="l" indent="0" marL="0">
              <a:lnSpc>
                <a:spcPct val="170000"/>
              </a:lnSpc>
              <a:buNone/>
            </a:pPr>
            <a:r>
              <a:rPr lang="en-US" sz="720" dirty="0">
                <a:solidFill>
                  <a:srgbClr val="F1F5F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Q&amp;A</a:t>
            </a:r>
            <a:pPr algn="l" indent="0" marL="0">
              <a:lnSpc>
                <a:spcPct val="170000"/>
              </a:lnSpc>
              <a:buNone/>
            </a:pPr>
            <a:r>
              <a:rPr lang="en-US" sz="720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。延伸阅读覆盖</a:t>
            </a:r>
            <a:pPr algn="l" indent="0" marL="0">
              <a:lnSpc>
                <a:spcPct val="170000"/>
              </a:lnSpc>
              <a:buNone/>
            </a:pPr>
            <a:r>
              <a:rPr lang="en-US" sz="720" dirty="0">
                <a:solidFill>
                  <a:srgbClr val="F1F5F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制度经济学</a:t>
            </a:r>
            <a:pPr algn="l" indent="0" marL="0">
              <a:lnSpc>
                <a:spcPct val="170000"/>
              </a:lnSpc>
              <a:buNone/>
            </a:pPr>
            <a:r>
              <a:rPr lang="en-US" sz="720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的核心文献——从</a:t>
            </a:r>
            <a:pPr algn="l" indent="0" marL="0">
              <a:lnSpc>
                <a:spcPct val="170000"/>
              </a:lnSpc>
              <a:buNone/>
            </a:pPr>
            <a:r>
              <a:rPr lang="en-US" sz="720" dirty="0">
                <a:solidFill>
                  <a:srgbClr val="F1F5F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转型经济学</a:t>
            </a:r>
            <a:pPr algn="l" indent="0" marL="0">
              <a:lnSpc>
                <a:spcPct val="170000"/>
              </a:lnSpc>
              <a:buNone/>
            </a:pPr>
            <a:r>
              <a:rPr lang="en-US" sz="720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到</a:t>
            </a:r>
            <a:pPr algn="l" indent="0" marL="0">
              <a:lnSpc>
                <a:spcPct val="170000"/>
              </a:lnSpc>
              <a:buNone/>
            </a:pPr>
            <a:r>
              <a:rPr lang="en-US" sz="720" dirty="0">
                <a:solidFill>
                  <a:srgbClr val="F1F5F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演化制度理论</a:t>
            </a:r>
            <a:pPr algn="l" indent="0" marL="0">
              <a:lnSpc>
                <a:spcPct val="170000"/>
              </a:lnSpc>
              <a:buNone/>
            </a:pPr>
            <a:r>
              <a:rPr lang="en-US" sz="720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。</a:t>
            </a:r>
            <a:endParaRPr lang="en-US" sz="720" dirty="0"/>
          </a:p>
        </p:txBody>
      </p:sp>
      <p:sp>
        <p:nvSpPr>
          <p:cNvPr id="12" name="Text 10"/>
          <p:cNvSpPr/>
          <p:nvPr/>
        </p:nvSpPr>
        <p:spPr>
          <a:xfrm>
            <a:off x="7766685" y="897166"/>
            <a:ext cx="1057275" cy="194310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r" indent="0" marL="0">
              <a:lnSpc>
                <a:spcPct val="100000"/>
              </a:lnSpc>
              <a:buNone/>
            </a:pPr>
            <a:r>
              <a:rPr lang="en-US" sz="1530" b="1" dirty="0">
                <a:solidFill>
                  <a:srgbClr val="00BCD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06</a:t>
            </a:r>
            <a:endParaRPr lang="en-US" sz="1530" dirty="0"/>
          </a:p>
        </p:txBody>
      </p:sp>
      <p:sp>
        <p:nvSpPr>
          <p:cNvPr id="13" name="Text 11"/>
          <p:cNvSpPr/>
          <p:nvPr/>
        </p:nvSpPr>
        <p:spPr>
          <a:xfrm>
            <a:off x="7766685" y="1114336"/>
            <a:ext cx="966521" cy="85725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r" indent="0" marL="0">
              <a:buNone/>
            </a:pPr>
            <a:r>
              <a:rPr lang="en-US" sz="540" spc="90" kern="0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SECTION · CLOSING</a:t>
            </a:r>
            <a:endParaRPr lang="en-US" sz="540" dirty="0"/>
          </a:p>
        </p:txBody>
      </p:sp>
      <p:sp>
        <p:nvSpPr>
          <p:cNvPr id="14" name="Shape 12"/>
          <p:cNvSpPr/>
          <p:nvPr/>
        </p:nvSpPr>
        <p:spPr>
          <a:xfrm>
            <a:off x="514350" y="1617256"/>
            <a:ext cx="171450" cy="5715"/>
          </a:xfrm>
          <a:prstGeom prst="rect">
            <a:avLst/>
          </a:prstGeom>
          <a:solidFill>
            <a:srgbClr val="00BCD4"/>
          </a:solidFill>
          <a:ln/>
        </p:spPr>
      </p:sp>
      <p:sp>
        <p:nvSpPr>
          <p:cNvPr id="15" name="Text 13"/>
          <p:cNvSpPr/>
          <p:nvPr/>
        </p:nvSpPr>
        <p:spPr>
          <a:xfrm>
            <a:off x="765810" y="1622971"/>
            <a:ext cx="947318" cy="85725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buNone/>
            </a:pPr>
            <a:r>
              <a:rPr lang="en-US" sz="540" spc="135" kern="0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OPEN QUESTIONS</a:t>
            </a:r>
            <a:endParaRPr lang="en-US" sz="540" dirty="0"/>
          </a:p>
        </p:txBody>
      </p:sp>
      <p:sp>
        <p:nvSpPr>
          <p:cNvPr id="16" name="Text 14"/>
          <p:cNvSpPr/>
          <p:nvPr/>
        </p:nvSpPr>
        <p:spPr>
          <a:xfrm>
            <a:off x="1691640" y="1617256"/>
            <a:ext cx="819302" cy="97155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buNone/>
            </a:pPr>
            <a:r>
              <a:rPr lang="en-US" sz="540" spc="45" kern="0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留给 Q&amp;A 的三个问题</a:t>
            </a:r>
            <a:endParaRPr lang="en-US" sz="540" dirty="0"/>
          </a:p>
        </p:txBody>
      </p:sp>
      <p:sp>
        <p:nvSpPr>
          <p:cNvPr id="17" name="Shape 15"/>
          <p:cNvSpPr/>
          <p:nvPr/>
        </p:nvSpPr>
        <p:spPr>
          <a:xfrm>
            <a:off x="514350" y="1874431"/>
            <a:ext cx="5143500" cy="594360"/>
          </a:xfrm>
          <a:prstGeom prst="roundRect">
            <a:avLst>
              <a:gd name="adj" fmla="val 9615"/>
            </a:avLst>
          </a:prstGeom>
          <a:solidFill>
            <a:srgbClr val="0F172A">
              <a:alpha val="55000"/>
            </a:srgbClr>
          </a:solidFill>
          <a:ln w="17145">
            <a:solidFill>
              <a:srgbClr val="00BCD4">
                <a:alpha val="15000"/>
              </a:srgbClr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497205" y="1874431"/>
            <a:ext cx="17145" cy="582930"/>
          </a:xfrm>
          <a:prstGeom prst="rect">
            <a:avLst/>
          </a:prstGeom>
          <a:gradFill rotWithShape="1">
            <a:gsLst>
              <a:gs pos="0">
                <a:srgbClr val="00BCD4"/>
              </a:gs>
              <a:gs pos="100000">
                <a:srgbClr val="000000">
                  <a:alpha val="0"/>
                </a:srgbClr>
              </a:gs>
            </a:gsLst>
            <a:lin ang="5400000" scaled="0"/>
          </a:gradFill>
          <a:ln/>
        </p:spPr>
      </p:sp>
      <p:sp>
        <p:nvSpPr>
          <p:cNvPr id="19" name="Text 17"/>
          <p:cNvSpPr/>
          <p:nvPr/>
        </p:nvSpPr>
        <p:spPr>
          <a:xfrm>
            <a:off x="762953" y="2028736"/>
            <a:ext cx="493776" cy="205740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620" b="1" spc="-45" kern="0" dirty="0">
                <a:solidFill>
                  <a:srgbClr val="FF704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01</a:t>
            </a:r>
            <a:endParaRPr lang="en-US" sz="1620" dirty="0"/>
          </a:p>
        </p:txBody>
      </p:sp>
      <p:sp>
        <p:nvSpPr>
          <p:cNvPr id="20" name="Text 18"/>
          <p:cNvSpPr/>
          <p:nvPr/>
        </p:nvSpPr>
        <p:spPr>
          <a:xfrm>
            <a:off x="751523" y="2268766"/>
            <a:ext cx="302895" cy="68580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buNone/>
            </a:pPr>
            <a:r>
              <a:rPr lang="en-US" sz="450" spc="90" kern="0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STAGE</a:t>
            </a:r>
            <a:endParaRPr lang="en-US" sz="450" dirty="0"/>
          </a:p>
        </p:txBody>
      </p:sp>
      <p:sp>
        <p:nvSpPr>
          <p:cNvPr id="21" name="Text 19"/>
          <p:cNvSpPr/>
          <p:nvPr/>
        </p:nvSpPr>
        <p:spPr>
          <a:xfrm>
            <a:off x="1205865" y="2030164"/>
            <a:ext cx="4826203" cy="91440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buNone/>
            </a:pPr>
            <a:r>
              <a:rPr lang="en-US" sz="495" spc="90" kern="0" dirty="0">
                <a:solidFill>
                  <a:srgbClr val="00BCD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问题 #1 · 阶段演进</a:t>
            </a:r>
            <a:endParaRPr lang="en-US" sz="495" dirty="0"/>
          </a:p>
        </p:txBody>
      </p:sp>
      <p:sp>
        <p:nvSpPr>
          <p:cNvPr id="22" name="Text 20"/>
          <p:cNvSpPr/>
          <p:nvPr/>
        </p:nvSpPr>
        <p:spPr>
          <a:xfrm>
            <a:off x="1205865" y="2167324"/>
            <a:ext cx="4826203" cy="14573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765" dirty="0">
                <a:solidFill>
                  <a:srgbClr val="F1F5F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从</a:t>
            </a:r>
            <a:pPr algn="l" indent="0" marL="0">
              <a:lnSpc>
                <a:spcPct val="150000"/>
              </a:lnSpc>
              <a:buNone/>
            </a:pPr>
            <a:r>
              <a:rPr lang="en-US" sz="765" b="1" dirty="0">
                <a:solidFill>
                  <a:srgbClr val="00BCD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"能用"</a:t>
            </a:r>
            <a:pPr algn="l" indent="0" marL="0">
              <a:lnSpc>
                <a:spcPct val="150000"/>
              </a:lnSpc>
              <a:buNone/>
            </a:pPr>
            <a:r>
              <a:rPr lang="en-US" sz="765" dirty="0">
                <a:solidFill>
                  <a:srgbClr val="F1F5F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到</a:t>
            </a:r>
            <a:pPr algn="l" indent="0" marL="0">
              <a:lnSpc>
                <a:spcPct val="150000"/>
              </a:lnSpc>
              <a:buNone/>
            </a:pPr>
            <a:r>
              <a:rPr lang="en-US" sz="765" b="1" dirty="0">
                <a:solidFill>
                  <a:srgbClr val="00BCD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"会协作"</a:t>
            </a:r>
            <a:pPr algn="l" indent="0" marL="0">
              <a:lnSpc>
                <a:spcPct val="150000"/>
              </a:lnSpc>
              <a:buNone/>
            </a:pPr>
            <a:r>
              <a:rPr lang="en-US" sz="765" dirty="0">
                <a:solidFill>
                  <a:srgbClr val="F1F5F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，是否还有</a:t>
            </a:r>
            <a:pPr algn="l" indent="0" marL="0">
              <a:lnSpc>
                <a:spcPct val="150000"/>
              </a:lnSpc>
              <a:buNone/>
            </a:pPr>
            <a:r>
              <a:rPr lang="en-US" sz="765" b="1" dirty="0">
                <a:solidFill>
                  <a:srgbClr val="FF704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第五阶段</a:t>
            </a:r>
            <a:pPr algn="l" indent="0" marL="0">
              <a:lnSpc>
                <a:spcPct val="150000"/>
              </a:lnSpc>
              <a:buNone/>
            </a:pPr>
            <a:r>
              <a:rPr lang="en-US" sz="765" dirty="0">
                <a:solidFill>
                  <a:srgbClr val="F1F5F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？</a:t>
            </a:r>
            <a:endParaRPr lang="en-US" sz="765" dirty="0"/>
          </a:p>
        </p:txBody>
      </p:sp>
      <p:sp>
        <p:nvSpPr>
          <p:cNvPr id="23" name="Shape 21"/>
          <p:cNvSpPr/>
          <p:nvPr/>
        </p:nvSpPr>
        <p:spPr>
          <a:xfrm>
            <a:off x="514350" y="2594521"/>
            <a:ext cx="5143500" cy="594360"/>
          </a:xfrm>
          <a:prstGeom prst="roundRect">
            <a:avLst>
              <a:gd name="adj" fmla="val 9615"/>
            </a:avLst>
          </a:prstGeom>
          <a:solidFill>
            <a:srgbClr val="0F172A">
              <a:alpha val="55000"/>
            </a:srgbClr>
          </a:solidFill>
          <a:ln w="17145">
            <a:solidFill>
              <a:srgbClr val="00BCD4">
                <a:alpha val="15000"/>
              </a:srgbClr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497205" y="2594521"/>
            <a:ext cx="17145" cy="582930"/>
          </a:xfrm>
          <a:prstGeom prst="rect">
            <a:avLst/>
          </a:prstGeom>
          <a:gradFill rotWithShape="1">
            <a:gsLst>
              <a:gs pos="0">
                <a:srgbClr val="00BCD4"/>
              </a:gs>
              <a:gs pos="100000">
                <a:srgbClr val="000000">
                  <a:alpha val="0"/>
                </a:srgbClr>
              </a:gs>
            </a:gsLst>
            <a:lin ang="5400000" scaled="0"/>
          </a:gradFill>
          <a:ln/>
        </p:spPr>
      </p:sp>
      <p:sp>
        <p:nvSpPr>
          <p:cNvPr id="25" name="Text 23"/>
          <p:cNvSpPr/>
          <p:nvPr/>
        </p:nvSpPr>
        <p:spPr>
          <a:xfrm>
            <a:off x="742950" y="2748826"/>
            <a:ext cx="493776" cy="205740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620" b="1" spc="-45" kern="0" dirty="0">
                <a:solidFill>
                  <a:srgbClr val="FF704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02</a:t>
            </a:r>
            <a:endParaRPr lang="en-US" sz="1620" dirty="0"/>
          </a:p>
        </p:txBody>
      </p:sp>
      <p:sp>
        <p:nvSpPr>
          <p:cNvPr id="26" name="Text 24"/>
          <p:cNvSpPr/>
          <p:nvPr/>
        </p:nvSpPr>
        <p:spPr>
          <a:xfrm>
            <a:off x="794385" y="2988856"/>
            <a:ext cx="217170" cy="68580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buNone/>
            </a:pPr>
            <a:r>
              <a:rPr lang="en-US" sz="450" spc="90" kern="0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GOV</a:t>
            </a:r>
            <a:endParaRPr lang="en-US" sz="450" dirty="0"/>
          </a:p>
        </p:txBody>
      </p:sp>
      <p:sp>
        <p:nvSpPr>
          <p:cNvPr id="27" name="Text 25"/>
          <p:cNvSpPr/>
          <p:nvPr/>
        </p:nvSpPr>
        <p:spPr>
          <a:xfrm>
            <a:off x="1205865" y="2750254"/>
            <a:ext cx="4826203" cy="91440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buNone/>
            </a:pPr>
            <a:r>
              <a:rPr lang="en-US" sz="495" spc="90" kern="0" dirty="0">
                <a:solidFill>
                  <a:srgbClr val="00BCD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问题 #2 · 治理权</a:t>
            </a:r>
            <a:endParaRPr lang="en-US" sz="495" dirty="0"/>
          </a:p>
        </p:txBody>
      </p:sp>
      <p:sp>
        <p:nvSpPr>
          <p:cNvPr id="28" name="Text 26"/>
          <p:cNvSpPr/>
          <p:nvPr/>
        </p:nvSpPr>
        <p:spPr>
          <a:xfrm>
            <a:off x="1205865" y="2887414"/>
            <a:ext cx="4826203" cy="14573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765" dirty="0">
                <a:solidFill>
                  <a:srgbClr val="F1F5F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开源 Agent 的</a:t>
            </a:r>
            <a:pPr algn="l" indent="0" marL="0">
              <a:lnSpc>
                <a:spcPct val="150000"/>
              </a:lnSpc>
              <a:buNone/>
            </a:pPr>
            <a:r>
              <a:rPr lang="en-US" sz="765" b="1" dirty="0">
                <a:solidFill>
                  <a:srgbClr val="FF704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"度量权"</a:t>
            </a:r>
            <a:pPr algn="l" indent="0" marL="0">
              <a:lnSpc>
                <a:spcPct val="150000"/>
              </a:lnSpc>
              <a:buNone/>
            </a:pPr>
            <a:r>
              <a:rPr lang="en-US" sz="765" dirty="0">
                <a:solidFill>
                  <a:srgbClr val="F1F5F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应在</a:t>
            </a:r>
            <a:pPr algn="l" indent="0" marL="0">
              <a:lnSpc>
                <a:spcPct val="150000"/>
              </a:lnSpc>
              <a:buNone/>
            </a:pPr>
            <a:r>
              <a:rPr lang="en-US" sz="765" b="1" dirty="0">
                <a:solidFill>
                  <a:srgbClr val="00BCD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社区</a:t>
            </a:r>
            <a:pPr algn="l" indent="0" marL="0">
              <a:lnSpc>
                <a:spcPct val="150000"/>
              </a:lnSpc>
              <a:buNone/>
            </a:pPr>
            <a:r>
              <a:rPr lang="en-US" sz="765" dirty="0">
                <a:solidFill>
                  <a:srgbClr val="F1F5F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还是</a:t>
            </a:r>
            <a:pPr algn="l" indent="0" marL="0">
              <a:lnSpc>
                <a:spcPct val="150000"/>
              </a:lnSpc>
              <a:buNone/>
            </a:pPr>
            <a:r>
              <a:rPr lang="en-US" sz="765" b="1" dirty="0">
                <a:solidFill>
                  <a:srgbClr val="00BCD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标准化</a:t>
            </a:r>
            <a:pPr algn="l" indent="0" marL="0">
              <a:lnSpc>
                <a:spcPct val="150000"/>
              </a:lnSpc>
              <a:buNone/>
            </a:pPr>
            <a:r>
              <a:rPr lang="en-US" sz="765" dirty="0">
                <a:solidFill>
                  <a:srgbClr val="F1F5F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？</a:t>
            </a:r>
            <a:endParaRPr lang="en-US" sz="765" dirty="0"/>
          </a:p>
        </p:txBody>
      </p:sp>
      <p:sp>
        <p:nvSpPr>
          <p:cNvPr id="29" name="Shape 27"/>
          <p:cNvSpPr/>
          <p:nvPr/>
        </p:nvSpPr>
        <p:spPr>
          <a:xfrm>
            <a:off x="514350" y="3314611"/>
            <a:ext cx="5143500" cy="594360"/>
          </a:xfrm>
          <a:prstGeom prst="roundRect">
            <a:avLst>
              <a:gd name="adj" fmla="val 9615"/>
            </a:avLst>
          </a:prstGeom>
          <a:solidFill>
            <a:srgbClr val="0F172A">
              <a:alpha val="55000"/>
            </a:srgbClr>
          </a:solidFill>
          <a:ln w="17145">
            <a:solidFill>
              <a:srgbClr val="00BCD4">
                <a:alpha val="15000"/>
              </a:srgbClr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497205" y="3314611"/>
            <a:ext cx="17145" cy="582930"/>
          </a:xfrm>
          <a:prstGeom prst="rect">
            <a:avLst/>
          </a:prstGeom>
          <a:gradFill rotWithShape="1">
            <a:gsLst>
              <a:gs pos="0">
                <a:srgbClr val="00BCD4"/>
              </a:gs>
              <a:gs pos="100000">
                <a:srgbClr val="000000">
                  <a:alpha val="0"/>
                </a:srgbClr>
              </a:gs>
            </a:gsLst>
            <a:lin ang="5400000" scaled="0"/>
          </a:gradFill>
          <a:ln/>
        </p:spPr>
      </p:sp>
      <p:sp>
        <p:nvSpPr>
          <p:cNvPr id="31" name="Text 29"/>
          <p:cNvSpPr/>
          <p:nvPr/>
        </p:nvSpPr>
        <p:spPr>
          <a:xfrm>
            <a:off x="740093" y="3468916"/>
            <a:ext cx="493776" cy="205740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620" b="1" spc="-45" kern="0" dirty="0">
                <a:solidFill>
                  <a:srgbClr val="FF704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03</a:t>
            </a:r>
            <a:endParaRPr lang="en-US" sz="1620" dirty="0"/>
          </a:p>
        </p:txBody>
      </p:sp>
      <p:sp>
        <p:nvSpPr>
          <p:cNvPr id="32" name="Text 30"/>
          <p:cNvSpPr/>
          <p:nvPr/>
        </p:nvSpPr>
        <p:spPr>
          <a:xfrm>
            <a:off x="774383" y="3708946"/>
            <a:ext cx="257175" cy="68580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buNone/>
            </a:pPr>
            <a:r>
              <a:rPr lang="en-US" sz="450" spc="90" kern="0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EVOL</a:t>
            </a:r>
            <a:endParaRPr lang="en-US" sz="450" dirty="0"/>
          </a:p>
        </p:txBody>
      </p:sp>
      <p:sp>
        <p:nvSpPr>
          <p:cNvPr id="33" name="Text 31"/>
          <p:cNvSpPr/>
          <p:nvPr/>
        </p:nvSpPr>
        <p:spPr>
          <a:xfrm>
            <a:off x="1205865" y="3470344"/>
            <a:ext cx="4826203" cy="91440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buNone/>
            </a:pPr>
            <a:r>
              <a:rPr lang="en-US" sz="495" spc="90" kern="0" dirty="0">
                <a:solidFill>
                  <a:srgbClr val="00BCD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问题 #3 · 中国路径</a:t>
            </a:r>
            <a:endParaRPr lang="en-US" sz="495" dirty="0"/>
          </a:p>
        </p:txBody>
      </p:sp>
      <p:sp>
        <p:nvSpPr>
          <p:cNvPr id="34" name="Text 32"/>
          <p:cNvSpPr/>
          <p:nvPr/>
        </p:nvSpPr>
        <p:spPr>
          <a:xfrm>
            <a:off x="1205865" y="3607504"/>
            <a:ext cx="4826203" cy="14573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765" dirty="0">
                <a:solidFill>
                  <a:srgbClr val="F1F5F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中国</a:t>
            </a:r>
            <a:pPr algn="l" indent="0" marL="0">
              <a:lnSpc>
                <a:spcPct val="150000"/>
              </a:lnSpc>
              <a:buNone/>
            </a:pPr>
            <a:r>
              <a:rPr lang="en-US" sz="765" b="1" dirty="0">
                <a:solidFill>
                  <a:srgbClr val="FF704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"行政开源"</a:t>
            </a:r>
            <a:pPr algn="l" indent="0" marL="0">
              <a:lnSpc>
                <a:spcPct val="150000"/>
              </a:lnSpc>
              <a:buNone/>
            </a:pPr>
            <a:r>
              <a:rPr lang="en-US" sz="765" dirty="0">
                <a:solidFill>
                  <a:srgbClr val="F1F5F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的</a:t>
            </a:r>
            <a:pPr algn="l" indent="0" marL="0">
              <a:lnSpc>
                <a:spcPct val="150000"/>
              </a:lnSpc>
              <a:buNone/>
            </a:pPr>
            <a:r>
              <a:rPr lang="en-US" sz="765" b="1" dirty="0">
                <a:solidFill>
                  <a:srgbClr val="00BCD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slow-moving</a:t>
            </a:r>
            <a:pPr algn="l" indent="0" marL="0">
              <a:lnSpc>
                <a:spcPct val="150000"/>
              </a:lnSpc>
              <a:buNone/>
            </a:pPr>
            <a:r>
              <a:rPr lang="en-US" sz="765" dirty="0">
                <a:solidFill>
                  <a:srgbClr val="F1F5F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层会演化出</a:t>
            </a:r>
            <a:pPr algn="l" indent="0" marL="0">
              <a:lnSpc>
                <a:spcPct val="150000"/>
              </a:lnSpc>
              <a:buNone/>
            </a:pPr>
            <a:r>
              <a:rPr lang="en-US" sz="765" b="1" dirty="0">
                <a:solidFill>
                  <a:srgbClr val="00BCD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新形态</a:t>
            </a:r>
            <a:pPr algn="l" indent="0" marL="0">
              <a:lnSpc>
                <a:spcPct val="150000"/>
              </a:lnSpc>
              <a:buNone/>
            </a:pPr>
            <a:r>
              <a:rPr lang="en-US" sz="765" dirty="0">
                <a:solidFill>
                  <a:srgbClr val="F1F5F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？</a:t>
            </a:r>
            <a:endParaRPr lang="en-US" sz="765" dirty="0"/>
          </a:p>
        </p:txBody>
      </p:sp>
      <p:sp>
        <p:nvSpPr>
          <p:cNvPr id="35" name="Shape 33"/>
          <p:cNvSpPr/>
          <p:nvPr/>
        </p:nvSpPr>
        <p:spPr>
          <a:xfrm>
            <a:off x="6000750" y="1617256"/>
            <a:ext cx="2628900" cy="2837855"/>
          </a:xfrm>
          <a:prstGeom prst="roundRect">
            <a:avLst>
              <a:gd name="adj" fmla="val 2609"/>
            </a:avLst>
          </a:prstGeom>
          <a:solidFill>
            <a:srgbClr val="00BCD4">
              <a:alpha val="4000"/>
            </a:srgbClr>
          </a:solidFill>
          <a:ln w="5715">
            <a:solidFill>
              <a:srgbClr val="00BCD4">
                <a:alpha val="35000"/>
              </a:srgbClr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6000750" y="1617256"/>
            <a:ext cx="2617470" cy="5715"/>
          </a:xfrm>
          <a:prstGeom prst="rect">
            <a:avLst/>
          </a:prstGeom>
          <a:gradFill rotWithShape="1">
            <a:gsLst>
              <a:gs pos="0">
                <a:srgbClr val="000000">
                  <a:alpha val="0"/>
                </a:srgbClr>
              </a:gs>
              <a:gs pos="50000">
                <a:srgbClr val="00BCD4"/>
              </a:gs>
              <a:gs pos="100000">
                <a:srgbClr val="000000">
                  <a:alpha val="0"/>
                </a:srgbClr>
              </a:gs>
            </a:gsLst>
            <a:lin ang="0" scaled="0"/>
          </a:gradFill>
          <a:ln/>
        </p:spPr>
      </p:sp>
      <p:sp>
        <p:nvSpPr>
          <p:cNvPr id="37" name="Text 35"/>
          <p:cNvSpPr/>
          <p:nvPr/>
        </p:nvSpPr>
        <p:spPr>
          <a:xfrm>
            <a:off x="6155055" y="1782991"/>
            <a:ext cx="2598725" cy="182880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buNone/>
            </a:pPr>
            <a:r>
              <a:rPr lang="en-US" sz="990" b="1" spc="23" kern="0" dirty="0">
                <a:solidFill>
                  <a:srgbClr val="F1F5F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延伸阅读</a:t>
            </a:r>
            <a:endParaRPr lang="en-US" sz="990" dirty="0"/>
          </a:p>
        </p:txBody>
      </p:sp>
      <p:sp>
        <p:nvSpPr>
          <p:cNvPr id="38" name="Shape 36"/>
          <p:cNvSpPr/>
          <p:nvPr/>
        </p:nvSpPr>
        <p:spPr>
          <a:xfrm>
            <a:off x="6155055" y="1782991"/>
            <a:ext cx="22860" cy="125730"/>
          </a:xfrm>
          <a:prstGeom prst="roundRect">
            <a:avLst>
              <a:gd name="adj" fmla="val 50000"/>
            </a:avLst>
          </a:prstGeom>
          <a:solidFill>
            <a:srgbClr val="00BCD4"/>
          </a:solidFill>
          <a:ln/>
        </p:spPr>
      </p:sp>
      <p:sp>
        <p:nvSpPr>
          <p:cNvPr id="39" name="Text 37"/>
          <p:cNvSpPr/>
          <p:nvPr/>
        </p:nvSpPr>
        <p:spPr>
          <a:xfrm>
            <a:off x="6155055" y="2011591"/>
            <a:ext cx="2598725" cy="85725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buNone/>
            </a:pPr>
            <a:r>
              <a:rPr lang="en-US" sz="540" spc="68" kern="0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FURTHER READING · 4 CORE PAPERS</a:t>
            </a:r>
            <a:endParaRPr lang="en-US" sz="540" dirty="0"/>
          </a:p>
        </p:txBody>
      </p:sp>
      <p:sp>
        <p:nvSpPr>
          <p:cNvPr id="40" name="Shape 38"/>
          <p:cNvSpPr/>
          <p:nvPr/>
        </p:nvSpPr>
        <p:spPr>
          <a:xfrm>
            <a:off x="6155055" y="2223046"/>
            <a:ext cx="2320290" cy="345132"/>
          </a:xfrm>
          <a:prstGeom prst="rect">
            <a:avLst/>
          </a:prstGeom>
          <a:noFill/>
          <a:ln/>
        </p:spPr>
      </p:sp>
      <p:sp>
        <p:nvSpPr>
          <p:cNvPr id="41" name="Shape 39"/>
          <p:cNvSpPr/>
          <p:nvPr/>
        </p:nvSpPr>
        <p:spPr>
          <a:xfrm>
            <a:off x="6155055" y="2568178"/>
            <a:ext cx="2320290" cy="0"/>
          </a:xfrm>
          <a:prstGeom prst="line">
            <a:avLst/>
          </a:prstGeom>
          <a:noFill/>
          <a:ln w="5715">
            <a:solidFill>
              <a:srgbClr val="94A3B8">
                <a:alpha val="12000"/>
              </a:srgbClr>
            </a:solidFill>
            <a:prstDash val="dash"/>
          </a:ln>
        </p:spPr>
      </p:sp>
      <p:sp>
        <p:nvSpPr>
          <p:cNvPr id="42" name="Text 40"/>
          <p:cNvSpPr/>
          <p:nvPr/>
        </p:nvSpPr>
        <p:spPr>
          <a:xfrm>
            <a:off x="6177915" y="2280196"/>
            <a:ext cx="314325" cy="97155"/>
          </a:xfrm>
          <a:prstGeom prst="rect">
            <a:avLst/>
          </a:prstGeom>
          <a:noFill/>
          <a:ln/>
        </p:spPr>
        <p:txBody>
          <a:bodyPr wrap="none" lIns="5715" tIns="0" rIns="0" bIns="0" rtlCol="0" anchor="ctr"/>
          <a:lstStyle/>
          <a:p>
            <a:pPr algn="l" indent="0" marL="0">
              <a:buNone/>
            </a:pPr>
            <a:r>
              <a:rPr lang="en-US" sz="585" b="1" dirty="0">
                <a:solidFill>
                  <a:srgbClr val="00BCD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2004</a:t>
            </a:r>
            <a:endParaRPr lang="en-US" sz="585" dirty="0"/>
          </a:p>
        </p:txBody>
      </p:sp>
      <p:sp>
        <p:nvSpPr>
          <p:cNvPr id="43" name="Text 41"/>
          <p:cNvSpPr/>
          <p:nvPr/>
        </p:nvSpPr>
        <p:spPr>
          <a:xfrm>
            <a:off x="6497955" y="2280196"/>
            <a:ext cx="2189074" cy="120015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675" dirty="0">
                <a:solidFill>
                  <a:srgbClr val="F1F5F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Roland</a:t>
            </a:r>
            <a:endParaRPr lang="en-US" sz="675" dirty="0"/>
          </a:p>
        </p:txBody>
      </p:sp>
      <p:sp>
        <p:nvSpPr>
          <p:cNvPr id="44" name="Text 42"/>
          <p:cNvSpPr/>
          <p:nvPr/>
        </p:nvSpPr>
        <p:spPr>
          <a:xfrm>
            <a:off x="6497955" y="2417356"/>
            <a:ext cx="2189074" cy="87957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495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转型经济学 · 制度变迁与新兴经济体的路径</a:t>
            </a:r>
            <a:endParaRPr lang="en-US" sz="495" dirty="0"/>
          </a:p>
        </p:txBody>
      </p:sp>
      <p:sp>
        <p:nvSpPr>
          <p:cNvPr id="45" name="Shape 43"/>
          <p:cNvSpPr/>
          <p:nvPr/>
        </p:nvSpPr>
        <p:spPr>
          <a:xfrm>
            <a:off x="6155055" y="2636758"/>
            <a:ext cx="2320290" cy="345132"/>
          </a:xfrm>
          <a:prstGeom prst="rect">
            <a:avLst/>
          </a:prstGeom>
          <a:noFill/>
          <a:ln/>
        </p:spPr>
      </p:sp>
      <p:sp>
        <p:nvSpPr>
          <p:cNvPr id="46" name="Shape 44"/>
          <p:cNvSpPr/>
          <p:nvPr/>
        </p:nvSpPr>
        <p:spPr>
          <a:xfrm>
            <a:off x="6155055" y="2981891"/>
            <a:ext cx="2320290" cy="0"/>
          </a:xfrm>
          <a:prstGeom prst="line">
            <a:avLst/>
          </a:prstGeom>
          <a:noFill/>
          <a:ln w="5715">
            <a:solidFill>
              <a:srgbClr val="94A3B8">
                <a:alpha val="12000"/>
              </a:srgbClr>
            </a:solidFill>
            <a:prstDash val="dash"/>
          </a:ln>
        </p:spPr>
      </p:sp>
      <p:sp>
        <p:nvSpPr>
          <p:cNvPr id="47" name="Text 45"/>
          <p:cNvSpPr/>
          <p:nvPr/>
        </p:nvSpPr>
        <p:spPr>
          <a:xfrm>
            <a:off x="6177915" y="2693908"/>
            <a:ext cx="314325" cy="97155"/>
          </a:xfrm>
          <a:prstGeom prst="rect">
            <a:avLst/>
          </a:prstGeom>
          <a:noFill/>
          <a:ln/>
        </p:spPr>
        <p:txBody>
          <a:bodyPr wrap="none" lIns="5715" tIns="0" rIns="0" bIns="0" rtlCol="0" anchor="ctr"/>
          <a:lstStyle/>
          <a:p>
            <a:pPr algn="l" indent="0" marL="0">
              <a:buNone/>
            </a:pPr>
            <a:r>
              <a:rPr lang="en-US" sz="585" b="1" dirty="0">
                <a:solidFill>
                  <a:srgbClr val="00BCD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2000</a:t>
            </a:r>
            <a:endParaRPr lang="en-US" sz="585" dirty="0"/>
          </a:p>
        </p:txBody>
      </p:sp>
      <p:sp>
        <p:nvSpPr>
          <p:cNvPr id="48" name="Text 46"/>
          <p:cNvSpPr/>
          <p:nvPr/>
        </p:nvSpPr>
        <p:spPr>
          <a:xfrm>
            <a:off x="6497955" y="2693908"/>
            <a:ext cx="2189074" cy="120015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675" dirty="0">
                <a:solidFill>
                  <a:srgbClr val="F1F5F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Williamson</a:t>
            </a:r>
            <a:endParaRPr lang="en-US" sz="675" dirty="0"/>
          </a:p>
        </p:txBody>
      </p:sp>
      <p:sp>
        <p:nvSpPr>
          <p:cNvPr id="49" name="Text 47"/>
          <p:cNvSpPr/>
          <p:nvPr/>
        </p:nvSpPr>
        <p:spPr>
          <a:xfrm>
            <a:off x="6497955" y="2831068"/>
            <a:ext cx="2189074" cy="87957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495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交易成本经济学 · 契约治理与效率边界</a:t>
            </a:r>
            <a:endParaRPr lang="en-US" sz="495" dirty="0"/>
          </a:p>
        </p:txBody>
      </p:sp>
      <p:sp>
        <p:nvSpPr>
          <p:cNvPr id="50" name="Shape 48"/>
          <p:cNvSpPr/>
          <p:nvPr/>
        </p:nvSpPr>
        <p:spPr>
          <a:xfrm>
            <a:off x="6155055" y="3050471"/>
            <a:ext cx="2320290" cy="345132"/>
          </a:xfrm>
          <a:prstGeom prst="rect">
            <a:avLst/>
          </a:prstGeom>
          <a:noFill/>
          <a:ln/>
        </p:spPr>
      </p:sp>
      <p:sp>
        <p:nvSpPr>
          <p:cNvPr id="51" name="Shape 49"/>
          <p:cNvSpPr/>
          <p:nvPr/>
        </p:nvSpPr>
        <p:spPr>
          <a:xfrm>
            <a:off x="6155055" y="3395603"/>
            <a:ext cx="2320290" cy="0"/>
          </a:xfrm>
          <a:prstGeom prst="line">
            <a:avLst/>
          </a:prstGeom>
          <a:noFill/>
          <a:ln w="5715">
            <a:solidFill>
              <a:srgbClr val="94A3B8">
                <a:alpha val="12000"/>
              </a:srgbClr>
            </a:solidFill>
            <a:prstDash val="dash"/>
          </a:ln>
        </p:spPr>
      </p:sp>
      <p:sp>
        <p:nvSpPr>
          <p:cNvPr id="52" name="Text 50"/>
          <p:cNvSpPr/>
          <p:nvPr/>
        </p:nvSpPr>
        <p:spPr>
          <a:xfrm>
            <a:off x="6177915" y="3107621"/>
            <a:ext cx="314325" cy="97155"/>
          </a:xfrm>
          <a:prstGeom prst="rect">
            <a:avLst/>
          </a:prstGeom>
          <a:noFill/>
          <a:ln/>
        </p:spPr>
        <p:txBody>
          <a:bodyPr wrap="none" lIns="5715" tIns="0" rIns="0" bIns="0" rtlCol="0" anchor="ctr"/>
          <a:lstStyle/>
          <a:p>
            <a:pPr algn="l" indent="0" marL="0">
              <a:buNone/>
            </a:pPr>
            <a:r>
              <a:rPr lang="en-US" sz="585" b="1" dirty="0">
                <a:solidFill>
                  <a:srgbClr val="00BCD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2016</a:t>
            </a:r>
            <a:endParaRPr lang="en-US" sz="585" dirty="0"/>
          </a:p>
        </p:txBody>
      </p:sp>
      <p:sp>
        <p:nvSpPr>
          <p:cNvPr id="53" name="Text 51"/>
          <p:cNvSpPr/>
          <p:nvPr/>
        </p:nvSpPr>
        <p:spPr>
          <a:xfrm>
            <a:off x="6497955" y="3107621"/>
            <a:ext cx="2189074" cy="120015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675" dirty="0">
                <a:solidFill>
                  <a:srgbClr val="F1F5F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Akcagün &amp; Sapienza</a:t>
            </a:r>
            <a:endParaRPr lang="en-US" sz="675" dirty="0"/>
          </a:p>
        </p:txBody>
      </p:sp>
      <p:sp>
        <p:nvSpPr>
          <p:cNvPr id="54" name="Text 52"/>
          <p:cNvSpPr/>
          <p:nvPr/>
        </p:nvSpPr>
        <p:spPr>
          <a:xfrm>
            <a:off x="6497955" y="3244781"/>
            <a:ext cx="2189074" cy="87957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495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演化制度理论 · 网络效应的制度嵌入</a:t>
            </a:r>
            <a:endParaRPr lang="en-US" sz="495" dirty="0"/>
          </a:p>
        </p:txBody>
      </p:sp>
      <p:sp>
        <p:nvSpPr>
          <p:cNvPr id="55" name="Text 53"/>
          <p:cNvSpPr/>
          <p:nvPr/>
        </p:nvSpPr>
        <p:spPr>
          <a:xfrm>
            <a:off x="6177915" y="3521333"/>
            <a:ext cx="314325" cy="97155"/>
          </a:xfrm>
          <a:prstGeom prst="rect">
            <a:avLst/>
          </a:prstGeom>
          <a:noFill/>
          <a:ln/>
        </p:spPr>
        <p:txBody>
          <a:bodyPr wrap="none" lIns="5715" tIns="0" rIns="0" bIns="0" rtlCol="0" anchor="ctr"/>
          <a:lstStyle/>
          <a:p>
            <a:pPr algn="l" indent="0" marL="0">
              <a:buNone/>
            </a:pPr>
            <a:r>
              <a:rPr lang="en-US" sz="585" b="1" dirty="0">
                <a:solidFill>
                  <a:srgbClr val="00BCD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2017</a:t>
            </a:r>
            <a:endParaRPr lang="en-US" sz="585" dirty="0"/>
          </a:p>
        </p:txBody>
      </p:sp>
      <p:sp>
        <p:nvSpPr>
          <p:cNvPr id="56" name="Text 54"/>
          <p:cNvSpPr/>
          <p:nvPr/>
        </p:nvSpPr>
        <p:spPr>
          <a:xfrm>
            <a:off x="6497955" y="3521333"/>
            <a:ext cx="2189074" cy="120015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675" dirty="0">
                <a:solidFill>
                  <a:srgbClr val="F1F5F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Greif &amp; Mokyr</a:t>
            </a:r>
            <a:endParaRPr lang="en-US" sz="675" dirty="0"/>
          </a:p>
        </p:txBody>
      </p:sp>
      <p:sp>
        <p:nvSpPr>
          <p:cNvPr id="57" name="Text 55"/>
          <p:cNvSpPr/>
          <p:nvPr/>
        </p:nvSpPr>
        <p:spPr>
          <a:xfrm>
            <a:off x="6497955" y="3658493"/>
            <a:ext cx="2189074" cy="87957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495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制度多样性 · 演化路径与增长机制</a:t>
            </a:r>
            <a:endParaRPr lang="en-US" sz="495" dirty="0"/>
          </a:p>
        </p:txBody>
      </p:sp>
      <p:sp>
        <p:nvSpPr>
          <p:cNvPr id="58" name="Shape 56"/>
          <p:cNvSpPr/>
          <p:nvPr/>
        </p:nvSpPr>
        <p:spPr>
          <a:xfrm>
            <a:off x="6155055" y="3917900"/>
            <a:ext cx="2320290" cy="371475"/>
          </a:xfrm>
          <a:prstGeom prst="rect">
            <a:avLst/>
          </a:prstGeom>
          <a:noFill/>
          <a:ln/>
        </p:spPr>
      </p:sp>
      <p:sp>
        <p:nvSpPr>
          <p:cNvPr id="59" name="Shape 57"/>
          <p:cNvSpPr/>
          <p:nvPr/>
        </p:nvSpPr>
        <p:spPr>
          <a:xfrm>
            <a:off x="6155055" y="3917900"/>
            <a:ext cx="2320290" cy="0"/>
          </a:xfrm>
          <a:prstGeom prst="line">
            <a:avLst/>
          </a:prstGeom>
          <a:noFill/>
          <a:ln w="5715">
            <a:solidFill>
              <a:srgbClr val="94A3B8">
                <a:alpha val="15000"/>
              </a:srgbClr>
            </a:solidFill>
            <a:prstDash val="solid"/>
          </a:ln>
        </p:spPr>
      </p:sp>
      <p:sp>
        <p:nvSpPr>
          <p:cNvPr id="60" name="Shape 58"/>
          <p:cNvSpPr/>
          <p:nvPr/>
        </p:nvSpPr>
        <p:spPr>
          <a:xfrm>
            <a:off x="6155055" y="4003625"/>
            <a:ext cx="542925" cy="125730"/>
          </a:xfrm>
          <a:prstGeom prst="roundRect">
            <a:avLst>
              <a:gd name="adj" fmla="val 90909"/>
            </a:avLst>
          </a:prstGeom>
          <a:noFill/>
          <a:ln w="5715">
            <a:solidFill>
              <a:srgbClr val="00BCD4">
                <a:alpha val="35000"/>
              </a:srgbClr>
            </a:solidFill>
            <a:prstDash val="solid"/>
          </a:ln>
        </p:spPr>
      </p:sp>
      <p:sp>
        <p:nvSpPr>
          <p:cNvPr id="61" name="Text 59"/>
          <p:cNvSpPr/>
          <p:nvPr/>
        </p:nvSpPr>
        <p:spPr>
          <a:xfrm>
            <a:off x="6155055" y="4003625"/>
            <a:ext cx="608076" cy="125730"/>
          </a:xfrm>
          <a:prstGeom prst="rect">
            <a:avLst/>
          </a:prstGeom>
          <a:noFill/>
          <a:ln/>
        </p:spPr>
        <p:txBody>
          <a:bodyPr wrap="square" lIns="22860" tIns="57150" rIns="57150" bIns="22860" rtlCol="0" anchor="ctr"/>
          <a:lstStyle/>
          <a:p>
            <a:pPr algn="l" indent="0" marL="0">
              <a:buNone/>
            </a:pPr>
            <a:r>
              <a:rPr lang="en-US" sz="450" spc="45" kern="0" dirty="0">
                <a:solidFill>
                  <a:srgbClr val="00BCD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TRANSITION</a:t>
            </a:r>
            <a:endParaRPr lang="en-US" sz="450" dirty="0"/>
          </a:p>
        </p:txBody>
      </p:sp>
      <p:sp>
        <p:nvSpPr>
          <p:cNvPr id="62" name="Shape 60"/>
          <p:cNvSpPr/>
          <p:nvPr/>
        </p:nvSpPr>
        <p:spPr>
          <a:xfrm>
            <a:off x="6732270" y="4003625"/>
            <a:ext cx="817245" cy="125730"/>
          </a:xfrm>
          <a:prstGeom prst="roundRect">
            <a:avLst>
              <a:gd name="adj" fmla="val 90909"/>
            </a:avLst>
          </a:prstGeom>
          <a:noFill/>
          <a:ln w="5715">
            <a:solidFill>
              <a:srgbClr val="00BCD4">
                <a:alpha val="35000"/>
              </a:srgbClr>
            </a:solidFill>
            <a:prstDash val="solid"/>
          </a:ln>
        </p:spPr>
      </p:sp>
      <p:sp>
        <p:nvSpPr>
          <p:cNvPr id="63" name="Text 61"/>
          <p:cNvSpPr/>
          <p:nvPr/>
        </p:nvSpPr>
        <p:spPr>
          <a:xfrm>
            <a:off x="6732270" y="4003625"/>
            <a:ext cx="915314" cy="125730"/>
          </a:xfrm>
          <a:prstGeom prst="rect">
            <a:avLst/>
          </a:prstGeom>
          <a:noFill/>
          <a:ln/>
        </p:spPr>
        <p:txBody>
          <a:bodyPr wrap="square" lIns="22860" tIns="57150" rIns="57150" bIns="22860" rtlCol="0" anchor="ctr"/>
          <a:lstStyle/>
          <a:p>
            <a:pPr algn="l" indent="0" marL="0">
              <a:buNone/>
            </a:pPr>
            <a:r>
              <a:rPr lang="en-US" sz="450" spc="45" kern="0" dirty="0">
                <a:solidFill>
                  <a:srgbClr val="00BCD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TRANSACTION COST</a:t>
            </a:r>
            <a:endParaRPr lang="en-US" sz="450" dirty="0"/>
          </a:p>
        </p:txBody>
      </p:sp>
      <p:sp>
        <p:nvSpPr>
          <p:cNvPr id="64" name="Shape 62"/>
          <p:cNvSpPr/>
          <p:nvPr/>
        </p:nvSpPr>
        <p:spPr>
          <a:xfrm>
            <a:off x="7583805" y="4003625"/>
            <a:ext cx="502920" cy="125730"/>
          </a:xfrm>
          <a:prstGeom prst="roundRect">
            <a:avLst>
              <a:gd name="adj" fmla="val 90909"/>
            </a:avLst>
          </a:prstGeom>
          <a:noFill/>
          <a:ln w="5715">
            <a:solidFill>
              <a:srgbClr val="00BCD4">
                <a:alpha val="35000"/>
              </a:srgbClr>
            </a:solidFill>
            <a:prstDash val="solid"/>
          </a:ln>
        </p:spPr>
      </p:sp>
      <p:sp>
        <p:nvSpPr>
          <p:cNvPr id="65" name="Text 63"/>
          <p:cNvSpPr/>
          <p:nvPr/>
        </p:nvSpPr>
        <p:spPr>
          <a:xfrm>
            <a:off x="7583805" y="4003625"/>
            <a:ext cx="563270" cy="125730"/>
          </a:xfrm>
          <a:prstGeom prst="rect">
            <a:avLst/>
          </a:prstGeom>
          <a:noFill/>
          <a:ln/>
        </p:spPr>
        <p:txBody>
          <a:bodyPr wrap="square" lIns="22860" tIns="57150" rIns="57150" bIns="22860" rtlCol="0" anchor="ctr"/>
          <a:lstStyle/>
          <a:p>
            <a:pPr algn="l" indent="0" marL="0">
              <a:buNone/>
            </a:pPr>
            <a:r>
              <a:rPr lang="en-US" sz="450" spc="45" kern="0" dirty="0">
                <a:solidFill>
                  <a:srgbClr val="00BCD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EVOLUTIVE</a:t>
            </a:r>
            <a:endParaRPr lang="en-US" sz="450" dirty="0"/>
          </a:p>
        </p:txBody>
      </p:sp>
      <p:sp>
        <p:nvSpPr>
          <p:cNvPr id="66" name="Shape 64"/>
          <p:cNvSpPr/>
          <p:nvPr/>
        </p:nvSpPr>
        <p:spPr>
          <a:xfrm>
            <a:off x="6155055" y="4163645"/>
            <a:ext cx="657225" cy="125730"/>
          </a:xfrm>
          <a:prstGeom prst="roundRect">
            <a:avLst>
              <a:gd name="adj" fmla="val 90909"/>
            </a:avLst>
          </a:prstGeom>
          <a:noFill/>
          <a:ln w="5715">
            <a:solidFill>
              <a:srgbClr val="FF7043">
                <a:alpha val="40000"/>
              </a:srgbClr>
            </a:solidFill>
            <a:prstDash val="solid"/>
          </a:ln>
        </p:spPr>
      </p:sp>
      <p:sp>
        <p:nvSpPr>
          <p:cNvPr id="67" name="Text 65"/>
          <p:cNvSpPr/>
          <p:nvPr/>
        </p:nvSpPr>
        <p:spPr>
          <a:xfrm>
            <a:off x="6155055" y="4163645"/>
            <a:ext cx="736092" cy="125730"/>
          </a:xfrm>
          <a:prstGeom prst="rect">
            <a:avLst/>
          </a:prstGeom>
          <a:noFill/>
          <a:ln/>
        </p:spPr>
        <p:txBody>
          <a:bodyPr wrap="square" lIns="22860" tIns="57150" rIns="57150" bIns="22860" rtlCol="0" anchor="ctr"/>
          <a:lstStyle/>
          <a:p>
            <a:pPr algn="l" indent="0" marL="0">
              <a:buNone/>
            </a:pPr>
            <a:r>
              <a:rPr lang="en-US" sz="450" spc="45" kern="0" dirty="0">
                <a:solidFill>
                  <a:srgbClr val="FF704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INSTITUTIONAL</a:t>
            </a:r>
            <a:endParaRPr lang="en-US" sz="450" dirty="0"/>
          </a:p>
        </p:txBody>
      </p:sp>
      <p:sp>
        <p:nvSpPr>
          <p:cNvPr id="68" name="Shape 66"/>
          <p:cNvSpPr/>
          <p:nvPr/>
        </p:nvSpPr>
        <p:spPr>
          <a:xfrm>
            <a:off x="514350" y="4569410"/>
            <a:ext cx="8115300" cy="228600"/>
          </a:xfrm>
          <a:prstGeom prst="rect">
            <a:avLst/>
          </a:prstGeom>
          <a:noFill/>
          <a:ln/>
        </p:spPr>
      </p:sp>
      <p:sp>
        <p:nvSpPr>
          <p:cNvPr id="69" name="Shape 67"/>
          <p:cNvSpPr/>
          <p:nvPr/>
        </p:nvSpPr>
        <p:spPr>
          <a:xfrm>
            <a:off x="514350" y="4569410"/>
            <a:ext cx="8115300" cy="0"/>
          </a:xfrm>
          <a:prstGeom prst="line">
            <a:avLst/>
          </a:prstGeom>
          <a:noFill/>
          <a:ln w="5715">
            <a:solidFill>
              <a:srgbClr val="94A3B8">
                <a:alpha val="15000"/>
              </a:srgbClr>
            </a:solidFill>
            <a:prstDash val="solid"/>
          </a:ln>
        </p:spPr>
      </p:sp>
      <p:sp>
        <p:nvSpPr>
          <p:cNvPr id="70" name="Shape 68"/>
          <p:cNvSpPr/>
          <p:nvPr/>
        </p:nvSpPr>
        <p:spPr>
          <a:xfrm>
            <a:off x="514350" y="4726573"/>
            <a:ext cx="45720" cy="45720"/>
          </a:xfrm>
          <a:prstGeom prst="ellipse">
            <a:avLst/>
          </a:prstGeom>
          <a:solidFill>
            <a:srgbClr val="00BCD4"/>
          </a:solidFill>
          <a:ln/>
          <a:effectLst>
            <a:outerShdw sx="100000" sy="100000" kx="0" ky="0" algn="bl" rotWithShape="0" blurRad="101600" dist="50800" dir="16200000">
              <a:srgbClr val="00BCD4">
                <a:alpha val="17600"/>
              </a:srgbClr>
            </a:outerShdw>
          </a:effectLst>
        </p:spPr>
      </p:sp>
      <p:sp>
        <p:nvSpPr>
          <p:cNvPr id="71" name="Text 69"/>
          <p:cNvSpPr/>
          <p:nvPr/>
        </p:nvSpPr>
        <p:spPr>
          <a:xfrm>
            <a:off x="640080" y="4700855"/>
            <a:ext cx="1158545" cy="97155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buNone/>
            </a:pPr>
            <a:r>
              <a:rPr lang="en-US" sz="540" spc="45" kern="0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END OF DECK · 讨论时间开放</a:t>
            </a:r>
            <a:endParaRPr lang="en-US" sz="540" dirty="0"/>
          </a:p>
        </p:txBody>
      </p:sp>
      <p:sp>
        <p:nvSpPr>
          <p:cNvPr id="72" name="Text 70"/>
          <p:cNvSpPr/>
          <p:nvPr/>
        </p:nvSpPr>
        <p:spPr>
          <a:xfrm>
            <a:off x="7989570" y="4700855"/>
            <a:ext cx="716890" cy="9715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540" b="1" spc="90" kern="0" dirty="0">
                <a:solidFill>
                  <a:srgbClr val="00BCD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Q&amp;A · 请提问</a:t>
            </a:r>
            <a:pPr algn="l" indent="0" marL="0">
              <a:buNone/>
            </a:pPr>
            <a:r>
              <a:rPr lang="en-US" sz="540" b="1" spc="90" kern="0" dirty="0">
                <a:solidFill>
                  <a:srgbClr val="00BCD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→ </a:t>
            </a:r>
            <a:endParaRPr lang="en-US" sz="54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251460" y="251460"/>
            <a:ext cx="342900" cy="342900"/>
          </a:xfrm>
          <a:prstGeom prst="rect">
            <a:avLst/>
          </a:prstGeom>
        </p:spPr>
      </p:pic>
      <p:pic>
        <p:nvPicPr>
          <p:cNvPr id="3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8549640" y="251460"/>
            <a:ext cx="342900" cy="342900"/>
          </a:xfrm>
          <a:prstGeom prst="rect">
            <a:avLst/>
          </a:prstGeom>
        </p:spPr>
      </p:pic>
      <p:pic>
        <p:nvPicPr>
          <p:cNvPr id="4" name="Image 2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251460" y="4549140"/>
            <a:ext cx="342900" cy="342900"/>
          </a:xfrm>
          <a:prstGeom prst="rect">
            <a:avLst/>
          </a:prstGeom>
        </p:spPr>
      </p:pic>
      <p:pic>
        <p:nvPicPr>
          <p:cNvPr id="5" name="Image 3" descr="preencoded.png">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8549640" y="4549140"/>
            <a:ext cx="342900" cy="342900"/>
          </a:xfrm>
          <a:prstGeom prst="rect">
            <a:avLst/>
          </a:prstGeom>
        </p:spPr>
      </p:pic>
      <p:sp>
        <p:nvSpPr>
          <p:cNvPr id="6" name="Shape 0"/>
          <p:cNvSpPr/>
          <p:nvPr/>
        </p:nvSpPr>
        <p:spPr>
          <a:xfrm>
            <a:off x="0" y="685800"/>
            <a:ext cx="9144000" cy="5715"/>
          </a:xfrm>
          <a:prstGeom prst="rect">
            <a:avLst/>
          </a:prstGeom>
          <a:gradFill rotWithShape="1">
            <a:gsLst>
              <a:gs pos="0">
                <a:srgbClr val="000000">
                  <a:alpha val="0"/>
                </a:srgbClr>
              </a:gs>
              <a:gs pos="50000">
                <a:srgbClr val="00BCD4">
                  <a:alpha val="35000"/>
                </a:srgbClr>
              </a:gs>
              <a:gs pos="100000">
                <a:srgbClr val="000000">
                  <a:alpha val="0"/>
                </a:srgbClr>
              </a:gs>
            </a:gsLst>
            <a:lin ang="0" scaled="0"/>
          </a:gradFill>
          <a:ln/>
        </p:spPr>
      </p:sp>
      <p:sp>
        <p:nvSpPr>
          <p:cNvPr id="7" name="Shape 1"/>
          <p:cNvSpPr/>
          <p:nvPr/>
        </p:nvSpPr>
        <p:spPr>
          <a:xfrm>
            <a:off x="0" y="4394835"/>
            <a:ext cx="9144000" cy="5715"/>
          </a:xfrm>
          <a:prstGeom prst="rect">
            <a:avLst/>
          </a:prstGeom>
          <a:gradFill rotWithShape="1">
            <a:gsLst>
              <a:gs pos="0">
                <a:srgbClr val="000000">
                  <a:alpha val="0"/>
                </a:srgbClr>
              </a:gs>
              <a:gs pos="50000">
                <a:srgbClr val="00BCD4">
                  <a:alpha val="35000"/>
                </a:srgbClr>
              </a:gs>
              <a:gs pos="100000">
                <a:srgbClr val="000000">
                  <a:alpha val="0"/>
                </a:srgbClr>
              </a:gs>
            </a:gsLst>
            <a:lin ang="0" scaled="0"/>
          </a:gradFill>
          <a:ln/>
        </p:spPr>
      </p:sp>
      <p:sp>
        <p:nvSpPr>
          <p:cNvPr id="8" name="Text 2"/>
          <p:cNvSpPr/>
          <p:nvPr/>
        </p:nvSpPr>
        <p:spPr>
          <a:xfrm>
            <a:off x="3734708" y="342900"/>
            <a:ext cx="293787" cy="85725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buNone/>
            </a:pPr>
            <a:r>
              <a:rPr lang="en-US" sz="540" spc="216" kern="0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END</a:t>
            </a:r>
            <a:endParaRPr lang="en-US" sz="540" dirty="0"/>
          </a:p>
        </p:txBody>
      </p:sp>
      <p:sp>
        <p:nvSpPr>
          <p:cNvPr id="9" name="Shape 3"/>
          <p:cNvSpPr/>
          <p:nvPr/>
        </p:nvSpPr>
        <p:spPr>
          <a:xfrm>
            <a:off x="4039925" y="382905"/>
            <a:ext cx="342900" cy="5715"/>
          </a:xfrm>
          <a:prstGeom prst="rect">
            <a:avLst/>
          </a:prstGeom>
          <a:solidFill>
            <a:srgbClr val="94A3B8">
              <a:alpha val="40000"/>
            </a:srgbClr>
          </a:solidFill>
          <a:ln/>
        </p:spPr>
      </p:sp>
      <p:sp>
        <p:nvSpPr>
          <p:cNvPr id="10" name="Shape 4"/>
          <p:cNvSpPr/>
          <p:nvPr/>
        </p:nvSpPr>
        <p:spPr>
          <a:xfrm>
            <a:off x="4462835" y="368618"/>
            <a:ext cx="34290" cy="34290"/>
          </a:xfrm>
          <a:prstGeom prst="ellipse">
            <a:avLst/>
          </a:prstGeom>
          <a:solidFill>
            <a:srgbClr val="FF7043"/>
          </a:solidFill>
          <a:ln/>
          <a:effectLst>
            <a:outerShdw sx="100000" sy="100000" kx="0" ky="0" algn="bl" rotWithShape="0" blurRad="114300" dist="50800" dir="16200000">
              <a:srgbClr val="FF7043">
                <a:alpha val="70000"/>
              </a:srgbClr>
            </a:outerShdw>
          </a:effectLst>
        </p:spPr>
      </p:sp>
      <p:sp>
        <p:nvSpPr>
          <p:cNvPr id="11" name="Shape 5"/>
          <p:cNvSpPr/>
          <p:nvPr/>
        </p:nvSpPr>
        <p:spPr>
          <a:xfrm>
            <a:off x="4577135" y="382905"/>
            <a:ext cx="342900" cy="5715"/>
          </a:xfrm>
          <a:prstGeom prst="rect">
            <a:avLst/>
          </a:prstGeom>
          <a:solidFill>
            <a:srgbClr val="94A3B8">
              <a:alpha val="40000"/>
            </a:srgbClr>
          </a:solidFill>
          <a:ln/>
        </p:spPr>
      </p:sp>
      <p:sp>
        <p:nvSpPr>
          <p:cNvPr id="12" name="Text 6"/>
          <p:cNvSpPr/>
          <p:nvPr/>
        </p:nvSpPr>
        <p:spPr>
          <a:xfrm>
            <a:off x="5000045" y="342900"/>
            <a:ext cx="477828" cy="85725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buNone/>
            </a:pPr>
            <a:r>
              <a:rPr lang="en-US" sz="540" spc="216" kern="0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25 / 25</a:t>
            </a:r>
            <a:endParaRPr lang="en-US" sz="540" dirty="0"/>
          </a:p>
        </p:txBody>
      </p:sp>
      <p:sp>
        <p:nvSpPr>
          <p:cNvPr id="13" name="Text 7"/>
          <p:cNvSpPr/>
          <p:nvPr/>
        </p:nvSpPr>
        <p:spPr>
          <a:xfrm>
            <a:off x="1272659" y="1360170"/>
            <a:ext cx="8130302" cy="1600200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0800" b="1" spc="-432" kern="0" dirty="0">
                <a:solidFill>
                  <a:srgbClr val="000000">
                    <a:alpha val="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Thank you</a:t>
            </a:r>
            <a:endParaRPr lang="en-US" sz="10800" dirty="0"/>
          </a:p>
        </p:txBody>
      </p:sp>
      <p:sp>
        <p:nvSpPr>
          <p:cNvPr id="14" name="Text 8"/>
          <p:cNvSpPr/>
          <p:nvPr/>
        </p:nvSpPr>
        <p:spPr>
          <a:xfrm>
            <a:off x="1192649" y="1245870"/>
            <a:ext cx="5475059" cy="1663065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0800" b="1" spc="-432" kern="0" dirty="0">
                <a:solidFill>
                  <a:srgbClr val="F1F5F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Thank</a:t>
            </a:r>
            <a:endParaRPr lang="en-US" sz="10800" dirty="0"/>
          </a:p>
        </p:txBody>
      </p:sp>
      <p:sp>
        <p:nvSpPr>
          <p:cNvPr id="15" name="Text 9"/>
          <p:cNvSpPr/>
          <p:nvPr/>
        </p:nvSpPr>
        <p:spPr>
          <a:xfrm>
            <a:off x="5515600" y="1245870"/>
            <a:ext cx="4251960" cy="1663065"/>
          </a:xfrm>
          <a:prstGeom prst="rect">
            <a:avLst/>
          </a:prstGeom>
          <a:noFill/>
          <a:ln/>
          <a:effectLst>
            <a:outerShdw sx="100000" sy="100000" kx="0" ky="0" algn="bl" rotWithShape="0" blurRad="228600" dist="50800" dir="5400000">
              <a:srgbClr val="00BCD4">
                <a:alpha val="45000"/>
              </a:srgbClr>
            </a:outerShdw>
          </a:effectLst>
        </p:spPr>
        <p:txBody>
          <a:bodyPr wrap="none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0800" b="1" spc="-432" kern="0" dirty="0">
                <a:solidFill>
                  <a:srgbClr val="00BCD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you</a:t>
            </a:r>
            <a:endParaRPr lang="en-US" sz="10800" dirty="0"/>
          </a:p>
        </p:txBody>
      </p:sp>
      <p:sp>
        <p:nvSpPr>
          <p:cNvPr id="16" name="Shape 10"/>
          <p:cNvSpPr/>
          <p:nvPr/>
        </p:nvSpPr>
        <p:spPr>
          <a:xfrm>
            <a:off x="3943350" y="3006090"/>
            <a:ext cx="1257300" cy="11430"/>
          </a:xfrm>
          <a:prstGeom prst="rect">
            <a:avLst/>
          </a:prstGeom>
          <a:gradFill rotWithShape="1">
            <a:gsLst>
              <a:gs pos="0">
                <a:srgbClr val="000000">
                  <a:alpha val="0"/>
                </a:srgbClr>
              </a:gs>
              <a:gs pos="30000">
                <a:srgbClr val="00BCD4"/>
              </a:gs>
              <a:gs pos="70000">
                <a:srgbClr val="FF7043"/>
              </a:gs>
              <a:gs pos="100000">
                <a:srgbClr val="000000">
                  <a:alpha val="0"/>
                </a:srgbClr>
              </a:gs>
            </a:gsLst>
            <a:lin ang="0" scaled="0"/>
          </a:gradFill>
          <a:ln/>
        </p:spPr>
      </p:sp>
      <p:sp>
        <p:nvSpPr>
          <p:cNvPr id="17" name="Shape 11"/>
          <p:cNvSpPr/>
          <p:nvPr/>
        </p:nvSpPr>
        <p:spPr>
          <a:xfrm>
            <a:off x="4572000" y="3011805"/>
            <a:ext cx="45720" cy="45720"/>
          </a:xfrm>
          <a:prstGeom prst="ellipse">
            <a:avLst/>
          </a:prstGeom>
          <a:solidFill>
            <a:srgbClr val="FF7043"/>
          </a:solidFill>
          <a:ln/>
          <a:effectLst>
            <a:outerShdw sx="100000" sy="100000" kx="0" ky="0" algn="bl" rotWithShape="0" blurRad="152400" dist="50800" dir="16200000">
              <a:srgbClr val="FF7043">
                <a:alpha val="90000"/>
              </a:srgbClr>
            </a:outerShdw>
          </a:effectLst>
        </p:spPr>
      </p:sp>
      <p:sp>
        <p:nvSpPr>
          <p:cNvPr id="18" name="Shape 12"/>
          <p:cNvSpPr/>
          <p:nvPr/>
        </p:nvSpPr>
        <p:spPr>
          <a:xfrm rot="2700000">
            <a:off x="3719036" y="3320415"/>
            <a:ext cx="45720" cy="45720"/>
          </a:xfrm>
          <a:prstGeom prst="rect">
            <a:avLst/>
          </a:prstGeom>
          <a:solidFill>
            <a:srgbClr val="00BCD4"/>
          </a:solidFill>
          <a:ln/>
          <a:effectLst>
            <a:outerShdw sx="100000" sy="100000" kx="0" ky="0" algn="bl" rotWithShape="0" blurRad="95250" dist="50800" dir="16200000">
              <a:srgbClr val="00BCD4">
                <a:alpha val="60000"/>
              </a:srgbClr>
            </a:outerShdw>
          </a:effectLst>
        </p:spPr>
      </p:sp>
      <p:sp>
        <p:nvSpPr>
          <p:cNvPr id="19" name="Text 13"/>
          <p:cNvSpPr/>
          <p:nvPr/>
        </p:nvSpPr>
        <p:spPr>
          <a:xfrm>
            <a:off x="3844766" y="3268980"/>
            <a:ext cx="1628904" cy="148590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ctr" indent="0" marL="0">
              <a:buNone/>
            </a:pPr>
            <a:r>
              <a:rPr lang="en-US" sz="810" spc="16" kern="0" dirty="0">
                <a:solidFill>
                  <a:srgbClr val="F1F5F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讲者：「开源之道」· 适兕 × 窄廊</a:t>
            </a:r>
            <a:endParaRPr lang="en-US" sz="810" dirty="0"/>
          </a:p>
        </p:txBody>
      </p:sp>
      <p:sp>
        <p:nvSpPr>
          <p:cNvPr id="20" name="Shape 14"/>
          <p:cNvSpPr/>
          <p:nvPr/>
        </p:nvSpPr>
        <p:spPr>
          <a:xfrm rot="2700000">
            <a:off x="5379154" y="3320415"/>
            <a:ext cx="45720" cy="45720"/>
          </a:xfrm>
          <a:prstGeom prst="rect">
            <a:avLst/>
          </a:prstGeom>
          <a:solidFill>
            <a:srgbClr val="00BCD4"/>
          </a:solidFill>
          <a:ln/>
          <a:effectLst>
            <a:outerShdw sx="100000" sy="100000" kx="0" ky="0" algn="bl" rotWithShape="0" blurRad="95250" dist="50800" dir="16200000">
              <a:srgbClr val="00BCD4">
                <a:alpha val="60000"/>
              </a:srgbClr>
            </a:outerShdw>
          </a:effectLst>
        </p:spPr>
      </p:sp>
      <p:sp>
        <p:nvSpPr>
          <p:cNvPr id="21" name="Text 15"/>
          <p:cNvSpPr/>
          <p:nvPr/>
        </p:nvSpPr>
        <p:spPr>
          <a:xfrm>
            <a:off x="3453735" y="3486150"/>
            <a:ext cx="2504813" cy="97155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ctr" indent="0" marL="0">
              <a:buNone/>
            </a:pPr>
            <a:r>
              <a:rPr lang="en-US" sz="630" spc="113" kern="0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Open Source Way · Kuosi × Narrow Corridor</a:t>
            </a:r>
            <a:endParaRPr lang="en-US" sz="630" dirty="0"/>
          </a:p>
        </p:txBody>
      </p:sp>
      <p:sp>
        <p:nvSpPr>
          <p:cNvPr id="22" name="Shape 16"/>
          <p:cNvSpPr/>
          <p:nvPr/>
        </p:nvSpPr>
        <p:spPr>
          <a:xfrm>
            <a:off x="3961299" y="3686175"/>
            <a:ext cx="1221224" cy="177165"/>
          </a:xfrm>
          <a:prstGeom prst="roundRect">
            <a:avLst>
              <a:gd name="adj" fmla="val 6452"/>
            </a:avLst>
          </a:prstGeom>
          <a:noFill/>
          <a:ln w="5715">
            <a:solidFill>
              <a:srgbClr val="94A3B8">
                <a:alpha val="25000"/>
              </a:srgbClr>
            </a:solidFill>
            <a:prstDash val="solid"/>
          </a:ln>
        </p:spPr>
      </p:sp>
      <p:sp>
        <p:nvSpPr>
          <p:cNvPr id="23" name="Shape 17"/>
          <p:cNvSpPr/>
          <p:nvPr/>
        </p:nvSpPr>
        <p:spPr>
          <a:xfrm>
            <a:off x="4047024" y="3763328"/>
            <a:ext cx="22860" cy="22860"/>
          </a:xfrm>
          <a:prstGeom prst="ellipse">
            <a:avLst/>
          </a:prstGeom>
          <a:solidFill>
            <a:srgbClr val="00BCD4"/>
          </a:solidFill>
          <a:ln/>
        </p:spPr>
      </p:sp>
      <p:sp>
        <p:nvSpPr>
          <p:cNvPr id="24" name="Text 18"/>
          <p:cNvSpPr/>
          <p:nvPr/>
        </p:nvSpPr>
        <p:spPr>
          <a:xfrm>
            <a:off x="4127034" y="3726180"/>
            <a:ext cx="996525" cy="97155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ctr" indent="0" marL="0">
              <a:buNone/>
            </a:pPr>
            <a:r>
              <a:rPr lang="en-US" sz="585" spc="140" kern="0" dirty="0">
                <a:solidFill>
                  <a:srgbClr val="64748B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2026 — 09 — 11</a:t>
            </a:r>
            <a:endParaRPr lang="en-US" sz="585" dirty="0"/>
          </a:p>
        </p:txBody>
      </p:sp>
      <p:sp>
        <p:nvSpPr>
          <p:cNvPr id="25" name="Shape 19"/>
          <p:cNvSpPr/>
          <p:nvPr/>
        </p:nvSpPr>
        <p:spPr>
          <a:xfrm>
            <a:off x="5073938" y="3763328"/>
            <a:ext cx="22860" cy="22860"/>
          </a:xfrm>
          <a:prstGeom prst="ellipse">
            <a:avLst/>
          </a:prstGeom>
          <a:solidFill>
            <a:srgbClr val="00BCD4"/>
          </a:solidFill>
          <a:ln/>
        </p:spPr>
      </p:sp>
      <p:sp>
        <p:nvSpPr>
          <p:cNvPr id="26" name="Text 20"/>
          <p:cNvSpPr/>
          <p:nvPr/>
        </p:nvSpPr>
        <p:spPr>
          <a:xfrm>
            <a:off x="0" y="4680585"/>
            <a:ext cx="10241280" cy="108585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ctr" indent="0" marL="0">
              <a:buNone/>
            </a:pPr>
            <a:r>
              <a:rPr lang="en-US" sz="585" spc="47" kern="0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感谢聆听。本项目后续将持续更新，欢迎交流与引用。</a:t>
            </a:r>
            <a:endParaRPr lang="en-US" sz="585" dirty="0"/>
          </a:p>
        </p:txBody>
      </p:sp>
      <p:sp>
        <p:nvSpPr>
          <p:cNvPr id="27" name="Text 21"/>
          <p:cNvSpPr/>
          <p:nvPr/>
        </p:nvSpPr>
        <p:spPr>
          <a:xfrm>
            <a:off x="262890" y="4812030"/>
            <a:ext cx="235744" cy="80010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buNone/>
            </a:pPr>
            <a:r>
              <a:rPr lang="en-US" sz="495" spc="139" kern="0" dirty="0">
                <a:solidFill>
                  <a:srgbClr val="64748B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NO.</a:t>
            </a:r>
            <a:endParaRPr lang="en-US" sz="495" dirty="0"/>
          </a:p>
        </p:txBody>
      </p:sp>
      <p:sp>
        <p:nvSpPr>
          <p:cNvPr id="28" name="Shape 22"/>
          <p:cNvSpPr/>
          <p:nvPr/>
        </p:nvSpPr>
        <p:spPr>
          <a:xfrm>
            <a:off x="492919" y="4849178"/>
            <a:ext cx="125730" cy="5715"/>
          </a:xfrm>
          <a:prstGeom prst="rect">
            <a:avLst/>
          </a:prstGeom>
          <a:solidFill>
            <a:srgbClr val="94A3B8">
              <a:alpha val="40000"/>
            </a:srgbClr>
          </a:solidFill>
          <a:ln/>
        </p:spPr>
      </p:sp>
      <p:sp>
        <p:nvSpPr>
          <p:cNvPr id="29" name="Text 23"/>
          <p:cNvSpPr/>
          <p:nvPr/>
        </p:nvSpPr>
        <p:spPr>
          <a:xfrm>
            <a:off x="675799" y="4812030"/>
            <a:ext cx="178147" cy="80010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buNone/>
            </a:pPr>
            <a:r>
              <a:rPr lang="en-US" sz="495" spc="139" kern="0" dirty="0">
                <a:solidFill>
                  <a:srgbClr val="64748B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25</a:t>
            </a:r>
            <a:endParaRPr lang="en-US" sz="495" dirty="0"/>
          </a:p>
        </p:txBody>
      </p:sp>
      <p:pic>
        <p:nvPicPr>
          <p:cNvPr id="30" name="Image 4" descr="preencoded.png">    </p:cNvPr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8184326" y="4743450"/>
            <a:ext cx="148590" cy="148590"/>
          </a:xfrm>
          <a:prstGeom prst="rect">
            <a:avLst/>
          </a:prstGeom>
        </p:spPr>
      </p:pic>
      <p:sp>
        <p:nvSpPr>
          <p:cNvPr id="31" name="Text 24"/>
          <p:cNvSpPr/>
          <p:nvPr/>
        </p:nvSpPr>
        <p:spPr>
          <a:xfrm>
            <a:off x="8390066" y="4749165"/>
            <a:ext cx="553909" cy="69116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495" spc="158" kern="0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HERMES</a:t>
            </a:r>
            <a:endParaRPr lang="en-US" sz="495" dirty="0"/>
          </a:p>
        </p:txBody>
      </p:sp>
      <p:sp>
        <p:nvSpPr>
          <p:cNvPr id="32" name="Text 25"/>
          <p:cNvSpPr/>
          <p:nvPr/>
        </p:nvSpPr>
        <p:spPr>
          <a:xfrm>
            <a:off x="8390066" y="4829711"/>
            <a:ext cx="549969" cy="56525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405" spc="97" kern="0" dirty="0">
                <a:solidFill>
                  <a:srgbClr val="64748B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PROJECT MARK</a:t>
            </a:r>
            <a:endParaRPr lang="en-US" sz="405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25</Slides>
  <Notes>25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25</vt:i4>
      </vt:variant>
    </vt:vector>
  </HeadingPairs>
  <TitlesOfParts>
    <vt:vector size="2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2026-09-12T11:47:30Z</dcterms:created>
  <dcterms:modified xsi:type="dcterms:W3CDTF">2026-09-12T11:47:30Z</dcterms:modified>
</cp:coreProperties>
</file>